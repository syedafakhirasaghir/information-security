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82" r:id="rId2"/>
    <p:sldId id="301" r:id="rId3"/>
    <p:sldId id="300" r:id="rId4"/>
    <p:sldId id="298" r:id="rId5"/>
    <p:sldId id="297" r:id="rId6"/>
    <p:sldId id="302" r:id="rId7"/>
    <p:sldId id="339" r:id="rId8"/>
    <p:sldId id="340" r:id="rId9"/>
    <p:sldId id="341" r:id="rId10"/>
    <p:sldId id="342" r:id="rId11"/>
    <p:sldId id="343" r:id="rId12"/>
    <p:sldId id="344" r:id="rId13"/>
    <p:sldId id="345" r:id="rId14"/>
    <p:sldId id="346" r:id="rId15"/>
    <p:sldId id="347" r:id="rId16"/>
    <p:sldId id="348" r:id="rId17"/>
    <p:sldId id="349" r:id="rId18"/>
    <p:sldId id="359" r:id="rId19"/>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0EDA46-FF2D-4F37-AE26-45EAC2104BE8}" type="datetimeFigureOut">
              <a:rPr lang="en-PK" smtClean="0"/>
              <a:t>21/10/2025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1C7801-6F7E-4728-899F-47A108C68023}" type="slidenum">
              <a:rPr lang="en-PK" smtClean="0"/>
              <a:t>‹#›</a:t>
            </a:fld>
            <a:endParaRPr lang="en-PK"/>
          </a:p>
        </p:txBody>
      </p:sp>
    </p:spTree>
    <p:extLst>
      <p:ext uri="{BB962C8B-B14F-4D97-AF65-F5344CB8AC3E}">
        <p14:creationId xmlns:p14="http://schemas.microsoft.com/office/powerpoint/2010/main" val="881490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DADEF-42CC-8FC2-B969-EAE6EBDB24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81C4BBDD-BBBF-9177-ABC2-50DFE948B9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4DAADD4A-4183-4C0C-D28B-CB60845D8ED7}"/>
              </a:ext>
            </a:extLst>
          </p:cNvPr>
          <p:cNvSpPr>
            <a:spLocks noGrp="1"/>
          </p:cNvSpPr>
          <p:nvPr>
            <p:ph type="dt" sz="half" idx="10"/>
          </p:nvPr>
        </p:nvSpPr>
        <p:spPr/>
        <p:txBody>
          <a:bodyPr/>
          <a:lstStyle/>
          <a:p>
            <a:fld id="{F507677E-68DE-4723-9197-0353DD3D44BA}" type="datetimeFigureOut">
              <a:rPr lang="en-PK" smtClean="0"/>
              <a:t>21/10/2025</a:t>
            </a:fld>
            <a:endParaRPr lang="en-PK"/>
          </a:p>
        </p:txBody>
      </p:sp>
      <p:sp>
        <p:nvSpPr>
          <p:cNvPr id="5" name="Footer Placeholder 4">
            <a:extLst>
              <a:ext uri="{FF2B5EF4-FFF2-40B4-BE49-F238E27FC236}">
                <a16:creationId xmlns:a16="http://schemas.microsoft.com/office/drawing/2014/main" id="{617D9B42-E11F-642E-9C49-A55F9AC82D46}"/>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B966159-A1BB-D970-6FC9-826840104A58}"/>
              </a:ext>
            </a:extLst>
          </p:cNvPr>
          <p:cNvSpPr>
            <a:spLocks noGrp="1"/>
          </p:cNvSpPr>
          <p:nvPr>
            <p:ph type="sldNum" sz="quarter" idx="12"/>
          </p:nvPr>
        </p:nvSpPr>
        <p:spPr/>
        <p:txBody>
          <a:bodyPr/>
          <a:lstStyle/>
          <a:p>
            <a:fld id="{1AA889D2-4FF9-4684-987C-389317F590AA}" type="slidenum">
              <a:rPr lang="en-PK" smtClean="0"/>
              <a:t>‹#›</a:t>
            </a:fld>
            <a:endParaRPr lang="en-PK"/>
          </a:p>
        </p:txBody>
      </p:sp>
    </p:spTree>
    <p:extLst>
      <p:ext uri="{BB962C8B-B14F-4D97-AF65-F5344CB8AC3E}">
        <p14:creationId xmlns:p14="http://schemas.microsoft.com/office/powerpoint/2010/main" val="183476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EE2ED-75A9-C654-450B-F44A27C605B9}"/>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05D37621-DF5A-83D0-43A7-2EECD96017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1FC6509-CFBF-3532-2F74-9C441A2E3896}"/>
              </a:ext>
            </a:extLst>
          </p:cNvPr>
          <p:cNvSpPr>
            <a:spLocks noGrp="1"/>
          </p:cNvSpPr>
          <p:nvPr>
            <p:ph type="dt" sz="half" idx="10"/>
          </p:nvPr>
        </p:nvSpPr>
        <p:spPr/>
        <p:txBody>
          <a:bodyPr/>
          <a:lstStyle/>
          <a:p>
            <a:fld id="{F507677E-68DE-4723-9197-0353DD3D44BA}" type="datetimeFigureOut">
              <a:rPr lang="en-PK" smtClean="0"/>
              <a:t>21/10/2025</a:t>
            </a:fld>
            <a:endParaRPr lang="en-PK"/>
          </a:p>
        </p:txBody>
      </p:sp>
      <p:sp>
        <p:nvSpPr>
          <p:cNvPr id="5" name="Footer Placeholder 4">
            <a:extLst>
              <a:ext uri="{FF2B5EF4-FFF2-40B4-BE49-F238E27FC236}">
                <a16:creationId xmlns:a16="http://schemas.microsoft.com/office/drawing/2014/main" id="{7CA28608-488A-A5F9-C477-45512594CE1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25FD0C71-6DC2-5750-F5F7-986E3CF8D52B}"/>
              </a:ext>
            </a:extLst>
          </p:cNvPr>
          <p:cNvSpPr>
            <a:spLocks noGrp="1"/>
          </p:cNvSpPr>
          <p:nvPr>
            <p:ph type="sldNum" sz="quarter" idx="12"/>
          </p:nvPr>
        </p:nvSpPr>
        <p:spPr/>
        <p:txBody>
          <a:bodyPr/>
          <a:lstStyle/>
          <a:p>
            <a:fld id="{1AA889D2-4FF9-4684-987C-389317F590AA}" type="slidenum">
              <a:rPr lang="en-PK" smtClean="0"/>
              <a:t>‹#›</a:t>
            </a:fld>
            <a:endParaRPr lang="en-PK"/>
          </a:p>
        </p:txBody>
      </p:sp>
    </p:spTree>
    <p:extLst>
      <p:ext uri="{BB962C8B-B14F-4D97-AF65-F5344CB8AC3E}">
        <p14:creationId xmlns:p14="http://schemas.microsoft.com/office/powerpoint/2010/main" val="1860517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5DDB9-65B0-4AD8-E343-8D2F085132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70FC467B-1209-FFA6-84E7-E9D881760C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A7FA08-2DAA-A837-3FCB-9B6510134952}"/>
              </a:ext>
            </a:extLst>
          </p:cNvPr>
          <p:cNvSpPr>
            <a:spLocks noGrp="1"/>
          </p:cNvSpPr>
          <p:nvPr>
            <p:ph type="dt" sz="half" idx="10"/>
          </p:nvPr>
        </p:nvSpPr>
        <p:spPr/>
        <p:txBody>
          <a:bodyPr/>
          <a:lstStyle/>
          <a:p>
            <a:fld id="{F507677E-68DE-4723-9197-0353DD3D44BA}" type="datetimeFigureOut">
              <a:rPr lang="en-PK" smtClean="0"/>
              <a:t>21/10/2025</a:t>
            </a:fld>
            <a:endParaRPr lang="en-PK"/>
          </a:p>
        </p:txBody>
      </p:sp>
      <p:sp>
        <p:nvSpPr>
          <p:cNvPr id="5" name="Footer Placeholder 4">
            <a:extLst>
              <a:ext uri="{FF2B5EF4-FFF2-40B4-BE49-F238E27FC236}">
                <a16:creationId xmlns:a16="http://schemas.microsoft.com/office/drawing/2014/main" id="{9D3F7C49-3B4D-F04C-582C-C3FD395F60C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9DEA7AF-9DDA-EE1D-C471-D67671E7D3D4}"/>
              </a:ext>
            </a:extLst>
          </p:cNvPr>
          <p:cNvSpPr>
            <a:spLocks noGrp="1"/>
          </p:cNvSpPr>
          <p:nvPr>
            <p:ph type="sldNum" sz="quarter" idx="12"/>
          </p:nvPr>
        </p:nvSpPr>
        <p:spPr/>
        <p:txBody>
          <a:bodyPr/>
          <a:lstStyle/>
          <a:p>
            <a:fld id="{1AA889D2-4FF9-4684-987C-389317F590AA}" type="slidenum">
              <a:rPr lang="en-PK" smtClean="0"/>
              <a:t>‹#›</a:t>
            </a:fld>
            <a:endParaRPr lang="en-PK"/>
          </a:p>
        </p:txBody>
      </p:sp>
    </p:spTree>
    <p:extLst>
      <p:ext uri="{BB962C8B-B14F-4D97-AF65-F5344CB8AC3E}">
        <p14:creationId xmlns:p14="http://schemas.microsoft.com/office/powerpoint/2010/main" val="1877717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D19D7-611E-B9F6-CFA8-7F137CD75FF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F2DA8DCE-A2A8-0A5D-F6D5-F4B6F2130A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8B63608D-519E-6D61-75AB-9C7920BD23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2E0B6A1C-4E37-D23B-0713-CB2AC29F5865}"/>
              </a:ext>
            </a:extLst>
          </p:cNvPr>
          <p:cNvSpPr>
            <a:spLocks noGrp="1"/>
          </p:cNvSpPr>
          <p:nvPr>
            <p:ph type="dt" sz="half" idx="10"/>
          </p:nvPr>
        </p:nvSpPr>
        <p:spPr/>
        <p:txBody>
          <a:bodyPr/>
          <a:lstStyle/>
          <a:p>
            <a:fld id="{F507677E-68DE-4723-9197-0353DD3D44BA}" type="datetimeFigureOut">
              <a:rPr lang="en-PK" smtClean="0"/>
              <a:t>21/10/2025</a:t>
            </a:fld>
            <a:endParaRPr lang="en-PK"/>
          </a:p>
        </p:txBody>
      </p:sp>
      <p:sp>
        <p:nvSpPr>
          <p:cNvPr id="6" name="Footer Placeholder 5">
            <a:extLst>
              <a:ext uri="{FF2B5EF4-FFF2-40B4-BE49-F238E27FC236}">
                <a16:creationId xmlns:a16="http://schemas.microsoft.com/office/drawing/2014/main" id="{516584F1-175F-2C76-DD26-DE1B1837252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B36CBBC-B5B8-E111-CA33-591BEEB1E42C}"/>
              </a:ext>
            </a:extLst>
          </p:cNvPr>
          <p:cNvSpPr>
            <a:spLocks noGrp="1"/>
          </p:cNvSpPr>
          <p:nvPr>
            <p:ph type="sldNum" sz="quarter" idx="12"/>
          </p:nvPr>
        </p:nvSpPr>
        <p:spPr/>
        <p:txBody>
          <a:bodyPr/>
          <a:lstStyle/>
          <a:p>
            <a:fld id="{1AA889D2-4FF9-4684-987C-389317F590AA}" type="slidenum">
              <a:rPr lang="en-PK" smtClean="0"/>
              <a:t>‹#›</a:t>
            </a:fld>
            <a:endParaRPr lang="en-PK"/>
          </a:p>
        </p:txBody>
      </p:sp>
    </p:spTree>
    <p:extLst>
      <p:ext uri="{BB962C8B-B14F-4D97-AF65-F5344CB8AC3E}">
        <p14:creationId xmlns:p14="http://schemas.microsoft.com/office/powerpoint/2010/main" val="2891366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0103F-3745-E77C-BEF8-79FEBEEE48C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D6B3A4EC-11CD-50EC-BF35-219161A42C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D5BD3B-E346-C110-724E-26AD5DCC3E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A6176B72-A29D-2736-5830-D53CB4DCA0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E26AA5-B445-C63C-E838-E0492A490D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E1DA1E25-BDAB-7766-A427-B3CF257D8CC4}"/>
              </a:ext>
            </a:extLst>
          </p:cNvPr>
          <p:cNvSpPr>
            <a:spLocks noGrp="1"/>
          </p:cNvSpPr>
          <p:nvPr>
            <p:ph type="dt" sz="half" idx="10"/>
          </p:nvPr>
        </p:nvSpPr>
        <p:spPr/>
        <p:txBody>
          <a:bodyPr/>
          <a:lstStyle/>
          <a:p>
            <a:fld id="{F507677E-68DE-4723-9197-0353DD3D44BA}" type="datetimeFigureOut">
              <a:rPr lang="en-PK" smtClean="0"/>
              <a:t>21/10/2025</a:t>
            </a:fld>
            <a:endParaRPr lang="en-PK"/>
          </a:p>
        </p:txBody>
      </p:sp>
      <p:sp>
        <p:nvSpPr>
          <p:cNvPr id="8" name="Footer Placeholder 7">
            <a:extLst>
              <a:ext uri="{FF2B5EF4-FFF2-40B4-BE49-F238E27FC236}">
                <a16:creationId xmlns:a16="http://schemas.microsoft.com/office/drawing/2014/main" id="{A140D4C5-F2BB-7DE2-5CF3-3F3D917D5CA1}"/>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47A2648A-60A6-FC8C-EEC4-D9344211EE9C}"/>
              </a:ext>
            </a:extLst>
          </p:cNvPr>
          <p:cNvSpPr>
            <a:spLocks noGrp="1"/>
          </p:cNvSpPr>
          <p:nvPr>
            <p:ph type="sldNum" sz="quarter" idx="12"/>
          </p:nvPr>
        </p:nvSpPr>
        <p:spPr/>
        <p:txBody>
          <a:bodyPr/>
          <a:lstStyle/>
          <a:p>
            <a:fld id="{1AA889D2-4FF9-4684-987C-389317F590AA}" type="slidenum">
              <a:rPr lang="en-PK" smtClean="0"/>
              <a:t>‹#›</a:t>
            </a:fld>
            <a:endParaRPr lang="en-PK"/>
          </a:p>
        </p:txBody>
      </p:sp>
    </p:spTree>
    <p:extLst>
      <p:ext uri="{BB962C8B-B14F-4D97-AF65-F5344CB8AC3E}">
        <p14:creationId xmlns:p14="http://schemas.microsoft.com/office/powerpoint/2010/main" val="4134588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35920-C4C5-3FBE-D24F-35FCAA1F4132}"/>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F7F7ACC8-C380-2CE9-9BFC-E4A4FA369940}"/>
              </a:ext>
            </a:extLst>
          </p:cNvPr>
          <p:cNvSpPr>
            <a:spLocks noGrp="1"/>
          </p:cNvSpPr>
          <p:nvPr>
            <p:ph type="dt" sz="half" idx="10"/>
          </p:nvPr>
        </p:nvSpPr>
        <p:spPr/>
        <p:txBody>
          <a:bodyPr/>
          <a:lstStyle/>
          <a:p>
            <a:fld id="{F507677E-68DE-4723-9197-0353DD3D44BA}" type="datetimeFigureOut">
              <a:rPr lang="en-PK" smtClean="0"/>
              <a:t>21/10/2025</a:t>
            </a:fld>
            <a:endParaRPr lang="en-PK"/>
          </a:p>
        </p:txBody>
      </p:sp>
      <p:sp>
        <p:nvSpPr>
          <p:cNvPr id="4" name="Footer Placeholder 3">
            <a:extLst>
              <a:ext uri="{FF2B5EF4-FFF2-40B4-BE49-F238E27FC236}">
                <a16:creationId xmlns:a16="http://schemas.microsoft.com/office/drawing/2014/main" id="{248388A5-D259-6AEF-C32A-E4F5863E36B3}"/>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E7142E91-7B2C-3BAC-E551-DE29E69789AE}"/>
              </a:ext>
            </a:extLst>
          </p:cNvPr>
          <p:cNvSpPr>
            <a:spLocks noGrp="1"/>
          </p:cNvSpPr>
          <p:nvPr>
            <p:ph type="sldNum" sz="quarter" idx="12"/>
          </p:nvPr>
        </p:nvSpPr>
        <p:spPr/>
        <p:txBody>
          <a:bodyPr/>
          <a:lstStyle/>
          <a:p>
            <a:fld id="{1AA889D2-4FF9-4684-987C-389317F590AA}" type="slidenum">
              <a:rPr lang="en-PK" smtClean="0"/>
              <a:t>‹#›</a:t>
            </a:fld>
            <a:endParaRPr lang="en-PK"/>
          </a:p>
        </p:txBody>
      </p:sp>
    </p:spTree>
    <p:extLst>
      <p:ext uri="{BB962C8B-B14F-4D97-AF65-F5344CB8AC3E}">
        <p14:creationId xmlns:p14="http://schemas.microsoft.com/office/powerpoint/2010/main" val="71651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B1683D-6A64-EF2E-D5DB-15F4BEDAC4B1}"/>
              </a:ext>
            </a:extLst>
          </p:cNvPr>
          <p:cNvSpPr>
            <a:spLocks noGrp="1"/>
          </p:cNvSpPr>
          <p:nvPr>
            <p:ph type="dt" sz="half" idx="10"/>
          </p:nvPr>
        </p:nvSpPr>
        <p:spPr/>
        <p:txBody>
          <a:bodyPr/>
          <a:lstStyle/>
          <a:p>
            <a:fld id="{F507677E-68DE-4723-9197-0353DD3D44BA}" type="datetimeFigureOut">
              <a:rPr lang="en-PK" smtClean="0"/>
              <a:t>21/10/2025</a:t>
            </a:fld>
            <a:endParaRPr lang="en-PK"/>
          </a:p>
        </p:txBody>
      </p:sp>
      <p:sp>
        <p:nvSpPr>
          <p:cNvPr id="3" name="Footer Placeholder 2">
            <a:extLst>
              <a:ext uri="{FF2B5EF4-FFF2-40B4-BE49-F238E27FC236}">
                <a16:creationId xmlns:a16="http://schemas.microsoft.com/office/drawing/2014/main" id="{BFFD666A-1747-74DF-D03D-21FB3CC6EB79}"/>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638F7F2D-15E0-ACCA-91C3-644210CC467D}"/>
              </a:ext>
            </a:extLst>
          </p:cNvPr>
          <p:cNvSpPr>
            <a:spLocks noGrp="1"/>
          </p:cNvSpPr>
          <p:nvPr>
            <p:ph type="sldNum" sz="quarter" idx="12"/>
          </p:nvPr>
        </p:nvSpPr>
        <p:spPr/>
        <p:txBody>
          <a:bodyPr/>
          <a:lstStyle/>
          <a:p>
            <a:fld id="{1AA889D2-4FF9-4684-987C-389317F590AA}" type="slidenum">
              <a:rPr lang="en-PK" smtClean="0"/>
              <a:t>‹#›</a:t>
            </a:fld>
            <a:endParaRPr lang="en-PK"/>
          </a:p>
        </p:txBody>
      </p:sp>
    </p:spTree>
    <p:extLst>
      <p:ext uri="{BB962C8B-B14F-4D97-AF65-F5344CB8AC3E}">
        <p14:creationId xmlns:p14="http://schemas.microsoft.com/office/powerpoint/2010/main" val="2251205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3675A-3DA8-31E7-39BF-59F07292DD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2796E9A-9EEE-EBC2-6AB7-A9D55D9772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9138F33F-36F2-7BDA-533C-92AC205698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C0CBC8-2D16-7842-BAF1-31B44891FA2F}"/>
              </a:ext>
            </a:extLst>
          </p:cNvPr>
          <p:cNvSpPr>
            <a:spLocks noGrp="1"/>
          </p:cNvSpPr>
          <p:nvPr>
            <p:ph type="dt" sz="half" idx="10"/>
          </p:nvPr>
        </p:nvSpPr>
        <p:spPr/>
        <p:txBody>
          <a:bodyPr/>
          <a:lstStyle/>
          <a:p>
            <a:fld id="{F507677E-68DE-4723-9197-0353DD3D44BA}" type="datetimeFigureOut">
              <a:rPr lang="en-PK" smtClean="0"/>
              <a:t>21/10/2025</a:t>
            </a:fld>
            <a:endParaRPr lang="en-PK"/>
          </a:p>
        </p:txBody>
      </p:sp>
      <p:sp>
        <p:nvSpPr>
          <p:cNvPr id="6" name="Footer Placeholder 5">
            <a:extLst>
              <a:ext uri="{FF2B5EF4-FFF2-40B4-BE49-F238E27FC236}">
                <a16:creationId xmlns:a16="http://schemas.microsoft.com/office/drawing/2014/main" id="{0DB606A9-6894-9DED-52CA-CE6DC41985A3}"/>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F9FAF2BC-A731-6DA7-AE19-06D1B8BE678D}"/>
              </a:ext>
            </a:extLst>
          </p:cNvPr>
          <p:cNvSpPr>
            <a:spLocks noGrp="1"/>
          </p:cNvSpPr>
          <p:nvPr>
            <p:ph type="sldNum" sz="quarter" idx="12"/>
          </p:nvPr>
        </p:nvSpPr>
        <p:spPr/>
        <p:txBody>
          <a:bodyPr/>
          <a:lstStyle/>
          <a:p>
            <a:fld id="{1AA889D2-4FF9-4684-987C-389317F590AA}" type="slidenum">
              <a:rPr lang="en-PK" smtClean="0"/>
              <a:t>‹#›</a:t>
            </a:fld>
            <a:endParaRPr lang="en-PK"/>
          </a:p>
        </p:txBody>
      </p:sp>
    </p:spTree>
    <p:extLst>
      <p:ext uri="{BB962C8B-B14F-4D97-AF65-F5344CB8AC3E}">
        <p14:creationId xmlns:p14="http://schemas.microsoft.com/office/powerpoint/2010/main" val="4146827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6A35D-930A-A9B4-52AE-D75C82AA48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9A330266-26ED-DF46-391B-856F9C8903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C32F6610-4FD3-DDBB-C5C8-ADB913B187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4AE197-E496-2726-123F-B6F5A3D6CB86}"/>
              </a:ext>
            </a:extLst>
          </p:cNvPr>
          <p:cNvSpPr>
            <a:spLocks noGrp="1"/>
          </p:cNvSpPr>
          <p:nvPr>
            <p:ph type="dt" sz="half" idx="10"/>
          </p:nvPr>
        </p:nvSpPr>
        <p:spPr/>
        <p:txBody>
          <a:bodyPr/>
          <a:lstStyle/>
          <a:p>
            <a:fld id="{F507677E-68DE-4723-9197-0353DD3D44BA}" type="datetimeFigureOut">
              <a:rPr lang="en-PK" smtClean="0"/>
              <a:t>21/10/2025</a:t>
            </a:fld>
            <a:endParaRPr lang="en-PK"/>
          </a:p>
        </p:txBody>
      </p:sp>
      <p:sp>
        <p:nvSpPr>
          <p:cNvPr id="6" name="Footer Placeholder 5">
            <a:extLst>
              <a:ext uri="{FF2B5EF4-FFF2-40B4-BE49-F238E27FC236}">
                <a16:creationId xmlns:a16="http://schemas.microsoft.com/office/drawing/2014/main" id="{B6665268-8FB7-90E5-964F-2CFC46E3A653}"/>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A421E69-D362-E5CE-E66B-7299E6197DA4}"/>
              </a:ext>
            </a:extLst>
          </p:cNvPr>
          <p:cNvSpPr>
            <a:spLocks noGrp="1"/>
          </p:cNvSpPr>
          <p:nvPr>
            <p:ph type="sldNum" sz="quarter" idx="12"/>
          </p:nvPr>
        </p:nvSpPr>
        <p:spPr/>
        <p:txBody>
          <a:bodyPr/>
          <a:lstStyle/>
          <a:p>
            <a:fld id="{1AA889D2-4FF9-4684-987C-389317F590AA}" type="slidenum">
              <a:rPr lang="en-PK" smtClean="0"/>
              <a:t>‹#›</a:t>
            </a:fld>
            <a:endParaRPr lang="en-PK"/>
          </a:p>
        </p:txBody>
      </p:sp>
    </p:spTree>
    <p:extLst>
      <p:ext uri="{BB962C8B-B14F-4D97-AF65-F5344CB8AC3E}">
        <p14:creationId xmlns:p14="http://schemas.microsoft.com/office/powerpoint/2010/main" val="4182200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C893D-74BF-5B5E-1F0C-32F3586551C8}"/>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61DF23E7-58EC-8B05-3E51-05B5525C18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3EC16F4-236C-65F6-FA69-C3695C749A46}"/>
              </a:ext>
            </a:extLst>
          </p:cNvPr>
          <p:cNvSpPr>
            <a:spLocks noGrp="1"/>
          </p:cNvSpPr>
          <p:nvPr>
            <p:ph type="dt" sz="half" idx="10"/>
          </p:nvPr>
        </p:nvSpPr>
        <p:spPr/>
        <p:txBody>
          <a:bodyPr/>
          <a:lstStyle/>
          <a:p>
            <a:fld id="{F507677E-68DE-4723-9197-0353DD3D44BA}" type="datetimeFigureOut">
              <a:rPr lang="en-PK" smtClean="0"/>
              <a:t>21/10/2025</a:t>
            </a:fld>
            <a:endParaRPr lang="en-PK"/>
          </a:p>
        </p:txBody>
      </p:sp>
      <p:sp>
        <p:nvSpPr>
          <p:cNvPr id="5" name="Footer Placeholder 4">
            <a:extLst>
              <a:ext uri="{FF2B5EF4-FFF2-40B4-BE49-F238E27FC236}">
                <a16:creationId xmlns:a16="http://schemas.microsoft.com/office/drawing/2014/main" id="{483CBD4C-5163-8E55-2C3F-B8F09F65DC5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DE7321B-3CBA-1ECE-7A09-5F70842D648B}"/>
              </a:ext>
            </a:extLst>
          </p:cNvPr>
          <p:cNvSpPr>
            <a:spLocks noGrp="1"/>
          </p:cNvSpPr>
          <p:nvPr>
            <p:ph type="sldNum" sz="quarter" idx="12"/>
          </p:nvPr>
        </p:nvSpPr>
        <p:spPr/>
        <p:txBody>
          <a:bodyPr/>
          <a:lstStyle/>
          <a:p>
            <a:fld id="{1AA889D2-4FF9-4684-987C-389317F590AA}" type="slidenum">
              <a:rPr lang="en-PK" smtClean="0"/>
              <a:t>‹#›</a:t>
            </a:fld>
            <a:endParaRPr lang="en-PK"/>
          </a:p>
        </p:txBody>
      </p:sp>
    </p:spTree>
    <p:extLst>
      <p:ext uri="{BB962C8B-B14F-4D97-AF65-F5344CB8AC3E}">
        <p14:creationId xmlns:p14="http://schemas.microsoft.com/office/powerpoint/2010/main" val="3513536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699BD3-0513-F893-EEEF-A88BFF7B3D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188D09B-3364-F2F1-5E03-7D1DFEA4DD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7C54A36-E4EB-2A2D-E965-EE3550B7E3F7}"/>
              </a:ext>
            </a:extLst>
          </p:cNvPr>
          <p:cNvSpPr>
            <a:spLocks noGrp="1"/>
          </p:cNvSpPr>
          <p:nvPr>
            <p:ph type="dt" sz="half" idx="10"/>
          </p:nvPr>
        </p:nvSpPr>
        <p:spPr/>
        <p:txBody>
          <a:bodyPr/>
          <a:lstStyle/>
          <a:p>
            <a:fld id="{F507677E-68DE-4723-9197-0353DD3D44BA}" type="datetimeFigureOut">
              <a:rPr lang="en-PK" smtClean="0"/>
              <a:t>21/10/2025</a:t>
            </a:fld>
            <a:endParaRPr lang="en-PK"/>
          </a:p>
        </p:txBody>
      </p:sp>
      <p:sp>
        <p:nvSpPr>
          <p:cNvPr id="5" name="Footer Placeholder 4">
            <a:extLst>
              <a:ext uri="{FF2B5EF4-FFF2-40B4-BE49-F238E27FC236}">
                <a16:creationId xmlns:a16="http://schemas.microsoft.com/office/drawing/2014/main" id="{A1537233-8C8A-7028-9FA3-8873258E08A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5864A40F-97A9-292D-ED10-B70D974BE7CD}"/>
              </a:ext>
            </a:extLst>
          </p:cNvPr>
          <p:cNvSpPr>
            <a:spLocks noGrp="1"/>
          </p:cNvSpPr>
          <p:nvPr>
            <p:ph type="sldNum" sz="quarter" idx="12"/>
          </p:nvPr>
        </p:nvSpPr>
        <p:spPr/>
        <p:txBody>
          <a:bodyPr/>
          <a:lstStyle/>
          <a:p>
            <a:fld id="{1AA889D2-4FF9-4684-987C-389317F590AA}" type="slidenum">
              <a:rPr lang="en-PK" smtClean="0"/>
              <a:t>‹#›</a:t>
            </a:fld>
            <a:endParaRPr lang="en-PK"/>
          </a:p>
        </p:txBody>
      </p:sp>
    </p:spTree>
    <p:extLst>
      <p:ext uri="{BB962C8B-B14F-4D97-AF65-F5344CB8AC3E}">
        <p14:creationId xmlns:p14="http://schemas.microsoft.com/office/powerpoint/2010/main" val="424140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875338-BFDA-47D4-CB39-C3A1AE4648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9C860DFF-EF5A-BFBD-42B2-4256FE6E1B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E2A85AF-9FAD-BBA3-C9FD-7939369111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07677E-68DE-4723-9197-0353DD3D44BA}" type="datetimeFigureOut">
              <a:rPr lang="en-PK" smtClean="0"/>
              <a:t>21/10/2025</a:t>
            </a:fld>
            <a:endParaRPr lang="en-PK"/>
          </a:p>
        </p:txBody>
      </p:sp>
      <p:sp>
        <p:nvSpPr>
          <p:cNvPr id="5" name="Footer Placeholder 4">
            <a:extLst>
              <a:ext uri="{FF2B5EF4-FFF2-40B4-BE49-F238E27FC236}">
                <a16:creationId xmlns:a16="http://schemas.microsoft.com/office/drawing/2014/main" id="{539507E8-F659-1557-D1BC-DE3E5FE03C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45FBE75D-32EB-A188-785E-43D6720218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A889D2-4FF9-4684-987C-389317F590AA}" type="slidenum">
              <a:rPr lang="en-PK" smtClean="0"/>
              <a:t>‹#›</a:t>
            </a:fld>
            <a:endParaRPr lang="en-PK"/>
          </a:p>
        </p:txBody>
      </p:sp>
    </p:spTree>
    <p:extLst>
      <p:ext uri="{BB962C8B-B14F-4D97-AF65-F5344CB8AC3E}">
        <p14:creationId xmlns:p14="http://schemas.microsoft.com/office/powerpoint/2010/main" val="4094927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1.png"/><Relationship Id="rId2" Type="http://schemas.openxmlformats.org/officeDocument/2006/relationships/image" Target="../media/image32.png"/><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34.png"/><Relationship Id="rId4" Type="http://schemas.microsoft.com/office/2007/relationships/hdphoto" Target="../media/hdphoto2.wdp"/></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endParaRPr lang="en-US" dirty="0"/>
          </a:p>
        </p:txBody>
      </p:sp>
      <p:sp>
        <p:nvSpPr>
          <p:cNvPr id="4" name="Title 1"/>
          <p:cNvSpPr txBox="1">
            <a:spLocks/>
          </p:cNvSpPr>
          <p:nvPr/>
        </p:nvSpPr>
        <p:spPr>
          <a:xfrm>
            <a:off x="613956" y="702949"/>
            <a:ext cx="10946674" cy="1496554"/>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pPr algn="ctr"/>
            <a:r>
              <a:rPr lang="en-US" sz="7700" dirty="0"/>
              <a:t>CS 3002 Information Security</a:t>
            </a:r>
            <a:endParaRPr lang="en-US" sz="5400" dirty="0"/>
          </a:p>
          <a:p>
            <a:pPr algn="ctr"/>
            <a:r>
              <a:rPr lang="en-US" sz="4600" dirty="0">
                <a:solidFill>
                  <a:srgbClr val="FF0000"/>
                </a:solidFill>
              </a:rPr>
              <a:t>                                                                   Fall 2025</a:t>
            </a:r>
          </a:p>
        </p:txBody>
      </p:sp>
      <p:sp>
        <p:nvSpPr>
          <p:cNvPr id="5" name="Subtitle 2"/>
          <p:cNvSpPr txBox="1">
            <a:spLocks/>
          </p:cNvSpPr>
          <p:nvPr/>
        </p:nvSpPr>
        <p:spPr>
          <a:xfrm>
            <a:off x="5609969" y="3525988"/>
            <a:ext cx="5950662" cy="2652390"/>
          </a:xfrm>
          <a:prstGeom prst="rect">
            <a:avLst/>
          </a:prstGeom>
          <a:solidFill>
            <a:schemeClr val="accent1">
              <a:lumMod val="40000"/>
              <a:lumOff val="60000"/>
            </a:schemeClr>
          </a:solidFill>
        </p:spPr>
        <p:txBody>
          <a:bodyPr>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lgn="ctr">
              <a:buNone/>
            </a:pPr>
            <a:r>
              <a:rPr lang="en-US" sz="3200" dirty="0"/>
              <a:t>Week # 9 – Lecture # 23, 24</a:t>
            </a:r>
            <a:r>
              <a:rPr lang="en-US" sz="3200"/>
              <a:t>, 25</a:t>
            </a:r>
            <a:endParaRPr lang="en-US" sz="3200" dirty="0"/>
          </a:p>
          <a:p>
            <a:pPr marL="130175" indent="0" algn="ctr">
              <a:buNone/>
            </a:pPr>
            <a:endParaRPr lang="en-US" sz="2000" dirty="0"/>
          </a:p>
          <a:p>
            <a:pPr marL="130175" indent="0" algn="ctr">
              <a:buNone/>
            </a:pPr>
            <a:r>
              <a:rPr lang="en-US" sz="2400" b="1" dirty="0"/>
              <a:t>Dr. Aqsa Aslam</a:t>
            </a:r>
          </a:p>
        </p:txBody>
      </p:sp>
      <p:pic>
        <p:nvPicPr>
          <p:cNvPr id="2" name="Picture 1"/>
          <p:cNvPicPr>
            <a:picLocks noChangeAspect="1"/>
          </p:cNvPicPr>
          <p:nvPr/>
        </p:nvPicPr>
        <p:blipFill>
          <a:blip r:embed="rId2"/>
          <a:stretch>
            <a:fillRect/>
          </a:stretch>
        </p:blipFill>
        <p:spPr>
          <a:xfrm>
            <a:off x="712809" y="1771385"/>
            <a:ext cx="5286336" cy="1501485"/>
          </a:xfrm>
          <a:prstGeom prst="rect">
            <a:avLst/>
          </a:prstGeom>
        </p:spPr>
      </p:pic>
      <p:grpSp>
        <p:nvGrpSpPr>
          <p:cNvPr id="8" name="Group 7"/>
          <p:cNvGrpSpPr/>
          <p:nvPr/>
        </p:nvGrpSpPr>
        <p:grpSpPr>
          <a:xfrm>
            <a:off x="1502463" y="3418245"/>
            <a:ext cx="2953265" cy="3120667"/>
            <a:chOff x="8830020" y="2751654"/>
            <a:chExt cx="2953265" cy="3120667"/>
          </a:xfrm>
        </p:grpSpPr>
        <p:pic>
          <p:nvPicPr>
            <p:cNvPr id="6" name="Picture 5"/>
            <p:cNvPicPr>
              <a:picLocks noChangeAspect="1"/>
            </p:cNvPicPr>
            <p:nvPr/>
          </p:nvPicPr>
          <p:blipFill>
            <a:blip r:embed="rId3"/>
            <a:stretch>
              <a:fillRect/>
            </a:stretch>
          </p:blipFill>
          <p:spPr>
            <a:xfrm>
              <a:off x="8830020" y="2751654"/>
              <a:ext cx="2953265" cy="2872982"/>
            </a:xfrm>
            <a:prstGeom prst="rect">
              <a:avLst/>
            </a:prstGeom>
          </p:spPr>
        </p:pic>
        <p:pic>
          <p:nvPicPr>
            <p:cNvPr id="7" name="Picture 6"/>
            <p:cNvPicPr>
              <a:picLocks noChangeAspect="1"/>
            </p:cNvPicPr>
            <p:nvPr/>
          </p:nvPicPr>
          <p:blipFill>
            <a:blip r:embed="rId4"/>
            <a:stretch>
              <a:fillRect/>
            </a:stretch>
          </p:blipFill>
          <p:spPr>
            <a:xfrm>
              <a:off x="9487387" y="5624636"/>
              <a:ext cx="1638529" cy="247685"/>
            </a:xfrm>
            <a:prstGeom prst="rect">
              <a:avLst/>
            </a:prstGeom>
          </p:spPr>
        </p:pic>
      </p:grpSp>
    </p:spTree>
    <p:extLst>
      <p:ext uri="{BB962C8B-B14F-4D97-AF65-F5344CB8AC3E}">
        <p14:creationId xmlns:p14="http://schemas.microsoft.com/office/powerpoint/2010/main" val="2945991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dirty="0"/>
              <a:t>Attack types can be grouped into three main categories: </a:t>
            </a:r>
            <a:r>
              <a:rPr lang="en-US" dirty="0" err="1"/>
              <a:t>inband</a:t>
            </a:r>
            <a:r>
              <a:rPr lang="en-US" dirty="0"/>
              <a:t>, inferential, and out-of-band. </a:t>
            </a:r>
          </a:p>
        </p:txBody>
      </p:sp>
      <p:sp>
        <p:nvSpPr>
          <p:cNvPr id="4" name="Content Placeholder 3"/>
          <p:cNvSpPr>
            <a:spLocks noGrp="1"/>
          </p:cNvSpPr>
          <p:nvPr>
            <p:ph idx="1"/>
          </p:nvPr>
        </p:nvSpPr>
        <p:spPr>
          <a:xfrm>
            <a:off x="838200" y="1825624"/>
            <a:ext cx="10515600" cy="4530726"/>
          </a:xfrm>
        </p:spPr>
        <p:txBody>
          <a:bodyPr>
            <a:normAutofit lnSpcReduction="10000"/>
          </a:bodyPr>
          <a:lstStyle/>
          <a:p>
            <a:r>
              <a:rPr lang="en-US" dirty="0"/>
              <a:t>An </a:t>
            </a:r>
            <a:r>
              <a:rPr lang="en-US" b="1" dirty="0">
                <a:solidFill>
                  <a:srgbClr val="FF0000"/>
                </a:solidFill>
              </a:rPr>
              <a:t>in-band</a:t>
            </a:r>
            <a:r>
              <a:rPr lang="en-US" dirty="0"/>
              <a:t> attack uses the same communication channel for injecting SQL code and retrieving results. The retrieved data are presented directly in the application webpage. </a:t>
            </a:r>
          </a:p>
          <a:p>
            <a:r>
              <a:rPr lang="en-US" dirty="0"/>
              <a:t>With an </a:t>
            </a:r>
            <a:r>
              <a:rPr lang="en-US" b="1" dirty="0">
                <a:solidFill>
                  <a:srgbClr val="FF0000"/>
                </a:solidFill>
              </a:rPr>
              <a:t>inferential attack</a:t>
            </a:r>
            <a:r>
              <a:rPr lang="en-US" dirty="0"/>
              <a:t>, there is no actual transfer of data, but the attacker is able to reconstruct the information by sending particular requests and observing the resulting behavior of the website / database server. </a:t>
            </a:r>
          </a:p>
          <a:p>
            <a:r>
              <a:rPr lang="en-US" dirty="0"/>
              <a:t>In an </a:t>
            </a:r>
            <a:r>
              <a:rPr lang="en-US" b="1" dirty="0">
                <a:solidFill>
                  <a:srgbClr val="FF0000"/>
                </a:solidFill>
              </a:rPr>
              <a:t>out-of-band attack</a:t>
            </a:r>
            <a:r>
              <a:rPr lang="en-US" dirty="0"/>
              <a:t>, data are retrieved using a different channel (e.g., an e-mail with the results of the query is generated and sent to the tester). This can be used when there are limitations on information retrieval, but outbound connectivity from the database server is lax. </a:t>
            </a:r>
          </a:p>
        </p:txBody>
      </p:sp>
      <p:sp>
        <p:nvSpPr>
          <p:cNvPr id="2" name="Slide Number Placeholder 1"/>
          <p:cNvSpPr>
            <a:spLocks noGrp="1"/>
          </p:cNvSpPr>
          <p:nvPr>
            <p:ph type="sldNum" sz="quarter" idx="12"/>
          </p:nvPr>
        </p:nvSpPr>
        <p:spPr/>
        <p:txBody>
          <a:bodyPr/>
          <a:lstStyle/>
          <a:p>
            <a:fld id="{A2A50C4D-0BA1-4E54-8DFC-01810EC97B99}" type="slidenum">
              <a:rPr lang="en-US" smtClean="0"/>
              <a:t>2</a:t>
            </a:fld>
            <a:endParaRPr lang="en-US"/>
          </a:p>
        </p:txBody>
      </p:sp>
    </p:spTree>
    <p:extLst>
      <p:ext uri="{BB962C8B-B14F-4D97-AF65-F5344CB8AC3E}">
        <p14:creationId xmlns:p14="http://schemas.microsoft.com/office/powerpoint/2010/main" val="2502788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a:t>
            </a:fld>
            <a:endParaRPr lang="en-US"/>
          </a:p>
        </p:txBody>
      </p:sp>
      <p:grpSp>
        <p:nvGrpSpPr>
          <p:cNvPr id="12" name="Group 11"/>
          <p:cNvGrpSpPr/>
          <p:nvPr/>
        </p:nvGrpSpPr>
        <p:grpSpPr>
          <a:xfrm>
            <a:off x="2223247" y="136525"/>
            <a:ext cx="7007251" cy="6584950"/>
            <a:chOff x="1659004" y="528005"/>
            <a:chExt cx="5799590" cy="5904441"/>
          </a:xfrm>
        </p:grpSpPr>
        <p:grpSp>
          <p:nvGrpSpPr>
            <p:cNvPr id="9" name="Group 8"/>
            <p:cNvGrpSpPr/>
            <p:nvPr/>
          </p:nvGrpSpPr>
          <p:grpSpPr>
            <a:xfrm>
              <a:off x="1659004" y="528005"/>
              <a:ext cx="5799590" cy="3809217"/>
              <a:chOff x="3205657" y="720736"/>
              <a:chExt cx="5830114" cy="3984033"/>
            </a:xfrm>
          </p:grpSpPr>
          <p:pic>
            <p:nvPicPr>
              <p:cNvPr id="4" name="Picture 3"/>
              <p:cNvPicPr>
                <a:picLocks noChangeAspect="1"/>
              </p:cNvPicPr>
              <p:nvPr/>
            </p:nvPicPr>
            <p:blipFill>
              <a:blip r:embed="rId2"/>
              <a:stretch>
                <a:fillRect/>
              </a:stretch>
            </p:blipFill>
            <p:spPr>
              <a:xfrm>
                <a:off x="3581049" y="1750614"/>
                <a:ext cx="5430008" cy="419158"/>
              </a:xfrm>
              <a:prstGeom prst="rect">
                <a:avLst/>
              </a:prstGeom>
            </p:spPr>
          </p:pic>
          <p:pic>
            <p:nvPicPr>
              <p:cNvPr id="3" name="Picture 2"/>
              <p:cNvPicPr>
                <a:picLocks noChangeAspect="1"/>
              </p:cNvPicPr>
              <p:nvPr/>
            </p:nvPicPr>
            <p:blipFill>
              <a:blip r:embed="rId3"/>
              <a:stretch>
                <a:fillRect/>
              </a:stretch>
            </p:blipFill>
            <p:spPr>
              <a:xfrm>
                <a:off x="3205657" y="720736"/>
                <a:ext cx="5830114" cy="1066949"/>
              </a:xfrm>
              <a:prstGeom prst="rect">
                <a:avLst/>
              </a:prstGeom>
            </p:spPr>
          </p:pic>
          <p:pic>
            <p:nvPicPr>
              <p:cNvPr id="5" name="Picture 4"/>
              <p:cNvPicPr>
                <a:picLocks noChangeAspect="1"/>
              </p:cNvPicPr>
              <p:nvPr/>
            </p:nvPicPr>
            <p:blipFill>
              <a:blip r:embed="rId4"/>
              <a:stretch>
                <a:fillRect/>
              </a:stretch>
            </p:blipFill>
            <p:spPr>
              <a:xfrm>
                <a:off x="3581049" y="2300935"/>
                <a:ext cx="3829584" cy="400106"/>
              </a:xfrm>
              <a:prstGeom prst="rect">
                <a:avLst/>
              </a:prstGeom>
            </p:spPr>
          </p:pic>
          <p:pic>
            <p:nvPicPr>
              <p:cNvPr id="6" name="Picture 5"/>
              <p:cNvPicPr>
                <a:picLocks noChangeAspect="1"/>
              </p:cNvPicPr>
              <p:nvPr/>
            </p:nvPicPr>
            <p:blipFill>
              <a:blip r:embed="rId5"/>
              <a:stretch>
                <a:fillRect/>
              </a:stretch>
            </p:blipFill>
            <p:spPr>
              <a:xfrm>
                <a:off x="3581049" y="2817563"/>
                <a:ext cx="5430008" cy="400106"/>
              </a:xfrm>
              <a:prstGeom prst="rect">
                <a:avLst/>
              </a:prstGeom>
            </p:spPr>
          </p:pic>
          <p:pic>
            <p:nvPicPr>
              <p:cNvPr id="7" name="Picture 6"/>
              <p:cNvPicPr>
                <a:picLocks noChangeAspect="1"/>
              </p:cNvPicPr>
              <p:nvPr/>
            </p:nvPicPr>
            <p:blipFill>
              <a:blip r:embed="rId6"/>
              <a:stretch>
                <a:fillRect/>
              </a:stretch>
            </p:blipFill>
            <p:spPr>
              <a:xfrm>
                <a:off x="3581049" y="3320579"/>
                <a:ext cx="5420481" cy="171474"/>
              </a:xfrm>
              <a:prstGeom prst="rect">
                <a:avLst/>
              </a:prstGeom>
            </p:spPr>
          </p:pic>
          <p:pic>
            <p:nvPicPr>
              <p:cNvPr id="8" name="Picture 7"/>
              <p:cNvPicPr>
                <a:picLocks noChangeAspect="1"/>
              </p:cNvPicPr>
              <p:nvPr/>
            </p:nvPicPr>
            <p:blipFill>
              <a:blip r:embed="rId7"/>
              <a:stretch>
                <a:fillRect/>
              </a:stretch>
            </p:blipFill>
            <p:spPr>
              <a:xfrm>
                <a:off x="3571522" y="3561609"/>
                <a:ext cx="5430008" cy="1143160"/>
              </a:xfrm>
              <a:prstGeom prst="rect">
                <a:avLst/>
              </a:prstGeom>
            </p:spPr>
          </p:pic>
        </p:grpSp>
        <p:pic>
          <p:nvPicPr>
            <p:cNvPr id="11" name="Picture 10"/>
            <p:cNvPicPr>
              <a:picLocks noChangeAspect="1"/>
            </p:cNvPicPr>
            <p:nvPr/>
          </p:nvPicPr>
          <p:blipFill>
            <a:blip r:embed="rId8"/>
            <a:stretch>
              <a:fillRect/>
            </a:stretch>
          </p:blipFill>
          <p:spPr>
            <a:xfrm>
              <a:off x="1866638" y="4441443"/>
              <a:ext cx="5591955" cy="1991003"/>
            </a:xfrm>
            <a:prstGeom prst="rect">
              <a:avLst/>
            </a:prstGeom>
          </p:spPr>
        </p:pic>
      </p:grpSp>
      <p:sp>
        <p:nvSpPr>
          <p:cNvPr id="13" name="Rectangle 12"/>
          <p:cNvSpPr/>
          <p:nvPr/>
        </p:nvSpPr>
        <p:spPr>
          <a:xfrm>
            <a:off x="2323070" y="185351"/>
            <a:ext cx="1532238" cy="1977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0714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a:t>
            </a:fld>
            <a:endParaRPr lang="en-US"/>
          </a:p>
        </p:txBody>
      </p:sp>
      <p:grpSp>
        <p:nvGrpSpPr>
          <p:cNvPr id="5" name="Group 4"/>
          <p:cNvGrpSpPr/>
          <p:nvPr/>
        </p:nvGrpSpPr>
        <p:grpSpPr>
          <a:xfrm>
            <a:off x="1566970" y="562388"/>
            <a:ext cx="8689137" cy="5702488"/>
            <a:chOff x="2913857" y="562389"/>
            <a:chExt cx="5820587" cy="3677164"/>
          </a:xfrm>
        </p:grpSpPr>
        <p:pic>
          <p:nvPicPr>
            <p:cNvPr id="3" name="Picture 2"/>
            <p:cNvPicPr>
              <a:picLocks noChangeAspect="1"/>
            </p:cNvPicPr>
            <p:nvPr/>
          </p:nvPicPr>
          <p:blipFill>
            <a:blip r:embed="rId2"/>
            <a:stretch>
              <a:fillRect/>
            </a:stretch>
          </p:blipFill>
          <p:spPr>
            <a:xfrm>
              <a:off x="2913857" y="562389"/>
              <a:ext cx="5820587" cy="3286584"/>
            </a:xfrm>
            <a:prstGeom prst="rect">
              <a:avLst/>
            </a:prstGeom>
          </p:spPr>
        </p:pic>
        <p:pic>
          <p:nvPicPr>
            <p:cNvPr id="4" name="Picture 3"/>
            <p:cNvPicPr>
              <a:picLocks noChangeAspect="1"/>
            </p:cNvPicPr>
            <p:nvPr/>
          </p:nvPicPr>
          <p:blipFill>
            <a:blip r:embed="rId3"/>
            <a:stretch>
              <a:fillRect/>
            </a:stretch>
          </p:blipFill>
          <p:spPr>
            <a:xfrm>
              <a:off x="3313963" y="3848973"/>
              <a:ext cx="5420481" cy="390580"/>
            </a:xfrm>
            <a:prstGeom prst="rect">
              <a:avLst/>
            </a:prstGeom>
          </p:spPr>
        </p:pic>
      </p:grpSp>
    </p:spTree>
    <p:extLst>
      <p:ext uri="{BB962C8B-B14F-4D97-AF65-F5344CB8AC3E}">
        <p14:creationId xmlns:p14="http://schemas.microsoft.com/office/powerpoint/2010/main" val="165213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5</a:t>
            </a:fld>
            <a:endParaRPr lang="en-US"/>
          </a:p>
        </p:txBody>
      </p:sp>
      <p:pic>
        <p:nvPicPr>
          <p:cNvPr id="4" name="Picture 3"/>
          <p:cNvPicPr>
            <a:picLocks noChangeAspect="1"/>
          </p:cNvPicPr>
          <p:nvPr/>
        </p:nvPicPr>
        <p:blipFill>
          <a:blip r:embed="rId2"/>
          <a:stretch>
            <a:fillRect/>
          </a:stretch>
        </p:blipFill>
        <p:spPr>
          <a:xfrm>
            <a:off x="594010" y="438389"/>
            <a:ext cx="4467819" cy="537794"/>
          </a:xfrm>
          <a:prstGeom prst="rect">
            <a:avLst/>
          </a:prstGeom>
        </p:spPr>
      </p:pic>
      <p:pic>
        <p:nvPicPr>
          <p:cNvPr id="6" name="Picture 5"/>
          <p:cNvPicPr>
            <a:picLocks noChangeAspect="1"/>
          </p:cNvPicPr>
          <p:nvPr/>
        </p:nvPicPr>
        <p:blipFill>
          <a:blip r:embed="rId3"/>
          <a:stretch>
            <a:fillRect/>
          </a:stretch>
        </p:blipFill>
        <p:spPr>
          <a:xfrm>
            <a:off x="1969093" y="1210400"/>
            <a:ext cx="8013107" cy="5328512"/>
          </a:xfrm>
          <a:prstGeom prst="rect">
            <a:avLst/>
          </a:prstGeom>
        </p:spPr>
      </p:pic>
      <p:sp>
        <p:nvSpPr>
          <p:cNvPr id="7" name="TextBox 6"/>
          <p:cNvSpPr txBox="1"/>
          <p:nvPr/>
        </p:nvSpPr>
        <p:spPr>
          <a:xfrm>
            <a:off x="5118589" y="391408"/>
            <a:ext cx="857057" cy="584775"/>
          </a:xfrm>
          <a:prstGeom prst="rect">
            <a:avLst/>
          </a:prstGeom>
          <a:noFill/>
        </p:spPr>
        <p:txBody>
          <a:bodyPr wrap="square" rtlCol="0">
            <a:spAutoFit/>
          </a:bodyPr>
          <a:lstStyle/>
          <a:p>
            <a:r>
              <a:rPr lang="en-US" sz="3200" dirty="0"/>
              <a:t>(1)</a:t>
            </a:r>
          </a:p>
        </p:txBody>
      </p:sp>
    </p:spTree>
    <p:extLst>
      <p:ext uri="{BB962C8B-B14F-4D97-AF65-F5344CB8AC3E}">
        <p14:creationId xmlns:p14="http://schemas.microsoft.com/office/powerpoint/2010/main" val="1707016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6</a:t>
            </a:fld>
            <a:endParaRPr lang="en-US"/>
          </a:p>
        </p:txBody>
      </p:sp>
      <p:pic>
        <p:nvPicPr>
          <p:cNvPr id="4" name="Picture 3"/>
          <p:cNvPicPr>
            <a:picLocks noChangeAspect="1"/>
          </p:cNvPicPr>
          <p:nvPr/>
        </p:nvPicPr>
        <p:blipFill>
          <a:blip r:embed="rId2"/>
          <a:stretch>
            <a:fillRect/>
          </a:stretch>
        </p:blipFill>
        <p:spPr>
          <a:xfrm>
            <a:off x="594010" y="438389"/>
            <a:ext cx="4467819" cy="537794"/>
          </a:xfrm>
          <a:prstGeom prst="rect">
            <a:avLst/>
          </a:prstGeom>
        </p:spPr>
      </p:pic>
      <p:grpSp>
        <p:nvGrpSpPr>
          <p:cNvPr id="7" name="Group 6"/>
          <p:cNvGrpSpPr/>
          <p:nvPr/>
        </p:nvGrpSpPr>
        <p:grpSpPr>
          <a:xfrm>
            <a:off x="1483696" y="1221427"/>
            <a:ext cx="8945406" cy="4734530"/>
            <a:chOff x="3009118" y="1196714"/>
            <a:chExt cx="5601482" cy="2486372"/>
          </a:xfrm>
        </p:grpSpPr>
        <p:pic>
          <p:nvPicPr>
            <p:cNvPr id="3" name="Picture 2"/>
            <p:cNvPicPr>
              <a:picLocks noChangeAspect="1"/>
            </p:cNvPicPr>
            <p:nvPr/>
          </p:nvPicPr>
          <p:blipFill>
            <a:blip r:embed="rId3"/>
            <a:stretch>
              <a:fillRect/>
            </a:stretch>
          </p:blipFill>
          <p:spPr>
            <a:xfrm>
              <a:off x="3009118" y="1196714"/>
              <a:ext cx="5601482" cy="1276528"/>
            </a:xfrm>
            <a:prstGeom prst="rect">
              <a:avLst/>
            </a:prstGeom>
          </p:spPr>
        </p:pic>
        <p:pic>
          <p:nvPicPr>
            <p:cNvPr id="5" name="Picture 4"/>
            <p:cNvPicPr>
              <a:picLocks noChangeAspect="1"/>
            </p:cNvPicPr>
            <p:nvPr/>
          </p:nvPicPr>
          <p:blipFill>
            <a:blip r:embed="rId4"/>
            <a:stretch>
              <a:fillRect/>
            </a:stretch>
          </p:blipFill>
          <p:spPr>
            <a:xfrm>
              <a:off x="3056750" y="2473242"/>
              <a:ext cx="5553850" cy="1209844"/>
            </a:xfrm>
            <a:prstGeom prst="rect">
              <a:avLst/>
            </a:prstGeom>
          </p:spPr>
        </p:pic>
      </p:grpSp>
      <p:sp>
        <p:nvSpPr>
          <p:cNvPr id="8" name="TextBox 7"/>
          <p:cNvSpPr txBox="1"/>
          <p:nvPr/>
        </p:nvSpPr>
        <p:spPr>
          <a:xfrm>
            <a:off x="5118589" y="391408"/>
            <a:ext cx="857057" cy="584775"/>
          </a:xfrm>
          <a:prstGeom prst="rect">
            <a:avLst/>
          </a:prstGeom>
          <a:noFill/>
        </p:spPr>
        <p:txBody>
          <a:bodyPr wrap="square" rtlCol="0">
            <a:spAutoFit/>
          </a:bodyPr>
          <a:lstStyle/>
          <a:p>
            <a:r>
              <a:rPr lang="en-US" sz="3200" dirty="0"/>
              <a:t>(2)</a:t>
            </a:r>
          </a:p>
        </p:txBody>
      </p:sp>
    </p:spTree>
    <p:extLst>
      <p:ext uri="{BB962C8B-B14F-4D97-AF65-F5344CB8AC3E}">
        <p14:creationId xmlns:p14="http://schemas.microsoft.com/office/powerpoint/2010/main" val="244010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7</a:t>
            </a:fld>
            <a:endParaRPr lang="en-US"/>
          </a:p>
        </p:txBody>
      </p:sp>
      <p:pic>
        <p:nvPicPr>
          <p:cNvPr id="5" name="Picture 4"/>
          <p:cNvPicPr>
            <a:picLocks noChangeAspect="1"/>
          </p:cNvPicPr>
          <p:nvPr/>
        </p:nvPicPr>
        <p:blipFill>
          <a:blip r:embed="rId2"/>
          <a:stretch>
            <a:fillRect/>
          </a:stretch>
        </p:blipFill>
        <p:spPr>
          <a:xfrm>
            <a:off x="643330" y="478153"/>
            <a:ext cx="9766356" cy="522743"/>
          </a:xfrm>
          <a:prstGeom prst="rect">
            <a:avLst/>
          </a:prstGeom>
        </p:spPr>
      </p:pic>
      <p:pic>
        <p:nvPicPr>
          <p:cNvPr id="6" name="Picture 5"/>
          <p:cNvPicPr>
            <a:picLocks noChangeAspect="1"/>
          </p:cNvPicPr>
          <p:nvPr/>
        </p:nvPicPr>
        <p:blipFill>
          <a:blip r:embed="rId3"/>
          <a:stretch>
            <a:fillRect/>
          </a:stretch>
        </p:blipFill>
        <p:spPr>
          <a:xfrm>
            <a:off x="1593609" y="1163575"/>
            <a:ext cx="7865797" cy="5375337"/>
          </a:xfrm>
          <a:prstGeom prst="rect">
            <a:avLst/>
          </a:prstGeom>
        </p:spPr>
      </p:pic>
      <p:sp>
        <p:nvSpPr>
          <p:cNvPr id="7" name="Rectangle 6"/>
          <p:cNvSpPr/>
          <p:nvPr/>
        </p:nvSpPr>
        <p:spPr>
          <a:xfrm>
            <a:off x="1593609" y="1163575"/>
            <a:ext cx="1075450" cy="2821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6027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8</a:t>
            </a:fld>
            <a:endParaRPr lang="en-US"/>
          </a:p>
        </p:txBody>
      </p:sp>
      <p:sp>
        <p:nvSpPr>
          <p:cNvPr id="7" name="Rectangle 6"/>
          <p:cNvSpPr/>
          <p:nvPr/>
        </p:nvSpPr>
        <p:spPr>
          <a:xfrm>
            <a:off x="1593609" y="1163575"/>
            <a:ext cx="1075450" cy="2821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stretch>
            <a:fillRect/>
          </a:stretch>
        </p:blipFill>
        <p:spPr>
          <a:xfrm>
            <a:off x="652900" y="492579"/>
            <a:ext cx="4770892" cy="384749"/>
          </a:xfrm>
          <a:prstGeom prst="rect">
            <a:avLst/>
          </a:prstGeom>
        </p:spPr>
      </p:pic>
      <p:pic>
        <p:nvPicPr>
          <p:cNvPr id="8" name="Picture 7"/>
          <p:cNvPicPr>
            <a:picLocks noChangeAspect="1"/>
          </p:cNvPicPr>
          <p:nvPr/>
        </p:nvPicPr>
        <p:blipFill>
          <a:blip r:embed="rId3"/>
          <a:stretch>
            <a:fillRect/>
          </a:stretch>
        </p:blipFill>
        <p:spPr>
          <a:xfrm>
            <a:off x="652900" y="1304658"/>
            <a:ext cx="4991797" cy="1886213"/>
          </a:xfrm>
          <a:prstGeom prst="rect">
            <a:avLst/>
          </a:prstGeom>
        </p:spPr>
      </p:pic>
      <p:pic>
        <p:nvPicPr>
          <p:cNvPr id="9" name="Picture 8"/>
          <p:cNvPicPr>
            <a:picLocks noChangeAspect="1"/>
          </p:cNvPicPr>
          <p:nvPr/>
        </p:nvPicPr>
        <p:blipFill>
          <a:blip r:embed="rId4"/>
          <a:stretch>
            <a:fillRect/>
          </a:stretch>
        </p:blipFill>
        <p:spPr>
          <a:xfrm>
            <a:off x="6792560" y="1304658"/>
            <a:ext cx="4439270" cy="1267002"/>
          </a:xfrm>
          <a:prstGeom prst="rect">
            <a:avLst/>
          </a:prstGeom>
        </p:spPr>
      </p:pic>
      <p:pic>
        <p:nvPicPr>
          <p:cNvPr id="10" name="Picture 9"/>
          <p:cNvPicPr>
            <a:picLocks noChangeAspect="1"/>
          </p:cNvPicPr>
          <p:nvPr/>
        </p:nvPicPr>
        <p:blipFill>
          <a:blip r:embed="rId5"/>
          <a:stretch>
            <a:fillRect/>
          </a:stretch>
        </p:blipFill>
        <p:spPr>
          <a:xfrm>
            <a:off x="483025" y="4104490"/>
            <a:ext cx="5596500" cy="1752020"/>
          </a:xfrm>
          <a:prstGeom prst="rect">
            <a:avLst/>
          </a:prstGeom>
        </p:spPr>
      </p:pic>
      <p:sp>
        <p:nvSpPr>
          <p:cNvPr id="5" name="TextBox 4">
            <a:extLst>
              <a:ext uri="{FF2B5EF4-FFF2-40B4-BE49-F238E27FC236}">
                <a16:creationId xmlns:a16="http://schemas.microsoft.com/office/drawing/2014/main" id="{EBF08F98-B846-784E-EC22-109540F4B558}"/>
              </a:ext>
            </a:extLst>
          </p:cNvPr>
          <p:cNvSpPr txBox="1"/>
          <p:nvPr/>
        </p:nvSpPr>
        <p:spPr>
          <a:xfrm>
            <a:off x="3567953" y="6012278"/>
            <a:ext cx="5378823" cy="369332"/>
          </a:xfrm>
          <a:prstGeom prst="rect">
            <a:avLst/>
          </a:prstGeom>
          <a:noFill/>
        </p:spPr>
        <p:txBody>
          <a:bodyPr wrap="square">
            <a:spAutoFit/>
          </a:bodyPr>
          <a:lstStyle/>
          <a:p>
            <a:r>
              <a:rPr lang="en-US" dirty="0"/>
              <a:t>Example: G</a:t>
            </a:r>
            <a:r>
              <a:rPr lang="en-PK" dirty="0"/>
              <a:t>rant </a:t>
            </a:r>
            <a:r>
              <a:rPr lang="en-US" dirty="0"/>
              <a:t>S</a:t>
            </a:r>
            <a:r>
              <a:rPr lang="en-PK" dirty="0"/>
              <a:t>elect </a:t>
            </a:r>
            <a:r>
              <a:rPr lang="en-US" dirty="0"/>
              <a:t>O</a:t>
            </a:r>
            <a:r>
              <a:rPr lang="en-PK" dirty="0"/>
              <a:t>n any table </a:t>
            </a:r>
            <a:r>
              <a:rPr lang="en-US" dirty="0"/>
              <a:t>T</a:t>
            </a:r>
            <a:r>
              <a:rPr lang="en-PK" dirty="0"/>
              <a:t>o ALICE</a:t>
            </a:r>
          </a:p>
        </p:txBody>
      </p:sp>
    </p:spTree>
    <p:extLst>
      <p:ext uri="{BB962C8B-B14F-4D97-AF65-F5344CB8AC3E}">
        <p14:creationId xmlns:p14="http://schemas.microsoft.com/office/powerpoint/2010/main" val="2583427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9</a:t>
            </a:fld>
            <a:endParaRPr lang="en-US"/>
          </a:p>
        </p:txBody>
      </p:sp>
      <p:pic>
        <p:nvPicPr>
          <p:cNvPr id="3" name="Picture 2"/>
          <p:cNvPicPr>
            <a:picLocks noChangeAspect="1"/>
          </p:cNvPicPr>
          <p:nvPr/>
        </p:nvPicPr>
        <p:blipFill>
          <a:blip r:embed="rId2"/>
          <a:stretch>
            <a:fillRect/>
          </a:stretch>
        </p:blipFill>
        <p:spPr>
          <a:xfrm>
            <a:off x="534737" y="1235378"/>
            <a:ext cx="10978116" cy="3979173"/>
          </a:xfrm>
          <a:prstGeom prst="rect">
            <a:avLst/>
          </a:prstGeom>
        </p:spPr>
      </p:pic>
    </p:spTree>
    <p:extLst>
      <p:ext uri="{BB962C8B-B14F-4D97-AF65-F5344CB8AC3E}">
        <p14:creationId xmlns:p14="http://schemas.microsoft.com/office/powerpoint/2010/main" val="4140560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36056" y="1235676"/>
            <a:ext cx="10942226" cy="3585647"/>
          </a:xfrm>
        </p:spPr>
        <p:txBody>
          <a:bodyPr>
            <a:normAutofit fontScale="92500" lnSpcReduction="20000"/>
          </a:bodyPr>
          <a:lstStyle/>
          <a:p>
            <a:r>
              <a:rPr lang="en-US" dirty="0"/>
              <a:t>A role-based access control (RBAC) scheme is a natural fit for database access control. </a:t>
            </a:r>
          </a:p>
          <a:p>
            <a:r>
              <a:rPr lang="en-US" dirty="0"/>
              <a:t>Unlike a file system associated with a single or a few applications, a database system often supports dozens of applications. </a:t>
            </a:r>
          </a:p>
          <a:p>
            <a:r>
              <a:rPr lang="en-US" dirty="0"/>
              <a:t>In such an environment, an individual user may use a variety of applications to perform a variety of tasks, each of which requires its own set of privileges. </a:t>
            </a:r>
          </a:p>
          <a:p>
            <a:r>
              <a:rPr lang="en-US" dirty="0"/>
              <a:t>It would be poor administrative practice to simply grant users all of the access rights they require for all the tasks they perform. </a:t>
            </a:r>
          </a:p>
          <a:p>
            <a:r>
              <a:rPr lang="en-US" dirty="0">
                <a:solidFill>
                  <a:srgbClr val="FF0000"/>
                </a:solidFill>
              </a:rPr>
              <a:t>RBAC provides a means of easing the administrative burden and improving security. </a:t>
            </a:r>
          </a:p>
        </p:txBody>
      </p:sp>
      <p:sp>
        <p:nvSpPr>
          <p:cNvPr id="2" name="Slide Number Placeholder 1"/>
          <p:cNvSpPr>
            <a:spLocks noGrp="1"/>
          </p:cNvSpPr>
          <p:nvPr>
            <p:ph type="sldNum" sz="quarter" idx="12"/>
          </p:nvPr>
        </p:nvSpPr>
        <p:spPr/>
        <p:txBody>
          <a:bodyPr/>
          <a:lstStyle/>
          <a:p>
            <a:fld id="{A2A50C4D-0BA1-4E54-8DFC-01810EC97B99}" type="slidenum">
              <a:rPr lang="en-US" smtClean="0"/>
              <a:t>10</a:t>
            </a:fld>
            <a:endParaRPr lang="en-US"/>
          </a:p>
        </p:txBody>
      </p:sp>
      <p:pic>
        <p:nvPicPr>
          <p:cNvPr id="3" name="Picture 2"/>
          <p:cNvPicPr>
            <a:picLocks noChangeAspect="1"/>
          </p:cNvPicPr>
          <p:nvPr/>
        </p:nvPicPr>
        <p:blipFill>
          <a:blip r:embed="rId2"/>
          <a:stretch>
            <a:fillRect/>
          </a:stretch>
        </p:blipFill>
        <p:spPr>
          <a:xfrm>
            <a:off x="734910" y="537243"/>
            <a:ext cx="5653534" cy="515762"/>
          </a:xfrm>
          <a:prstGeom prst="rect">
            <a:avLst/>
          </a:prstGeom>
        </p:spPr>
      </p:pic>
      <p:pic>
        <p:nvPicPr>
          <p:cNvPr id="6" name="Picture 5"/>
          <p:cNvPicPr>
            <a:picLocks noChangeAspect="1"/>
          </p:cNvPicPr>
          <p:nvPr/>
        </p:nvPicPr>
        <p:blipFill>
          <a:blip r:embed="rId3">
            <a:duotone>
              <a:prstClr val="black"/>
              <a:schemeClr val="accent4">
                <a:tint val="45000"/>
                <a:satMod val="400000"/>
              </a:schemeClr>
            </a:duotone>
          </a:blip>
          <a:stretch>
            <a:fillRect/>
          </a:stretch>
        </p:blipFill>
        <p:spPr>
          <a:xfrm>
            <a:off x="2621518" y="4549474"/>
            <a:ext cx="8732282" cy="1717589"/>
          </a:xfrm>
          <a:prstGeom prst="rect">
            <a:avLst/>
          </a:prstGeom>
        </p:spPr>
      </p:pic>
    </p:spTree>
    <p:extLst>
      <p:ext uri="{BB962C8B-B14F-4D97-AF65-F5344CB8AC3E}">
        <p14:creationId xmlns:p14="http://schemas.microsoft.com/office/powerpoint/2010/main" val="4273546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11</a:t>
            </a:fld>
            <a:endParaRPr lang="en-US"/>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925596" y="0"/>
            <a:ext cx="8330512" cy="6849533"/>
          </a:xfrm>
          <a:prstGeom prst="rect">
            <a:avLst/>
          </a:prstGeom>
        </p:spPr>
      </p:pic>
    </p:spTree>
    <p:extLst>
      <p:ext uri="{BB962C8B-B14F-4D97-AF65-F5344CB8AC3E}">
        <p14:creationId xmlns:p14="http://schemas.microsoft.com/office/powerpoint/2010/main" val="3447944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12</a:t>
            </a:fld>
            <a:endParaRPr lang="en-US"/>
          </a:p>
        </p:txBody>
      </p:sp>
      <p:pic>
        <p:nvPicPr>
          <p:cNvPr id="3" name="Picture 2"/>
          <p:cNvPicPr>
            <a:picLocks noChangeAspect="1"/>
          </p:cNvPicPr>
          <p:nvPr/>
        </p:nvPicPr>
        <p:blipFill>
          <a:blip r:embed="rId2"/>
          <a:stretch>
            <a:fillRect/>
          </a:stretch>
        </p:blipFill>
        <p:spPr>
          <a:xfrm>
            <a:off x="554047" y="470126"/>
            <a:ext cx="4535640" cy="443704"/>
          </a:xfrm>
          <a:prstGeom prst="rect">
            <a:avLst/>
          </a:prstGeom>
        </p:spPr>
      </p:pic>
      <p:pic>
        <p:nvPicPr>
          <p:cNvPr id="5" name="Picture 4"/>
          <p:cNvPicPr>
            <a:picLocks noChangeAspect="1"/>
          </p:cNvPicPr>
          <p:nvPr/>
        </p:nvPicPr>
        <p:blipFill>
          <a:blip r:embed="rId3"/>
          <a:stretch>
            <a:fillRect/>
          </a:stretch>
        </p:blipFill>
        <p:spPr>
          <a:xfrm>
            <a:off x="418118" y="1152188"/>
            <a:ext cx="7601306" cy="5204162"/>
          </a:xfrm>
          <a:prstGeom prst="rect">
            <a:avLst/>
          </a:prstGeom>
        </p:spPr>
      </p:pic>
      <p:pic>
        <p:nvPicPr>
          <p:cNvPr id="6" name="Picture 5"/>
          <p:cNvPicPr>
            <a:picLocks noChangeAspect="1"/>
          </p:cNvPicPr>
          <p:nvPr/>
        </p:nvPicPr>
        <p:blipFill>
          <a:blip r:embed="rId4">
            <a:duotone>
              <a:prstClr val="black"/>
              <a:schemeClr val="accent4">
                <a:tint val="45000"/>
                <a:satMod val="400000"/>
              </a:schemeClr>
            </a:duotone>
          </a:blip>
          <a:stretch>
            <a:fillRect/>
          </a:stretch>
        </p:blipFill>
        <p:spPr>
          <a:xfrm>
            <a:off x="4939043" y="2501795"/>
            <a:ext cx="6630325" cy="1105054"/>
          </a:xfrm>
          <a:prstGeom prst="rect">
            <a:avLst/>
          </a:prstGeom>
        </p:spPr>
      </p:pic>
      <p:sp>
        <p:nvSpPr>
          <p:cNvPr id="7" name="Rectangle 6"/>
          <p:cNvSpPr/>
          <p:nvPr/>
        </p:nvSpPr>
        <p:spPr>
          <a:xfrm>
            <a:off x="6240161" y="3934610"/>
            <a:ext cx="5671751" cy="2246769"/>
          </a:xfrm>
          <a:prstGeom prst="rect">
            <a:avLst/>
          </a:prstGeom>
          <a:solidFill>
            <a:schemeClr val="accent2">
              <a:lumMod val="40000"/>
              <a:lumOff val="60000"/>
            </a:schemeClr>
          </a:solidFill>
        </p:spPr>
        <p:txBody>
          <a:bodyPr wrap="square">
            <a:spAutoFit/>
          </a:bodyPr>
          <a:lstStyle/>
          <a:p>
            <a:pPr marL="285750" indent="-285750">
              <a:buFont typeface="Arial" panose="020B0604020202020204" pitchFamily="34" charset="0"/>
              <a:buChar char="•"/>
            </a:pPr>
            <a:r>
              <a:rPr lang="en-US" sz="1400" dirty="0">
                <a:solidFill>
                  <a:srgbClr val="242021"/>
                </a:solidFill>
                <a:latin typeface="TimesTenLTStd-Roman"/>
              </a:rPr>
              <a:t>Suppose Bob revokes the privilege from David. David still has the access right because it was granted by Chris at </a:t>
            </a:r>
            <a:r>
              <a:rPr lang="en-US" sz="1400" i="1" dirty="0">
                <a:solidFill>
                  <a:srgbClr val="242021"/>
                </a:solidFill>
                <a:latin typeface="TimesTenLTStd-Italic"/>
              </a:rPr>
              <a:t>t </a:t>
            </a:r>
            <a:r>
              <a:rPr lang="en-US" sz="1400" dirty="0">
                <a:solidFill>
                  <a:srgbClr val="242021"/>
                </a:solidFill>
                <a:latin typeface="PearsonMATHPRO08"/>
              </a:rPr>
              <a:t>= </a:t>
            </a:r>
            <a:r>
              <a:rPr lang="en-US" sz="1400" dirty="0">
                <a:solidFill>
                  <a:srgbClr val="242021"/>
                </a:solidFill>
                <a:latin typeface="TimesTenLTStd-Roman"/>
              </a:rPr>
              <a:t>50.</a:t>
            </a:r>
          </a:p>
          <a:p>
            <a:pPr marL="285750" indent="-285750">
              <a:buFont typeface="Arial" panose="020B0604020202020204" pitchFamily="34" charset="0"/>
              <a:buChar char="•"/>
            </a:pPr>
            <a:endParaRPr lang="en-US" sz="1400" dirty="0">
              <a:solidFill>
                <a:srgbClr val="242021"/>
              </a:solidFill>
              <a:latin typeface="TimesTenLTStd-Roman"/>
            </a:endParaRPr>
          </a:p>
          <a:p>
            <a:pPr marL="285750" indent="-285750">
              <a:buFont typeface="Arial" panose="020B0604020202020204" pitchFamily="34" charset="0"/>
              <a:buChar char="•"/>
            </a:pPr>
            <a:r>
              <a:rPr lang="en-US" sz="1400" dirty="0">
                <a:solidFill>
                  <a:srgbClr val="242021"/>
                </a:solidFill>
                <a:latin typeface="TimesTenLTStd-Roman"/>
              </a:rPr>
              <a:t>The access rights to Ellen and Jim is revoked when Bob revokes the access right to David. </a:t>
            </a:r>
          </a:p>
          <a:p>
            <a:pPr marL="285750" indent="-285750">
              <a:buFont typeface="Arial" panose="020B0604020202020204" pitchFamily="34" charset="0"/>
              <a:buChar char="•"/>
            </a:pPr>
            <a:endParaRPr lang="en-US" sz="1400" dirty="0">
              <a:solidFill>
                <a:srgbClr val="242021"/>
              </a:solidFill>
              <a:latin typeface="TimesTenLTStd-Roman"/>
            </a:endParaRPr>
          </a:p>
          <a:p>
            <a:pPr marL="285750" indent="-285750">
              <a:buFont typeface="Arial" panose="020B0604020202020204" pitchFamily="34" charset="0"/>
              <a:buChar char="•"/>
            </a:pPr>
            <a:r>
              <a:rPr lang="en-US" sz="1400" b="1" dirty="0">
                <a:solidFill>
                  <a:srgbClr val="FF0000"/>
                </a:solidFill>
                <a:latin typeface="TimesTenLTStd-Roman"/>
              </a:rPr>
              <a:t>Why?</a:t>
            </a:r>
            <a:r>
              <a:rPr lang="en-US" sz="1400" dirty="0">
                <a:solidFill>
                  <a:srgbClr val="242021"/>
                </a:solidFill>
                <a:latin typeface="TimesTenLTStd-Roman"/>
              </a:rPr>
              <a:t> This is because at </a:t>
            </a:r>
            <a:r>
              <a:rPr lang="en-US" sz="1400" i="1" dirty="0">
                <a:solidFill>
                  <a:srgbClr val="242021"/>
                </a:solidFill>
                <a:latin typeface="TimesTenLTStd-Italic"/>
              </a:rPr>
              <a:t>t </a:t>
            </a:r>
            <a:r>
              <a:rPr lang="en-US" sz="1400" dirty="0">
                <a:solidFill>
                  <a:srgbClr val="242021"/>
                </a:solidFill>
                <a:latin typeface="PearsonMATHPRO08"/>
              </a:rPr>
              <a:t>= </a:t>
            </a:r>
            <a:r>
              <a:rPr lang="en-US" sz="1400" dirty="0">
                <a:solidFill>
                  <a:srgbClr val="242021"/>
                </a:solidFill>
                <a:latin typeface="TimesTenLTStd-Roman"/>
              </a:rPr>
              <a:t>40, when David granted the access right to Ellen, David only had the grant option to do this from Bob. When Bob revokes the right, this causes all subsequent cascaded grants that are traceable solely to Bob via David to be revoked. </a:t>
            </a:r>
            <a:endParaRPr lang="en-US" sz="1400" dirty="0"/>
          </a:p>
        </p:txBody>
      </p:sp>
      <p:sp>
        <p:nvSpPr>
          <p:cNvPr id="8" name="Right Arrow 7"/>
          <p:cNvSpPr/>
          <p:nvPr/>
        </p:nvSpPr>
        <p:spPr>
          <a:xfrm rot="499046">
            <a:off x="4981384" y="5249295"/>
            <a:ext cx="1189908" cy="457200"/>
          </a:xfrm>
          <a:prstGeom prst="rightArrow">
            <a:avLst/>
          </a:prstGeom>
          <a:solidFill>
            <a:srgbClr val="FF0000"/>
          </a:solid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5849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481914" y="1383957"/>
            <a:ext cx="6524368" cy="4793006"/>
          </a:xfrm>
        </p:spPr>
        <p:txBody>
          <a:bodyPr>
            <a:normAutofit fontScale="77500" lnSpcReduction="20000"/>
          </a:bodyPr>
          <a:lstStyle/>
          <a:p>
            <a:r>
              <a:rPr lang="en-US" dirty="0"/>
              <a:t>Inference, as it relates to database security, is the process of performing authorized queries and deducing unauthorized information from the legitimate responses received. </a:t>
            </a:r>
          </a:p>
          <a:p>
            <a:r>
              <a:rPr lang="en-US" dirty="0"/>
              <a:t>The inference problem arises when the combination of a number of data items is more sensitive than the individual items, or when a combination of data items can be used to infer data of higher sensitivity. </a:t>
            </a:r>
          </a:p>
          <a:p>
            <a:r>
              <a:rPr lang="en-US" dirty="0"/>
              <a:t>Figure 5.7 illustrates the process. The attacker may make use of non sensitive data as well as metadata. The information transfer path by which unauthorized data is obtained is referred to as an </a:t>
            </a:r>
            <a:r>
              <a:rPr lang="en-US" b="1" dirty="0"/>
              <a:t>inference channel</a:t>
            </a:r>
            <a:r>
              <a:rPr lang="en-US" dirty="0"/>
              <a:t>.</a:t>
            </a:r>
          </a:p>
          <a:p>
            <a:r>
              <a:rPr lang="en-US" dirty="0">
                <a:solidFill>
                  <a:srgbClr val="FF0000"/>
                </a:solidFill>
              </a:rPr>
              <a:t>Two inference techniques can be used to derive additional information: </a:t>
            </a:r>
          </a:p>
          <a:p>
            <a:pPr lvl="1"/>
            <a:r>
              <a:rPr lang="en-US" dirty="0">
                <a:solidFill>
                  <a:srgbClr val="FF0000"/>
                </a:solidFill>
              </a:rPr>
              <a:t>Analyzing functional dependencies between attributes within a table or across tables, and </a:t>
            </a:r>
          </a:p>
          <a:p>
            <a:pPr lvl="1"/>
            <a:r>
              <a:rPr lang="en-US" dirty="0">
                <a:solidFill>
                  <a:srgbClr val="FF0000"/>
                </a:solidFill>
              </a:rPr>
              <a:t>Merging views with the same constraints. </a:t>
            </a:r>
            <a:endParaRPr lang="en-US" dirty="0"/>
          </a:p>
        </p:txBody>
      </p:sp>
      <p:sp>
        <p:nvSpPr>
          <p:cNvPr id="2" name="Slide Number Placeholder 1"/>
          <p:cNvSpPr>
            <a:spLocks noGrp="1"/>
          </p:cNvSpPr>
          <p:nvPr>
            <p:ph type="sldNum" sz="quarter" idx="12"/>
          </p:nvPr>
        </p:nvSpPr>
        <p:spPr/>
        <p:txBody>
          <a:bodyPr/>
          <a:lstStyle/>
          <a:p>
            <a:fld id="{A2A50C4D-0BA1-4E54-8DFC-01810EC97B99}" type="slidenum">
              <a:rPr lang="en-US" smtClean="0"/>
              <a:t>13</a:t>
            </a:fld>
            <a:endParaRPr lang="en-US"/>
          </a:p>
        </p:txBody>
      </p:sp>
      <p:pic>
        <p:nvPicPr>
          <p:cNvPr id="3" name="Picture 2"/>
          <p:cNvPicPr>
            <a:picLocks noChangeAspect="1"/>
          </p:cNvPicPr>
          <p:nvPr/>
        </p:nvPicPr>
        <p:blipFill>
          <a:blip r:embed="rId2"/>
          <a:stretch>
            <a:fillRect/>
          </a:stretch>
        </p:blipFill>
        <p:spPr>
          <a:xfrm>
            <a:off x="7338089" y="1945481"/>
            <a:ext cx="4488438" cy="3669958"/>
          </a:xfrm>
          <a:prstGeom prst="rect">
            <a:avLst/>
          </a:prstGeom>
        </p:spPr>
      </p:pic>
      <p:pic>
        <p:nvPicPr>
          <p:cNvPr id="4" name="Picture 3"/>
          <p:cNvPicPr>
            <a:picLocks noChangeAspect="1"/>
          </p:cNvPicPr>
          <p:nvPr/>
        </p:nvPicPr>
        <p:blipFill>
          <a:blip r:embed="rId3"/>
          <a:stretch>
            <a:fillRect/>
          </a:stretch>
        </p:blipFill>
        <p:spPr>
          <a:xfrm>
            <a:off x="613960" y="445846"/>
            <a:ext cx="2810048" cy="517981"/>
          </a:xfrm>
          <a:prstGeom prst="rect">
            <a:avLst/>
          </a:prstGeom>
        </p:spPr>
      </p:pic>
      <p:sp>
        <p:nvSpPr>
          <p:cNvPr id="8" name="Rectangle 7"/>
          <p:cNvSpPr/>
          <p:nvPr/>
        </p:nvSpPr>
        <p:spPr>
          <a:xfrm>
            <a:off x="7434648" y="471562"/>
            <a:ext cx="4489622" cy="1200329"/>
          </a:xfrm>
          <a:prstGeom prst="rect">
            <a:avLst/>
          </a:prstGeom>
        </p:spPr>
        <p:txBody>
          <a:bodyPr wrap="square">
            <a:spAutoFit/>
          </a:bodyPr>
          <a:lstStyle/>
          <a:p>
            <a:r>
              <a:rPr lang="en-US" dirty="0">
                <a:solidFill>
                  <a:srgbClr val="002060"/>
                </a:solidFill>
              </a:rPr>
              <a:t>Metadata refers to knowledge about correlations or dependencies among data items that can be used to deduce information not otherwise available to a particular user.</a:t>
            </a:r>
          </a:p>
        </p:txBody>
      </p:sp>
    </p:spTree>
    <p:extLst>
      <p:ext uri="{BB962C8B-B14F-4D97-AF65-F5344CB8AC3E}">
        <p14:creationId xmlns:p14="http://schemas.microsoft.com/office/powerpoint/2010/main" val="2290196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14</a:t>
            </a:fld>
            <a:endParaRPr lang="en-US"/>
          </a:p>
        </p:txBody>
      </p:sp>
      <p:pic>
        <p:nvPicPr>
          <p:cNvPr id="5" name="Picture 4"/>
          <p:cNvPicPr>
            <a:picLocks noChangeAspect="1"/>
          </p:cNvPicPr>
          <p:nvPr/>
        </p:nvPicPr>
        <p:blipFill>
          <a:blip r:embed="rId2"/>
          <a:stretch>
            <a:fillRect/>
          </a:stretch>
        </p:blipFill>
        <p:spPr>
          <a:xfrm>
            <a:off x="3304360" y="117037"/>
            <a:ext cx="6024989" cy="6740963"/>
          </a:xfrm>
          <a:prstGeom prst="rect">
            <a:avLst/>
          </a:prstGeom>
        </p:spPr>
      </p:pic>
      <p:pic>
        <p:nvPicPr>
          <p:cNvPr id="6" name="Picture 5"/>
          <p:cNvPicPr>
            <a:picLocks noChangeAspect="1"/>
          </p:cNvPicPr>
          <p:nvPr/>
        </p:nvPicPr>
        <p:blipFill>
          <a:blip r:embed="rId3">
            <a:duotone>
              <a:prstClr val="black"/>
              <a:schemeClr val="accent4">
                <a:tint val="45000"/>
                <a:satMod val="400000"/>
              </a:schemeClr>
            </a:duotone>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9329349" y="1943411"/>
            <a:ext cx="2588754" cy="926502"/>
          </a:xfrm>
          <a:prstGeom prst="rect">
            <a:avLst/>
          </a:prstGeom>
        </p:spPr>
      </p:pic>
      <p:pic>
        <p:nvPicPr>
          <p:cNvPr id="7" name="Picture 6"/>
          <p:cNvPicPr>
            <a:picLocks noChangeAspect="1"/>
          </p:cNvPicPr>
          <p:nvPr/>
        </p:nvPicPr>
        <p:blipFill>
          <a:blip r:embed="rId5">
            <a:duotone>
              <a:prstClr val="black"/>
              <a:schemeClr val="accent4">
                <a:tint val="45000"/>
                <a:satMod val="400000"/>
              </a:schemeClr>
            </a:duotone>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9316992" y="3006438"/>
            <a:ext cx="2724530" cy="962159"/>
          </a:xfrm>
          <a:prstGeom prst="rect">
            <a:avLst/>
          </a:prstGeom>
        </p:spPr>
      </p:pic>
      <p:cxnSp>
        <p:nvCxnSpPr>
          <p:cNvPr id="9" name="Straight Arrow Connector 8"/>
          <p:cNvCxnSpPr/>
          <p:nvPr/>
        </p:nvCxnSpPr>
        <p:spPr>
          <a:xfrm>
            <a:off x="4584357" y="4263081"/>
            <a:ext cx="679621" cy="48191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7376985" y="4263081"/>
            <a:ext cx="543696" cy="54369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317560" y="3406394"/>
            <a:ext cx="3109247" cy="2800767"/>
          </a:xfrm>
          <a:prstGeom prst="rect">
            <a:avLst/>
          </a:prstGeom>
        </p:spPr>
        <p:txBody>
          <a:bodyPr wrap="square">
            <a:spAutoFit/>
          </a:bodyPr>
          <a:lstStyle/>
          <a:p>
            <a:r>
              <a:rPr lang="en-US" sz="1600" dirty="0">
                <a:solidFill>
                  <a:srgbClr val="FF0000"/>
                </a:solidFill>
                <a:latin typeface="TimesTenLTStd-Roman"/>
              </a:rPr>
              <a:t>A user who knows the structure of the Inventory table and who knows that the view tables maintain the same row order as the Inventory table is then able to merge the two views to construct the table shown in Figure 5.8c. This violates the access control policy that the relationship of attributes Item and Cost must not be disclosed.</a:t>
            </a:r>
            <a:r>
              <a:rPr lang="en-US" sz="1600" dirty="0">
                <a:solidFill>
                  <a:srgbClr val="FF0000"/>
                </a:solidFill>
              </a:rPr>
              <a:t> </a:t>
            </a:r>
          </a:p>
        </p:txBody>
      </p:sp>
      <p:pic>
        <p:nvPicPr>
          <p:cNvPr id="14" name="Picture 13"/>
          <p:cNvPicPr>
            <a:picLocks noChangeAspect="1"/>
          </p:cNvPicPr>
          <p:nvPr/>
        </p:nvPicPr>
        <p:blipFill>
          <a:blip r:embed="rId7"/>
          <a:stretch>
            <a:fillRect/>
          </a:stretch>
        </p:blipFill>
        <p:spPr>
          <a:xfrm>
            <a:off x="613960" y="445846"/>
            <a:ext cx="2810048" cy="517981"/>
          </a:xfrm>
          <a:prstGeom prst="rect">
            <a:avLst/>
          </a:prstGeom>
        </p:spPr>
      </p:pic>
    </p:spTree>
    <p:extLst>
      <p:ext uri="{BB962C8B-B14F-4D97-AF65-F5344CB8AC3E}">
        <p14:creationId xmlns:p14="http://schemas.microsoft.com/office/powerpoint/2010/main" val="704627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15</a:t>
            </a:fld>
            <a:endParaRPr lang="en-US"/>
          </a:p>
        </p:txBody>
      </p:sp>
      <p:pic>
        <p:nvPicPr>
          <p:cNvPr id="3" name="Picture 2"/>
          <p:cNvPicPr>
            <a:picLocks noChangeAspect="1"/>
          </p:cNvPicPr>
          <p:nvPr/>
        </p:nvPicPr>
        <p:blipFill>
          <a:blip r:embed="rId2"/>
          <a:stretch>
            <a:fillRect/>
          </a:stretch>
        </p:blipFill>
        <p:spPr>
          <a:xfrm>
            <a:off x="613960" y="1729647"/>
            <a:ext cx="11101587" cy="4288093"/>
          </a:xfrm>
          <a:prstGeom prst="rect">
            <a:avLst/>
          </a:prstGeom>
        </p:spPr>
      </p:pic>
      <p:pic>
        <p:nvPicPr>
          <p:cNvPr id="4" name="Picture 3"/>
          <p:cNvPicPr>
            <a:picLocks noChangeAspect="1"/>
          </p:cNvPicPr>
          <p:nvPr/>
        </p:nvPicPr>
        <p:blipFill>
          <a:blip r:embed="rId3"/>
          <a:stretch>
            <a:fillRect/>
          </a:stretch>
        </p:blipFill>
        <p:spPr>
          <a:xfrm>
            <a:off x="613960" y="445846"/>
            <a:ext cx="2810048" cy="517981"/>
          </a:xfrm>
          <a:prstGeom prst="rect">
            <a:avLst/>
          </a:prstGeom>
        </p:spPr>
      </p:pic>
      <p:sp>
        <p:nvSpPr>
          <p:cNvPr id="5" name="TextBox 4"/>
          <p:cNvSpPr txBox="1"/>
          <p:nvPr/>
        </p:nvSpPr>
        <p:spPr>
          <a:xfrm>
            <a:off x="3744097" y="515020"/>
            <a:ext cx="7133941" cy="461665"/>
          </a:xfrm>
          <a:prstGeom prst="rect">
            <a:avLst/>
          </a:prstGeom>
          <a:noFill/>
        </p:spPr>
        <p:txBody>
          <a:bodyPr wrap="none" rtlCol="0">
            <a:spAutoFit/>
          </a:bodyPr>
          <a:lstStyle/>
          <a:p>
            <a:r>
              <a:rPr lang="en-US" sz="2400" dirty="0">
                <a:solidFill>
                  <a:srgbClr val="FF0000"/>
                </a:solidFill>
              </a:rPr>
              <a:t>How to dead with the threat of disclosure by inference?</a:t>
            </a:r>
          </a:p>
        </p:txBody>
      </p:sp>
    </p:spTree>
    <p:extLst>
      <p:ext uri="{BB962C8B-B14F-4D97-AF65-F5344CB8AC3E}">
        <p14:creationId xmlns:p14="http://schemas.microsoft.com/office/powerpoint/2010/main" val="296429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16</a:t>
            </a:fld>
            <a:endParaRPr lang="en-US"/>
          </a:p>
        </p:txBody>
      </p:sp>
      <p:sp>
        <p:nvSpPr>
          <p:cNvPr id="3" name="Rectangle 2"/>
          <p:cNvSpPr/>
          <p:nvPr/>
        </p:nvSpPr>
        <p:spPr>
          <a:xfrm>
            <a:off x="556053" y="554674"/>
            <a:ext cx="10948086" cy="923330"/>
          </a:xfrm>
          <a:prstGeom prst="rect">
            <a:avLst/>
          </a:prstGeom>
          <a:solidFill>
            <a:schemeClr val="accent2">
              <a:lumMod val="40000"/>
              <a:lumOff val="60000"/>
            </a:schemeClr>
          </a:solidFill>
        </p:spPr>
        <p:txBody>
          <a:bodyPr wrap="square">
            <a:spAutoFit/>
          </a:bodyPr>
          <a:lstStyle/>
          <a:p>
            <a:r>
              <a:rPr lang="en-US" dirty="0">
                <a:solidFill>
                  <a:srgbClr val="242021"/>
                </a:solidFill>
                <a:latin typeface="TimesTenLTStd-Roman"/>
              </a:rPr>
              <a:t>Consider a database containing personnel information, including names, addresses, and salaries of employees. Individually, the name, address, and salary information is available to a subordinate role, such as Clerk, but the association of names and salaries is restricted to a superior role, such as Administrator. </a:t>
            </a:r>
            <a:endParaRPr lang="en-US" dirty="0"/>
          </a:p>
        </p:txBody>
      </p:sp>
      <p:sp>
        <p:nvSpPr>
          <p:cNvPr id="4" name="TextBox 3"/>
          <p:cNvSpPr txBox="1"/>
          <p:nvPr/>
        </p:nvSpPr>
        <p:spPr>
          <a:xfrm>
            <a:off x="676964" y="1865871"/>
            <a:ext cx="10706264" cy="400110"/>
          </a:xfrm>
          <a:prstGeom prst="rect">
            <a:avLst/>
          </a:prstGeom>
          <a:noFill/>
        </p:spPr>
        <p:txBody>
          <a:bodyPr wrap="none" rtlCol="0">
            <a:spAutoFit/>
          </a:bodyPr>
          <a:lstStyle/>
          <a:p>
            <a:r>
              <a:rPr lang="en-US" sz="2000" dirty="0">
                <a:solidFill>
                  <a:srgbClr val="FF0000"/>
                </a:solidFill>
              </a:rPr>
              <a:t>Create a small database schema to hold the above information. How we safeguard against inference?</a:t>
            </a:r>
          </a:p>
        </p:txBody>
      </p:sp>
      <p:grpSp>
        <p:nvGrpSpPr>
          <p:cNvPr id="7" name="Group 6"/>
          <p:cNvGrpSpPr/>
          <p:nvPr/>
        </p:nvGrpSpPr>
        <p:grpSpPr>
          <a:xfrm>
            <a:off x="716767" y="2524929"/>
            <a:ext cx="8723789" cy="3572472"/>
            <a:chOff x="1569389" y="2524929"/>
            <a:chExt cx="8723789" cy="3572472"/>
          </a:xfrm>
        </p:grpSpPr>
        <p:pic>
          <p:nvPicPr>
            <p:cNvPr id="5" name="Picture 4"/>
            <p:cNvPicPr>
              <a:picLocks noChangeAspect="1"/>
            </p:cNvPicPr>
            <p:nvPr/>
          </p:nvPicPr>
          <p:blipFill>
            <a:blip r:embed="rId2"/>
            <a:stretch>
              <a:fillRect/>
            </a:stretch>
          </p:blipFill>
          <p:spPr>
            <a:xfrm>
              <a:off x="1569389" y="2524929"/>
              <a:ext cx="8723789" cy="3572472"/>
            </a:xfrm>
            <a:prstGeom prst="rect">
              <a:avLst/>
            </a:prstGeom>
          </p:spPr>
        </p:pic>
        <p:sp>
          <p:nvSpPr>
            <p:cNvPr id="6" name="Rectangle 5"/>
            <p:cNvSpPr/>
            <p:nvPr/>
          </p:nvSpPr>
          <p:spPr>
            <a:xfrm>
              <a:off x="3064476" y="5795319"/>
              <a:ext cx="7228702" cy="3020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7"/>
          <p:cNvSpPr/>
          <p:nvPr/>
        </p:nvSpPr>
        <p:spPr>
          <a:xfrm>
            <a:off x="5624979" y="3249301"/>
            <a:ext cx="5758249" cy="707886"/>
          </a:xfrm>
          <a:prstGeom prst="rect">
            <a:avLst/>
          </a:prstGeom>
          <a:solidFill>
            <a:schemeClr val="accent1">
              <a:lumMod val="40000"/>
              <a:lumOff val="60000"/>
            </a:schemeClr>
          </a:solidFill>
        </p:spPr>
        <p:txBody>
          <a:bodyPr wrap="square">
            <a:spAutoFit/>
          </a:bodyPr>
          <a:lstStyle/>
          <a:p>
            <a:r>
              <a:rPr lang="en-US" sz="2000" dirty="0">
                <a:solidFill>
                  <a:srgbClr val="FF0000"/>
                </a:solidFill>
                <a:latin typeface="Sitka Text" panose="02000505000000020004" pitchFamily="2" charset="0"/>
              </a:rPr>
              <a:t> In which table a new attribute, employee start date could be added if it is not sensitive? </a:t>
            </a:r>
          </a:p>
        </p:txBody>
      </p:sp>
    </p:spTree>
    <p:extLst>
      <p:ext uri="{BB962C8B-B14F-4D97-AF65-F5344CB8AC3E}">
        <p14:creationId xmlns:p14="http://schemas.microsoft.com/office/powerpoint/2010/main" val="3194847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17</a:t>
            </a:fld>
            <a:endParaRPr lang="en-US"/>
          </a:p>
        </p:txBody>
      </p:sp>
      <p:sp>
        <p:nvSpPr>
          <p:cNvPr id="3" name="Rectangle 2"/>
          <p:cNvSpPr/>
          <p:nvPr/>
        </p:nvSpPr>
        <p:spPr>
          <a:xfrm>
            <a:off x="556053" y="554674"/>
            <a:ext cx="10948086" cy="923330"/>
          </a:xfrm>
          <a:prstGeom prst="rect">
            <a:avLst/>
          </a:prstGeom>
          <a:solidFill>
            <a:schemeClr val="accent2">
              <a:lumMod val="40000"/>
              <a:lumOff val="60000"/>
            </a:schemeClr>
          </a:solidFill>
        </p:spPr>
        <p:txBody>
          <a:bodyPr wrap="square">
            <a:spAutoFit/>
          </a:bodyPr>
          <a:lstStyle/>
          <a:p>
            <a:r>
              <a:rPr lang="en-US" dirty="0">
                <a:solidFill>
                  <a:srgbClr val="242021"/>
                </a:solidFill>
                <a:latin typeface="TimesTenLTStd-Roman"/>
              </a:rPr>
              <a:t>Consider a database containing personnel information, including names, addresses, and salaries of employees. Individually, the name, address, and salary information is available to a subordinate role, such as Clerk, but the association of names and salaries is restricted to a superior role, such as Administrator. </a:t>
            </a:r>
            <a:endParaRPr lang="en-US" dirty="0"/>
          </a:p>
        </p:txBody>
      </p:sp>
      <p:sp>
        <p:nvSpPr>
          <p:cNvPr id="8" name="Rectangle 7"/>
          <p:cNvSpPr/>
          <p:nvPr/>
        </p:nvSpPr>
        <p:spPr>
          <a:xfrm>
            <a:off x="606807" y="1848312"/>
            <a:ext cx="10846578" cy="400110"/>
          </a:xfrm>
          <a:prstGeom prst="rect">
            <a:avLst/>
          </a:prstGeom>
          <a:solidFill>
            <a:schemeClr val="accent1">
              <a:lumMod val="40000"/>
              <a:lumOff val="60000"/>
            </a:schemeClr>
          </a:solidFill>
        </p:spPr>
        <p:txBody>
          <a:bodyPr wrap="square">
            <a:spAutoFit/>
          </a:bodyPr>
          <a:lstStyle/>
          <a:p>
            <a:r>
              <a:rPr lang="en-US" sz="2000" dirty="0">
                <a:solidFill>
                  <a:srgbClr val="FF0000"/>
                </a:solidFill>
                <a:latin typeface="Sitka Text" panose="02000505000000020004" pitchFamily="2" charset="0"/>
              </a:rPr>
              <a:t> In which table a new attribute, employee start date could be added if it is not sensitive? </a:t>
            </a:r>
          </a:p>
        </p:txBody>
      </p:sp>
      <p:pic>
        <p:nvPicPr>
          <p:cNvPr id="9" name="Picture 8"/>
          <p:cNvPicPr>
            <a:picLocks noChangeAspect="1"/>
          </p:cNvPicPr>
          <p:nvPr/>
        </p:nvPicPr>
        <p:blipFill>
          <a:blip r:embed="rId2"/>
          <a:stretch>
            <a:fillRect/>
          </a:stretch>
        </p:blipFill>
        <p:spPr>
          <a:xfrm>
            <a:off x="1391595" y="2495811"/>
            <a:ext cx="9482675" cy="3613150"/>
          </a:xfrm>
          <a:prstGeom prst="rect">
            <a:avLst/>
          </a:prstGeom>
        </p:spPr>
      </p:pic>
      <p:sp>
        <p:nvSpPr>
          <p:cNvPr id="10" name="Rectangle 9"/>
          <p:cNvSpPr/>
          <p:nvPr/>
        </p:nvSpPr>
        <p:spPr>
          <a:xfrm>
            <a:off x="1391595" y="2495811"/>
            <a:ext cx="1635810" cy="2968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432486" y="4843849"/>
            <a:ext cx="803190" cy="766119"/>
          </a:xfrm>
          <a:prstGeom prst="rightArrow">
            <a:avLst/>
          </a:prstGeom>
          <a:solidFill>
            <a:srgbClr val="FF0000"/>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a:off x="606807" y="3818238"/>
            <a:ext cx="1419701"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606807" y="3818238"/>
            <a:ext cx="0" cy="126038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1316657" y="4584357"/>
            <a:ext cx="1" cy="1524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5338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12967056-38FA-E35E-2F54-651AECE6CF5E}"/>
              </a:ext>
            </a:extLst>
          </p:cNvPr>
          <p:cNvSpPr>
            <a:spLocks noChangeArrowheads="1"/>
          </p:cNvSpPr>
          <p:nvPr/>
        </p:nvSpPr>
        <p:spPr bwMode="auto">
          <a:xfrm>
            <a:off x="84056" y="10916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1" i="0" u="none" strike="noStrike" cap="none" normalizeH="0" baseline="0" dirty="0">
                <a:ln>
                  <a:noFill/>
                </a:ln>
                <a:solidFill>
                  <a:schemeClr val="tx1"/>
                </a:solidFill>
                <a:effectLst/>
                <a:latin typeface="Arial" panose="020B0604020202020204" pitchFamily="34" charset="0"/>
              </a:rPr>
              <a:t>Initial Secure Design</a:t>
            </a:r>
            <a:endParaRPr kumimoji="0" lang="en-PK" altLang="en-PK"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graphicFrame>
        <p:nvGraphicFramePr>
          <p:cNvPr id="10" name="Table 9">
            <a:extLst>
              <a:ext uri="{FF2B5EF4-FFF2-40B4-BE49-F238E27FC236}">
                <a16:creationId xmlns:a16="http://schemas.microsoft.com/office/drawing/2014/main" id="{2AE207DA-17FB-7570-633C-0B4374C8CCA6}"/>
              </a:ext>
            </a:extLst>
          </p:cNvPr>
          <p:cNvGraphicFramePr>
            <a:graphicFrameLocks noGrp="1"/>
          </p:cNvGraphicFramePr>
          <p:nvPr>
            <p:extLst>
              <p:ext uri="{D42A27DB-BD31-4B8C-83A1-F6EECF244321}">
                <p14:modId xmlns:p14="http://schemas.microsoft.com/office/powerpoint/2010/main" val="3105396501"/>
              </p:ext>
            </p:extLst>
          </p:nvPr>
        </p:nvGraphicFramePr>
        <p:xfrm>
          <a:off x="84056" y="330687"/>
          <a:ext cx="10515600" cy="731520"/>
        </p:xfrm>
        <a:graphic>
          <a:graphicData uri="http://schemas.openxmlformats.org/drawingml/2006/table">
            <a:tbl>
              <a:tblPr>
                <a:tableStyleId>{8A107856-5554-42FB-B03E-39F5DBC370BA}</a:tableStyleId>
              </a:tblPr>
              <a:tblGrid>
                <a:gridCol w="3505200">
                  <a:extLst>
                    <a:ext uri="{9D8B030D-6E8A-4147-A177-3AD203B41FA5}">
                      <a16:colId xmlns:a16="http://schemas.microsoft.com/office/drawing/2014/main" val="1693793727"/>
                    </a:ext>
                  </a:extLst>
                </a:gridCol>
                <a:gridCol w="3505200">
                  <a:extLst>
                    <a:ext uri="{9D8B030D-6E8A-4147-A177-3AD203B41FA5}">
                      <a16:colId xmlns:a16="http://schemas.microsoft.com/office/drawing/2014/main" val="580134716"/>
                    </a:ext>
                  </a:extLst>
                </a:gridCol>
                <a:gridCol w="3505200">
                  <a:extLst>
                    <a:ext uri="{9D8B030D-6E8A-4147-A177-3AD203B41FA5}">
                      <a16:colId xmlns:a16="http://schemas.microsoft.com/office/drawing/2014/main" val="2475906549"/>
                    </a:ext>
                  </a:extLst>
                </a:gridCol>
              </a:tblGrid>
              <a:tr h="0">
                <a:tc>
                  <a:txBody>
                    <a:bodyPr/>
                    <a:lstStyle/>
                    <a:p>
                      <a:pPr>
                        <a:buNone/>
                      </a:pPr>
                      <a:r>
                        <a:rPr lang="en-US" b="1" dirty="0"/>
                        <a:t>Employees (Clerk)</a:t>
                      </a:r>
                      <a:endParaRPr lang="en-US" dirty="0"/>
                    </a:p>
                  </a:txBody>
                  <a:tcPr anchor="ctr"/>
                </a:tc>
                <a:tc>
                  <a:txBody>
                    <a:bodyPr/>
                    <a:lstStyle/>
                    <a:p>
                      <a:pPr>
                        <a:buNone/>
                      </a:pPr>
                      <a:r>
                        <a:rPr lang="en-US" b="1"/>
                        <a:t>Salaries (Clerk)</a:t>
                      </a:r>
                      <a:endParaRPr lang="en-US"/>
                    </a:p>
                  </a:txBody>
                  <a:tcPr anchor="ctr"/>
                </a:tc>
                <a:tc>
                  <a:txBody>
                    <a:bodyPr/>
                    <a:lstStyle/>
                    <a:p>
                      <a:pPr>
                        <a:buNone/>
                      </a:pPr>
                      <a:r>
                        <a:rPr lang="en-US" b="1"/>
                        <a:t>Emp-Salary (Admin)</a:t>
                      </a:r>
                      <a:endParaRPr lang="en-US"/>
                    </a:p>
                  </a:txBody>
                  <a:tcPr anchor="ctr"/>
                </a:tc>
                <a:extLst>
                  <a:ext uri="{0D108BD9-81ED-4DB2-BD59-A6C34878D82A}">
                    <a16:rowId xmlns:a16="http://schemas.microsoft.com/office/drawing/2014/main" val="38118594"/>
                  </a:ext>
                </a:extLst>
              </a:tr>
              <a:tr h="0">
                <a:tc>
                  <a:txBody>
                    <a:bodyPr/>
                    <a:lstStyle/>
                    <a:p>
                      <a:pPr>
                        <a:buNone/>
                      </a:pPr>
                      <a:r>
                        <a:rPr lang="en-US" dirty="0"/>
                        <a:t>Emp#, Name, Address</a:t>
                      </a:r>
                    </a:p>
                  </a:txBody>
                  <a:tcPr anchor="ctr"/>
                </a:tc>
                <a:tc>
                  <a:txBody>
                    <a:bodyPr/>
                    <a:lstStyle/>
                    <a:p>
                      <a:pPr>
                        <a:buNone/>
                      </a:pPr>
                      <a:r>
                        <a:rPr lang="en-US"/>
                        <a:t>S#, Salary</a:t>
                      </a:r>
                    </a:p>
                  </a:txBody>
                  <a:tcPr anchor="ctr"/>
                </a:tc>
                <a:tc>
                  <a:txBody>
                    <a:bodyPr/>
                    <a:lstStyle/>
                    <a:p>
                      <a:pPr>
                        <a:buNone/>
                      </a:pPr>
                      <a:r>
                        <a:rPr lang="en-US" dirty="0"/>
                        <a:t>Emp#, S#</a:t>
                      </a:r>
                    </a:p>
                  </a:txBody>
                  <a:tcPr anchor="ctr"/>
                </a:tc>
                <a:extLst>
                  <a:ext uri="{0D108BD9-81ED-4DB2-BD59-A6C34878D82A}">
                    <a16:rowId xmlns:a16="http://schemas.microsoft.com/office/drawing/2014/main" val="1823187663"/>
                  </a:ext>
                </a:extLst>
              </a:tr>
            </a:tbl>
          </a:graphicData>
        </a:graphic>
      </p:graphicFrame>
      <p:graphicFrame>
        <p:nvGraphicFramePr>
          <p:cNvPr id="14" name="Table 13">
            <a:extLst>
              <a:ext uri="{FF2B5EF4-FFF2-40B4-BE49-F238E27FC236}">
                <a16:creationId xmlns:a16="http://schemas.microsoft.com/office/drawing/2014/main" id="{A38EEF68-3147-AE4B-E4AF-651B4B3B7232}"/>
              </a:ext>
            </a:extLst>
          </p:cNvPr>
          <p:cNvGraphicFramePr>
            <a:graphicFrameLocks noGrp="1"/>
          </p:cNvGraphicFramePr>
          <p:nvPr>
            <p:extLst>
              <p:ext uri="{D42A27DB-BD31-4B8C-83A1-F6EECF244321}">
                <p14:modId xmlns:p14="http://schemas.microsoft.com/office/powerpoint/2010/main" val="3941068415"/>
              </p:ext>
            </p:extLst>
          </p:nvPr>
        </p:nvGraphicFramePr>
        <p:xfrm>
          <a:off x="84056" y="1297881"/>
          <a:ext cx="8178800" cy="1097280"/>
        </p:xfrm>
        <a:graphic>
          <a:graphicData uri="http://schemas.openxmlformats.org/drawingml/2006/table">
            <a:tbl>
              <a:tblPr>
                <a:tableStyleId>{8A107856-5554-42FB-B03E-39F5DBC370BA}</a:tableStyleId>
              </a:tblPr>
              <a:tblGrid>
                <a:gridCol w="1168400">
                  <a:extLst>
                    <a:ext uri="{9D8B030D-6E8A-4147-A177-3AD203B41FA5}">
                      <a16:colId xmlns:a16="http://schemas.microsoft.com/office/drawing/2014/main" val="1385660049"/>
                    </a:ext>
                  </a:extLst>
                </a:gridCol>
                <a:gridCol w="1168400">
                  <a:extLst>
                    <a:ext uri="{9D8B030D-6E8A-4147-A177-3AD203B41FA5}">
                      <a16:colId xmlns:a16="http://schemas.microsoft.com/office/drawing/2014/main" val="1473348016"/>
                    </a:ext>
                  </a:extLst>
                </a:gridCol>
                <a:gridCol w="1168400">
                  <a:extLst>
                    <a:ext uri="{9D8B030D-6E8A-4147-A177-3AD203B41FA5}">
                      <a16:colId xmlns:a16="http://schemas.microsoft.com/office/drawing/2014/main" val="2726347835"/>
                    </a:ext>
                  </a:extLst>
                </a:gridCol>
                <a:gridCol w="1168400">
                  <a:extLst>
                    <a:ext uri="{9D8B030D-6E8A-4147-A177-3AD203B41FA5}">
                      <a16:colId xmlns:a16="http://schemas.microsoft.com/office/drawing/2014/main" val="1878823689"/>
                    </a:ext>
                  </a:extLst>
                </a:gridCol>
                <a:gridCol w="1168400">
                  <a:extLst>
                    <a:ext uri="{9D8B030D-6E8A-4147-A177-3AD203B41FA5}">
                      <a16:colId xmlns:a16="http://schemas.microsoft.com/office/drawing/2014/main" val="4151521457"/>
                    </a:ext>
                  </a:extLst>
                </a:gridCol>
                <a:gridCol w="1168400">
                  <a:extLst>
                    <a:ext uri="{9D8B030D-6E8A-4147-A177-3AD203B41FA5}">
                      <a16:colId xmlns:a16="http://schemas.microsoft.com/office/drawing/2014/main" val="2366834900"/>
                    </a:ext>
                  </a:extLst>
                </a:gridCol>
                <a:gridCol w="1168400">
                  <a:extLst>
                    <a:ext uri="{9D8B030D-6E8A-4147-A177-3AD203B41FA5}">
                      <a16:colId xmlns:a16="http://schemas.microsoft.com/office/drawing/2014/main" val="2309542059"/>
                    </a:ext>
                  </a:extLst>
                </a:gridCol>
              </a:tblGrid>
              <a:tr h="0">
                <a:tc>
                  <a:txBody>
                    <a:bodyPr/>
                    <a:lstStyle/>
                    <a:p>
                      <a:pPr>
                        <a:buNone/>
                      </a:pPr>
                      <a:r>
                        <a:rPr lang="en-US" b="1"/>
                        <a:t>Emp#</a:t>
                      </a:r>
                    </a:p>
                  </a:txBody>
                  <a:tcPr anchor="ctr"/>
                </a:tc>
                <a:tc>
                  <a:txBody>
                    <a:bodyPr/>
                    <a:lstStyle/>
                    <a:p>
                      <a:pPr>
                        <a:buNone/>
                      </a:pPr>
                      <a:r>
                        <a:rPr lang="en-US" b="1"/>
                        <a:t>Name</a:t>
                      </a:r>
                    </a:p>
                  </a:txBody>
                  <a:tcPr anchor="ctr"/>
                </a:tc>
                <a:tc>
                  <a:txBody>
                    <a:bodyPr/>
                    <a:lstStyle/>
                    <a:p>
                      <a:pPr>
                        <a:buNone/>
                      </a:pPr>
                      <a:r>
                        <a:rPr lang="en-US" b="1" dirty="0"/>
                        <a:t>Address</a:t>
                      </a:r>
                    </a:p>
                  </a:txBody>
                  <a:tcPr anchor="ctr"/>
                </a:tc>
                <a:tc>
                  <a:txBody>
                    <a:bodyPr/>
                    <a:lstStyle/>
                    <a:p>
                      <a:pPr>
                        <a:buNone/>
                      </a:pPr>
                      <a:endParaRPr lang="en-PK"/>
                    </a:p>
                  </a:txBody>
                  <a:tcPr anchor="ctr"/>
                </a:tc>
                <a:tc>
                  <a:txBody>
                    <a:bodyPr/>
                    <a:lstStyle/>
                    <a:p>
                      <a:pPr>
                        <a:buNone/>
                      </a:pPr>
                      <a:r>
                        <a:rPr lang="en-US" b="1"/>
                        <a:t>S#</a:t>
                      </a:r>
                    </a:p>
                  </a:txBody>
                  <a:tcPr anchor="ctr"/>
                </a:tc>
                <a:tc>
                  <a:txBody>
                    <a:bodyPr/>
                    <a:lstStyle/>
                    <a:p>
                      <a:pPr>
                        <a:buNone/>
                      </a:pPr>
                      <a:r>
                        <a:rPr lang="en-US" b="1" dirty="0"/>
                        <a:t>Salary</a:t>
                      </a:r>
                    </a:p>
                  </a:txBody>
                  <a:tcPr anchor="ctr"/>
                </a:tc>
                <a:tc>
                  <a:txBody>
                    <a:bodyPr/>
                    <a:lstStyle/>
                    <a:p>
                      <a:pPr>
                        <a:buNone/>
                      </a:pPr>
                      <a:endParaRPr lang="en-PK"/>
                    </a:p>
                  </a:txBody>
                  <a:tcPr anchor="ctr"/>
                </a:tc>
                <a:extLst>
                  <a:ext uri="{0D108BD9-81ED-4DB2-BD59-A6C34878D82A}">
                    <a16:rowId xmlns:a16="http://schemas.microsoft.com/office/drawing/2014/main" val="1362197092"/>
                  </a:ext>
                </a:extLst>
              </a:tr>
              <a:tr h="0">
                <a:tc>
                  <a:txBody>
                    <a:bodyPr/>
                    <a:lstStyle/>
                    <a:p>
                      <a:pPr>
                        <a:buNone/>
                      </a:pPr>
                      <a:r>
                        <a:rPr lang="en-US" dirty="0"/>
                        <a:t>E1</a:t>
                      </a:r>
                    </a:p>
                  </a:txBody>
                  <a:tcPr anchor="ctr"/>
                </a:tc>
                <a:tc>
                  <a:txBody>
                    <a:bodyPr/>
                    <a:lstStyle/>
                    <a:p>
                      <a:pPr>
                        <a:buNone/>
                      </a:pPr>
                      <a:r>
                        <a:rPr lang="en-US"/>
                        <a:t>Ali</a:t>
                      </a:r>
                    </a:p>
                  </a:txBody>
                  <a:tcPr anchor="ctr"/>
                </a:tc>
                <a:tc>
                  <a:txBody>
                    <a:bodyPr/>
                    <a:lstStyle/>
                    <a:p>
                      <a:pPr>
                        <a:buNone/>
                      </a:pPr>
                      <a:r>
                        <a:rPr lang="en-US"/>
                        <a:t>Karachi</a:t>
                      </a:r>
                    </a:p>
                  </a:txBody>
                  <a:tcPr anchor="ctr"/>
                </a:tc>
                <a:tc>
                  <a:txBody>
                    <a:bodyPr/>
                    <a:lstStyle/>
                    <a:p>
                      <a:pPr>
                        <a:buNone/>
                      </a:pPr>
                      <a:endParaRPr lang="en-PK"/>
                    </a:p>
                  </a:txBody>
                  <a:tcPr anchor="ctr"/>
                </a:tc>
                <a:tc>
                  <a:txBody>
                    <a:bodyPr/>
                    <a:lstStyle/>
                    <a:p>
                      <a:pPr>
                        <a:buNone/>
                      </a:pPr>
                      <a:r>
                        <a:rPr lang="en-US" dirty="0"/>
                        <a:t>S1</a:t>
                      </a:r>
                    </a:p>
                  </a:txBody>
                  <a:tcPr anchor="ctr"/>
                </a:tc>
                <a:tc>
                  <a:txBody>
                    <a:bodyPr/>
                    <a:lstStyle/>
                    <a:p>
                      <a:pPr>
                        <a:buNone/>
                      </a:pPr>
                      <a:r>
                        <a:rPr lang="en-PK"/>
                        <a:t>120,000</a:t>
                      </a:r>
                    </a:p>
                  </a:txBody>
                  <a:tcPr anchor="ctr"/>
                </a:tc>
                <a:tc>
                  <a:txBody>
                    <a:bodyPr/>
                    <a:lstStyle/>
                    <a:p>
                      <a:pPr>
                        <a:buNone/>
                      </a:pPr>
                      <a:endParaRPr lang="en-PK"/>
                    </a:p>
                  </a:txBody>
                  <a:tcPr anchor="ctr"/>
                </a:tc>
                <a:extLst>
                  <a:ext uri="{0D108BD9-81ED-4DB2-BD59-A6C34878D82A}">
                    <a16:rowId xmlns:a16="http://schemas.microsoft.com/office/drawing/2014/main" val="2858565355"/>
                  </a:ext>
                </a:extLst>
              </a:tr>
              <a:tr h="0">
                <a:tc>
                  <a:txBody>
                    <a:bodyPr/>
                    <a:lstStyle/>
                    <a:p>
                      <a:pPr>
                        <a:buNone/>
                      </a:pPr>
                      <a:r>
                        <a:rPr lang="en-US"/>
                        <a:t>E2</a:t>
                      </a:r>
                    </a:p>
                  </a:txBody>
                  <a:tcPr anchor="ctr"/>
                </a:tc>
                <a:tc>
                  <a:txBody>
                    <a:bodyPr/>
                    <a:lstStyle/>
                    <a:p>
                      <a:pPr>
                        <a:buNone/>
                      </a:pPr>
                      <a:r>
                        <a:rPr lang="en-US"/>
                        <a:t>Sara</a:t>
                      </a:r>
                    </a:p>
                  </a:txBody>
                  <a:tcPr anchor="ctr"/>
                </a:tc>
                <a:tc>
                  <a:txBody>
                    <a:bodyPr/>
                    <a:lstStyle/>
                    <a:p>
                      <a:pPr>
                        <a:buNone/>
                      </a:pPr>
                      <a:r>
                        <a:rPr lang="en-US"/>
                        <a:t>Lahore</a:t>
                      </a:r>
                    </a:p>
                  </a:txBody>
                  <a:tcPr anchor="ctr"/>
                </a:tc>
                <a:tc>
                  <a:txBody>
                    <a:bodyPr/>
                    <a:lstStyle/>
                    <a:p>
                      <a:pPr>
                        <a:buNone/>
                      </a:pPr>
                      <a:endParaRPr lang="en-PK" dirty="0"/>
                    </a:p>
                  </a:txBody>
                  <a:tcPr anchor="ctr"/>
                </a:tc>
                <a:tc>
                  <a:txBody>
                    <a:bodyPr/>
                    <a:lstStyle/>
                    <a:p>
                      <a:pPr>
                        <a:buNone/>
                      </a:pPr>
                      <a:r>
                        <a:rPr lang="en-US"/>
                        <a:t>S2</a:t>
                      </a:r>
                    </a:p>
                  </a:txBody>
                  <a:tcPr anchor="ctr"/>
                </a:tc>
                <a:tc>
                  <a:txBody>
                    <a:bodyPr/>
                    <a:lstStyle/>
                    <a:p>
                      <a:pPr>
                        <a:buNone/>
                      </a:pPr>
                      <a:r>
                        <a:rPr lang="en-PK"/>
                        <a:t>90,000</a:t>
                      </a:r>
                    </a:p>
                  </a:txBody>
                  <a:tcPr anchor="ctr"/>
                </a:tc>
                <a:tc>
                  <a:txBody>
                    <a:bodyPr/>
                    <a:lstStyle/>
                    <a:p>
                      <a:pPr>
                        <a:buNone/>
                      </a:pPr>
                      <a:endParaRPr lang="en-PK" dirty="0"/>
                    </a:p>
                  </a:txBody>
                  <a:tcPr anchor="ctr"/>
                </a:tc>
                <a:extLst>
                  <a:ext uri="{0D108BD9-81ED-4DB2-BD59-A6C34878D82A}">
                    <a16:rowId xmlns:a16="http://schemas.microsoft.com/office/drawing/2014/main" val="1238391168"/>
                  </a:ext>
                </a:extLst>
              </a:tr>
            </a:tbl>
          </a:graphicData>
        </a:graphic>
      </p:graphicFrame>
      <p:sp>
        <p:nvSpPr>
          <p:cNvPr id="15" name="Rectangle 4">
            <a:extLst>
              <a:ext uri="{FF2B5EF4-FFF2-40B4-BE49-F238E27FC236}">
                <a16:creationId xmlns:a16="http://schemas.microsoft.com/office/drawing/2014/main" id="{8304DEF7-7D82-88E7-4CB7-B53A718921CA}"/>
              </a:ext>
            </a:extLst>
          </p:cNvPr>
          <p:cNvSpPr>
            <a:spLocks noChangeArrowheads="1"/>
          </p:cNvSpPr>
          <p:nvPr/>
        </p:nvSpPr>
        <p:spPr bwMode="auto">
          <a:xfrm>
            <a:off x="0" y="2336551"/>
            <a:ext cx="66736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1800" b="0" i="0" u="none" strike="noStrike" cap="none" normalizeH="0" baseline="0" dirty="0">
                <a:ln>
                  <a:noFill/>
                </a:ln>
                <a:solidFill>
                  <a:schemeClr val="tx1"/>
                </a:solidFill>
                <a:effectLst/>
                <a:latin typeface="Arial" panose="020B0604020202020204" pitchFamily="34" charset="0"/>
              </a:rPr>
              <a:t>Clerk sees </a:t>
            </a:r>
            <a:r>
              <a:rPr kumimoji="0" lang="en-PK" altLang="en-PK" sz="1800" b="1" i="0" u="none" strike="noStrike" cap="none" normalizeH="0" baseline="0" dirty="0">
                <a:ln>
                  <a:noFill/>
                </a:ln>
                <a:solidFill>
                  <a:schemeClr val="tx1"/>
                </a:solidFill>
                <a:effectLst/>
                <a:latin typeface="Arial" panose="020B0604020202020204" pitchFamily="34" charset="0"/>
              </a:rPr>
              <a:t>names</a:t>
            </a:r>
            <a:r>
              <a:rPr kumimoji="0" lang="en-PK" altLang="en-PK" sz="1800" b="0" i="0" u="none" strike="noStrike" cap="none" normalizeH="0" baseline="0" dirty="0">
                <a:ln>
                  <a:noFill/>
                </a:ln>
                <a:solidFill>
                  <a:schemeClr val="tx1"/>
                </a:solidFill>
                <a:effectLst/>
                <a:latin typeface="Arial" panose="020B0604020202020204" pitchFamily="34" charset="0"/>
              </a:rPr>
              <a:t> and </a:t>
            </a:r>
            <a:r>
              <a:rPr kumimoji="0" lang="en-PK" altLang="en-PK" sz="1800" b="1" i="0" u="none" strike="noStrike" cap="none" normalizeH="0" baseline="0" dirty="0">
                <a:ln>
                  <a:noFill/>
                </a:ln>
                <a:solidFill>
                  <a:schemeClr val="tx1"/>
                </a:solidFill>
                <a:effectLst/>
                <a:latin typeface="Arial" panose="020B0604020202020204" pitchFamily="34" charset="0"/>
              </a:rPr>
              <a:t>salaries</a:t>
            </a:r>
            <a:r>
              <a:rPr kumimoji="0" lang="en-PK" altLang="en-PK" sz="1800" b="0" i="0" u="none" strike="noStrike" cap="none" normalizeH="0" baseline="0" dirty="0">
                <a:ln>
                  <a:noFill/>
                </a:ln>
                <a:solidFill>
                  <a:schemeClr val="tx1"/>
                </a:solidFill>
                <a:effectLst/>
                <a:latin typeface="Arial" panose="020B0604020202020204" pitchFamily="34" charset="0"/>
              </a:rPr>
              <a:t> separately — cannot link them.</a:t>
            </a:r>
          </a:p>
        </p:txBody>
      </p:sp>
      <p:graphicFrame>
        <p:nvGraphicFramePr>
          <p:cNvPr id="19" name="Table 18">
            <a:extLst>
              <a:ext uri="{FF2B5EF4-FFF2-40B4-BE49-F238E27FC236}">
                <a16:creationId xmlns:a16="http://schemas.microsoft.com/office/drawing/2014/main" id="{726A49C7-F80F-DFF7-AAEE-1A2E64B417D5}"/>
              </a:ext>
            </a:extLst>
          </p:cNvPr>
          <p:cNvGraphicFramePr>
            <a:graphicFrameLocks noGrp="1"/>
          </p:cNvGraphicFramePr>
          <p:nvPr>
            <p:extLst>
              <p:ext uri="{D42A27DB-BD31-4B8C-83A1-F6EECF244321}">
                <p14:modId xmlns:p14="http://schemas.microsoft.com/office/powerpoint/2010/main" val="1667019071"/>
              </p:ext>
            </p:extLst>
          </p:nvPr>
        </p:nvGraphicFramePr>
        <p:xfrm>
          <a:off x="0" y="3795623"/>
          <a:ext cx="10515600" cy="731520"/>
        </p:xfrm>
        <a:graphic>
          <a:graphicData uri="http://schemas.openxmlformats.org/drawingml/2006/table">
            <a:tbl>
              <a:tblPr/>
              <a:tblGrid>
                <a:gridCol w="10515600">
                  <a:extLst>
                    <a:ext uri="{9D8B030D-6E8A-4147-A177-3AD203B41FA5}">
                      <a16:colId xmlns:a16="http://schemas.microsoft.com/office/drawing/2014/main" val="3356170065"/>
                    </a:ext>
                  </a:extLst>
                </a:gridCol>
              </a:tblGrid>
              <a:tr h="184666">
                <a:tc>
                  <a:txBody>
                    <a:bodyPr/>
                    <a:lstStyle/>
                    <a:p>
                      <a:pPr>
                        <a:buNone/>
                      </a:pPr>
                      <a:r>
                        <a:rPr lang="en-US" b="1" dirty="0"/>
                        <a:t>Salaries (Clerk)</a:t>
                      </a:r>
                      <a:endParaRPr lang="en-US" dirty="0"/>
                    </a:p>
                  </a:txBody>
                  <a:tcPr anchor="ctr">
                    <a:lnL>
                      <a:noFill/>
                    </a:lnL>
                    <a:lnR>
                      <a:noFill/>
                    </a:lnR>
                    <a:lnT>
                      <a:noFill/>
                    </a:lnT>
                    <a:lnB>
                      <a:noFill/>
                    </a:lnB>
                    <a:noFill/>
                  </a:tcPr>
                </a:tc>
                <a:extLst>
                  <a:ext uri="{0D108BD9-81ED-4DB2-BD59-A6C34878D82A}">
                    <a16:rowId xmlns:a16="http://schemas.microsoft.com/office/drawing/2014/main" val="3847781472"/>
                  </a:ext>
                </a:extLst>
              </a:tr>
              <a:tr h="184666">
                <a:tc>
                  <a:txBody>
                    <a:bodyPr/>
                    <a:lstStyle/>
                    <a:p>
                      <a:pPr>
                        <a:buNone/>
                      </a:pPr>
                      <a:r>
                        <a:rPr lang="en-US" dirty="0"/>
                        <a:t>S#, Salary, Start-Date</a:t>
                      </a:r>
                    </a:p>
                  </a:txBody>
                  <a:tcPr anchor="ctr">
                    <a:lnL>
                      <a:noFill/>
                    </a:lnL>
                    <a:lnR>
                      <a:noFill/>
                    </a:lnR>
                    <a:lnT>
                      <a:noFill/>
                    </a:lnT>
                    <a:lnB>
                      <a:noFill/>
                    </a:lnB>
                    <a:noFill/>
                  </a:tcPr>
                </a:tc>
                <a:extLst>
                  <a:ext uri="{0D108BD9-81ED-4DB2-BD59-A6C34878D82A}">
                    <a16:rowId xmlns:a16="http://schemas.microsoft.com/office/drawing/2014/main" val="1106514153"/>
                  </a:ext>
                </a:extLst>
              </a:tr>
            </a:tbl>
          </a:graphicData>
        </a:graphic>
      </p:graphicFrame>
      <p:graphicFrame>
        <p:nvGraphicFramePr>
          <p:cNvPr id="20" name="Table 19">
            <a:extLst>
              <a:ext uri="{FF2B5EF4-FFF2-40B4-BE49-F238E27FC236}">
                <a16:creationId xmlns:a16="http://schemas.microsoft.com/office/drawing/2014/main" id="{85474F3D-A286-73BE-D3A1-609B5AFEDFC2}"/>
              </a:ext>
            </a:extLst>
          </p:cNvPr>
          <p:cNvGraphicFramePr>
            <a:graphicFrameLocks noGrp="1"/>
          </p:cNvGraphicFramePr>
          <p:nvPr>
            <p:extLst>
              <p:ext uri="{D42A27DB-BD31-4B8C-83A1-F6EECF244321}">
                <p14:modId xmlns:p14="http://schemas.microsoft.com/office/powerpoint/2010/main" val="2370147792"/>
              </p:ext>
            </p:extLst>
          </p:nvPr>
        </p:nvGraphicFramePr>
        <p:xfrm>
          <a:off x="84056" y="4442470"/>
          <a:ext cx="10515600" cy="1463040"/>
        </p:xfrm>
        <a:graphic>
          <a:graphicData uri="http://schemas.openxmlformats.org/drawingml/2006/table">
            <a:tbl>
              <a:tblPr>
                <a:tableStyleId>{8A107856-5554-42FB-B03E-39F5DBC370BA}</a:tableStyleId>
              </a:tblPr>
              <a:tblGrid>
                <a:gridCol w="3505200">
                  <a:extLst>
                    <a:ext uri="{9D8B030D-6E8A-4147-A177-3AD203B41FA5}">
                      <a16:colId xmlns:a16="http://schemas.microsoft.com/office/drawing/2014/main" val="3848005527"/>
                    </a:ext>
                  </a:extLst>
                </a:gridCol>
                <a:gridCol w="3505200">
                  <a:extLst>
                    <a:ext uri="{9D8B030D-6E8A-4147-A177-3AD203B41FA5}">
                      <a16:colId xmlns:a16="http://schemas.microsoft.com/office/drawing/2014/main" val="2091266870"/>
                    </a:ext>
                  </a:extLst>
                </a:gridCol>
                <a:gridCol w="3505200">
                  <a:extLst>
                    <a:ext uri="{9D8B030D-6E8A-4147-A177-3AD203B41FA5}">
                      <a16:colId xmlns:a16="http://schemas.microsoft.com/office/drawing/2014/main" val="1148576525"/>
                    </a:ext>
                  </a:extLst>
                </a:gridCol>
              </a:tblGrid>
              <a:tr h="0">
                <a:tc>
                  <a:txBody>
                    <a:bodyPr/>
                    <a:lstStyle/>
                    <a:p>
                      <a:pPr>
                        <a:buNone/>
                      </a:pPr>
                      <a:r>
                        <a:rPr lang="en-US" b="1" dirty="0"/>
                        <a:t>S#</a:t>
                      </a:r>
                    </a:p>
                  </a:txBody>
                  <a:tcPr anchor="ctr"/>
                </a:tc>
                <a:tc>
                  <a:txBody>
                    <a:bodyPr/>
                    <a:lstStyle/>
                    <a:p>
                      <a:pPr>
                        <a:buNone/>
                      </a:pPr>
                      <a:r>
                        <a:rPr lang="en-US" b="1" dirty="0"/>
                        <a:t>Salary</a:t>
                      </a:r>
                    </a:p>
                  </a:txBody>
                  <a:tcPr anchor="ctr"/>
                </a:tc>
                <a:tc>
                  <a:txBody>
                    <a:bodyPr/>
                    <a:lstStyle/>
                    <a:p>
                      <a:pPr>
                        <a:buNone/>
                      </a:pPr>
                      <a:r>
                        <a:rPr lang="en-US" b="1" dirty="0"/>
                        <a:t>Start-Date</a:t>
                      </a:r>
                    </a:p>
                  </a:txBody>
                  <a:tcPr anchor="ctr"/>
                </a:tc>
                <a:extLst>
                  <a:ext uri="{0D108BD9-81ED-4DB2-BD59-A6C34878D82A}">
                    <a16:rowId xmlns:a16="http://schemas.microsoft.com/office/drawing/2014/main" val="2530917082"/>
                  </a:ext>
                </a:extLst>
              </a:tr>
              <a:tr h="0">
                <a:tc>
                  <a:txBody>
                    <a:bodyPr/>
                    <a:lstStyle/>
                    <a:p>
                      <a:pPr>
                        <a:buNone/>
                      </a:pPr>
                      <a:r>
                        <a:rPr lang="en-US"/>
                        <a:t>S1</a:t>
                      </a:r>
                    </a:p>
                  </a:txBody>
                  <a:tcPr anchor="ctr"/>
                </a:tc>
                <a:tc>
                  <a:txBody>
                    <a:bodyPr/>
                    <a:lstStyle/>
                    <a:p>
                      <a:pPr>
                        <a:buNone/>
                      </a:pPr>
                      <a:r>
                        <a:rPr lang="en-PK" dirty="0"/>
                        <a:t>120,000</a:t>
                      </a:r>
                    </a:p>
                  </a:txBody>
                  <a:tcPr anchor="ctr"/>
                </a:tc>
                <a:tc>
                  <a:txBody>
                    <a:bodyPr/>
                    <a:lstStyle/>
                    <a:p>
                      <a:pPr>
                        <a:buNone/>
                      </a:pPr>
                      <a:r>
                        <a:rPr lang="en-US" dirty="0"/>
                        <a:t>March 1</a:t>
                      </a:r>
                    </a:p>
                  </a:txBody>
                  <a:tcPr anchor="ctr"/>
                </a:tc>
                <a:extLst>
                  <a:ext uri="{0D108BD9-81ED-4DB2-BD59-A6C34878D82A}">
                    <a16:rowId xmlns:a16="http://schemas.microsoft.com/office/drawing/2014/main" val="2400516629"/>
                  </a:ext>
                </a:extLst>
              </a:tr>
              <a:tr h="0">
                <a:tc>
                  <a:txBody>
                    <a:bodyPr/>
                    <a:lstStyle/>
                    <a:p>
                      <a:pPr>
                        <a:buNone/>
                      </a:pPr>
                      <a:r>
                        <a:rPr lang="en-US" dirty="0"/>
                        <a:t>S2</a:t>
                      </a:r>
                    </a:p>
                  </a:txBody>
                  <a:tcPr anchor="ctr"/>
                </a:tc>
                <a:tc>
                  <a:txBody>
                    <a:bodyPr/>
                    <a:lstStyle/>
                    <a:p>
                      <a:pPr>
                        <a:buNone/>
                      </a:pPr>
                      <a:r>
                        <a:rPr lang="en-PK"/>
                        <a:t>90,000</a:t>
                      </a:r>
                    </a:p>
                  </a:txBody>
                  <a:tcPr anchor="ctr"/>
                </a:tc>
                <a:tc>
                  <a:txBody>
                    <a:bodyPr/>
                    <a:lstStyle/>
                    <a:p>
                      <a:pPr>
                        <a:buNone/>
                      </a:pPr>
                      <a:r>
                        <a:rPr lang="en-US"/>
                        <a:t>April 10</a:t>
                      </a:r>
                    </a:p>
                  </a:txBody>
                  <a:tcPr anchor="ctr"/>
                </a:tc>
                <a:extLst>
                  <a:ext uri="{0D108BD9-81ED-4DB2-BD59-A6C34878D82A}">
                    <a16:rowId xmlns:a16="http://schemas.microsoft.com/office/drawing/2014/main" val="1074861775"/>
                  </a:ext>
                </a:extLst>
              </a:tr>
              <a:tr h="0">
                <a:tc>
                  <a:txBody>
                    <a:bodyPr/>
                    <a:lstStyle/>
                    <a:p>
                      <a:pPr>
                        <a:buNone/>
                      </a:pPr>
                      <a:r>
                        <a:rPr lang="en-US" dirty="0"/>
                        <a:t>S3</a:t>
                      </a:r>
                    </a:p>
                  </a:txBody>
                  <a:tcPr anchor="ctr"/>
                </a:tc>
                <a:tc>
                  <a:txBody>
                    <a:bodyPr/>
                    <a:lstStyle/>
                    <a:p>
                      <a:pPr>
                        <a:buNone/>
                      </a:pPr>
                      <a:r>
                        <a:rPr lang="en-PK"/>
                        <a:t>70,000</a:t>
                      </a:r>
                    </a:p>
                  </a:txBody>
                  <a:tcPr anchor="ctr"/>
                </a:tc>
                <a:tc>
                  <a:txBody>
                    <a:bodyPr/>
                    <a:lstStyle/>
                    <a:p>
                      <a:pPr>
                        <a:buNone/>
                      </a:pPr>
                      <a:r>
                        <a:rPr lang="en-US" dirty="0"/>
                        <a:t>May 5</a:t>
                      </a:r>
                    </a:p>
                  </a:txBody>
                  <a:tcPr anchor="ctr"/>
                </a:tc>
                <a:extLst>
                  <a:ext uri="{0D108BD9-81ED-4DB2-BD59-A6C34878D82A}">
                    <a16:rowId xmlns:a16="http://schemas.microsoft.com/office/drawing/2014/main" val="249299187"/>
                  </a:ext>
                </a:extLst>
              </a:tr>
            </a:tbl>
          </a:graphicData>
        </a:graphic>
      </p:graphicFrame>
      <p:sp>
        <p:nvSpPr>
          <p:cNvPr id="22" name="TextBox 21">
            <a:extLst>
              <a:ext uri="{FF2B5EF4-FFF2-40B4-BE49-F238E27FC236}">
                <a16:creationId xmlns:a16="http://schemas.microsoft.com/office/drawing/2014/main" id="{60E9C269-3E9F-8B3D-149D-19F214568F1F}"/>
              </a:ext>
            </a:extLst>
          </p:cNvPr>
          <p:cNvSpPr txBox="1"/>
          <p:nvPr/>
        </p:nvSpPr>
        <p:spPr>
          <a:xfrm>
            <a:off x="84056" y="5905510"/>
            <a:ext cx="10649932" cy="646331"/>
          </a:xfrm>
          <a:prstGeom prst="rect">
            <a:avLst/>
          </a:prstGeom>
          <a:noFill/>
        </p:spPr>
        <p:txBody>
          <a:bodyPr wrap="square">
            <a:spAutoFit/>
          </a:bodyPr>
          <a:lstStyle/>
          <a:p>
            <a:pPr>
              <a:buNone/>
            </a:pPr>
            <a:r>
              <a:rPr lang="en-US" b="1" dirty="0"/>
              <a:t>Now the Clerk says:</a:t>
            </a:r>
          </a:p>
          <a:p>
            <a:pPr>
              <a:buNone/>
            </a:pPr>
            <a:r>
              <a:rPr lang="en-US" b="1" dirty="0"/>
              <a:t>“I know Ali joined on March 1 → that must be S1 → Ali earns 120,000.”</a:t>
            </a:r>
          </a:p>
        </p:txBody>
      </p:sp>
      <p:pic>
        <p:nvPicPr>
          <p:cNvPr id="23" name="Content Placeholder 4">
            <a:extLst>
              <a:ext uri="{FF2B5EF4-FFF2-40B4-BE49-F238E27FC236}">
                <a16:creationId xmlns:a16="http://schemas.microsoft.com/office/drawing/2014/main" id="{EBC9ECFF-88C0-D176-D4DB-0F87567844B2}"/>
              </a:ext>
            </a:extLst>
          </p:cNvPr>
          <p:cNvPicPr>
            <a:picLocks noGrp="1" noChangeAspect="1"/>
          </p:cNvPicPr>
          <p:nvPr>
            <p:ph idx="1"/>
          </p:nvPr>
        </p:nvPicPr>
        <p:blipFill>
          <a:blip r:embed="rId2"/>
          <a:stretch>
            <a:fillRect/>
          </a:stretch>
        </p:blipFill>
        <p:spPr>
          <a:xfrm>
            <a:off x="8346912" y="1093920"/>
            <a:ext cx="3405165" cy="3067463"/>
          </a:xfrm>
          <a:prstGeom prst="rect">
            <a:avLst/>
          </a:prstGeom>
        </p:spPr>
      </p:pic>
    </p:spTree>
    <p:extLst>
      <p:ext uri="{BB962C8B-B14F-4D97-AF65-F5344CB8AC3E}">
        <p14:creationId xmlns:p14="http://schemas.microsoft.com/office/powerpoint/2010/main" val="35558414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2379</TotalTime>
  <Words>903</Words>
  <Application>Microsoft Office PowerPoint</Application>
  <PresentationFormat>Widescreen</PresentationFormat>
  <Paragraphs>91</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PearsonMATHPRO08</vt:lpstr>
      <vt:lpstr>Sitka Text</vt:lpstr>
      <vt:lpstr>TimesTenLTStd-Italic</vt:lpstr>
      <vt:lpstr>TimesTenLTStd-Roman</vt:lpstr>
      <vt:lpstr>Office Theme</vt:lpstr>
      <vt:lpstr>PowerPoint Presentation</vt:lpstr>
      <vt:lpstr>Attack types can be grouped into three main categories: inband, inferential, and out-of-band.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Aqsa Aslam</dc:creator>
  <cp:lastModifiedBy>Aqsa Aslam</cp:lastModifiedBy>
  <cp:revision>7</cp:revision>
  <dcterms:created xsi:type="dcterms:W3CDTF">2025-10-12T18:16:18Z</dcterms:created>
  <dcterms:modified xsi:type="dcterms:W3CDTF">2025-10-21T09:34:52Z</dcterms:modified>
</cp:coreProperties>
</file>