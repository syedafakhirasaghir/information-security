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6" r:id="rId9"/>
    <p:sldId id="268" r:id="rId10"/>
    <p:sldId id="267" r:id="rId11"/>
    <p:sldId id="265" r:id="rId12"/>
    <p:sldId id="271" r:id="rId13"/>
    <p:sldId id="277" r:id="rId14"/>
    <p:sldId id="278" r:id="rId15"/>
    <p:sldId id="279" r:id="rId16"/>
    <p:sldId id="264" r:id="rId17"/>
    <p:sldId id="270" r:id="rId18"/>
    <p:sldId id="263" r:id="rId19"/>
    <p:sldId id="283" r:id="rId20"/>
    <p:sldId id="284" r:id="rId21"/>
    <p:sldId id="286" r:id="rId22"/>
    <p:sldId id="288" r:id="rId23"/>
    <p:sldId id="289" r:id="rId24"/>
    <p:sldId id="293" r:id="rId25"/>
    <p:sldId id="272" r:id="rId26"/>
    <p:sldId id="276" r:id="rId27"/>
    <p:sldId id="275" r:id="rId28"/>
    <p:sldId id="274" r:id="rId29"/>
    <p:sldId id="27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6248" autoAdjust="0"/>
  </p:normalViewPr>
  <p:slideViewPr>
    <p:cSldViewPr snapToGrid="0">
      <p:cViewPr varScale="1">
        <p:scale>
          <a:sx n="49" d="100"/>
          <a:sy n="49" d="100"/>
        </p:scale>
        <p:origin x="1536" y="48"/>
      </p:cViewPr>
      <p:guideLst/>
    </p:cSldViewPr>
  </p:slideViewPr>
  <p:notesTextViewPr>
    <p:cViewPr>
      <p:scale>
        <a:sx n="1" d="1"/>
        <a:sy n="1" d="1"/>
      </p:scale>
      <p:origin x="0" y="-97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97BC31-85AF-BA43-A31D-0D15FDFBC0B1}" type="doc">
      <dgm:prSet loTypeId="urn:microsoft.com/office/officeart/2005/8/layout/target3" loCatId="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572709AF-FBB7-5A45-B7B5-06DC2842409D}">
      <dgm:prSet/>
      <dgm:spPr/>
      <dgm:t>
        <a:bodyPr/>
        <a:lstStyle/>
        <a:p>
          <a:pPr rtl="0"/>
          <a:r>
            <a:rPr lang="en-US" b="1" dirty="0" smtClean="0">
              <a:latin typeface="+mj-lt"/>
            </a:rPr>
            <a:t>Hardware</a:t>
          </a:r>
          <a:endParaRPr lang="en-US" dirty="0">
            <a:latin typeface="+mj-lt"/>
          </a:endParaRPr>
        </a:p>
      </dgm:t>
    </dgm:pt>
    <dgm:pt modelId="{91AA1A43-F863-1643-BA23-8E7C03BB01C4}" type="parTrans" cxnId="{37F64709-947C-5E49-A8B5-56FFCA8C77C0}">
      <dgm:prSet/>
      <dgm:spPr/>
      <dgm:t>
        <a:bodyPr/>
        <a:lstStyle/>
        <a:p>
          <a:endParaRPr lang="en-US"/>
        </a:p>
      </dgm:t>
    </dgm:pt>
    <dgm:pt modelId="{934F42DF-6D43-3648-99F4-A7D7591F8AF3}" type="sibTrans" cxnId="{37F64709-947C-5E49-A8B5-56FFCA8C77C0}">
      <dgm:prSet/>
      <dgm:spPr/>
      <dgm:t>
        <a:bodyPr/>
        <a:lstStyle/>
        <a:p>
          <a:endParaRPr lang="en-US"/>
        </a:p>
      </dgm:t>
    </dgm:pt>
    <dgm:pt modelId="{0C07AED5-0528-824B-92E9-70876C7B45EB}">
      <dgm:prSet/>
      <dgm:spPr/>
      <dgm:t>
        <a:bodyPr/>
        <a:lstStyle/>
        <a:p>
          <a:pPr rtl="0"/>
          <a:r>
            <a:rPr lang="en-US" b="1" dirty="0" smtClean="0">
              <a:latin typeface="+mj-lt"/>
            </a:rPr>
            <a:t>Software</a:t>
          </a:r>
          <a:endParaRPr lang="en-US" dirty="0">
            <a:latin typeface="+mj-lt"/>
          </a:endParaRPr>
        </a:p>
      </dgm:t>
    </dgm:pt>
    <dgm:pt modelId="{2BE5B43F-A780-3A49-B8CF-F374BC70E49B}" type="parTrans" cxnId="{17A29D19-CAAD-EB49-AE73-27436018B85D}">
      <dgm:prSet/>
      <dgm:spPr/>
      <dgm:t>
        <a:bodyPr/>
        <a:lstStyle/>
        <a:p>
          <a:endParaRPr lang="en-US"/>
        </a:p>
      </dgm:t>
    </dgm:pt>
    <dgm:pt modelId="{2FB552A4-4540-6C46-95F0-8E55F9E25BF6}" type="sibTrans" cxnId="{17A29D19-CAAD-EB49-AE73-27436018B85D}">
      <dgm:prSet/>
      <dgm:spPr/>
      <dgm:t>
        <a:bodyPr/>
        <a:lstStyle/>
        <a:p>
          <a:endParaRPr lang="en-US"/>
        </a:p>
      </dgm:t>
    </dgm:pt>
    <dgm:pt modelId="{FE2F7B69-513D-2148-9440-9AF8C071657F}">
      <dgm:prSet/>
      <dgm:spPr/>
      <dgm:t>
        <a:bodyPr/>
        <a:lstStyle/>
        <a:p>
          <a:pPr rtl="0"/>
          <a:r>
            <a:rPr lang="en-US" b="1" dirty="0" smtClean="0">
              <a:latin typeface="+mj-lt"/>
            </a:rPr>
            <a:t>Data</a:t>
          </a:r>
          <a:endParaRPr lang="en-US" dirty="0">
            <a:latin typeface="+mj-lt"/>
          </a:endParaRPr>
        </a:p>
      </dgm:t>
    </dgm:pt>
    <dgm:pt modelId="{F027CA4A-19F1-1A4A-A230-7ED4029CD8F0}" type="parTrans" cxnId="{5C8E6B58-66B5-8942-B4AB-A4DF11BAFD67}">
      <dgm:prSet/>
      <dgm:spPr/>
      <dgm:t>
        <a:bodyPr/>
        <a:lstStyle/>
        <a:p>
          <a:endParaRPr lang="en-US"/>
        </a:p>
      </dgm:t>
    </dgm:pt>
    <dgm:pt modelId="{8E46B7CF-F4EC-D148-BDAD-91107BF27916}" type="sibTrans" cxnId="{5C8E6B58-66B5-8942-B4AB-A4DF11BAFD67}">
      <dgm:prSet/>
      <dgm:spPr/>
      <dgm:t>
        <a:bodyPr/>
        <a:lstStyle/>
        <a:p>
          <a:endParaRPr lang="en-US"/>
        </a:p>
      </dgm:t>
    </dgm:pt>
    <dgm:pt modelId="{76DB9AEB-C055-F040-99A3-882717370FAF}">
      <dgm:prSet/>
      <dgm:spPr/>
      <dgm:t>
        <a:bodyPr/>
        <a:lstStyle/>
        <a:p>
          <a:pPr rtl="0"/>
          <a:r>
            <a:rPr lang="en-US" b="1" dirty="0" smtClean="0">
              <a:latin typeface="+mj-lt"/>
            </a:rPr>
            <a:t>Communication facilities and networks</a:t>
          </a:r>
          <a:endParaRPr lang="en-US" dirty="0">
            <a:latin typeface="+mj-lt"/>
          </a:endParaRPr>
        </a:p>
      </dgm:t>
    </dgm:pt>
    <dgm:pt modelId="{6C5B0CF0-056F-974C-B6A0-66A56BD29CB4}" type="parTrans" cxnId="{7FD62283-BC9E-274F-953F-943D443621EE}">
      <dgm:prSet/>
      <dgm:spPr/>
      <dgm:t>
        <a:bodyPr/>
        <a:lstStyle/>
        <a:p>
          <a:endParaRPr lang="en-US"/>
        </a:p>
      </dgm:t>
    </dgm:pt>
    <dgm:pt modelId="{A24544CD-59F0-4B44-A48B-34A6051B9A73}" type="sibTrans" cxnId="{7FD62283-BC9E-274F-953F-943D443621EE}">
      <dgm:prSet/>
      <dgm:spPr/>
      <dgm:t>
        <a:bodyPr/>
        <a:lstStyle/>
        <a:p>
          <a:endParaRPr lang="en-US"/>
        </a:p>
      </dgm:t>
    </dgm:pt>
    <dgm:pt modelId="{CEF40D25-25D4-C24B-8BA5-2D452AC9C9B4}" type="pres">
      <dgm:prSet presAssocID="{8797BC31-85AF-BA43-A31D-0D15FDFBC0B1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DB2028-2E50-AF4F-B519-F5340D5F204A}" type="pres">
      <dgm:prSet presAssocID="{572709AF-FBB7-5A45-B7B5-06DC2842409D}" presName="circle1" presStyleLbl="node1" presStyleIdx="0" presStyleCnt="4"/>
      <dgm:spPr/>
      <dgm:t>
        <a:bodyPr/>
        <a:lstStyle/>
        <a:p>
          <a:endParaRPr lang="en-US"/>
        </a:p>
      </dgm:t>
    </dgm:pt>
    <dgm:pt modelId="{8FB99E8C-C78A-6744-A14D-06E40C3A4C35}" type="pres">
      <dgm:prSet presAssocID="{572709AF-FBB7-5A45-B7B5-06DC2842409D}" presName="space" presStyleCnt="0"/>
      <dgm:spPr/>
      <dgm:t>
        <a:bodyPr/>
        <a:lstStyle/>
        <a:p>
          <a:endParaRPr lang="en-US"/>
        </a:p>
      </dgm:t>
    </dgm:pt>
    <dgm:pt modelId="{3CE3951B-72B7-544E-8146-DFDC0DC25423}" type="pres">
      <dgm:prSet presAssocID="{572709AF-FBB7-5A45-B7B5-06DC2842409D}" presName="rect1" presStyleLbl="alignAcc1" presStyleIdx="0" presStyleCnt="4"/>
      <dgm:spPr/>
      <dgm:t>
        <a:bodyPr/>
        <a:lstStyle/>
        <a:p>
          <a:endParaRPr lang="en-US"/>
        </a:p>
      </dgm:t>
    </dgm:pt>
    <dgm:pt modelId="{6CC0D818-948E-6948-8C42-0C175817569E}" type="pres">
      <dgm:prSet presAssocID="{0C07AED5-0528-824B-92E9-70876C7B45EB}" presName="vertSpace2" presStyleLbl="node1" presStyleIdx="0" presStyleCnt="4"/>
      <dgm:spPr/>
      <dgm:t>
        <a:bodyPr/>
        <a:lstStyle/>
        <a:p>
          <a:endParaRPr lang="en-US"/>
        </a:p>
      </dgm:t>
    </dgm:pt>
    <dgm:pt modelId="{6760201D-A316-0345-912B-1C05E887BD9E}" type="pres">
      <dgm:prSet presAssocID="{0C07AED5-0528-824B-92E9-70876C7B45EB}" presName="circle2" presStyleLbl="node1" presStyleIdx="1" presStyleCnt="4"/>
      <dgm:spPr/>
      <dgm:t>
        <a:bodyPr/>
        <a:lstStyle/>
        <a:p>
          <a:endParaRPr lang="en-US"/>
        </a:p>
      </dgm:t>
    </dgm:pt>
    <dgm:pt modelId="{52B88712-AF31-824B-AA64-BE8A21574F6A}" type="pres">
      <dgm:prSet presAssocID="{0C07AED5-0528-824B-92E9-70876C7B45EB}" presName="rect2" presStyleLbl="alignAcc1" presStyleIdx="1" presStyleCnt="4"/>
      <dgm:spPr/>
      <dgm:t>
        <a:bodyPr/>
        <a:lstStyle/>
        <a:p>
          <a:endParaRPr lang="en-US"/>
        </a:p>
      </dgm:t>
    </dgm:pt>
    <dgm:pt modelId="{65A25B27-2E24-924A-B322-4A515CF3B44C}" type="pres">
      <dgm:prSet presAssocID="{FE2F7B69-513D-2148-9440-9AF8C071657F}" presName="vertSpace3" presStyleLbl="node1" presStyleIdx="1" presStyleCnt="4"/>
      <dgm:spPr/>
      <dgm:t>
        <a:bodyPr/>
        <a:lstStyle/>
        <a:p>
          <a:endParaRPr lang="en-US"/>
        </a:p>
      </dgm:t>
    </dgm:pt>
    <dgm:pt modelId="{1CEBA3CC-D570-6D48-83C0-914D39E7A3D4}" type="pres">
      <dgm:prSet presAssocID="{FE2F7B69-513D-2148-9440-9AF8C071657F}" presName="circle3" presStyleLbl="node1" presStyleIdx="2" presStyleCnt="4"/>
      <dgm:spPr/>
      <dgm:t>
        <a:bodyPr/>
        <a:lstStyle/>
        <a:p>
          <a:endParaRPr lang="en-US"/>
        </a:p>
      </dgm:t>
    </dgm:pt>
    <dgm:pt modelId="{89EB32D3-675D-0A45-AD21-BCB152A507C4}" type="pres">
      <dgm:prSet presAssocID="{FE2F7B69-513D-2148-9440-9AF8C071657F}" presName="rect3" presStyleLbl="alignAcc1" presStyleIdx="2" presStyleCnt="4"/>
      <dgm:spPr/>
      <dgm:t>
        <a:bodyPr/>
        <a:lstStyle/>
        <a:p>
          <a:endParaRPr lang="en-US"/>
        </a:p>
      </dgm:t>
    </dgm:pt>
    <dgm:pt modelId="{80B50238-96AF-3142-B9CF-7E72FFC5AB0F}" type="pres">
      <dgm:prSet presAssocID="{76DB9AEB-C055-F040-99A3-882717370FAF}" presName="vertSpace4" presStyleLbl="node1" presStyleIdx="2" presStyleCnt="4"/>
      <dgm:spPr/>
      <dgm:t>
        <a:bodyPr/>
        <a:lstStyle/>
        <a:p>
          <a:endParaRPr lang="en-US"/>
        </a:p>
      </dgm:t>
    </dgm:pt>
    <dgm:pt modelId="{202D11B4-F3BA-8F41-9371-6356E59DEDC9}" type="pres">
      <dgm:prSet presAssocID="{76DB9AEB-C055-F040-99A3-882717370FAF}" presName="circle4" presStyleLbl="node1" presStyleIdx="3" presStyleCnt="4"/>
      <dgm:spPr/>
      <dgm:t>
        <a:bodyPr/>
        <a:lstStyle/>
        <a:p>
          <a:endParaRPr lang="en-US"/>
        </a:p>
      </dgm:t>
    </dgm:pt>
    <dgm:pt modelId="{DA712420-D463-7D47-A442-9CE0363E4628}" type="pres">
      <dgm:prSet presAssocID="{76DB9AEB-C055-F040-99A3-882717370FAF}" presName="rect4" presStyleLbl="alignAcc1" presStyleIdx="3" presStyleCnt="4"/>
      <dgm:spPr/>
      <dgm:t>
        <a:bodyPr/>
        <a:lstStyle/>
        <a:p>
          <a:endParaRPr lang="en-US"/>
        </a:p>
      </dgm:t>
    </dgm:pt>
    <dgm:pt modelId="{A729BE86-33AA-4841-9EAF-BEC6AE287EA7}" type="pres">
      <dgm:prSet presAssocID="{572709AF-FBB7-5A45-B7B5-06DC2842409D}" presName="rect1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473E44-BB72-CC47-8CC9-60A6CA06F5BC}" type="pres">
      <dgm:prSet presAssocID="{0C07AED5-0528-824B-92E9-70876C7B45EB}" presName="rect2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D768B8-3345-A24A-AEC8-117D2433CC40}" type="pres">
      <dgm:prSet presAssocID="{FE2F7B69-513D-2148-9440-9AF8C071657F}" presName="rect3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E5E0D6-269F-D64A-B84F-A5C37FDA9389}" type="pres">
      <dgm:prSet presAssocID="{76DB9AEB-C055-F040-99A3-882717370FAF}" presName="rect4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A29D19-CAAD-EB49-AE73-27436018B85D}" srcId="{8797BC31-85AF-BA43-A31D-0D15FDFBC0B1}" destId="{0C07AED5-0528-824B-92E9-70876C7B45EB}" srcOrd="1" destOrd="0" parTransId="{2BE5B43F-A780-3A49-B8CF-F374BC70E49B}" sibTransId="{2FB552A4-4540-6C46-95F0-8E55F9E25BF6}"/>
    <dgm:cxn modelId="{CBF0FA89-D3ED-4847-8E43-9AA8B7525A59}" type="presOf" srcId="{0C07AED5-0528-824B-92E9-70876C7B45EB}" destId="{52B88712-AF31-824B-AA64-BE8A21574F6A}" srcOrd="0" destOrd="0" presId="urn:microsoft.com/office/officeart/2005/8/layout/target3"/>
    <dgm:cxn modelId="{5C8E6B58-66B5-8942-B4AB-A4DF11BAFD67}" srcId="{8797BC31-85AF-BA43-A31D-0D15FDFBC0B1}" destId="{FE2F7B69-513D-2148-9440-9AF8C071657F}" srcOrd="2" destOrd="0" parTransId="{F027CA4A-19F1-1A4A-A230-7ED4029CD8F0}" sibTransId="{8E46B7CF-F4EC-D148-BDAD-91107BF27916}"/>
    <dgm:cxn modelId="{94FAD4E8-74D5-4ACF-A1CC-0A6B1CB45042}" type="presOf" srcId="{FE2F7B69-513D-2148-9440-9AF8C071657F}" destId="{78D768B8-3345-A24A-AEC8-117D2433CC40}" srcOrd="1" destOrd="0" presId="urn:microsoft.com/office/officeart/2005/8/layout/target3"/>
    <dgm:cxn modelId="{9655DCC1-409D-429F-B01E-BF546AEFC077}" type="presOf" srcId="{572709AF-FBB7-5A45-B7B5-06DC2842409D}" destId="{3CE3951B-72B7-544E-8146-DFDC0DC25423}" srcOrd="0" destOrd="0" presId="urn:microsoft.com/office/officeart/2005/8/layout/target3"/>
    <dgm:cxn modelId="{280A9FE1-8094-4B0A-8ECD-0F357EF04D9D}" type="presOf" srcId="{572709AF-FBB7-5A45-B7B5-06DC2842409D}" destId="{A729BE86-33AA-4841-9EAF-BEC6AE287EA7}" srcOrd="1" destOrd="0" presId="urn:microsoft.com/office/officeart/2005/8/layout/target3"/>
    <dgm:cxn modelId="{AF1B0571-E299-4BB2-9AB2-C98644D2392A}" type="presOf" srcId="{FE2F7B69-513D-2148-9440-9AF8C071657F}" destId="{89EB32D3-675D-0A45-AD21-BCB152A507C4}" srcOrd="0" destOrd="0" presId="urn:microsoft.com/office/officeart/2005/8/layout/target3"/>
    <dgm:cxn modelId="{B8DC4B9E-8607-4E5E-81DC-6A18F34629E7}" type="presOf" srcId="{76DB9AEB-C055-F040-99A3-882717370FAF}" destId="{33E5E0D6-269F-D64A-B84F-A5C37FDA9389}" srcOrd="1" destOrd="0" presId="urn:microsoft.com/office/officeart/2005/8/layout/target3"/>
    <dgm:cxn modelId="{29F6DABB-1E55-4598-900F-BEB008F9D2A8}" type="presOf" srcId="{8797BC31-85AF-BA43-A31D-0D15FDFBC0B1}" destId="{CEF40D25-25D4-C24B-8BA5-2D452AC9C9B4}" srcOrd="0" destOrd="0" presId="urn:microsoft.com/office/officeart/2005/8/layout/target3"/>
    <dgm:cxn modelId="{37F64709-947C-5E49-A8B5-56FFCA8C77C0}" srcId="{8797BC31-85AF-BA43-A31D-0D15FDFBC0B1}" destId="{572709AF-FBB7-5A45-B7B5-06DC2842409D}" srcOrd="0" destOrd="0" parTransId="{91AA1A43-F863-1643-BA23-8E7C03BB01C4}" sibTransId="{934F42DF-6D43-3648-99F4-A7D7591F8AF3}"/>
    <dgm:cxn modelId="{7FD62283-BC9E-274F-953F-943D443621EE}" srcId="{8797BC31-85AF-BA43-A31D-0D15FDFBC0B1}" destId="{76DB9AEB-C055-F040-99A3-882717370FAF}" srcOrd="3" destOrd="0" parTransId="{6C5B0CF0-056F-974C-B6A0-66A56BD29CB4}" sibTransId="{A24544CD-59F0-4B44-A48B-34A6051B9A73}"/>
    <dgm:cxn modelId="{AD010633-5F4F-47B5-941F-8A2EEAE25593}" type="presOf" srcId="{76DB9AEB-C055-F040-99A3-882717370FAF}" destId="{DA712420-D463-7D47-A442-9CE0363E4628}" srcOrd="0" destOrd="0" presId="urn:microsoft.com/office/officeart/2005/8/layout/target3"/>
    <dgm:cxn modelId="{D71452D1-49C7-465D-A4C7-264585AF3BCD}" type="presOf" srcId="{0C07AED5-0528-824B-92E9-70876C7B45EB}" destId="{E7473E44-BB72-CC47-8CC9-60A6CA06F5BC}" srcOrd="1" destOrd="0" presId="urn:microsoft.com/office/officeart/2005/8/layout/target3"/>
    <dgm:cxn modelId="{A296A128-EAEF-4BAE-94CE-119FECBBE51B}" type="presParOf" srcId="{CEF40D25-25D4-C24B-8BA5-2D452AC9C9B4}" destId="{28DB2028-2E50-AF4F-B519-F5340D5F204A}" srcOrd="0" destOrd="0" presId="urn:microsoft.com/office/officeart/2005/8/layout/target3"/>
    <dgm:cxn modelId="{764153F7-6908-406F-8173-6B616441E780}" type="presParOf" srcId="{CEF40D25-25D4-C24B-8BA5-2D452AC9C9B4}" destId="{8FB99E8C-C78A-6744-A14D-06E40C3A4C35}" srcOrd="1" destOrd="0" presId="urn:microsoft.com/office/officeart/2005/8/layout/target3"/>
    <dgm:cxn modelId="{9E44055D-A278-490C-A43A-8F3848ED498E}" type="presParOf" srcId="{CEF40D25-25D4-C24B-8BA5-2D452AC9C9B4}" destId="{3CE3951B-72B7-544E-8146-DFDC0DC25423}" srcOrd="2" destOrd="0" presId="urn:microsoft.com/office/officeart/2005/8/layout/target3"/>
    <dgm:cxn modelId="{79F6837F-C306-42F9-A814-39C62977AEED}" type="presParOf" srcId="{CEF40D25-25D4-C24B-8BA5-2D452AC9C9B4}" destId="{6CC0D818-948E-6948-8C42-0C175817569E}" srcOrd="3" destOrd="0" presId="urn:microsoft.com/office/officeart/2005/8/layout/target3"/>
    <dgm:cxn modelId="{90C9E62D-BA49-429D-9522-819F14E7C0CB}" type="presParOf" srcId="{CEF40D25-25D4-C24B-8BA5-2D452AC9C9B4}" destId="{6760201D-A316-0345-912B-1C05E887BD9E}" srcOrd="4" destOrd="0" presId="urn:microsoft.com/office/officeart/2005/8/layout/target3"/>
    <dgm:cxn modelId="{266AFB7E-8C29-4528-A240-24CDEACA0699}" type="presParOf" srcId="{CEF40D25-25D4-C24B-8BA5-2D452AC9C9B4}" destId="{52B88712-AF31-824B-AA64-BE8A21574F6A}" srcOrd="5" destOrd="0" presId="urn:microsoft.com/office/officeart/2005/8/layout/target3"/>
    <dgm:cxn modelId="{12C784B2-6E31-46BE-8181-BB0C6008300B}" type="presParOf" srcId="{CEF40D25-25D4-C24B-8BA5-2D452AC9C9B4}" destId="{65A25B27-2E24-924A-B322-4A515CF3B44C}" srcOrd="6" destOrd="0" presId="urn:microsoft.com/office/officeart/2005/8/layout/target3"/>
    <dgm:cxn modelId="{38BB86AE-7797-4D6B-AA98-1B4DE3FC9625}" type="presParOf" srcId="{CEF40D25-25D4-C24B-8BA5-2D452AC9C9B4}" destId="{1CEBA3CC-D570-6D48-83C0-914D39E7A3D4}" srcOrd="7" destOrd="0" presId="urn:microsoft.com/office/officeart/2005/8/layout/target3"/>
    <dgm:cxn modelId="{F9101BF5-A13A-4884-A005-5A08D43BA390}" type="presParOf" srcId="{CEF40D25-25D4-C24B-8BA5-2D452AC9C9B4}" destId="{89EB32D3-675D-0A45-AD21-BCB152A507C4}" srcOrd="8" destOrd="0" presId="urn:microsoft.com/office/officeart/2005/8/layout/target3"/>
    <dgm:cxn modelId="{16954CF3-A5F2-4F62-A6B5-F6E2B2B3812D}" type="presParOf" srcId="{CEF40D25-25D4-C24B-8BA5-2D452AC9C9B4}" destId="{80B50238-96AF-3142-B9CF-7E72FFC5AB0F}" srcOrd="9" destOrd="0" presId="urn:microsoft.com/office/officeart/2005/8/layout/target3"/>
    <dgm:cxn modelId="{A098BE56-0DAE-4E8D-A54C-B7ED4A4675C4}" type="presParOf" srcId="{CEF40D25-25D4-C24B-8BA5-2D452AC9C9B4}" destId="{202D11B4-F3BA-8F41-9371-6356E59DEDC9}" srcOrd="10" destOrd="0" presId="urn:microsoft.com/office/officeart/2005/8/layout/target3"/>
    <dgm:cxn modelId="{DAFBF5E7-8149-42BC-B3C9-058A1C3E7545}" type="presParOf" srcId="{CEF40D25-25D4-C24B-8BA5-2D452AC9C9B4}" destId="{DA712420-D463-7D47-A442-9CE0363E4628}" srcOrd="11" destOrd="0" presId="urn:microsoft.com/office/officeart/2005/8/layout/target3"/>
    <dgm:cxn modelId="{180B00D2-47A8-4A9F-838D-D8F3FD44FF34}" type="presParOf" srcId="{CEF40D25-25D4-C24B-8BA5-2D452AC9C9B4}" destId="{A729BE86-33AA-4841-9EAF-BEC6AE287EA7}" srcOrd="12" destOrd="0" presId="urn:microsoft.com/office/officeart/2005/8/layout/target3"/>
    <dgm:cxn modelId="{812F71CC-26BE-4E9A-BC15-284A2804ADBE}" type="presParOf" srcId="{CEF40D25-25D4-C24B-8BA5-2D452AC9C9B4}" destId="{E7473E44-BB72-CC47-8CC9-60A6CA06F5BC}" srcOrd="13" destOrd="0" presId="urn:microsoft.com/office/officeart/2005/8/layout/target3"/>
    <dgm:cxn modelId="{29BA78E2-BDC6-4777-9CB7-24736959611B}" type="presParOf" srcId="{CEF40D25-25D4-C24B-8BA5-2D452AC9C9B4}" destId="{78D768B8-3345-A24A-AEC8-117D2433CC40}" srcOrd="14" destOrd="0" presId="urn:microsoft.com/office/officeart/2005/8/layout/target3"/>
    <dgm:cxn modelId="{BCD08554-6864-4585-8492-699671A8B3B3}" type="presParOf" srcId="{CEF40D25-25D4-C24B-8BA5-2D452AC9C9B4}" destId="{33E5E0D6-269F-D64A-B84F-A5C37FDA9389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C27B66-85C3-FE47-8D25-064322B09694}" type="doc">
      <dgm:prSet loTypeId="urn:microsoft.com/office/officeart/2005/8/layout/pyramid4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DDA714-85F4-C440-A494-21D2C202C4E0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Means used to deal with security attacks</a:t>
          </a:r>
          <a:endParaRPr lang="en-US" b="1" dirty="0">
            <a:latin typeface="+mj-lt"/>
          </a:endParaRPr>
        </a:p>
      </dgm:t>
    </dgm:pt>
    <dgm:pt modelId="{7A3CF0DD-68AC-1E41-A62B-38A53FEC9878}" type="parTrans" cxnId="{974378CE-3189-4F4E-840E-9FB62D9CE438}">
      <dgm:prSet/>
      <dgm:spPr/>
      <dgm:t>
        <a:bodyPr/>
        <a:lstStyle/>
        <a:p>
          <a:endParaRPr lang="en-US"/>
        </a:p>
      </dgm:t>
    </dgm:pt>
    <dgm:pt modelId="{D4E3F297-86A2-F648-B63E-D29F3D88D2EB}" type="sibTrans" cxnId="{974378CE-3189-4F4E-840E-9FB62D9CE438}">
      <dgm:prSet/>
      <dgm:spPr/>
      <dgm:t>
        <a:bodyPr/>
        <a:lstStyle/>
        <a:p>
          <a:endParaRPr lang="en-US"/>
        </a:p>
      </dgm:t>
    </dgm:pt>
    <dgm:pt modelId="{A336DF4E-C703-7E44-9B7D-2B36305C39E9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Prevent</a:t>
          </a:r>
          <a:endParaRPr lang="en-US" b="1" dirty="0">
            <a:latin typeface="+mj-lt"/>
          </a:endParaRPr>
        </a:p>
      </dgm:t>
    </dgm:pt>
    <dgm:pt modelId="{4C22A259-72A2-D84A-A9D5-E03D58780F07}" type="parTrans" cxnId="{CDE58C80-BCAE-AB48-97C5-2B92E6BAD3AB}">
      <dgm:prSet/>
      <dgm:spPr/>
      <dgm:t>
        <a:bodyPr/>
        <a:lstStyle/>
        <a:p>
          <a:endParaRPr lang="en-US"/>
        </a:p>
      </dgm:t>
    </dgm:pt>
    <dgm:pt modelId="{5251D487-4D60-8449-858B-2AF763DEF873}" type="sibTrans" cxnId="{CDE58C80-BCAE-AB48-97C5-2B92E6BAD3AB}">
      <dgm:prSet/>
      <dgm:spPr/>
      <dgm:t>
        <a:bodyPr/>
        <a:lstStyle/>
        <a:p>
          <a:endParaRPr lang="en-US"/>
        </a:p>
      </dgm:t>
    </dgm:pt>
    <dgm:pt modelId="{4924E0E7-2A73-5D45-8773-8AAD9100ADF7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Detect</a:t>
          </a:r>
          <a:endParaRPr lang="en-US" b="1" dirty="0">
            <a:latin typeface="+mj-lt"/>
          </a:endParaRPr>
        </a:p>
      </dgm:t>
    </dgm:pt>
    <dgm:pt modelId="{55BDE9C4-8D12-0845-B2A1-6C416011F409}" type="parTrans" cxnId="{8C4AFAB5-71F4-7041-947B-EB5F4EABC601}">
      <dgm:prSet/>
      <dgm:spPr/>
      <dgm:t>
        <a:bodyPr/>
        <a:lstStyle/>
        <a:p>
          <a:endParaRPr lang="en-US"/>
        </a:p>
      </dgm:t>
    </dgm:pt>
    <dgm:pt modelId="{29700473-0525-6E4A-B07A-23DB6023B509}" type="sibTrans" cxnId="{8C4AFAB5-71F4-7041-947B-EB5F4EABC601}">
      <dgm:prSet/>
      <dgm:spPr/>
      <dgm:t>
        <a:bodyPr/>
        <a:lstStyle/>
        <a:p>
          <a:endParaRPr lang="en-US"/>
        </a:p>
      </dgm:t>
    </dgm:pt>
    <dgm:pt modelId="{B79A36A7-1CFF-984B-ADFF-C7F510B1A2B5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Recover</a:t>
          </a:r>
          <a:endParaRPr lang="en-US" b="1" dirty="0">
            <a:latin typeface="+mj-lt"/>
          </a:endParaRPr>
        </a:p>
      </dgm:t>
    </dgm:pt>
    <dgm:pt modelId="{42A12673-BC30-3547-946E-291E2EB60BFB}" type="parTrans" cxnId="{9926DD3E-81FC-A745-AF5D-898A50F82C32}">
      <dgm:prSet/>
      <dgm:spPr/>
      <dgm:t>
        <a:bodyPr/>
        <a:lstStyle/>
        <a:p>
          <a:endParaRPr lang="en-US"/>
        </a:p>
      </dgm:t>
    </dgm:pt>
    <dgm:pt modelId="{4881D328-2989-FF4F-BEAD-9AF35C32EE99}" type="sibTrans" cxnId="{9926DD3E-81FC-A745-AF5D-898A50F82C32}">
      <dgm:prSet/>
      <dgm:spPr/>
      <dgm:t>
        <a:bodyPr/>
        <a:lstStyle/>
        <a:p>
          <a:endParaRPr lang="en-US"/>
        </a:p>
      </dgm:t>
    </dgm:pt>
    <dgm:pt modelId="{9856FC2F-703A-8B4E-851A-5BF13EEF975C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May itself introduce new vulnerabilities</a:t>
          </a:r>
          <a:endParaRPr lang="en-US" b="1" dirty="0">
            <a:latin typeface="+mj-lt"/>
          </a:endParaRPr>
        </a:p>
      </dgm:t>
    </dgm:pt>
    <dgm:pt modelId="{FCF1A9B3-FF76-2B4D-9A7A-080BA326FF63}" type="parTrans" cxnId="{0A2F6957-DA57-E84D-9614-352C3DCE41E8}">
      <dgm:prSet/>
      <dgm:spPr/>
      <dgm:t>
        <a:bodyPr/>
        <a:lstStyle/>
        <a:p>
          <a:endParaRPr lang="en-US"/>
        </a:p>
      </dgm:t>
    </dgm:pt>
    <dgm:pt modelId="{83CB9680-A6BB-F340-B5ED-1B379988E724}" type="sibTrans" cxnId="{0A2F6957-DA57-E84D-9614-352C3DCE41E8}">
      <dgm:prSet/>
      <dgm:spPr/>
      <dgm:t>
        <a:bodyPr/>
        <a:lstStyle/>
        <a:p>
          <a:endParaRPr lang="en-US"/>
        </a:p>
      </dgm:t>
    </dgm:pt>
    <dgm:pt modelId="{6C42D2F8-47A0-8941-9F6F-F92D489C5F7D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Residual vulnerabilities may remain</a:t>
          </a:r>
          <a:endParaRPr lang="en-US" b="1" dirty="0">
            <a:latin typeface="+mj-lt"/>
          </a:endParaRPr>
        </a:p>
      </dgm:t>
    </dgm:pt>
    <dgm:pt modelId="{DD9159D3-1EB1-194C-8115-639C98917B28}" type="parTrans" cxnId="{B367E5E9-4682-8B41-B932-04E99D576417}">
      <dgm:prSet/>
      <dgm:spPr/>
      <dgm:t>
        <a:bodyPr/>
        <a:lstStyle/>
        <a:p>
          <a:endParaRPr lang="en-US"/>
        </a:p>
      </dgm:t>
    </dgm:pt>
    <dgm:pt modelId="{91565F09-7485-AB43-97B3-9D030F5AC2E9}" type="sibTrans" cxnId="{B367E5E9-4682-8B41-B932-04E99D576417}">
      <dgm:prSet/>
      <dgm:spPr/>
      <dgm:t>
        <a:bodyPr/>
        <a:lstStyle/>
        <a:p>
          <a:endParaRPr lang="en-US"/>
        </a:p>
      </dgm:t>
    </dgm:pt>
    <dgm:pt modelId="{116C7FB4-35FB-8846-9E98-B49D50633C2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latin typeface="+mj-lt"/>
            </a:rPr>
            <a:t>Goal is to minimize residual level of risk to the assets</a:t>
          </a:r>
          <a:endParaRPr lang="en-US" b="1" dirty="0">
            <a:latin typeface="+mj-lt"/>
          </a:endParaRPr>
        </a:p>
      </dgm:t>
    </dgm:pt>
    <dgm:pt modelId="{49BC4B97-2746-1148-A407-7801C7FF8918}" type="parTrans" cxnId="{FC9A0FE8-983B-2746-A001-FE034E56FBBA}">
      <dgm:prSet/>
      <dgm:spPr/>
      <dgm:t>
        <a:bodyPr/>
        <a:lstStyle/>
        <a:p>
          <a:endParaRPr lang="en-US"/>
        </a:p>
      </dgm:t>
    </dgm:pt>
    <dgm:pt modelId="{4E186EC6-CB75-054D-BA7C-ED7CC9A64BBF}" type="sibTrans" cxnId="{FC9A0FE8-983B-2746-A001-FE034E56FBBA}">
      <dgm:prSet/>
      <dgm:spPr/>
      <dgm:t>
        <a:bodyPr/>
        <a:lstStyle/>
        <a:p>
          <a:endParaRPr lang="en-US"/>
        </a:p>
      </dgm:t>
    </dgm:pt>
    <dgm:pt modelId="{ABA76624-B35D-D14B-A925-FC2AF33A8F54}" type="pres">
      <dgm:prSet presAssocID="{DCC27B66-85C3-FE47-8D25-064322B09694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86CB17-6359-4640-972B-2307AE1451FD}" type="pres">
      <dgm:prSet presAssocID="{DCC27B66-85C3-FE47-8D25-064322B09694}" presName="triangle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BFD341-D1F9-D24B-95CE-68C4722408FC}" type="pres">
      <dgm:prSet presAssocID="{DCC27B66-85C3-FE47-8D25-064322B09694}" presName="triangle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BE4F15-01F3-5946-9983-265B187E7DB5}" type="pres">
      <dgm:prSet presAssocID="{DCC27B66-85C3-FE47-8D25-064322B09694}" presName="triangle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3A1D36-57FE-1B43-8609-452710F6D51C}" type="pres">
      <dgm:prSet presAssocID="{DCC27B66-85C3-FE47-8D25-064322B09694}" presName="triangle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E58C80-BCAE-AB48-97C5-2B92E6BAD3AB}" srcId="{B3DDA714-85F4-C440-A494-21D2C202C4E0}" destId="{A336DF4E-C703-7E44-9B7D-2B36305C39E9}" srcOrd="0" destOrd="0" parTransId="{4C22A259-72A2-D84A-A9D5-E03D58780F07}" sibTransId="{5251D487-4D60-8449-858B-2AF763DEF873}"/>
    <dgm:cxn modelId="{0A2F6957-DA57-E84D-9614-352C3DCE41E8}" srcId="{DCC27B66-85C3-FE47-8D25-064322B09694}" destId="{9856FC2F-703A-8B4E-851A-5BF13EEF975C}" srcOrd="1" destOrd="0" parTransId="{FCF1A9B3-FF76-2B4D-9A7A-080BA326FF63}" sibTransId="{83CB9680-A6BB-F340-B5ED-1B379988E724}"/>
    <dgm:cxn modelId="{9926DD3E-81FC-A745-AF5D-898A50F82C32}" srcId="{B3DDA714-85F4-C440-A494-21D2C202C4E0}" destId="{B79A36A7-1CFF-984B-ADFF-C7F510B1A2B5}" srcOrd="2" destOrd="0" parTransId="{42A12673-BC30-3547-946E-291E2EB60BFB}" sibTransId="{4881D328-2989-FF4F-BEAD-9AF35C32EE99}"/>
    <dgm:cxn modelId="{974378CE-3189-4F4E-840E-9FB62D9CE438}" srcId="{DCC27B66-85C3-FE47-8D25-064322B09694}" destId="{B3DDA714-85F4-C440-A494-21D2C202C4E0}" srcOrd="0" destOrd="0" parTransId="{7A3CF0DD-68AC-1E41-A62B-38A53FEC9878}" sibTransId="{D4E3F297-86A2-F648-B63E-D29F3D88D2EB}"/>
    <dgm:cxn modelId="{E07F9B59-3EF7-43F2-9FC0-A8B254BD15CD}" type="presOf" srcId="{B79A36A7-1CFF-984B-ADFF-C7F510B1A2B5}" destId="{5486CB17-6359-4640-972B-2307AE1451FD}" srcOrd="0" destOrd="3" presId="urn:microsoft.com/office/officeart/2005/8/layout/pyramid4"/>
    <dgm:cxn modelId="{30D1ED56-BAEE-4172-8D1A-892734BFD9C5}" type="presOf" srcId="{6C42D2F8-47A0-8941-9F6F-F92D489C5F7D}" destId="{A8BE4F15-01F3-5946-9983-265B187E7DB5}" srcOrd="0" destOrd="0" presId="urn:microsoft.com/office/officeart/2005/8/layout/pyramid4"/>
    <dgm:cxn modelId="{C4BB0E46-A2FE-49F8-885D-BAF85862896C}" type="presOf" srcId="{116C7FB4-35FB-8846-9E98-B49D50633C24}" destId="{ED3A1D36-57FE-1B43-8609-452710F6D51C}" srcOrd="0" destOrd="0" presId="urn:microsoft.com/office/officeart/2005/8/layout/pyramid4"/>
    <dgm:cxn modelId="{5AFC7B7D-CD39-4EC8-8D27-01116BFD24E2}" type="presOf" srcId="{B3DDA714-85F4-C440-A494-21D2C202C4E0}" destId="{5486CB17-6359-4640-972B-2307AE1451FD}" srcOrd="0" destOrd="0" presId="urn:microsoft.com/office/officeart/2005/8/layout/pyramid4"/>
    <dgm:cxn modelId="{0A2C368F-DBBC-4EFE-849A-E452F9B70161}" type="presOf" srcId="{DCC27B66-85C3-FE47-8D25-064322B09694}" destId="{ABA76624-B35D-D14B-A925-FC2AF33A8F54}" srcOrd="0" destOrd="0" presId="urn:microsoft.com/office/officeart/2005/8/layout/pyramid4"/>
    <dgm:cxn modelId="{DA8E071B-BE0A-4B20-A0E9-A7D11DD34E33}" type="presOf" srcId="{4924E0E7-2A73-5D45-8773-8AAD9100ADF7}" destId="{5486CB17-6359-4640-972B-2307AE1451FD}" srcOrd="0" destOrd="2" presId="urn:microsoft.com/office/officeart/2005/8/layout/pyramid4"/>
    <dgm:cxn modelId="{8C4AFAB5-71F4-7041-947B-EB5F4EABC601}" srcId="{B3DDA714-85F4-C440-A494-21D2C202C4E0}" destId="{4924E0E7-2A73-5D45-8773-8AAD9100ADF7}" srcOrd="1" destOrd="0" parTransId="{55BDE9C4-8D12-0845-B2A1-6C416011F409}" sibTransId="{29700473-0525-6E4A-B07A-23DB6023B509}"/>
    <dgm:cxn modelId="{A979B51C-2B59-4DAB-ACBC-1CCF9CD79C87}" type="presOf" srcId="{9856FC2F-703A-8B4E-851A-5BF13EEF975C}" destId="{54BFD341-D1F9-D24B-95CE-68C4722408FC}" srcOrd="0" destOrd="0" presId="urn:microsoft.com/office/officeart/2005/8/layout/pyramid4"/>
    <dgm:cxn modelId="{2C50DD0D-2735-4D09-93E9-8B8729916A89}" type="presOf" srcId="{A336DF4E-C703-7E44-9B7D-2B36305C39E9}" destId="{5486CB17-6359-4640-972B-2307AE1451FD}" srcOrd="0" destOrd="1" presId="urn:microsoft.com/office/officeart/2005/8/layout/pyramid4"/>
    <dgm:cxn modelId="{B367E5E9-4682-8B41-B932-04E99D576417}" srcId="{DCC27B66-85C3-FE47-8D25-064322B09694}" destId="{6C42D2F8-47A0-8941-9F6F-F92D489C5F7D}" srcOrd="2" destOrd="0" parTransId="{DD9159D3-1EB1-194C-8115-639C98917B28}" sibTransId="{91565F09-7485-AB43-97B3-9D030F5AC2E9}"/>
    <dgm:cxn modelId="{FC9A0FE8-983B-2746-A001-FE034E56FBBA}" srcId="{DCC27B66-85C3-FE47-8D25-064322B09694}" destId="{116C7FB4-35FB-8846-9E98-B49D50633C24}" srcOrd="3" destOrd="0" parTransId="{49BC4B97-2746-1148-A407-7801C7FF8918}" sibTransId="{4E186EC6-CB75-054D-BA7C-ED7CC9A64BBF}"/>
    <dgm:cxn modelId="{88534DB0-897D-4F06-AABF-E07E57CA4CA2}" type="presParOf" srcId="{ABA76624-B35D-D14B-A925-FC2AF33A8F54}" destId="{5486CB17-6359-4640-972B-2307AE1451FD}" srcOrd="0" destOrd="0" presId="urn:microsoft.com/office/officeart/2005/8/layout/pyramid4"/>
    <dgm:cxn modelId="{4A875244-A081-41AD-B49F-61D94DE78452}" type="presParOf" srcId="{ABA76624-B35D-D14B-A925-FC2AF33A8F54}" destId="{54BFD341-D1F9-D24B-95CE-68C4722408FC}" srcOrd="1" destOrd="0" presId="urn:microsoft.com/office/officeart/2005/8/layout/pyramid4"/>
    <dgm:cxn modelId="{4EDBE563-66B3-4853-8393-9019F06ADBA1}" type="presParOf" srcId="{ABA76624-B35D-D14B-A925-FC2AF33A8F54}" destId="{A8BE4F15-01F3-5946-9983-265B187E7DB5}" srcOrd="2" destOrd="0" presId="urn:microsoft.com/office/officeart/2005/8/layout/pyramid4"/>
    <dgm:cxn modelId="{FE3DAF6E-C667-4F4E-A923-450538D160AB}" type="presParOf" srcId="{ABA76624-B35D-D14B-A925-FC2AF33A8F54}" destId="{ED3A1D36-57FE-1B43-8609-452710F6D51C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B2028-2E50-AF4F-B519-F5340D5F204A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3951B-72B7-544E-8146-DFDC0DC25423}">
      <dsp:nvSpPr>
        <dsp:cNvPr id="0" name=""/>
        <dsp:cNvSpPr/>
      </dsp:nvSpPr>
      <dsp:spPr>
        <a:xfrm>
          <a:off x="2262981" y="0"/>
          <a:ext cx="5966618" cy="45259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latin typeface="+mj-lt"/>
            </a:rPr>
            <a:t>Hardware</a:t>
          </a:r>
          <a:endParaRPr lang="en-US" sz="2900" kern="1200" dirty="0">
            <a:latin typeface="+mj-lt"/>
          </a:endParaRPr>
        </a:p>
      </dsp:txBody>
      <dsp:txXfrm>
        <a:off x="2262981" y="0"/>
        <a:ext cx="5966618" cy="961767"/>
      </dsp:txXfrm>
    </dsp:sp>
    <dsp:sp modelId="{6760201D-A316-0345-912B-1C05E887BD9E}">
      <dsp:nvSpPr>
        <dsp:cNvPr id="0" name=""/>
        <dsp:cNvSpPr/>
      </dsp:nvSpPr>
      <dsp:spPr>
        <a:xfrm>
          <a:off x="594032" y="961767"/>
          <a:ext cx="3337897" cy="3337897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88712-AF31-824B-AA64-BE8A21574F6A}">
      <dsp:nvSpPr>
        <dsp:cNvPr id="0" name=""/>
        <dsp:cNvSpPr/>
      </dsp:nvSpPr>
      <dsp:spPr>
        <a:xfrm>
          <a:off x="2262981" y="961767"/>
          <a:ext cx="5966618" cy="333789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465231"/>
              <a:satOff val="-15989"/>
              <a:lumOff val="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latin typeface="+mj-lt"/>
            </a:rPr>
            <a:t>Software</a:t>
          </a:r>
          <a:endParaRPr lang="en-US" sz="2900" kern="1200" dirty="0">
            <a:latin typeface="+mj-lt"/>
          </a:endParaRPr>
        </a:p>
      </dsp:txBody>
      <dsp:txXfrm>
        <a:off x="2262981" y="961767"/>
        <a:ext cx="5966618" cy="961767"/>
      </dsp:txXfrm>
    </dsp:sp>
    <dsp:sp modelId="{1CEBA3CC-D570-6D48-83C0-914D39E7A3D4}">
      <dsp:nvSpPr>
        <dsp:cNvPr id="0" name=""/>
        <dsp:cNvSpPr/>
      </dsp:nvSpPr>
      <dsp:spPr>
        <a:xfrm>
          <a:off x="1188065" y="1923534"/>
          <a:ext cx="2149832" cy="2149832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B32D3-675D-0A45-AD21-BCB152A507C4}">
      <dsp:nvSpPr>
        <dsp:cNvPr id="0" name=""/>
        <dsp:cNvSpPr/>
      </dsp:nvSpPr>
      <dsp:spPr>
        <a:xfrm>
          <a:off x="2262981" y="1923534"/>
          <a:ext cx="5966618" cy="21498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930461"/>
              <a:satOff val="-31979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latin typeface="+mj-lt"/>
            </a:rPr>
            <a:t>Data</a:t>
          </a:r>
          <a:endParaRPr lang="en-US" sz="2900" kern="1200" dirty="0">
            <a:latin typeface="+mj-lt"/>
          </a:endParaRPr>
        </a:p>
      </dsp:txBody>
      <dsp:txXfrm>
        <a:off x="2262981" y="1923534"/>
        <a:ext cx="5966618" cy="961767"/>
      </dsp:txXfrm>
    </dsp:sp>
    <dsp:sp modelId="{202D11B4-F3BA-8F41-9371-6356E59DEDC9}">
      <dsp:nvSpPr>
        <dsp:cNvPr id="0" name=""/>
        <dsp:cNvSpPr/>
      </dsp:nvSpPr>
      <dsp:spPr>
        <a:xfrm>
          <a:off x="1782097" y="2885301"/>
          <a:ext cx="961767" cy="961767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12420-D463-7D47-A442-9CE0363E4628}">
      <dsp:nvSpPr>
        <dsp:cNvPr id="0" name=""/>
        <dsp:cNvSpPr/>
      </dsp:nvSpPr>
      <dsp:spPr>
        <a:xfrm>
          <a:off x="2262981" y="2885301"/>
          <a:ext cx="5966618" cy="96176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latin typeface="+mj-lt"/>
            </a:rPr>
            <a:t>Communication facilities and networks</a:t>
          </a:r>
          <a:endParaRPr lang="en-US" sz="2900" kern="1200" dirty="0">
            <a:latin typeface="+mj-lt"/>
          </a:endParaRPr>
        </a:p>
      </dsp:txBody>
      <dsp:txXfrm>
        <a:off x="2262981" y="2885301"/>
        <a:ext cx="5966618" cy="9617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6CB17-6359-4640-972B-2307AE1451FD}">
      <dsp:nvSpPr>
        <dsp:cNvPr id="0" name=""/>
        <dsp:cNvSpPr/>
      </dsp:nvSpPr>
      <dsp:spPr>
        <a:xfrm>
          <a:off x="2121794" y="0"/>
          <a:ext cx="2440547" cy="2440547"/>
        </a:xfrm>
        <a:prstGeom prst="triangle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latin typeface="+mj-lt"/>
            </a:rPr>
            <a:t>Means used to deal with security attacks</a:t>
          </a:r>
          <a:endParaRPr lang="en-US" sz="1300" b="1" kern="1200" dirty="0">
            <a:latin typeface="+mj-lt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1" kern="1200" dirty="0" smtClean="0">
              <a:latin typeface="+mj-lt"/>
            </a:rPr>
            <a:t>Prevent</a:t>
          </a:r>
          <a:endParaRPr lang="en-US" sz="1000" b="1" kern="1200" dirty="0">
            <a:latin typeface="+mj-lt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1" kern="1200" dirty="0" smtClean="0">
              <a:latin typeface="+mj-lt"/>
            </a:rPr>
            <a:t>Detect</a:t>
          </a:r>
          <a:endParaRPr lang="en-US" sz="1000" b="1" kern="1200" dirty="0">
            <a:latin typeface="+mj-lt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1" kern="1200" dirty="0" smtClean="0">
              <a:latin typeface="+mj-lt"/>
            </a:rPr>
            <a:t>Recover</a:t>
          </a:r>
          <a:endParaRPr lang="en-US" sz="1000" b="1" kern="1200" dirty="0">
            <a:latin typeface="+mj-lt"/>
          </a:endParaRPr>
        </a:p>
      </dsp:txBody>
      <dsp:txXfrm>
        <a:off x="2731931" y="1220274"/>
        <a:ext cx="1220273" cy="1220273"/>
      </dsp:txXfrm>
    </dsp:sp>
    <dsp:sp modelId="{54BFD341-D1F9-D24B-95CE-68C4722408FC}">
      <dsp:nvSpPr>
        <dsp:cNvPr id="0" name=""/>
        <dsp:cNvSpPr/>
      </dsp:nvSpPr>
      <dsp:spPr>
        <a:xfrm>
          <a:off x="901520" y="2440547"/>
          <a:ext cx="2440547" cy="2440547"/>
        </a:xfrm>
        <a:prstGeom prst="triangl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latin typeface="+mj-lt"/>
            </a:rPr>
            <a:t>May itself introduce new vulnerabilities</a:t>
          </a:r>
          <a:endParaRPr lang="en-US" sz="1300" b="1" kern="1200" dirty="0">
            <a:latin typeface="+mj-lt"/>
          </a:endParaRPr>
        </a:p>
      </dsp:txBody>
      <dsp:txXfrm>
        <a:off x="1511657" y="3660821"/>
        <a:ext cx="1220273" cy="1220273"/>
      </dsp:txXfrm>
    </dsp:sp>
    <dsp:sp modelId="{A8BE4F15-01F3-5946-9983-265B187E7DB5}">
      <dsp:nvSpPr>
        <dsp:cNvPr id="0" name=""/>
        <dsp:cNvSpPr/>
      </dsp:nvSpPr>
      <dsp:spPr>
        <a:xfrm rot="10800000">
          <a:off x="2121794" y="2440547"/>
          <a:ext cx="2440547" cy="2440547"/>
        </a:xfrm>
        <a:prstGeom prst="triangle">
          <a:avLst/>
        </a:prstGeom>
        <a:solidFill>
          <a:schemeClr val="accent3">
            <a:lumMod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latin typeface="+mj-lt"/>
            </a:rPr>
            <a:t>Residual vulnerabilities may remain</a:t>
          </a:r>
          <a:endParaRPr lang="en-US" sz="1300" b="1" kern="1200" dirty="0">
            <a:latin typeface="+mj-lt"/>
          </a:endParaRPr>
        </a:p>
      </dsp:txBody>
      <dsp:txXfrm rot="10800000">
        <a:off x="2731931" y="2440547"/>
        <a:ext cx="1220273" cy="1220273"/>
      </dsp:txXfrm>
    </dsp:sp>
    <dsp:sp modelId="{ED3A1D36-57FE-1B43-8609-452710F6D51C}">
      <dsp:nvSpPr>
        <dsp:cNvPr id="0" name=""/>
        <dsp:cNvSpPr/>
      </dsp:nvSpPr>
      <dsp:spPr>
        <a:xfrm>
          <a:off x="3342067" y="2440547"/>
          <a:ext cx="2440547" cy="2440547"/>
        </a:xfrm>
        <a:prstGeom prst="triangle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latin typeface="+mj-lt"/>
            </a:rPr>
            <a:t>Goal is to minimize residual level of risk to the assets</a:t>
          </a:r>
          <a:endParaRPr lang="en-US" sz="1300" b="1" kern="1200" dirty="0">
            <a:latin typeface="+mj-lt"/>
          </a:endParaRPr>
        </a:p>
      </dsp:txBody>
      <dsp:txXfrm>
        <a:off x="3952204" y="3660821"/>
        <a:ext cx="1220273" cy="1220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E87DD-C0A4-4C9C-80F7-8672C7422A10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8385F-8D62-453E-AF48-0848A605D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8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The assets of a computer system can be categorized as follows: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Hardware:  Including computer systems and other data processing, data storage,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and data communications devices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Software:  Including the operating system, system utilities, and applications.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Data:  Including files and databases, as well as security-related data, such as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password files.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Communication facilities and networks:  Local and wide area network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communication links, bridges, routers, and so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5218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5B399-E414-264B-AC2B-BBCB3C6C6795}" type="slidenum">
              <a:rPr lang="en-AU"/>
              <a:pPr/>
              <a:t>14</a:t>
            </a:fld>
            <a:endParaRPr lang="en-AU" dirty="0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 the context of security, our concern is with the vulnerabilities of system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resources. [NRC02] lists the following general categories of vulnerabilities of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computer system or network asset: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The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7" charset="0"/>
                <a:ea typeface="+mn-ea"/>
                <a:cs typeface="+mn-cs"/>
              </a:rPr>
              <a:t>system can be corrupted , so it does the wrong thing or gives wrong answers.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7" charset="0"/>
                <a:ea typeface="+mn-ea"/>
                <a:cs typeface="+mn-cs"/>
              </a:rPr>
              <a:t>For example, stored data values may differ from what they should be because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7" charset="0"/>
                <a:ea typeface="+mn-ea"/>
                <a:cs typeface="+mn-cs"/>
              </a:rPr>
              <a:t>they have been improperly modified.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The system can become leaky . For example, someone who should not have access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some or all of the information available through the network obtains such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access.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The system can become unavailable or very slow. That is, using the system or network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becomes impossible or impractical.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These three general types of vulnerability correspond to the concepts of integrity,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confidentiality, and availability, enumerated earlier in this section.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Corresponding to the various types of vulnerabilities to a system resource are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threats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that are capable of exploiting those vulnerabilities. A threat represents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potential security harm to an asset.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is a threat that is carried out (threat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action) and, if successful, leads to an undesirable violation of security, or threat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consequence. The agent carrying out the attack is referred to as an attacker, or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threat agent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. We can distinguish two types of attacks: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Active attack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: An attempt to alter system resources or affect their operation.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 attempt to learn or make use of information from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system that does not affect system resources.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We can also classify attacks based on the origin of the attack: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Inside attack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: Initiated by an entity inside the security perimeter (an “insider”).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insider is authorized to access system resources but uses them in a way not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approved by those who granted the authorization.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Outside attack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: Initiated from outside the perimeter, by an unauthorized 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illegitimate user of the system (an “outsider”). On the Internet, potential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outside attackers range from amateur pranksters to organized criminals, international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terrorists, and hostile governments.</a:t>
            </a:r>
            <a:endParaRPr lang="en-US" b="0" dirty="0">
              <a:latin typeface="Times New Roman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50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8A6553-8707-CA4A-B543-5C3E9B417634}" type="slidenum">
              <a:rPr lang="en-AU"/>
              <a:pPr/>
              <a:t>15</a:t>
            </a:fld>
            <a:endParaRPr lang="en-AU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Finally, a countermeasure is any means taken to deal with a security attack.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Ideally, a countermeasure can be devised to prevent a particular type of attack from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succeeding.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When prevention is not possible, or fails in some instance, the goal is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detect the attack and then recover from the effects of the attack.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 countermeasure may itself introduce new vulnerabilities. 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 any case, residual vulnerabilities may remain after the imposition of countermeasures. Such vulnerabilities may be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exploited by threat agents representing a residual level of risk to the assets. Owners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will seek to minimize that risk given other constraints.</a:t>
            </a:r>
            <a:endParaRPr lang="en-US" b="0" dirty="0">
              <a:latin typeface="Times New Roman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24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Detrimental=harmful-</a:t>
            </a:r>
            <a:r>
              <a:rPr lang="en-US" dirty="0" smtClean="0">
                <a:sym typeface="Wingdings" panose="05000000000000000000" pitchFamily="2" charset="2"/>
              </a:rPr>
              <a:t> organization, government spy,</a:t>
            </a:r>
            <a:r>
              <a:rPr lang="en-US" baseline="0" dirty="0" smtClean="0">
                <a:sym typeface="Wingdings" panose="05000000000000000000" pitchFamily="2" charset="2"/>
              </a:rPr>
              <a:t> terrorist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1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Interception: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Interception is a common attack in the context of communications.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 shared local area network (LAN), such as a wireless LAN or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broadcast Ethernet, any device attached to the LAN can receive a copy of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packets intended for another device. On the Internet, a determined hacker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gain access to e-mail traffic and other data transfers.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Inference: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of inference is known as traffic analysis, in which 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adversary is able to gain information from observing the pattern of traffic 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network, such as the amount of traffic between particular pairs of hosts 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network. Another example is the inference of detailed information from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 by a user who has only limited access; this is accomplished by repeated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queries whose combined results enable inference.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Intrusion: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of intrusion is an adversary gaining unauthorized access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sensitive data by overcoming the system’s access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89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81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Economy of mechanism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the design of security measures embodied in both hardware and software should be as simple and small as possible. The motivation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this principle is that relatively simple, small design is easier to test and verify thoroughly. With a complex design, there are many more opportunities for an adversary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discover.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Fail-safe default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access decisions should be based on permission rather than exclusion. That is, the default situation is lack of access, and the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protection scheme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identifies conditions under which access is permitted.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most file access systems work on this principle and virtually all protected services on client/server systems work this way.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 mediation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every access must be checked against the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control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mechanism. Systems should not rely on access decisions retrieved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cache.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design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the design of a security mechanism should be open rather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secret.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although encryption keys must be secret, encryption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Algorithms should be open to public scrutiny.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Separation of privilege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defined in [SALT75] as a practice in which multiple privilege attributes are required to achieve access to a restricted resource.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good example of this is multifactor user authentication, which requires the use of multiple techniques, such as a password and a smart card, to authorize a user.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privilege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every process and every user of the system should operate using the least set of privileges necessary to perform the task. A good example of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of this principle is role-based access control, as will be described in Chapter 4.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common mechanism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the design should minimize the functions shared by different users, providing mutual security. This principle helps reduce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unintended communication paths and reduces the amount of hardware and software on which all users depend, thus making it easier to verify if there are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undesirable security implications.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Psychological acceptability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implies the security mechanisms should not Interfere unduly with the work of users, and at the same time meet the needs of those who authorize access.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Isolation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 principle that applies in three contexts. First, public access systems should be isolated from critical resources (data, processes, etc.) to prevent disclosure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tampering.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Encapsulation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viewed as a specific form of isolation based 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 oriented functionality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Modularity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context of security refers both to the development of security functions as separate, protected modules, and to the use of a modular architecture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mechanism design and implementation.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Layering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refers to the use of multiple, overlapping protection approaches addressing the people, technology, and operational aspects of information systems.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astonishment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a program or user interface should always respond in the way that is least likely to astonish the user. For example, the mechanism for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authorization should be transparent enough to a user that the user has a good intuitive understanding of how the security goals map to the provided security mechanism.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7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Policy: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first step in devising security services and mechanisms is to develop a security policy. Those involved with computer security use the term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policy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various ways. At the least, a security policy is an informal description of desired system. In developing a security policy, a security manager needs to consider the</a:t>
            </a: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Following factors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value of the assets being protected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vulnerabilities of the system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Potential threats and the likelihood of attacks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implementation involves four complementary courses of action: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Prevention, Detection, Response, Recovery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Assurance and Evaluation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 who are “consumers” of computer security services and mechanisms (e.g., system managers, vendors, customers, and end users) desire a belief that the security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measures in place work as intended. That is, security consumers want to feel that the security infrastructure of their systems meet security requirements and enforce security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policies.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7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4908-CC23-48C0-976B-10CC20990EB2}" type="datetime1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A864-45E6-4FF3-9F56-3B20DBBFC3C2}" type="datetime1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8996E-E0E0-40F4-841D-9F1A9F67B603}" type="datetime1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5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E4FC-E453-477B-A66B-F03CC82B7056}" type="datetime1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B869-8361-44D0-BD83-AE35A5C3BED5}" type="datetime1">
              <a:rPr lang="en-US" smtClean="0"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9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8ED7-1120-47C5-9976-8F42E2F562CF}" type="datetime1">
              <a:rPr lang="en-US" smtClean="0"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1BB-02EA-4FD2-BB64-1808DDE74F74}" type="datetime1">
              <a:rPr lang="en-US" smtClean="0"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72C61-A4AD-4435-B830-F4B215C43EE3}" type="datetime1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04A30-163A-4F79-B404-FE5245FD6953}" type="datetime1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448FC-326D-4210-9B7F-1F78F2B0ABAC}" type="datetime1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8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85A1-B715-4328-ADC9-B20C16CF4F32}" type="datetime1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4298C-E6C4-409D-9160-EEEEF8DB9D31}" type="datetime1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Information Security</a:t>
            </a:r>
            <a:br>
              <a:rPr lang="en-US" b="1" dirty="0" smtClean="0"/>
            </a:br>
            <a:r>
              <a:rPr lang="en-US" b="1" dirty="0" smtClean="0"/>
              <a:t>Fall 2022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464842" cy="2333541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dirty="0" smtClean="0">
                <a:solidFill>
                  <a:srgbClr val="0070C0"/>
                </a:solidFill>
              </a:rPr>
              <a:t>eek # 1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Lecture # 1, 2 and 3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Start date: Aug 23, 2022</a:t>
            </a:r>
          </a:p>
          <a:p>
            <a:r>
              <a:rPr lang="en-US" sz="2800" b="1" dirty="0" smtClean="0"/>
              <a:t>Dr. Aqsa Aslam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9209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172" y="138444"/>
            <a:ext cx="7843923" cy="652921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0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717590" y="555738"/>
            <a:ext cx="8698634" cy="5807992"/>
            <a:chOff x="3109294" y="743178"/>
            <a:chExt cx="5020376" cy="333086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9294" y="743178"/>
              <a:ext cx="5020376" cy="1533739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8347" y="2264038"/>
              <a:ext cx="5001323" cy="1810003"/>
            </a:xfrm>
            <a:prstGeom prst="rect">
              <a:avLst/>
            </a:prstGeom>
          </p:spPr>
        </p:pic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7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91" y="1183544"/>
            <a:ext cx="9338366" cy="458706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466" y="400177"/>
            <a:ext cx="8452426" cy="618639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4" y="611668"/>
            <a:ext cx="7125694" cy="17052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24" y="2881236"/>
            <a:ext cx="10583752" cy="1095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124" y="4885860"/>
            <a:ext cx="10612331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6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87" y="1743057"/>
            <a:ext cx="6698917" cy="31093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7" y="506628"/>
            <a:ext cx="4656835" cy="558216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0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76" y="435147"/>
            <a:ext cx="8619421" cy="11082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76" y="1582502"/>
            <a:ext cx="9187832" cy="119759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076" y="3435179"/>
            <a:ext cx="6473346" cy="20402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4353" y="2968287"/>
            <a:ext cx="3565154" cy="356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9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25" y="716691"/>
            <a:ext cx="9765676" cy="575824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0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06" y="1322173"/>
            <a:ext cx="8459874" cy="47036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729" y="665408"/>
            <a:ext cx="2688801" cy="28016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44081" y="3821623"/>
            <a:ext cx="3015450" cy="2219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108215" y="4325142"/>
            <a:ext cx="357476" cy="34598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 rot="300807">
            <a:off x="9111918" y="4861707"/>
            <a:ext cx="357476" cy="34598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111918" y="5398272"/>
            <a:ext cx="357476" cy="34598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545581" y="4301799"/>
            <a:ext cx="5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Low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52987" y="4830613"/>
            <a:ext cx="11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Moderate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545580" y="538660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4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286018" y="1638918"/>
            <a:ext cx="9329350" cy="4348576"/>
            <a:chOff x="3555849" y="1001900"/>
            <a:chExt cx="4610743" cy="202627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5849" y="1001900"/>
              <a:ext cx="4610743" cy="38105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5277" y="1370596"/>
              <a:ext cx="4525006" cy="1657581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420" y="688314"/>
            <a:ext cx="8806547" cy="9506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78587" y="5987256"/>
            <a:ext cx="5570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FIPS (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Federal Information Processing Standards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50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1" y="852616"/>
            <a:ext cx="5355888" cy="51183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691" y="1648119"/>
            <a:ext cx="5346098" cy="35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5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328" y="296213"/>
            <a:ext cx="8229600" cy="1110803"/>
          </a:xfrm>
        </p:spPr>
        <p:txBody>
          <a:bodyPr>
            <a:normAutofit/>
          </a:bodyPr>
          <a:lstStyle/>
          <a:p>
            <a:r>
              <a:rPr lang="en-US" b="1" dirty="0" smtClean="0"/>
              <a:t>A Model for Computer Security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964829"/>
              </p:ext>
            </p:extLst>
          </p:nvPr>
        </p:nvGraphicFramePr>
        <p:xfrm>
          <a:off x="1314297" y="168528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021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v="urn:schemas-microsoft-com:mac:vml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7194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Vulnerabilities, Threats  and </a:t>
            </a:r>
            <a:r>
              <a:rPr lang="en-US" b="1" dirty="0"/>
              <a:t>Attacks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1676399" y="1389845"/>
            <a:ext cx="9721403" cy="4953000"/>
          </a:xfrm>
        </p:spPr>
        <p:txBody>
          <a:bodyPr>
            <a:normAutofit/>
          </a:bodyPr>
          <a:lstStyle/>
          <a:p>
            <a:pPr>
              <a:buClr>
                <a:schemeClr val="accent3">
                  <a:lumMod val="60000"/>
                  <a:lumOff val="40000"/>
                </a:schemeClr>
              </a:buClr>
              <a:buSzPct val="130000"/>
            </a:pPr>
            <a:r>
              <a:rPr lang="en-US" sz="2595" b="1" dirty="0"/>
              <a:t>Categories of vulnerabilities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orrupted </a:t>
            </a:r>
            <a:r>
              <a:rPr lang="en-US" dirty="0"/>
              <a:t>(loss of integrity)</a:t>
            </a:r>
            <a:endParaRPr lang="en-US" dirty="0" smtClean="0"/>
          </a:p>
          <a:p>
            <a:pPr lvl="2"/>
            <a:r>
              <a:rPr lang="en-US" dirty="0"/>
              <a:t>L</a:t>
            </a:r>
            <a:r>
              <a:rPr lang="en-US" dirty="0" smtClean="0"/>
              <a:t>eaky </a:t>
            </a:r>
            <a:r>
              <a:rPr lang="en-US" dirty="0"/>
              <a:t>(loss of confidentiality)</a:t>
            </a:r>
            <a:endParaRPr lang="en-US" dirty="0" smtClean="0"/>
          </a:p>
          <a:p>
            <a:pPr lvl="2"/>
            <a:r>
              <a:rPr lang="en-US" dirty="0"/>
              <a:t>U</a:t>
            </a:r>
            <a:r>
              <a:rPr lang="en-US" dirty="0" smtClean="0"/>
              <a:t>navailable or very slow </a:t>
            </a:r>
            <a:r>
              <a:rPr lang="en-US" dirty="0"/>
              <a:t>(loss of availability</a:t>
            </a:r>
            <a:r>
              <a:rPr lang="en-US" dirty="0" smtClean="0"/>
              <a:t>)</a:t>
            </a:r>
          </a:p>
          <a:p>
            <a:pPr marL="342900" lvl="1" indent="-342900">
              <a:buClr>
                <a:schemeClr val="accent3">
                  <a:lumMod val="60000"/>
                  <a:lumOff val="40000"/>
                </a:schemeClr>
              </a:buClr>
              <a:buSzPct val="130000"/>
            </a:pPr>
            <a:r>
              <a:rPr lang="en-US" sz="2595" b="1" dirty="0"/>
              <a:t>Threats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apable of exploiting vulnerabilities</a:t>
            </a:r>
          </a:p>
          <a:p>
            <a:pPr lvl="2"/>
            <a:r>
              <a:rPr lang="en-US" dirty="0"/>
              <a:t>R</a:t>
            </a:r>
            <a:r>
              <a:rPr lang="en-US" dirty="0" smtClean="0"/>
              <a:t>epresent potential security harm to an asset</a:t>
            </a:r>
          </a:p>
          <a:p>
            <a:pPr marL="342900" lvl="1" indent="-342900">
              <a:buClr>
                <a:schemeClr val="accent3">
                  <a:lumMod val="60000"/>
                  <a:lumOff val="40000"/>
                </a:schemeClr>
              </a:buClr>
              <a:buSzPct val="130000"/>
            </a:pPr>
            <a:r>
              <a:rPr lang="en-US" sz="2595" b="1" dirty="0"/>
              <a:t>Attacks (threats carried out)</a:t>
            </a:r>
          </a:p>
          <a:p>
            <a:pPr lvl="2"/>
            <a:r>
              <a:rPr lang="en-US" dirty="0"/>
              <a:t>P</a:t>
            </a:r>
            <a:r>
              <a:rPr lang="en-US" dirty="0" smtClean="0"/>
              <a:t>assive – attempt to learn or make use of information from the system 	    that does not affect system resources</a:t>
            </a:r>
          </a:p>
          <a:p>
            <a:pPr lvl="2"/>
            <a:r>
              <a:rPr lang="en-US" dirty="0"/>
              <a:t>A</a:t>
            </a:r>
            <a:r>
              <a:rPr lang="en-US" dirty="0" smtClean="0"/>
              <a:t>ctive – attempt to alter system resources or affect their operation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nsider – initiated by an entity inside the security parameter</a:t>
            </a:r>
          </a:p>
          <a:p>
            <a:pPr lvl="2"/>
            <a:r>
              <a:rPr lang="en-US" dirty="0"/>
              <a:t>O</a:t>
            </a:r>
            <a:r>
              <a:rPr lang="en-US" dirty="0" smtClean="0"/>
              <a:t>utsider – initiated from outside the perimeter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7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v="urn:schemas-microsoft-com:mac:vml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404664"/>
            <a:ext cx="5616624" cy="1268760"/>
          </a:xfrm>
        </p:spPr>
        <p:txBody>
          <a:bodyPr/>
          <a:lstStyle/>
          <a:p>
            <a:r>
              <a:rPr lang="en-US" sz="4200" b="1" dirty="0"/>
              <a:t>Countermeasures</a:t>
            </a:r>
            <a:endParaRPr lang="en-US" sz="4200" b="1" dirty="0">
              <a:ln w="11430" cmpd="sng">
                <a:solidFill>
                  <a:srgbClr val="CC9900"/>
                </a:solidFill>
                <a:prstDash val="solid"/>
                <a:miter lim="800000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237572"/>
              </p:ext>
            </p:extLst>
          </p:nvPr>
        </p:nvGraphicFramePr>
        <p:xfrm>
          <a:off x="2395470" y="1558343"/>
          <a:ext cx="6684135" cy="4881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211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v="urn:schemas-microsoft-com:mac:vml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082" y="235260"/>
            <a:ext cx="8390236" cy="613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4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341" y="1063697"/>
            <a:ext cx="6971727" cy="515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9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719" y="234685"/>
            <a:ext cx="7661190" cy="63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2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21" y="195004"/>
            <a:ext cx="1149249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Threat Consequences, and the Types of Threat Actions that Cause Each Consequence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969" y="1299411"/>
            <a:ext cx="11983452" cy="4684294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Unauthorized Disclosure 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sz="2400" i="1" dirty="0"/>
              <a:t>is a threat to confidentiality. </a:t>
            </a:r>
            <a:endParaRPr lang="en-US" sz="2400" i="1" dirty="0" smtClean="0"/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Exposure: </a:t>
            </a:r>
            <a:r>
              <a:rPr lang="en-US" dirty="0"/>
              <a:t>This can be deliberate, as when an insider intentionally releases sensitive </a:t>
            </a:r>
            <a:r>
              <a:rPr lang="en-US" dirty="0" smtClean="0"/>
              <a:t>information</a:t>
            </a:r>
          </a:p>
          <a:p>
            <a:pPr lvl="2"/>
            <a:r>
              <a:rPr lang="en-US" sz="1800" b="1" dirty="0"/>
              <a:t>Examples</a:t>
            </a:r>
            <a:r>
              <a:rPr lang="en-US" sz="1800" b="1" dirty="0">
                <a:solidFill>
                  <a:srgbClr val="002060"/>
                </a:solidFill>
              </a:rPr>
              <a:t>: </a:t>
            </a:r>
            <a:r>
              <a:rPr lang="en-US" sz="1800" dirty="0" smtClean="0"/>
              <a:t>credit </a:t>
            </a:r>
            <a:r>
              <a:rPr lang="en-US" sz="1800" dirty="0"/>
              <a:t>card numbers, to an outsider</a:t>
            </a:r>
            <a:r>
              <a:rPr lang="en-US" sz="1800" dirty="0" smtClean="0"/>
              <a:t>. </a:t>
            </a:r>
          </a:p>
          <a:p>
            <a:pPr lvl="2"/>
            <a:r>
              <a:rPr lang="en-US" sz="1800" dirty="0" smtClean="0"/>
              <a:t>It </a:t>
            </a:r>
            <a:r>
              <a:rPr lang="en-US" sz="1800" dirty="0"/>
              <a:t>can also be the result of a human, hardware, or software error, which results in an entity gaining unauthorized knowledge of sensitive data.</a:t>
            </a:r>
            <a:endParaRPr lang="en-US" sz="1800" b="1" dirty="0" smtClean="0">
              <a:solidFill>
                <a:srgbClr val="0070C0"/>
              </a:solidFill>
            </a:endParaRPr>
          </a:p>
          <a:p>
            <a:pPr lvl="1"/>
            <a:r>
              <a:rPr lang="en-US" b="1" dirty="0" smtClean="0">
                <a:solidFill>
                  <a:srgbClr val="0070C0"/>
                </a:solidFill>
              </a:rPr>
              <a:t>Interception Attack</a:t>
            </a:r>
          </a:p>
          <a:p>
            <a:pPr marL="1200150" lvl="2" indent="-285750"/>
            <a:r>
              <a:rPr lang="en-US" sz="1800" b="1" dirty="0" smtClean="0"/>
              <a:t>Examples: </a:t>
            </a:r>
            <a:r>
              <a:rPr lang="en-US" sz="1800" dirty="0" smtClean="0"/>
              <a:t>On </a:t>
            </a:r>
            <a:r>
              <a:rPr lang="en-US" sz="1800" dirty="0"/>
              <a:t>the Internet, a determined hacker can gain access to e-mail traffic and other data transfers. </a:t>
            </a:r>
            <a:endParaRPr lang="en-US" sz="1800" dirty="0" smtClean="0"/>
          </a:p>
          <a:p>
            <a:pPr marL="1657350" lvl="3" indent="-285750"/>
            <a:r>
              <a:rPr lang="en-US" sz="1600" dirty="0"/>
              <a:t>C</a:t>
            </a:r>
            <a:r>
              <a:rPr lang="en-US" sz="1600" dirty="0" smtClean="0"/>
              <a:t>reate </a:t>
            </a:r>
            <a:r>
              <a:rPr lang="en-US" sz="1600" dirty="0"/>
              <a:t>the potential for unauthorized access to data.</a:t>
            </a:r>
          </a:p>
          <a:p>
            <a:pPr marL="1200150" lvl="2" indent="-285750"/>
            <a:r>
              <a:rPr lang="en-US" sz="1800" dirty="0"/>
              <a:t>Packet sniffing and key logging to capture data from a computer system or network</a:t>
            </a:r>
            <a:endParaRPr lang="en-US" sz="1800" b="1" dirty="0"/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4" y="4634745"/>
            <a:ext cx="3912519" cy="21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3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21" y="195004"/>
            <a:ext cx="1149249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Threat Consequences, and the Types of Threat Actions that Cause Each Consequence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20" y="1296234"/>
            <a:ext cx="10802679" cy="5060115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Unauthorized </a:t>
            </a:r>
            <a:r>
              <a:rPr lang="en-US" b="1" dirty="0" smtClean="0">
                <a:solidFill>
                  <a:srgbClr val="002060"/>
                </a:solidFill>
              </a:rPr>
              <a:t>Disclosure: 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</a:rPr>
              <a:t>Inference Attack</a:t>
            </a:r>
          </a:p>
          <a:p>
            <a:pPr marL="1200150" lvl="2" indent="-285750"/>
            <a:r>
              <a:rPr lang="en-US" b="1" dirty="0" smtClean="0">
                <a:solidFill>
                  <a:srgbClr val="002060"/>
                </a:solidFill>
              </a:rPr>
              <a:t>Examples: </a:t>
            </a:r>
            <a:r>
              <a:rPr lang="en-US" dirty="0" smtClean="0"/>
              <a:t>An </a:t>
            </a:r>
            <a:r>
              <a:rPr lang="en-US" dirty="0"/>
              <a:t>example of inference is known as traffic </a:t>
            </a:r>
            <a:r>
              <a:rPr lang="en-US" dirty="0" smtClean="0"/>
              <a:t>analysis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dirty="0"/>
              <a:t>A</a:t>
            </a:r>
            <a:r>
              <a:rPr lang="en-US" dirty="0" smtClean="0"/>
              <a:t>dversary </a:t>
            </a:r>
            <a:r>
              <a:rPr lang="en-US" dirty="0"/>
              <a:t>is able to gain information from observing the pattern of traffic on a </a:t>
            </a:r>
            <a:r>
              <a:rPr lang="en-US" dirty="0" smtClean="0"/>
              <a:t>network</a:t>
            </a:r>
          </a:p>
          <a:p>
            <a:pPr marL="2114550" lvl="4" indent="-285750"/>
            <a:r>
              <a:rPr lang="en-US" dirty="0"/>
              <a:t>S</a:t>
            </a:r>
            <a:r>
              <a:rPr lang="en-US" dirty="0" smtClean="0"/>
              <a:t>uch </a:t>
            </a:r>
            <a:r>
              <a:rPr lang="en-US" dirty="0"/>
              <a:t>as the amount of traffic between particular pairs of hosts on the network</a:t>
            </a:r>
            <a:r>
              <a:rPr lang="en-US" dirty="0" smtClean="0"/>
              <a:t>.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 smtClean="0"/>
              <a:t>Another </a:t>
            </a:r>
            <a:r>
              <a:rPr lang="en-US" dirty="0"/>
              <a:t>example is the inference of detailed information from a database by a user who has only limited </a:t>
            </a:r>
            <a:r>
              <a:rPr lang="en-US" dirty="0" smtClean="0"/>
              <a:t>access</a:t>
            </a:r>
          </a:p>
          <a:p>
            <a:pPr marL="2114550" lvl="4" indent="-285750"/>
            <a:r>
              <a:rPr lang="en-US" dirty="0" smtClean="0"/>
              <a:t>This is accomplished by repeated queries whose combined results enable inference.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  <a:sym typeface="Wingdings" panose="05000000000000000000" pitchFamily="2" charset="2"/>
              </a:rPr>
              <a:t>Intrusion </a:t>
            </a:r>
            <a:r>
              <a:rPr lang="en-US" b="1" dirty="0" smtClean="0">
                <a:solidFill>
                  <a:srgbClr val="0070C0"/>
                </a:solidFill>
              </a:rPr>
              <a:t>Attack</a:t>
            </a:r>
          </a:p>
          <a:p>
            <a:pPr marL="1200150" lvl="2" indent="-285750"/>
            <a:r>
              <a:rPr lang="en-US" b="1" dirty="0" smtClean="0">
                <a:solidFill>
                  <a:srgbClr val="002060"/>
                </a:solidFill>
              </a:rPr>
              <a:t>Examples</a:t>
            </a:r>
            <a:r>
              <a:rPr lang="en-US" b="1" dirty="0">
                <a:solidFill>
                  <a:srgbClr val="002060"/>
                </a:solidFill>
              </a:rPr>
              <a:t>: </a:t>
            </a:r>
            <a:r>
              <a:rPr lang="en-US" dirty="0"/>
              <a:t>An example of intrusion is an adversary gaining unauthorized access to sensitive data by overcoming the system’s access control protections.</a:t>
            </a:r>
            <a:endParaRPr lang="en-US" dirty="0">
              <a:solidFill>
                <a:srgbClr val="002060"/>
              </a:solidFill>
            </a:endParaRPr>
          </a:p>
          <a:p>
            <a:pPr marL="2114550" lvl="4" indent="-285750"/>
            <a:r>
              <a:rPr lang="en-US" dirty="0" smtClean="0"/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21" y="195004"/>
            <a:ext cx="1149249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Threat Consequences, and the Types of Threat Actions that Cause Each Consequence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20" y="1296235"/>
            <a:ext cx="11640879" cy="4351338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Deception: </a:t>
            </a:r>
            <a:r>
              <a:rPr lang="en-US" sz="2400" i="1" dirty="0"/>
              <a:t>Deception is a threat to either system integrity or data </a:t>
            </a:r>
            <a:r>
              <a:rPr lang="en-US" sz="2400" i="1" dirty="0" smtClean="0"/>
              <a:t>integrity.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</a:rPr>
              <a:t>Masquerade: </a:t>
            </a:r>
          </a:p>
          <a:p>
            <a:pPr lvl="2"/>
            <a:r>
              <a:rPr lang="en-US" dirty="0" smtClean="0"/>
              <a:t>One </a:t>
            </a:r>
            <a:r>
              <a:rPr lang="en-US" dirty="0"/>
              <a:t>example of masquerade is an attempt by an unauthorized user to gain access to a system by posing as an authorized </a:t>
            </a:r>
            <a:r>
              <a:rPr lang="en-US" dirty="0" smtClean="0"/>
              <a:t>user</a:t>
            </a:r>
          </a:p>
          <a:p>
            <a:pPr lvl="3"/>
            <a:r>
              <a:rPr lang="en-US" dirty="0"/>
              <a:t>T</a:t>
            </a:r>
            <a:r>
              <a:rPr lang="en-US" dirty="0" smtClean="0"/>
              <a:t>his </a:t>
            </a:r>
            <a:r>
              <a:rPr lang="en-US" dirty="0"/>
              <a:t>could happen if the unauthorized user has learned another user’s logon ID and </a:t>
            </a:r>
            <a:r>
              <a:rPr lang="en-US" dirty="0" smtClean="0"/>
              <a:t>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21</a:t>
            </a:fld>
            <a:endParaRPr lang="en-US"/>
          </a:p>
        </p:txBody>
      </p:sp>
      <p:pic>
        <p:nvPicPr>
          <p:cNvPr id="10242" name="Picture 2" descr="https://sites.google.com/site/itis3102/_/rsrc/1348560474113/c1/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968" y="3501189"/>
            <a:ext cx="6911859" cy="335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93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21" y="195004"/>
            <a:ext cx="1149249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Threat Consequences, and the Types of Threat Actions that Cause Each Consequence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32" y="1296234"/>
            <a:ext cx="11640879" cy="5216861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Deception</a:t>
            </a:r>
            <a:endParaRPr lang="en-US" b="1" dirty="0">
              <a:solidFill>
                <a:srgbClr val="002060"/>
              </a:solidFill>
              <a:sym typeface="Wingdings" panose="05000000000000000000" pitchFamily="2" charset="2"/>
            </a:endParaRPr>
          </a:p>
          <a:p>
            <a:pPr lvl="1"/>
            <a:r>
              <a:rPr lang="en-US" b="1" dirty="0" smtClean="0">
                <a:solidFill>
                  <a:srgbClr val="0070C0"/>
                </a:solidFill>
              </a:rPr>
              <a:t>Falsification: </a:t>
            </a:r>
            <a:r>
              <a:rPr lang="en-US" dirty="0"/>
              <a:t>A</a:t>
            </a:r>
            <a:r>
              <a:rPr lang="en-US" dirty="0" smtClean="0"/>
              <a:t>ltering </a:t>
            </a:r>
            <a:r>
              <a:rPr lang="en-US" dirty="0"/>
              <a:t>or replacing of valid data or the introduction of false data into a file or database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For example, a student may alter his or her grades on a school </a:t>
            </a:r>
            <a:r>
              <a:rPr lang="en-US" dirty="0" smtClean="0"/>
              <a:t>database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Repudiation: </a:t>
            </a:r>
            <a:endParaRPr lang="en-US" b="1" dirty="0" smtClean="0">
              <a:solidFill>
                <a:srgbClr val="0070C0"/>
              </a:solidFill>
            </a:endParaRPr>
          </a:p>
          <a:p>
            <a:pPr lvl="2"/>
            <a:r>
              <a:rPr lang="en-US" dirty="0" smtClean="0"/>
              <a:t>In this case, a user </a:t>
            </a:r>
            <a:r>
              <a:rPr lang="en-US" dirty="0"/>
              <a:t>either denies sending data, or a user denies receiving or possessing the data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An example of a repudiation attack might be someone accessing your e-mail server and sending inflammatory information to others. </a:t>
            </a:r>
            <a:endParaRPr lang="en-US" dirty="0" smtClean="0"/>
          </a:p>
          <a:p>
            <a:pPr lvl="3"/>
            <a:r>
              <a:rPr lang="en-US" dirty="0" smtClean="0"/>
              <a:t>This </a:t>
            </a:r>
            <a:r>
              <a:rPr lang="en-US" dirty="0"/>
              <a:t>information can prove embarrassing to you or your company if this </a:t>
            </a:r>
            <a:r>
              <a:rPr lang="en-US" dirty="0" smtClean="0"/>
              <a:t>happens.</a:t>
            </a:r>
            <a:endParaRPr lang="en-US" dirty="0" smtClean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22</a:t>
            </a:fld>
            <a:endParaRPr lang="en-US"/>
          </a:p>
        </p:txBody>
      </p:sp>
      <p:pic>
        <p:nvPicPr>
          <p:cNvPr id="9218" name="Picture 2" descr="What is repudiation in cyber security? - Quo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1" t="15464" r="4173" b="13773"/>
          <a:stretch/>
        </p:blipFill>
        <p:spPr bwMode="auto">
          <a:xfrm>
            <a:off x="7411453" y="4763689"/>
            <a:ext cx="3577388" cy="211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81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21" y="195004"/>
            <a:ext cx="1149249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Threat Consequences, and the Types of Threat Actions that Cause Each Consequence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21" y="1296234"/>
            <a:ext cx="11271911" cy="55617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Disruption: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sz="2600" i="1" dirty="0"/>
              <a:t>Disruption is a threat to availability or system integrity</a:t>
            </a:r>
            <a:r>
              <a:rPr lang="en-US" sz="2600" i="1" dirty="0" smtClean="0"/>
              <a:t>.</a:t>
            </a:r>
          </a:p>
          <a:p>
            <a:pPr lvl="1" algn="just"/>
            <a:r>
              <a:rPr lang="en-US" b="1" dirty="0">
                <a:solidFill>
                  <a:srgbClr val="0070C0"/>
                </a:solidFill>
              </a:rPr>
              <a:t>Incapacitation: </a:t>
            </a:r>
            <a:r>
              <a:rPr lang="en-US" dirty="0"/>
              <a:t>This is an attack on system availability. </a:t>
            </a:r>
            <a:endParaRPr lang="en-US" dirty="0" smtClean="0"/>
          </a:p>
          <a:p>
            <a:pPr lvl="2" algn="just"/>
            <a:r>
              <a:rPr lang="en-US" i="1" dirty="0" smtClean="0"/>
              <a:t>This </a:t>
            </a:r>
            <a:r>
              <a:rPr lang="en-US" i="1" dirty="0"/>
              <a:t>could occur as a result of physical destruction of or damage to system hardware. </a:t>
            </a:r>
            <a:endParaRPr lang="en-US" i="1" dirty="0" smtClean="0"/>
          </a:p>
          <a:p>
            <a:pPr lvl="2" algn="just"/>
            <a:r>
              <a:rPr lang="en-US" b="1" dirty="0" smtClean="0"/>
              <a:t>Example: </a:t>
            </a:r>
            <a:r>
              <a:rPr lang="en-US" dirty="0" smtClean="0"/>
              <a:t>Malicious </a:t>
            </a:r>
            <a:r>
              <a:rPr lang="en-US" dirty="0"/>
              <a:t>software, such as Trojan horses, viruses, or worms, could operate in such a way as to disable a system or some of its services</a:t>
            </a:r>
            <a:r>
              <a:rPr lang="en-US" dirty="0" smtClean="0"/>
              <a:t>.</a:t>
            </a:r>
          </a:p>
          <a:p>
            <a:pPr lvl="2" algn="just"/>
            <a:endParaRPr lang="en-US" sz="900" b="1" dirty="0" smtClean="0"/>
          </a:p>
          <a:p>
            <a:pPr lvl="1" algn="just"/>
            <a:r>
              <a:rPr lang="en-US" b="1" dirty="0" smtClean="0">
                <a:solidFill>
                  <a:srgbClr val="0070C0"/>
                </a:solidFill>
              </a:rPr>
              <a:t>Corruption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dirty="0"/>
              <a:t>This is an attack on system integrity. </a:t>
            </a:r>
            <a:endParaRPr lang="en-US" dirty="0" smtClean="0"/>
          </a:p>
          <a:p>
            <a:pPr lvl="2" algn="just"/>
            <a:r>
              <a:rPr lang="en-US" i="1" dirty="0" smtClean="0"/>
              <a:t>Malicious </a:t>
            </a:r>
            <a:r>
              <a:rPr lang="en-US" i="1" dirty="0"/>
              <a:t>software in this context could operate in such a way that system resources or services function in an unintended manner</a:t>
            </a:r>
            <a:r>
              <a:rPr lang="en-US" b="1" i="1" dirty="0"/>
              <a:t>. </a:t>
            </a:r>
            <a:endParaRPr lang="en-US" b="1" i="1" dirty="0" smtClean="0"/>
          </a:p>
          <a:p>
            <a:pPr lvl="3" algn="just"/>
            <a:r>
              <a:rPr lang="en-US" dirty="0" smtClean="0"/>
              <a:t>Or </a:t>
            </a:r>
            <a:r>
              <a:rPr lang="en-US" dirty="0"/>
              <a:t>a user could gain unauthorized access to a system and modify some of its functions. </a:t>
            </a:r>
          </a:p>
          <a:p>
            <a:pPr lvl="2" algn="just"/>
            <a:r>
              <a:rPr lang="en-US" b="1" dirty="0" smtClean="0"/>
              <a:t>Example: </a:t>
            </a:r>
            <a:r>
              <a:rPr lang="en-US" dirty="0" smtClean="0"/>
              <a:t>a </a:t>
            </a:r>
            <a:r>
              <a:rPr lang="en-US" dirty="0"/>
              <a:t>user placing backdoor logic in the system to provide subsequent access to a system and its resources by other than the usual procedure</a:t>
            </a:r>
            <a:r>
              <a:rPr lang="en-US" dirty="0" smtClean="0"/>
              <a:t>.</a:t>
            </a:r>
          </a:p>
          <a:p>
            <a:pPr lvl="2" algn="just"/>
            <a:endParaRPr lang="en-US" sz="900" dirty="0"/>
          </a:p>
          <a:p>
            <a:pPr lvl="1" algn="just"/>
            <a:r>
              <a:rPr lang="en-US" b="1" dirty="0">
                <a:solidFill>
                  <a:srgbClr val="0070C0"/>
                </a:solidFill>
              </a:rPr>
              <a:t>Obstruction: </a:t>
            </a:r>
            <a:r>
              <a:rPr lang="en-US" sz="2000" dirty="0"/>
              <a:t>One way to obstruct system operation is to interfere with communications by disabling communication links or altering communication control </a:t>
            </a:r>
            <a:r>
              <a:rPr lang="en-US" sz="2000" dirty="0" smtClean="0"/>
              <a:t>information.</a:t>
            </a:r>
          </a:p>
          <a:p>
            <a:pPr lvl="2" algn="just"/>
            <a:r>
              <a:rPr lang="en-US" sz="1800" dirty="0" smtClean="0"/>
              <a:t>Another </a:t>
            </a:r>
            <a:r>
              <a:rPr lang="en-US" sz="1800" dirty="0"/>
              <a:t>way is to overload the system by placing excess burden on communication traffic or processing resources</a:t>
            </a:r>
            <a:r>
              <a:rPr lang="en-US" sz="1600" dirty="0"/>
              <a:t>. </a:t>
            </a:r>
            <a:endParaRPr lang="en-US" sz="1600" dirty="0" smtClean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6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21" y="195004"/>
            <a:ext cx="1149249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Threat Consequences, and the Types of Threat Actions that Cause Each Consequence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21" y="1661360"/>
            <a:ext cx="11287953" cy="5060115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Usurpation: </a:t>
            </a:r>
            <a:r>
              <a:rPr lang="en-US" i="1" dirty="0"/>
              <a:t>is a threat to system </a:t>
            </a:r>
            <a:r>
              <a:rPr lang="en-US" i="1" dirty="0" smtClean="0"/>
              <a:t>integrity</a:t>
            </a:r>
          </a:p>
          <a:p>
            <a:endParaRPr lang="en-US" sz="800" b="1" i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lvl="1"/>
            <a:r>
              <a:rPr lang="en-US" b="1" dirty="0" smtClean="0">
                <a:solidFill>
                  <a:srgbClr val="0070C0"/>
                </a:solidFill>
              </a:rPr>
              <a:t>Misappropriation: </a:t>
            </a:r>
            <a:r>
              <a:rPr lang="en-US" dirty="0" smtClean="0"/>
              <a:t>This </a:t>
            </a:r>
            <a:r>
              <a:rPr lang="en-US" dirty="0"/>
              <a:t>can include theft of service. </a:t>
            </a:r>
            <a:endParaRPr lang="en-US" dirty="0" smtClean="0"/>
          </a:p>
          <a:p>
            <a:pPr lvl="2"/>
            <a:r>
              <a:rPr lang="en-US" b="1" dirty="0" smtClean="0"/>
              <a:t>Example: </a:t>
            </a:r>
            <a:r>
              <a:rPr lang="en-US" dirty="0"/>
              <a:t>a distributed denial of service attack, when malicious software is installed on a number of hosts to be used as platforms to launch traffic at a target host. </a:t>
            </a:r>
            <a:endParaRPr lang="en-US" dirty="0" smtClean="0"/>
          </a:p>
          <a:p>
            <a:pPr lvl="3"/>
            <a:r>
              <a:rPr lang="en-US" dirty="0" smtClean="0"/>
              <a:t>In </a:t>
            </a:r>
            <a:r>
              <a:rPr lang="en-US" dirty="0"/>
              <a:t>this case, the malicious software makes unauthorized use of processor and operating system resources</a:t>
            </a:r>
            <a:r>
              <a:rPr lang="en-US" dirty="0" smtClean="0"/>
              <a:t>.</a:t>
            </a:r>
          </a:p>
          <a:p>
            <a:pPr marL="1371600" lvl="3" indent="0">
              <a:buNone/>
            </a:pPr>
            <a:endParaRPr lang="en-US" b="1" dirty="0" smtClean="0"/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Misuse</a:t>
            </a:r>
            <a:r>
              <a:rPr lang="en-US" b="1" dirty="0" smtClean="0">
                <a:solidFill>
                  <a:srgbClr val="0070C0"/>
                </a:solidFill>
              </a:rPr>
              <a:t>: </a:t>
            </a:r>
            <a:r>
              <a:rPr lang="en-US" dirty="0" smtClean="0"/>
              <a:t>Misuse </a:t>
            </a:r>
            <a:r>
              <a:rPr lang="en-US" dirty="0"/>
              <a:t>can occur by means of either malicious logic or a hacker that has gained unauthorized access to a system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In either case, security functions can be disabled or thwarted.</a:t>
            </a:r>
            <a:endParaRPr lang="en-US" dirty="0" smtClean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443" y="630832"/>
            <a:ext cx="8165757" cy="590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6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26" y="679623"/>
            <a:ext cx="10675356" cy="547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0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9951" y="518552"/>
            <a:ext cx="10670022" cy="5439476"/>
            <a:chOff x="758807" y="370268"/>
            <a:chExt cx="10670022" cy="543947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807" y="370268"/>
              <a:ext cx="10172818" cy="499256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2638" y="3755111"/>
              <a:ext cx="3587962" cy="1607721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35570" y="3755111"/>
              <a:ext cx="2893259" cy="2054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351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99" y="1013254"/>
            <a:ext cx="10953339" cy="327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9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52" y="518984"/>
            <a:ext cx="10770848" cy="7537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99" y="2348705"/>
            <a:ext cx="6029666" cy="10997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917" y="2348705"/>
            <a:ext cx="5436867" cy="13221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99" y="3962094"/>
            <a:ext cx="6056163" cy="12904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862" y="3962094"/>
            <a:ext cx="5420923" cy="131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0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8233</TotalTime>
  <Words>2352</Words>
  <Application>Microsoft Office PowerPoint</Application>
  <PresentationFormat>Widescreen</PresentationFormat>
  <Paragraphs>238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</vt:lpstr>
      <vt:lpstr>Calibri</vt:lpstr>
      <vt:lpstr>Calibri Light</vt:lpstr>
      <vt:lpstr>Times New Roman</vt:lpstr>
      <vt:lpstr>Wingdings</vt:lpstr>
      <vt:lpstr>Office Theme</vt:lpstr>
      <vt:lpstr>Information Security Fall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Model for Computer Security</vt:lpstr>
      <vt:lpstr>Vulnerabilities, Threats  and Attacks</vt:lpstr>
      <vt:lpstr>Countermeasures</vt:lpstr>
      <vt:lpstr>PowerPoint Presentation</vt:lpstr>
      <vt:lpstr>PowerPoint Presentation</vt:lpstr>
      <vt:lpstr>PowerPoint Presentation</vt:lpstr>
      <vt:lpstr>Threat Consequences, and the Types of Threat Actions that Cause Each Consequence </vt:lpstr>
      <vt:lpstr>Threat Consequences, and the Types of Threat Actions that Cause Each Consequence </vt:lpstr>
      <vt:lpstr>Threat Consequences, and the Types of Threat Actions that Cause Each Consequence </vt:lpstr>
      <vt:lpstr>Threat Consequences, and the Types of Threat Actions that Cause Each Consequence </vt:lpstr>
      <vt:lpstr>Threat Consequences, and the Types of Threat Actions that Cause Each Consequence </vt:lpstr>
      <vt:lpstr>Threat Consequences, and the Types of Threat Actions that Cause Each Consequence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InfoSec CLOs and Topic List</dc:title>
  <dc:creator>NU FAST</dc:creator>
  <cp:lastModifiedBy>Microsoft account</cp:lastModifiedBy>
  <cp:revision>118</cp:revision>
  <dcterms:created xsi:type="dcterms:W3CDTF">2022-08-11T15:54:49Z</dcterms:created>
  <dcterms:modified xsi:type="dcterms:W3CDTF">2022-08-30T19:21:24Z</dcterms:modified>
</cp:coreProperties>
</file>