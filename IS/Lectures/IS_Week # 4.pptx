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210" r:id="rId1"/>
  </p:sldMasterIdLst>
  <p:notesMasterIdLst>
    <p:notesMasterId r:id="rId21"/>
  </p:notesMasterIdLst>
  <p:sldIdLst>
    <p:sldId id="426" r:id="rId2"/>
    <p:sldId id="410" r:id="rId3"/>
    <p:sldId id="428" r:id="rId4"/>
    <p:sldId id="455" r:id="rId5"/>
    <p:sldId id="429" r:id="rId6"/>
    <p:sldId id="435" r:id="rId7"/>
    <p:sldId id="430" r:id="rId8"/>
    <p:sldId id="463" r:id="rId9"/>
    <p:sldId id="453" r:id="rId10"/>
    <p:sldId id="465" r:id="rId11"/>
    <p:sldId id="454" r:id="rId12"/>
    <p:sldId id="462" r:id="rId13"/>
    <p:sldId id="432" r:id="rId14"/>
    <p:sldId id="456" r:id="rId15"/>
    <p:sldId id="458" r:id="rId16"/>
    <p:sldId id="460" r:id="rId17"/>
    <p:sldId id="433" r:id="rId18"/>
    <p:sldId id="461" r:id="rId19"/>
    <p:sldId id="464" r:id="rId20"/>
  </p:sldIdLst>
  <p:sldSz cx="9144000" cy="6858000" type="screen4x3"/>
  <p:notesSz cx="6858000" cy="9144000"/>
  <p:defaultTextStyle>
    <a:defPPr>
      <a:defRPr lang="en-AU"/>
    </a:defPPr>
    <a:lvl1pPr algn="l" rtl="0" fontAlgn="base">
      <a:spcBef>
        <a:spcPct val="0"/>
      </a:spcBef>
      <a:spcAft>
        <a:spcPct val="0"/>
      </a:spcAft>
      <a:defRPr kern="1200">
        <a:solidFill>
          <a:schemeClr val="tx1"/>
        </a:solidFill>
        <a:latin typeface="Arial" pitchFamily="-110" charset="0"/>
        <a:ea typeface="+mn-ea"/>
        <a:cs typeface="+mn-cs"/>
      </a:defRPr>
    </a:lvl1pPr>
    <a:lvl2pPr marL="457200" algn="l" rtl="0" fontAlgn="base">
      <a:spcBef>
        <a:spcPct val="0"/>
      </a:spcBef>
      <a:spcAft>
        <a:spcPct val="0"/>
      </a:spcAft>
      <a:defRPr kern="1200">
        <a:solidFill>
          <a:schemeClr val="tx1"/>
        </a:solidFill>
        <a:latin typeface="Arial" pitchFamily="-110" charset="0"/>
        <a:ea typeface="+mn-ea"/>
        <a:cs typeface="+mn-cs"/>
      </a:defRPr>
    </a:lvl2pPr>
    <a:lvl3pPr marL="914400" algn="l" rtl="0" fontAlgn="base">
      <a:spcBef>
        <a:spcPct val="0"/>
      </a:spcBef>
      <a:spcAft>
        <a:spcPct val="0"/>
      </a:spcAft>
      <a:defRPr kern="1200">
        <a:solidFill>
          <a:schemeClr val="tx1"/>
        </a:solidFill>
        <a:latin typeface="Arial" pitchFamily="-110" charset="0"/>
        <a:ea typeface="+mn-ea"/>
        <a:cs typeface="+mn-cs"/>
      </a:defRPr>
    </a:lvl3pPr>
    <a:lvl4pPr marL="1371600" algn="l" rtl="0" fontAlgn="base">
      <a:spcBef>
        <a:spcPct val="0"/>
      </a:spcBef>
      <a:spcAft>
        <a:spcPct val="0"/>
      </a:spcAft>
      <a:defRPr kern="1200">
        <a:solidFill>
          <a:schemeClr val="tx1"/>
        </a:solidFill>
        <a:latin typeface="Arial" pitchFamily="-110" charset="0"/>
        <a:ea typeface="+mn-ea"/>
        <a:cs typeface="+mn-cs"/>
      </a:defRPr>
    </a:lvl4pPr>
    <a:lvl5pPr marL="1828800" algn="l" rtl="0" fontAlgn="base">
      <a:spcBef>
        <a:spcPct val="0"/>
      </a:spcBef>
      <a:spcAft>
        <a:spcPct val="0"/>
      </a:spcAft>
      <a:defRPr kern="1200">
        <a:solidFill>
          <a:schemeClr val="tx1"/>
        </a:solidFill>
        <a:latin typeface="Arial" pitchFamily="-110" charset="0"/>
        <a:ea typeface="+mn-ea"/>
        <a:cs typeface="+mn-cs"/>
      </a:defRPr>
    </a:lvl5pPr>
    <a:lvl6pPr marL="2286000" algn="l" defTabSz="457200" rtl="0" eaLnBrk="1" latinLnBrk="0" hangingPunct="1">
      <a:defRPr kern="1200">
        <a:solidFill>
          <a:schemeClr val="tx1"/>
        </a:solidFill>
        <a:latin typeface="Arial" pitchFamily="-110" charset="0"/>
        <a:ea typeface="+mn-ea"/>
        <a:cs typeface="+mn-cs"/>
      </a:defRPr>
    </a:lvl6pPr>
    <a:lvl7pPr marL="2743200" algn="l" defTabSz="457200" rtl="0" eaLnBrk="1" latinLnBrk="0" hangingPunct="1">
      <a:defRPr kern="1200">
        <a:solidFill>
          <a:schemeClr val="tx1"/>
        </a:solidFill>
        <a:latin typeface="Arial" pitchFamily="-110" charset="0"/>
        <a:ea typeface="+mn-ea"/>
        <a:cs typeface="+mn-cs"/>
      </a:defRPr>
    </a:lvl7pPr>
    <a:lvl8pPr marL="3200400" algn="l" defTabSz="457200" rtl="0" eaLnBrk="1" latinLnBrk="0" hangingPunct="1">
      <a:defRPr kern="1200">
        <a:solidFill>
          <a:schemeClr val="tx1"/>
        </a:solidFill>
        <a:latin typeface="Arial" pitchFamily="-110" charset="0"/>
        <a:ea typeface="+mn-ea"/>
        <a:cs typeface="+mn-cs"/>
      </a:defRPr>
    </a:lvl8pPr>
    <a:lvl9pPr marL="3657600" algn="l" defTabSz="457200" rtl="0" eaLnBrk="1" latinLnBrk="0" hangingPunct="1">
      <a:defRPr kern="1200">
        <a:solidFill>
          <a:schemeClr val="tx1"/>
        </a:solidFill>
        <a:latin typeface="Arial" pitchFamily="-110"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C1B"/>
    <a:srgbClr val="0000FF"/>
    <a:srgbClr val="FFC07E"/>
    <a:srgbClr val="FFAF60"/>
    <a:srgbClr val="FFD27E"/>
    <a:srgbClr val="FFB56C"/>
    <a:srgbClr val="FFCC33"/>
    <a:srgbClr val="3333FF"/>
    <a:srgbClr val="000000"/>
    <a:srgbClr val="8C648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313" autoAdjust="0"/>
    <p:restoredTop sz="86894" autoAdjust="0"/>
  </p:normalViewPr>
  <p:slideViewPr>
    <p:cSldViewPr>
      <p:cViewPr varScale="1">
        <p:scale>
          <a:sx n="65" d="100"/>
          <a:sy n="65" d="100"/>
        </p:scale>
        <p:origin x="1710"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60"/>
    </p:cViewPr>
  </p:sorterViewPr>
  <p:notesViewPr>
    <p:cSldViewPr>
      <p:cViewPr varScale="1">
        <p:scale>
          <a:sx n="119" d="100"/>
          <a:sy n="119" d="100"/>
        </p:scale>
        <p:origin x="-2128"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7ED640-C614-3E4A-9195-721F16A5A826}" type="doc">
      <dgm:prSet loTypeId="urn:microsoft.com/office/officeart/2005/8/layout/target3" loCatId="relationship" qsTypeId="urn:microsoft.com/office/officeart/2005/8/quickstyle/simple4" qsCatId="simple" csTypeId="urn:microsoft.com/office/officeart/2005/8/colors/accent1_2" csCatId="accent1" phldr="1"/>
      <dgm:spPr/>
      <dgm:t>
        <a:bodyPr/>
        <a:lstStyle/>
        <a:p>
          <a:endParaRPr lang="en-US"/>
        </a:p>
      </dgm:t>
    </dgm:pt>
    <dgm:pt modelId="{6A13F55D-EDBD-114A-AEDB-6520654B78A8}">
      <dgm:prSet/>
      <dgm:spPr/>
      <dgm:t>
        <a:bodyPr/>
        <a:lstStyle/>
        <a:p>
          <a:pPr rtl="0"/>
          <a:r>
            <a:rPr lang="en-US" b="0" dirty="0" smtClean="0">
              <a:latin typeface="+mj-lt"/>
            </a:rPr>
            <a:t>Protects against active attacks</a:t>
          </a:r>
          <a:endParaRPr lang="en-US" b="0" dirty="0">
            <a:latin typeface="+mj-lt"/>
          </a:endParaRPr>
        </a:p>
      </dgm:t>
    </dgm:pt>
    <dgm:pt modelId="{84E85784-E758-8C42-9487-0B1F55300D65}" type="parTrans" cxnId="{111B953E-F935-3E42-A51B-B65C106AC2C9}">
      <dgm:prSet/>
      <dgm:spPr/>
      <dgm:t>
        <a:bodyPr/>
        <a:lstStyle/>
        <a:p>
          <a:endParaRPr lang="en-US"/>
        </a:p>
      </dgm:t>
    </dgm:pt>
    <dgm:pt modelId="{DC55E9E6-6613-1B46-B0D0-01C16238BA73}" type="sibTrans" cxnId="{111B953E-F935-3E42-A51B-B65C106AC2C9}">
      <dgm:prSet/>
      <dgm:spPr/>
      <dgm:t>
        <a:bodyPr/>
        <a:lstStyle/>
        <a:p>
          <a:endParaRPr lang="en-US"/>
        </a:p>
      </dgm:t>
    </dgm:pt>
    <dgm:pt modelId="{F97FF3C3-A6A7-3F4B-8A53-19B20FA19182}">
      <dgm:prSet/>
      <dgm:spPr/>
      <dgm:t>
        <a:bodyPr/>
        <a:lstStyle/>
        <a:p>
          <a:pPr rtl="0"/>
          <a:r>
            <a:rPr lang="en-US" b="0" dirty="0" smtClean="0">
              <a:latin typeface="+mj-lt"/>
            </a:rPr>
            <a:t>Verifies received message is authentic</a:t>
          </a:r>
          <a:endParaRPr lang="en-US" b="0" dirty="0">
            <a:latin typeface="+mj-lt"/>
          </a:endParaRPr>
        </a:p>
      </dgm:t>
    </dgm:pt>
    <dgm:pt modelId="{28B0D4F4-DA6A-CC46-AFE4-163C3C62627D}" type="parTrans" cxnId="{85E9819D-9F60-A542-88F6-6E73397B37C8}">
      <dgm:prSet/>
      <dgm:spPr/>
      <dgm:t>
        <a:bodyPr/>
        <a:lstStyle/>
        <a:p>
          <a:endParaRPr lang="en-US"/>
        </a:p>
      </dgm:t>
    </dgm:pt>
    <dgm:pt modelId="{BC76B6A4-C13D-BA47-B643-B0BD85BEC4E5}" type="sibTrans" cxnId="{85E9819D-9F60-A542-88F6-6E73397B37C8}">
      <dgm:prSet/>
      <dgm:spPr/>
      <dgm:t>
        <a:bodyPr/>
        <a:lstStyle/>
        <a:p>
          <a:endParaRPr lang="en-US"/>
        </a:p>
      </dgm:t>
    </dgm:pt>
    <dgm:pt modelId="{B9D9C573-115F-BE44-B0DE-CCF6D4B01F53}">
      <dgm:prSet/>
      <dgm:spPr/>
      <dgm:t>
        <a:bodyPr/>
        <a:lstStyle/>
        <a:p>
          <a:pPr rtl="0"/>
          <a:r>
            <a:rPr lang="en-US" b="0" dirty="0" smtClean="0">
              <a:latin typeface="+mj-lt"/>
            </a:rPr>
            <a:t>Contents have not been altered</a:t>
          </a:r>
          <a:endParaRPr lang="en-US" b="0" dirty="0">
            <a:latin typeface="+mj-lt"/>
          </a:endParaRPr>
        </a:p>
      </dgm:t>
    </dgm:pt>
    <dgm:pt modelId="{0AEA0AD9-30FD-3D45-9972-FB5BE226CCA2}" type="parTrans" cxnId="{31A32C4D-4531-E24F-97D2-C5E1C099C4DF}">
      <dgm:prSet/>
      <dgm:spPr/>
      <dgm:t>
        <a:bodyPr/>
        <a:lstStyle/>
        <a:p>
          <a:endParaRPr lang="en-US"/>
        </a:p>
      </dgm:t>
    </dgm:pt>
    <dgm:pt modelId="{980400B9-A6D3-4044-B407-B8FF7B2F8ED8}" type="sibTrans" cxnId="{31A32C4D-4531-E24F-97D2-C5E1C099C4DF}">
      <dgm:prSet/>
      <dgm:spPr/>
      <dgm:t>
        <a:bodyPr/>
        <a:lstStyle/>
        <a:p>
          <a:endParaRPr lang="en-US"/>
        </a:p>
      </dgm:t>
    </dgm:pt>
    <dgm:pt modelId="{AD210C83-F373-0C44-B3B7-102B711D0327}">
      <dgm:prSet/>
      <dgm:spPr/>
      <dgm:t>
        <a:bodyPr/>
        <a:lstStyle/>
        <a:p>
          <a:pPr rtl="0"/>
          <a:r>
            <a:rPr lang="en-US" b="0" dirty="0" smtClean="0">
              <a:latin typeface="+mj-lt"/>
            </a:rPr>
            <a:t>From authentic source</a:t>
          </a:r>
          <a:endParaRPr lang="en-US" b="0" dirty="0">
            <a:latin typeface="+mj-lt"/>
          </a:endParaRPr>
        </a:p>
      </dgm:t>
    </dgm:pt>
    <dgm:pt modelId="{EAF3F70B-179D-844D-BB33-DB253CE16E7E}" type="parTrans" cxnId="{A53DE99A-90AF-1E4A-BA3F-EA3C76F67322}">
      <dgm:prSet/>
      <dgm:spPr/>
      <dgm:t>
        <a:bodyPr/>
        <a:lstStyle/>
        <a:p>
          <a:endParaRPr lang="en-US"/>
        </a:p>
      </dgm:t>
    </dgm:pt>
    <dgm:pt modelId="{DCC39777-A559-2148-A812-1366BBAF7197}" type="sibTrans" cxnId="{A53DE99A-90AF-1E4A-BA3F-EA3C76F67322}">
      <dgm:prSet/>
      <dgm:spPr/>
      <dgm:t>
        <a:bodyPr/>
        <a:lstStyle/>
        <a:p>
          <a:endParaRPr lang="en-US"/>
        </a:p>
      </dgm:t>
    </dgm:pt>
    <dgm:pt modelId="{6AD3880F-016F-D046-8948-37FF48B0EBB6}">
      <dgm:prSet/>
      <dgm:spPr/>
      <dgm:t>
        <a:bodyPr/>
        <a:lstStyle/>
        <a:p>
          <a:pPr rtl="0"/>
          <a:r>
            <a:rPr lang="en-US" b="0" dirty="0" smtClean="0">
              <a:latin typeface="+mj-lt"/>
            </a:rPr>
            <a:t>Timely and in correct sequence</a:t>
          </a:r>
          <a:endParaRPr lang="en-US" b="0" dirty="0">
            <a:latin typeface="+mj-lt"/>
          </a:endParaRPr>
        </a:p>
      </dgm:t>
    </dgm:pt>
    <dgm:pt modelId="{E1D1C5A6-C380-CB4A-A64F-6ADB2A7933D0}" type="parTrans" cxnId="{F2927914-5C62-9D4C-BF03-6812E0C17C4A}">
      <dgm:prSet/>
      <dgm:spPr/>
      <dgm:t>
        <a:bodyPr/>
        <a:lstStyle/>
        <a:p>
          <a:endParaRPr lang="en-US"/>
        </a:p>
      </dgm:t>
    </dgm:pt>
    <dgm:pt modelId="{220612C2-B472-E44D-BCF8-620FC6502369}" type="sibTrans" cxnId="{F2927914-5C62-9D4C-BF03-6812E0C17C4A}">
      <dgm:prSet/>
      <dgm:spPr/>
      <dgm:t>
        <a:bodyPr/>
        <a:lstStyle/>
        <a:p>
          <a:endParaRPr lang="en-US"/>
        </a:p>
      </dgm:t>
    </dgm:pt>
    <dgm:pt modelId="{46A5FF01-1017-4340-8BF9-A7EF0DA32086}">
      <dgm:prSet/>
      <dgm:spPr/>
      <dgm:t>
        <a:bodyPr/>
        <a:lstStyle/>
        <a:p>
          <a:pPr rtl="0"/>
          <a:r>
            <a:rPr lang="en-US" b="0" dirty="0" smtClean="0">
              <a:latin typeface="+mj-lt"/>
            </a:rPr>
            <a:t>Can use conventional encryption</a:t>
          </a:r>
          <a:endParaRPr lang="en-US" b="0" dirty="0">
            <a:latin typeface="+mj-lt"/>
          </a:endParaRPr>
        </a:p>
      </dgm:t>
    </dgm:pt>
    <dgm:pt modelId="{F3B89FEB-3B58-5D47-9E79-CE62A411B9C7}" type="parTrans" cxnId="{03197B1D-3C7D-A24B-9E0D-08EA637C10E9}">
      <dgm:prSet/>
      <dgm:spPr/>
      <dgm:t>
        <a:bodyPr/>
        <a:lstStyle/>
        <a:p>
          <a:endParaRPr lang="en-US"/>
        </a:p>
      </dgm:t>
    </dgm:pt>
    <dgm:pt modelId="{47234ADC-8CBB-D842-9673-3A74CD8AE12C}" type="sibTrans" cxnId="{03197B1D-3C7D-A24B-9E0D-08EA637C10E9}">
      <dgm:prSet/>
      <dgm:spPr/>
      <dgm:t>
        <a:bodyPr/>
        <a:lstStyle/>
        <a:p>
          <a:endParaRPr lang="en-US"/>
        </a:p>
      </dgm:t>
    </dgm:pt>
    <dgm:pt modelId="{8704466E-DCAE-7A4D-98EB-B7DF618A20AB}">
      <dgm:prSet/>
      <dgm:spPr/>
      <dgm:t>
        <a:bodyPr/>
        <a:lstStyle/>
        <a:p>
          <a:pPr rtl="0"/>
          <a:r>
            <a:rPr lang="en-US" b="0" dirty="0" smtClean="0">
              <a:latin typeface="+mj-lt"/>
            </a:rPr>
            <a:t>Only sender and receiver share a key</a:t>
          </a:r>
          <a:endParaRPr lang="en-US" b="0" dirty="0">
            <a:latin typeface="+mj-lt"/>
          </a:endParaRPr>
        </a:p>
      </dgm:t>
    </dgm:pt>
    <dgm:pt modelId="{81DE89FA-19CE-6444-AD98-5F0C7A312918}" type="parTrans" cxnId="{98479848-F377-1640-A060-096FAB2C97BC}">
      <dgm:prSet/>
      <dgm:spPr/>
      <dgm:t>
        <a:bodyPr/>
        <a:lstStyle/>
        <a:p>
          <a:endParaRPr lang="en-US"/>
        </a:p>
      </dgm:t>
    </dgm:pt>
    <dgm:pt modelId="{B2A52291-5EAC-6A44-B56E-943C8206622C}" type="sibTrans" cxnId="{98479848-F377-1640-A060-096FAB2C97BC}">
      <dgm:prSet/>
      <dgm:spPr/>
      <dgm:t>
        <a:bodyPr/>
        <a:lstStyle/>
        <a:p>
          <a:endParaRPr lang="en-US"/>
        </a:p>
      </dgm:t>
    </dgm:pt>
    <dgm:pt modelId="{55EFEF62-1402-474C-946F-B429D1E63E58}" type="pres">
      <dgm:prSet presAssocID="{467ED640-C614-3E4A-9195-721F16A5A826}" presName="Name0" presStyleCnt="0">
        <dgm:presLayoutVars>
          <dgm:chMax val="7"/>
          <dgm:dir/>
          <dgm:animLvl val="lvl"/>
          <dgm:resizeHandles val="exact"/>
        </dgm:presLayoutVars>
      </dgm:prSet>
      <dgm:spPr/>
      <dgm:t>
        <a:bodyPr/>
        <a:lstStyle/>
        <a:p>
          <a:endParaRPr lang="en-US"/>
        </a:p>
      </dgm:t>
    </dgm:pt>
    <dgm:pt modelId="{04D1C139-1F44-7D42-97B4-7E1B3C61C310}" type="pres">
      <dgm:prSet presAssocID="{6A13F55D-EDBD-114A-AEDB-6520654B78A8}" presName="circle1" presStyleLbl="node1" presStyleIdx="0" presStyleCnt="3"/>
      <dgm:spPr>
        <a:solidFill>
          <a:schemeClr val="accent1"/>
        </a:solidFill>
      </dgm:spPr>
    </dgm:pt>
    <dgm:pt modelId="{7D143E97-AEB1-E044-87DF-3C76B48B3163}" type="pres">
      <dgm:prSet presAssocID="{6A13F55D-EDBD-114A-AEDB-6520654B78A8}" presName="space" presStyleCnt="0"/>
      <dgm:spPr/>
    </dgm:pt>
    <dgm:pt modelId="{162FAF4A-757D-EE44-8C29-6578B7BE8894}" type="pres">
      <dgm:prSet presAssocID="{6A13F55D-EDBD-114A-AEDB-6520654B78A8}" presName="rect1" presStyleLbl="alignAcc1" presStyleIdx="0" presStyleCnt="3"/>
      <dgm:spPr/>
      <dgm:t>
        <a:bodyPr/>
        <a:lstStyle/>
        <a:p>
          <a:endParaRPr lang="en-US"/>
        </a:p>
      </dgm:t>
    </dgm:pt>
    <dgm:pt modelId="{F824FDFB-5F5F-254B-9D5C-50BDF1E89105}" type="pres">
      <dgm:prSet presAssocID="{F97FF3C3-A6A7-3F4B-8A53-19B20FA19182}" presName="vertSpace2" presStyleLbl="node1" presStyleIdx="0" presStyleCnt="3"/>
      <dgm:spPr/>
    </dgm:pt>
    <dgm:pt modelId="{A56489F7-EC62-A848-9DD9-B3572A72D705}" type="pres">
      <dgm:prSet presAssocID="{F97FF3C3-A6A7-3F4B-8A53-19B20FA19182}" presName="circle2" presStyleLbl="node1" presStyleIdx="1" presStyleCnt="3"/>
      <dgm:spPr>
        <a:solidFill>
          <a:schemeClr val="accent2"/>
        </a:solidFill>
      </dgm:spPr>
    </dgm:pt>
    <dgm:pt modelId="{9C4DDA5F-2390-A549-90B9-5F960E28DDE6}" type="pres">
      <dgm:prSet presAssocID="{F97FF3C3-A6A7-3F4B-8A53-19B20FA19182}" presName="rect2" presStyleLbl="alignAcc1" presStyleIdx="1" presStyleCnt="3"/>
      <dgm:spPr/>
      <dgm:t>
        <a:bodyPr/>
        <a:lstStyle/>
        <a:p>
          <a:endParaRPr lang="en-US"/>
        </a:p>
      </dgm:t>
    </dgm:pt>
    <dgm:pt modelId="{1DFBBFEC-B6C6-484E-822C-6513579054B5}" type="pres">
      <dgm:prSet presAssocID="{46A5FF01-1017-4340-8BF9-A7EF0DA32086}" presName="vertSpace3" presStyleLbl="node1" presStyleIdx="1" presStyleCnt="3"/>
      <dgm:spPr/>
    </dgm:pt>
    <dgm:pt modelId="{9FB7C61E-C4DD-B747-BB29-DCE1D55CED32}" type="pres">
      <dgm:prSet presAssocID="{46A5FF01-1017-4340-8BF9-A7EF0DA32086}" presName="circle3" presStyleLbl="node1" presStyleIdx="2" presStyleCnt="3"/>
      <dgm:spPr>
        <a:solidFill>
          <a:schemeClr val="accent1"/>
        </a:solidFill>
      </dgm:spPr>
    </dgm:pt>
    <dgm:pt modelId="{4960AB30-E228-0044-AB56-9832EFB3F416}" type="pres">
      <dgm:prSet presAssocID="{46A5FF01-1017-4340-8BF9-A7EF0DA32086}" presName="rect3" presStyleLbl="alignAcc1" presStyleIdx="2" presStyleCnt="3"/>
      <dgm:spPr/>
      <dgm:t>
        <a:bodyPr/>
        <a:lstStyle/>
        <a:p>
          <a:endParaRPr lang="en-US"/>
        </a:p>
      </dgm:t>
    </dgm:pt>
    <dgm:pt modelId="{50000305-E90F-9F48-832D-1B551E78EEA1}" type="pres">
      <dgm:prSet presAssocID="{6A13F55D-EDBD-114A-AEDB-6520654B78A8}" presName="rect1ParTx" presStyleLbl="alignAcc1" presStyleIdx="2" presStyleCnt="3">
        <dgm:presLayoutVars>
          <dgm:chMax val="1"/>
          <dgm:bulletEnabled val="1"/>
        </dgm:presLayoutVars>
      </dgm:prSet>
      <dgm:spPr/>
      <dgm:t>
        <a:bodyPr/>
        <a:lstStyle/>
        <a:p>
          <a:endParaRPr lang="en-US"/>
        </a:p>
      </dgm:t>
    </dgm:pt>
    <dgm:pt modelId="{5BB68BD3-8944-314A-9722-C464DFC63A36}" type="pres">
      <dgm:prSet presAssocID="{6A13F55D-EDBD-114A-AEDB-6520654B78A8}" presName="rect1ChTx" presStyleLbl="alignAcc1" presStyleIdx="2" presStyleCnt="3">
        <dgm:presLayoutVars>
          <dgm:bulletEnabled val="1"/>
        </dgm:presLayoutVars>
      </dgm:prSet>
      <dgm:spPr/>
    </dgm:pt>
    <dgm:pt modelId="{E3C5539B-5B49-6644-93F1-0733497FD27B}" type="pres">
      <dgm:prSet presAssocID="{F97FF3C3-A6A7-3F4B-8A53-19B20FA19182}" presName="rect2ParTx" presStyleLbl="alignAcc1" presStyleIdx="2" presStyleCnt="3">
        <dgm:presLayoutVars>
          <dgm:chMax val="1"/>
          <dgm:bulletEnabled val="1"/>
        </dgm:presLayoutVars>
      </dgm:prSet>
      <dgm:spPr/>
      <dgm:t>
        <a:bodyPr/>
        <a:lstStyle/>
        <a:p>
          <a:endParaRPr lang="en-US"/>
        </a:p>
      </dgm:t>
    </dgm:pt>
    <dgm:pt modelId="{F63C5721-CDCD-0E44-857F-A3B146150CD4}" type="pres">
      <dgm:prSet presAssocID="{F97FF3C3-A6A7-3F4B-8A53-19B20FA19182}" presName="rect2ChTx" presStyleLbl="alignAcc1" presStyleIdx="2" presStyleCnt="3">
        <dgm:presLayoutVars>
          <dgm:bulletEnabled val="1"/>
        </dgm:presLayoutVars>
      </dgm:prSet>
      <dgm:spPr/>
      <dgm:t>
        <a:bodyPr/>
        <a:lstStyle/>
        <a:p>
          <a:endParaRPr lang="en-US"/>
        </a:p>
      </dgm:t>
    </dgm:pt>
    <dgm:pt modelId="{576C8ECA-F6A7-4D46-B348-ECB99A8DC954}" type="pres">
      <dgm:prSet presAssocID="{46A5FF01-1017-4340-8BF9-A7EF0DA32086}" presName="rect3ParTx" presStyleLbl="alignAcc1" presStyleIdx="2" presStyleCnt="3">
        <dgm:presLayoutVars>
          <dgm:chMax val="1"/>
          <dgm:bulletEnabled val="1"/>
        </dgm:presLayoutVars>
      </dgm:prSet>
      <dgm:spPr/>
      <dgm:t>
        <a:bodyPr/>
        <a:lstStyle/>
        <a:p>
          <a:endParaRPr lang="en-US"/>
        </a:p>
      </dgm:t>
    </dgm:pt>
    <dgm:pt modelId="{52907ABB-2798-234B-AC87-6694DC68A9CB}" type="pres">
      <dgm:prSet presAssocID="{46A5FF01-1017-4340-8BF9-A7EF0DA32086}" presName="rect3ChTx" presStyleLbl="alignAcc1" presStyleIdx="2" presStyleCnt="3">
        <dgm:presLayoutVars>
          <dgm:bulletEnabled val="1"/>
        </dgm:presLayoutVars>
      </dgm:prSet>
      <dgm:spPr/>
      <dgm:t>
        <a:bodyPr/>
        <a:lstStyle/>
        <a:p>
          <a:endParaRPr lang="en-US"/>
        </a:p>
      </dgm:t>
    </dgm:pt>
  </dgm:ptLst>
  <dgm:cxnLst>
    <dgm:cxn modelId="{96BBF4D1-B618-4801-A934-579C3D9CC745}" type="presOf" srcId="{46A5FF01-1017-4340-8BF9-A7EF0DA32086}" destId="{576C8ECA-F6A7-4D46-B348-ECB99A8DC954}" srcOrd="1" destOrd="0" presId="urn:microsoft.com/office/officeart/2005/8/layout/target3"/>
    <dgm:cxn modelId="{8CC31F12-48E2-40DC-9EFD-5F237489956C}" type="presOf" srcId="{467ED640-C614-3E4A-9195-721F16A5A826}" destId="{55EFEF62-1402-474C-946F-B429D1E63E58}" srcOrd="0" destOrd="0" presId="urn:microsoft.com/office/officeart/2005/8/layout/target3"/>
    <dgm:cxn modelId="{DB748792-0D12-4E34-90A0-79758F86F311}" type="presOf" srcId="{B9D9C573-115F-BE44-B0DE-CCF6D4B01F53}" destId="{F63C5721-CDCD-0E44-857F-A3B146150CD4}" srcOrd="0" destOrd="0" presId="urn:microsoft.com/office/officeart/2005/8/layout/target3"/>
    <dgm:cxn modelId="{84974E38-ACDC-4872-A222-7F50ABAC8A51}" type="presOf" srcId="{8704466E-DCAE-7A4D-98EB-B7DF618A20AB}" destId="{52907ABB-2798-234B-AC87-6694DC68A9CB}" srcOrd="0" destOrd="0" presId="urn:microsoft.com/office/officeart/2005/8/layout/target3"/>
    <dgm:cxn modelId="{309CE817-ADA2-4B19-AB7A-26E1523CFF6B}" type="presOf" srcId="{6AD3880F-016F-D046-8948-37FF48B0EBB6}" destId="{F63C5721-CDCD-0E44-857F-A3B146150CD4}" srcOrd="0" destOrd="2" presId="urn:microsoft.com/office/officeart/2005/8/layout/target3"/>
    <dgm:cxn modelId="{F2927914-5C62-9D4C-BF03-6812E0C17C4A}" srcId="{F97FF3C3-A6A7-3F4B-8A53-19B20FA19182}" destId="{6AD3880F-016F-D046-8948-37FF48B0EBB6}" srcOrd="2" destOrd="0" parTransId="{E1D1C5A6-C380-CB4A-A64F-6ADB2A7933D0}" sibTransId="{220612C2-B472-E44D-BCF8-620FC6502369}"/>
    <dgm:cxn modelId="{6329068F-DD26-44A1-ACEC-085E7D528976}" type="presOf" srcId="{F97FF3C3-A6A7-3F4B-8A53-19B20FA19182}" destId="{E3C5539B-5B49-6644-93F1-0733497FD27B}" srcOrd="1" destOrd="0" presId="urn:microsoft.com/office/officeart/2005/8/layout/target3"/>
    <dgm:cxn modelId="{85E9819D-9F60-A542-88F6-6E73397B37C8}" srcId="{467ED640-C614-3E4A-9195-721F16A5A826}" destId="{F97FF3C3-A6A7-3F4B-8A53-19B20FA19182}" srcOrd="1" destOrd="0" parTransId="{28B0D4F4-DA6A-CC46-AFE4-163C3C62627D}" sibTransId="{BC76B6A4-C13D-BA47-B643-B0BD85BEC4E5}"/>
    <dgm:cxn modelId="{9B8C93BB-C5BA-4644-A5BF-B2B386C20B54}" type="presOf" srcId="{F97FF3C3-A6A7-3F4B-8A53-19B20FA19182}" destId="{9C4DDA5F-2390-A549-90B9-5F960E28DDE6}" srcOrd="0" destOrd="0" presId="urn:microsoft.com/office/officeart/2005/8/layout/target3"/>
    <dgm:cxn modelId="{03197B1D-3C7D-A24B-9E0D-08EA637C10E9}" srcId="{467ED640-C614-3E4A-9195-721F16A5A826}" destId="{46A5FF01-1017-4340-8BF9-A7EF0DA32086}" srcOrd="2" destOrd="0" parTransId="{F3B89FEB-3B58-5D47-9E79-CE62A411B9C7}" sibTransId="{47234ADC-8CBB-D842-9673-3A74CD8AE12C}"/>
    <dgm:cxn modelId="{A53DE99A-90AF-1E4A-BA3F-EA3C76F67322}" srcId="{F97FF3C3-A6A7-3F4B-8A53-19B20FA19182}" destId="{AD210C83-F373-0C44-B3B7-102B711D0327}" srcOrd="1" destOrd="0" parTransId="{EAF3F70B-179D-844D-BB33-DB253CE16E7E}" sibTransId="{DCC39777-A559-2148-A812-1366BBAF7197}"/>
    <dgm:cxn modelId="{31A32C4D-4531-E24F-97D2-C5E1C099C4DF}" srcId="{F97FF3C3-A6A7-3F4B-8A53-19B20FA19182}" destId="{B9D9C573-115F-BE44-B0DE-CCF6D4B01F53}" srcOrd="0" destOrd="0" parTransId="{0AEA0AD9-30FD-3D45-9972-FB5BE226CCA2}" sibTransId="{980400B9-A6D3-4044-B407-B8FF7B2F8ED8}"/>
    <dgm:cxn modelId="{D4D9CD9B-8938-485A-8643-91D13FDE8391}" type="presOf" srcId="{46A5FF01-1017-4340-8BF9-A7EF0DA32086}" destId="{4960AB30-E228-0044-AB56-9832EFB3F416}" srcOrd="0" destOrd="0" presId="urn:microsoft.com/office/officeart/2005/8/layout/target3"/>
    <dgm:cxn modelId="{0CD1D71C-A7C3-416B-A8C7-FA5852BFD850}" type="presOf" srcId="{6A13F55D-EDBD-114A-AEDB-6520654B78A8}" destId="{162FAF4A-757D-EE44-8C29-6578B7BE8894}" srcOrd="0" destOrd="0" presId="urn:microsoft.com/office/officeart/2005/8/layout/target3"/>
    <dgm:cxn modelId="{952C2BC1-BFDD-4200-9EFF-D933CDCAF83F}" type="presOf" srcId="{AD210C83-F373-0C44-B3B7-102B711D0327}" destId="{F63C5721-CDCD-0E44-857F-A3B146150CD4}" srcOrd="0" destOrd="1" presId="urn:microsoft.com/office/officeart/2005/8/layout/target3"/>
    <dgm:cxn modelId="{111B953E-F935-3E42-A51B-B65C106AC2C9}" srcId="{467ED640-C614-3E4A-9195-721F16A5A826}" destId="{6A13F55D-EDBD-114A-AEDB-6520654B78A8}" srcOrd="0" destOrd="0" parTransId="{84E85784-E758-8C42-9487-0B1F55300D65}" sibTransId="{DC55E9E6-6613-1B46-B0D0-01C16238BA73}"/>
    <dgm:cxn modelId="{98479848-F377-1640-A060-096FAB2C97BC}" srcId="{46A5FF01-1017-4340-8BF9-A7EF0DA32086}" destId="{8704466E-DCAE-7A4D-98EB-B7DF618A20AB}" srcOrd="0" destOrd="0" parTransId="{81DE89FA-19CE-6444-AD98-5F0C7A312918}" sibTransId="{B2A52291-5EAC-6A44-B56E-943C8206622C}"/>
    <dgm:cxn modelId="{34CA7996-F740-464A-9D76-2283F2FCD36E}" type="presOf" srcId="{6A13F55D-EDBD-114A-AEDB-6520654B78A8}" destId="{50000305-E90F-9F48-832D-1B551E78EEA1}" srcOrd="1" destOrd="0" presId="urn:microsoft.com/office/officeart/2005/8/layout/target3"/>
    <dgm:cxn modelId="{8383F077-CE55-4142-AD21-94CBBCACB63A}" type="presParOf" srcId="{55EFEF62-1402-474C-946F-B429D1E63E58}" destId="{04D1C139-1F44-7D42-97B4-7E1B3C61C310}" srcOrd="0" destOrd="0" presId="urn:microsoft.com/office/officeart/2005/8/layout/target3"/>
    <dgm:cxn modelId="{FD7247C3-A910-44DF-AA41-FB6DF0084A1E}" type="presParOf" srcId="{55EFEF62-1402-474C-946F-B429D1E63E58}" destId="{7D143E97-AEB1-E044-87DF-3C76B48B3163}" srcOrd="1" destOrd="0" presId="urn:microsoft.com/office/officeart/2005/8/layout/target3"/>
    <dgm:cxn modelId="{D78E06DD-9B92-49DB-95A4-044CEC5E6610}" type="presParOf" srcId="{55EFEF62-1402-474C-946F-B429D1E63E58}" destId="{162FAF4A-757D-EE44-8C29-6578B7BE8894}" srcOrd="2" destOrd="0" presId="urn:microsoft.com/office/officeart/2005/8/layout/target3"/>
    <dgm:cxn modelId="{7DE33B67-2F1A-4426-91D0-6B961308C86C}" type="presParOf" srcId="{55EFEF62-1402-474C-946F-B429D1E63E58}" destId="{F824FDFB-5F5F-254B-9D5C-50BDF1E89105}" srcOrd="3" destOrd="0" presId="urn:microsoft.com/office/officeart/2005/8/layout/target3"/>
    <dgm:cxn modelId="{1DD15B9C-4B25-4681-95CA-1290FFF0F3DD}" type="presParOf" srcId="{55EFEF62-1402-474C-946F-B429D1E63E58}" destId="{A56489F7-EC62-A848-9DD9-B3572A72D705}" srcOrd="4" destOrd="0" presId="urn:microsoft.com/office/officeart/2005/8/layout/target3"/>
    <dgm:cxn modelId="{3492ECF6-0E1E-4AF3-99F9-0E5E2C570DAB}" type="presParOf" srcId="{55EFEF62-1402-474C-946F-B429D1E63E58}" destId="{9C4DDA5F-2390-A549-90B9-5F960E28DDE6}" srcOrd="5" destOrd="0" presId="urn:microsoft.com/office/officeart/2005/8/layout/target3"/>
    <dgm:cxn modelId="{F58E55C1-DF2D-4664-B7D2-E69DDDB33B96}" type="presParOf" srcId="{55EFEF62-1402-474C-946F-B429D1E63E58}" destId="{1DFBBFEC-B6C6-484E-822C-6513579054B5}" srcOrd="6" destOrd="0" presId="urn:microsoft.com/office/officeart/2005/8/layout/target3"/>
    <dgm:cxn modelId="{D9533FEC-8E5A-4051-BA33-3D9A90CF58CC}" type="presParOf" srcId="{55EFEF62-1402-474C-946F-B429D1E63E58}" destId="{9FB7C61E-C4DD-B747-BB29-DCE1D55CED32}" srcOrd="7" destOrd="0" presId="urn:microsoft.com/office/officeart/2005/8/layout/target3"/>
    <dgm:cxn modelId="{C925369F-151E-4C6C-A3BF-B5B4548ED4A0}" type="presParOf" srcId="{55EFEF62-1402-474C-946F-B429D1E63E58}" destId="{4960AB30-E228-0044-AB56-9832EFB3F416}" srcOrd="8" destOrd="0" presId="urn:microsoft.com/office/officeart/2005/8/layout/target3"/>
    <dgm:cxn modelId="{43E70668-CAF9-41D5-BDA0-6921E3681CBD}" type="presParOf" srcId="{55EFEF62-1402-474C-946F-B429D1E63E58}" destId="{50000305-E90F-9F48-832D-1B551E78EEA1}" srcOrd="9" destOrd="0" presId="urn:microsoft.com/office/officeart/2005/8/layout/target3"/>
    <dgm:cxn modelId="{23E6BAC6-F9D1-4483-8443-6F2D53AD5A67}" type="presParOf" srcId="{55EFEF62-1402-474C-946F-B429D1E63E58}" destId="{5BB68BD3-8944-314A-9722-C464DFC63A36}" srcOrd="10" destOrd="0" presId="urn:microsoft.com/office/officeart/2005/8/layout/target3"/>
    <dgm:cxn modelId="{8F26645E-8F55-4B25-8E74-BCC910E6CC18}" type="presParOf" srcId="{55EFEF62-1402-474C-946F-B429D1E63E58}" destId="{E3C5539B-5B49-6644-93F1-0733497FD27B}" srcOrd="11" destOrd="0" presId="urn:microsoft.com/office/officeart/2005/8/layout/target3"/>
    <dgm:cxn modelId="{A658BFD4-7C67-4464-B237-38681B01FADC}" type="presParOf" srcId="{55EFEF62-1402-474C-946F-B429D1E63E58}" destId="{F63C5721-CDCD-0E44-857F-A3B146150CD4}" srcOrd="12" destOrd="0" presId="urn:microsoft.com/office/officeart/2005/8/layout/target3"/>
    <dgm:cxn modelId="{D16D2CEB-FE12-444F-B865-E824CDEBFDE7}" type="presParOf" srcId="{55EFEF62-1402-474C-946F-B429D1E63E58}" destId="{576C8ECA-F6A7-4D46-B348-ECB99A8DC954}" srcOrd="13" destOrd="0" presId="urn:microsoft.com/office/officeart/2005/8/layout/target3"/>
    <dgm:cxn modelId="{72834DB7-7C32-4DB0-9F1C-C18E71C72C6D}" type="presParOf" srcId="{55EFEF62-1402-474C-946F-B429D1E63E58}" destId="{52907ABB-2798-234B-AC87-6694DC68A9CB}" srcOrd="14"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A9BD5E3-EB33-8B47-844D-47FC9D462F9C}" type="doc">
      <dgm:prSet loTypeId="urn:microsoft.com/office/officeart/2008/layout/VerticalCurvedList" loCatId="" qsTypeId="urn:microsoft.com/office/officeart/2005/8/quickstyle/simple4" qsCatId="simple" csTypeId="urn:microsoft.com/office/officeart/2005/8/colors/accent1_2" csCatId="accent1" phldr="1"/>
      <dgm:spPr/>
      <dgm:t>
        <a:bodyPr/>
        <a:lstStyle/>
        <a:p>
          <a:endParaRPr lang="en-US"/>
        </a:p>
      </dgm:t>
    </dgm:pt>
    <dgm:pt modelId="{DED8AF20-1530-CA4C-B21F-4DD70E743F50}">
      <dgm:prSet/>
      <dgm:spPr/>
      <dgm:t>
        <a:bodyPr/>
        <a:lstStyle/>
        <a:p>
          <a:pPr rtl="0"/>
          <a:r>
            <a:rPr lang="en-US" smtClean="0"/>
            <a:t>Can be applied to a block of data of any size</a:t>
          </a:r>
          <a:endParaRPr lang="en-US"/>
        </a:p>
      </dgm:t>
    </dgm:pt>
    <dgm:pt modelId="{9E8CF9CA-9A50-FA4D-BE09-93BB47E6ECB8}" type="parTrans" cxnId="{B9C2458C-4A7A-864C-BE80-4FE18B490050}">
      <dgm:prSet/>
      <dgm:spPr/>
      <dgm:t>
        <a:bodyPr/>
        <a:lstStyle/>
        <a:p>
          <a:endParaRPr lang="en-US"/>
        </a:p>
      </dgm:t>
    </dgm:pt>
    <dgm:pt modelId="{EAF00437-7F0E-A343-A2DD-747CE1CC66F1}" type="sibTrans" cxnId="{B9C2458C-4A7A-864C-BE80-4FE18B490050}">
      <dgm:prSet/>
      <dgm:spPr/>
      <dgm:t>
        <a:bodyPr/>
        <a:lstStyle/>
        <a:p>
          <a:endParaRPr lang="en-US"/>
        </a:p>
      </dgm:t>
    </dgm:pt>
    <dgm:pt modelId="{DFE10521-EEEF-F944-A944-534F0A79F7E5}">
      <dgm:prSet/>
      <dgm:spPr>
        <a:solidFill>
          <a:schemeClr val="accent5">
            <a:lumMod val="50000"/>
          </a:schemeClr>
        </a:solidFill>
      </dgm:spPr>
      <dgm:t>
        <a:bodyPr/>
        <a:lstStyle/>
        <a:p>
          <a:pPr rtl="0"/>
          <a:r>
            <a:rPr lang="en-US" smtClean="0"/>
            <a:t>Produces a fixed-length output</a:t>
          </a:r>
          <a:endParaRPr lang="en-US"/>
        </a:p>
      </dgm:t>
    </dgm:pt>
    <dgm:pt modelId="{0A9EC2A2-1EE9-6E44-9062-734AE441FB88}" type="parTrans" cxnId="{4FDA099F-6F83-2741-ABCF-74C92BB57355}">
      <dgm:prSet/>
      <dgm:spPr/>
      <dgm:t>
        <a:bodyPr/>
        <a:lstStyle/>
        <a:p>
          <a:endParaRPr lang="en-US"/>
        </a:p>
      </dgm:t>
    </dgm:pt>
    <dgm:pt modelId="{D2959B7C-00BC-CB44-A21F-6DF0EE6B3000}" type="sibTrans" cxnId="{4FDA099F-6F83-2741-ABCF-74C92BB57355}">
      <dgm:prSet/>
      <dgm:spPr/>
      <dgm:t>
        <a:bodyPr/>
        <a:lstStyle/>
        <a:p>
          <a:endParaRPr lang="en-US"/>
        </a:p>
      </dgm:t>
    </dgm:pt>
    <dgm:pt modelId="{D2CFAD1B-7382-1C45-8430-56EC2C2C1EAE}">
      <dgm:prSet/>
      <dgm:spPr>
        <a:solidFill>
          <a:schemeClr val="accent3">
            <a:lumMod val="75000"/>
          </a:schemeClr>
        </a:solidFill>
      </dgm:spPr>
      <dgm:t>
        <a:bodyPr/>
        <a:lstStyle/>
        <a:p>
          <a:pPr rtl="0"/>
          <a:r>
            <a:rPr lang="en-US" smtClean="0"/>
            <a:t>H(x) is relatively easy to compute for any given x</a:t>
          </a:r>
          <a:endParaRPr lang="en-US"/>
        </a:p>
      </dgm:t>
    </dgm:pt>
    <dgm:pt modelId="{220392C2-2B01-DE4C-AB3D-F0A0E7BB0B96}" type="parTrans" cxnId="{065C5B67-10D7-BF42-92C8-97810F4B368A}">
      <dgm:prSet/>
      <dgm:spPr/>
      <dgm:t>
        <a:bodyPr/>
        <a:lstStyle/>
        <a:p>
          <a:endParaRPr lang="en-US"/>
        </a:p>
      </dgm:t>
    </dgm:pt>
    <dgm:pt modelId="{4FE5E2A1-29FC-3A4C-A703-52A0C008A60B}" type="sibTrans" cxnId="{065C5B67-10D7-BF42-92C8-97810F4B368A}">
      <dgm:prSet/>
      <dgm:spPr/>
      <dgm:t>
        <a:bodyPr/>
        <a:lstStyle/>
        <a:p>
          <a:endParaRPr lang="en-US"/>
        </a:p>
      </dgm:t>
    </dgm:pt>
    <dgm:pt modelId="{BBF89938-F6A5-DD4C-ACDB-3654B3C78424}">
      <dgm:prSet/>
      <dgm:spPr/>
      <dgm:t>
        <a:bodyPr/>
        <a:lstStyle/>
        <a:p>
          <a:pPr rtl="0"/>
          <a:r>
            <a:rPr lang="en-US" smtClean="0"/>
            <a:t>One-way or pre-image resistant</a:t>
          </a:r>
          <a:endParaRPr lang="en-US"/>
        </a:p>
      </dgm:t>
    </dgm:pt>
    <dgm:pt modelId="{44036F87-FE5D-144F-B582-8D7051EDFCFC}" type="parTrans" cxnId="{A13A8B75-C4F7-2043-B742-877234C7701B}">
      <dgm:prSet/>
      <dgm:spPr/>
      <dgm:t>
        <a:bodyPr/>
        <a:lstStyle/>
        <a:p>
          <a:endParaRPr lang="en-US"/>
        </a:p>
      </dgm:t>
    </dgm:pt>
    <dgm:pt modelId="{D4962C4E-D15E-AC41-9881-8B954C808056}" type="sibTrans" cxnId="{A13A8B75-C4F7-2043-B742-877234C7701B}">
      <dgm:prSet/>
      <dgm:spPr/>
      <dgm:t>
        <a:bodyPr/>
        <a:lstStyle/>
        <a:p>
          <a:endParaRPr lang="en-US"/>
        </a:p>
      </dgm:t>
    </dgm:pt>
    <dgm:pt modelId="{7F896DCC-3165-CF40-A069-19AA5D0C5082}">
      <dgm:prSet/>
      <dgm:spPr/>
      <dgm:t>
        <a:bodyPr/>
        <a:lstStyle/>
        <a:p>
          <a:pPr rtl="0"/>
          <a:r>
            <a:rPr lang="en-US" smtClean="0"/>
            <a:t>Computationally infeasible to find x such that H(x) = h</a:t>
          </a:r>
          <a:endParaRPr lang="en-US"/>
        </a:p>
      </dgm:t>
    </dgm:pt>
    <dgm:pt modelId="{623C602B-05A8-E647-A47D-4CA866E87B00}" type="parTrans" cxnId="{BB2224B2-6EE7-8941-86FB-F3B9BEA1D2BD}">
      <dgm:prSet/>
      <dgm:spPr/>
      <dgm:t>
        <a:bodyPr/>
        <a:lstStyle/>
        <a:p>
          <a:endParaRPr lang="en-US"/>
        </a:p>
      </dgm:t>
    </dgm:pt>
    <dgm:pt modelId="{528FED1B-22C3-B842-87E9-486A18F37C6B}" type="sibTrans" cxnId="{BB2224B2-6EE7-8941-86FB-F3B9BEA1D2BD}">
      <dgm:prSet/>
      <dgm:spPr/>
      <dgm:t>
        <a:bodyPr/>
        <a:lstStyle/>
        <a:p>
          <a:endParaRPr lang="en-US"/>
        </a:p>
      </dgm:t>
    </dgm:pt>
    <dgm:pt modelId="{E5C53E5A-E3F3-A24B-A9BB-3DC95B9B3FDF}">
      <dgm:prSet/>
      <dgm:spPr>
        <a:solidFill>
          <a:schemeClr val="accent5">
            <a:lumMod val="50000"/>
          </a:schemeClr>
        </a:solidFill>
      </dgm:spPr>
      <dgm:t>
        <a:bodyPr/>
        <a:lstStyle/>
        <a:p>
          <a:pPr rtl="0"/>
          <a:r>
            <a:rPr lang="en-US" smtClean="0"/>
            <a:t>Computationally infeasible to find y ≠ x such that H(y) = H(x)</a:t>
          </a:r>
          <a:endParaRPr lang="en-US"/>
        </a:p>
      </dgm:t>
    </dgm:pt>
    <dgm:pt modelId="{F752E2D6-4B34-EB4F-BA5B-8F6B115ABB3F}" type="parTrans" cxnId="{6FD664F4-24A5-2240-B910-3D5239A20C5E}">
      <dgm:prSet/>
      <dgm:spPr/>
      <dgm:t>
        <a:bodyPr/>
        <a:lstStyle/>
        <a:p>
          <a:endParaRPr lang="en-US"/>
        </a:p>
      </dgm:t>
    </dgm:pt>
    <dgm:pt modelId="{1AEF71E4-0D74-024D-A54F-75EAC394EE2E}" type="sibTrans" cxnId="{6FD664F4-24A5-2240-B910-3D5239A20C5E}">
      <dgm:prSet/>
      <dgm:spPr/>
      <dgm:t>
        <a:bodyPr/>
        <a:lstStyle/>
        <a:p>
          <a:endParaRPr lang="en-US"/>
        </a:p>
      </dgm:t>
    </dgm:pt>
    <dgm:pt modelId="{D6884361-C691-7844-A52A-F31AAC43CDC1}">
      <dgm:prSet/>
      <dgm:spPr>
        <a:solidFill>
          <a:schemeClr val="accent3">
            <a:lumMod val="75000"/>
          </a:schemeClr>
        </a:solidFill>
      </dgm:spPr>
      <dgm:t>
        <a:bodyPr/>
        <a:lstStyle/>
        <a:p>
          <a:pPr rtl="0"/>
          <a:r>
            <a:rPr lang="en-US" smtClean="0"/>
            <a:t>Collision resistant or strong collision resistance </a:t>
          </a:r>
          <a:endParaRPr lang="en-US"/>
        </a:p>
      </dgm:t>
    </dgm:pt>
    <dgm:pt modelId="{6F5447A3-0C53-5E47-AD6F-B97888FDAAD9}" type="parTrans" cxnId="{9E0C3B13-41BA-114F-B23C-71E5DBB67F7D}">
      <dgm:prSet/>
      <dgm:spPr/>
      <dgm:t>
        <a:bodyPr/>
        <a:lstStyle/>
        <a:p>
          <a:endParaRPr lang="en-US"/>
        </a:p>
      </dgm:t>
    </dgm:pt>
    <dgm:pt modelId="{576FE497-30B1-AF40-9924-CA9A51870D45}" type="sibTrans" cxnId="{9E0C3B13-41BA-114F-B23C-71E5DBB67F7D}">
      <dgm:prSet/>
      <dgm:spPr/>
      <dgm:t>
        <a:bodyPr/>
        <a:lstStyle/>
        <a:p>
          <a:endParaRPr lang="en-US"/>
        </a:p>
      </dgm:t>
    </dgm:pt>
    <dgm:pt modelId="{770ED44B-71B0-0F4D-8699-E67B9EF5A296}">
      <dgm:prSet/>
      <dgm:spPr>
        <a:solidFill>
          <a:schemeClr val="accent3">
            <a:lumMod val="75000"/>
          </a:schemeClr>
        </a:solidFill>
      </dgm:spPr>
      <dgm:t>
        <a:bodyPr/>
        <a:lstStyle/>
        <a:p>
          <a:pPr rtl="0"/>
          <a:r>
            <a:rPr lang="en-US" smtClean="0"/>
            <a:t>Computationally infeasible to find any pair (x,y) such that H(x) = H(y)</a:t>
          </a:r>
          <a:endParaRPr lang="en-US"/>
        </a:p>
      </dgm:t>
    </dgm:pt>
    <dgm:pt modelId="{9D67CA6D-CBC9-C842-B43C-C76CDE3C8945}" type="parTrans" cxnId="{A91EE391-A0D8-1E4F-93A0-0EAFCFFAD8C8}">
      <dgm:prSet/>
      <dgm:spPr/>
      <dgm:t>
        <a:bodyPr/>
        <a:lstStyle/>
        <a:p>
          <a:endParaRPr lang="en-US"/>
        </a:p>
      </dgm:t>
    </dgm:pt>
    <dgm:pt modelId="{AA482BDB-AFE8-BC41-80F6-68FC8183C2BC}" type="sibTrans" cxnId="{A91EE391-A0D8-1E4F-93A0-0EAFCFFAD8C8}">
      <dgm:prSet/>
      <dgm:spPr/>
      <dgm:t>
        <a:bodyPr/>
        <a:lstStyle/>
        <a:p>
          <a:endParaRPr lang="en-US"/>
        </a:p>
      </dgm:t>
    </dgm:pt>
    <dgm:pt modelId="{3AAEC6AA-0C8F-6848-A0F9-9876CF425DC3}" type="pres">
      <dgm:prSet presAssocID="{AA9BD5E3-EB33-8B47-844D-47FC9D462F9C}" presName="Name0" presStyleCnt="0">
        <dgm:presLayoutVars>
          <dgm:chMax val="7"/>
          <dgm:chPref val="7"/>
          <dgm:dir/>
        </dgm:presLayoutVars>
      </dgm:prSet>
      <dgm:spPr/>
      <dgm:t>
        <a:bodyPr/>
        <a:lstStyle/>
        <a:p>
          <a:endParaRPr lang="en-US"/>
        </a:p>
      </dgm:t>
    </dgm:pt>
    <dgm:pt modelId="{72FDECFA-844C-CD40-8E13-783D9A8C7840}" type="pres">
      <dgm:prSet presAssocID="{AA9BD5E3-EB33-8B47-844D-47FC9D462F9C}" presName="Name1" presStyleCnt="0"/>
      <dgm:spPr/>
    </dgm:pt>
    <dgm:pt modelId="{F09BB97D-AD94-DE47-97F0-A116DDCDABD7}" type="pres">
      <dgm:prSet presAssocID="{AA9BD5E3-EB33-8B47-844D-47FC9D462F9C}" presName="cycle" presStyleCnt="0"/>
      <dgm:spPr/>
    </dgm:pt>
    <dgm:pt modelId="{0049E0AC-E171-7C45-B443-1DEA1DCA31FE}" type="pres">
      <dgm:prSet presAssocID="{AA9BD5E3-EB33-8B47-844D-47FC9D462F9C}" presName="srcNode" presStyleLbl="node1" presStyleIdx="0" presStyleCnt="6"/>
      <dgm:spPr/>
    </dgm:pt>
    <dgm:pt modelId="{4AB01A21-0AB8-4443-9CE3-0F53E4D1923D}" type="pres">
      <dgm:prSet presAssocID="{AA9BD5E3-EB33-8B47-844D-47FC9D462F9C}" presName="conn" presStyleLbl="parChTrans1D2" presStyleIdx="0" presStyleCnt="1"/>
      <dgm:spPr/>
      <dgm:t>
        <a:bodyPr/>
        <a:lstStyle/>
        <a:p>
          <a:endParaRPr lang="en-US"/>
        </a:p>
      </dgm:t>
    </dgm:pt>
    <dgm:pt modelId="{DAE010EA-3927-BF4F-A39B-C54DD751A55C}" type="pres">
      <dgm:prSet presAssocID="{AA9BD5E3-EB33-8B47-844D-47FC9D462F9C}" presName="extraNode" presStyleLbl="node1" presStyleIdx="0" presStyleCnt="6"/>
      <dgm:spPr/>
    </dgm:pt>
    <dgm:pt modelId="{658FB955-9B37-DD4B-9D78-D3D5928ED9AA}" type="pres">
      <dgm:prSet presAssocID="{AA9BD5E3-EB33-8B47-844D-47FC9D462F9C}" presName="dstNode" presStyleLbl="node1" presStyleIdx="0" presStyleCnt="6"/>
      <dgm:spPr/>
    </dgm:pt>
    <dgm:pt modelId="{3BCEACDC-FA18-214D-B477-D748A17EBD5C}" type="pres">
      <dgm:prSet presAssocID="{DED8AF20-1530-CA4C-B21F-4DD70E743F50}" presName="text_1" presStyleLbl="node1" presStyleIdx="0" presStyleCnt="6">
        <dgm:presLayoutVars>
          <dgm:bulletEnabled val="1"/>
        </dgm:presLayoutVars>
      </dgm:prSet>
      <dgm:spPr/>
      <dgm:t>
        <a:bodyPr/>
        <a:lstStyle/>
        <a:p>
          <a:endParaRPr lang="en-US"/>
        </a:p>
      </dgm:t>
    </dgm:pt>
    <dgm:pt modelId="{ACC677C5-26C1-B44A-8ABE-5790C7F56737}" type="pres">
      <dgm:prSet presAssocID="{DED8AF20-1530-CA4C-B21F-4DD70E743F50}" presName="accent_1" presStyleCnt="0"/>
      <dgm:spPr/>
    </dgm:pt>
    <dgm:pt modelId="{089F918A-01EF-3E48-8134-9613D20377FA}" type="pres">
      <dgm:prSet presAssocID="{DED8AF20-1530-CA4C-B21F-4DD70E743F50}" presName="accentRepeatNode" presStyleLbl="solidFgAcc1" presStyleIdx="0" presStyleCnt="6" custScaleX="85302" custScaleY="82361"/>
      <dgm:spPr/>
    </dgm:pt>
    <dgm:pt modelId="{1F06E968-547C-634E-900B-0BC15A4DFCDE}" type="pres">
      <dgm:prSet presAssocID="{DFE10521-EEEF-F944-A944-534F0A79F7E5}" presName="text_2" presStyleLbl="node1" presStyleIdx="1" presStyleCnt="6">
        <dgm:presLayoutVars>
          <dgm:bulletEnabled val="1"/>
        </dgm:presLayoutVars>
      </dgm:prSet>
      <dgm:spPr/>
      <dgm:t>
        <a:bodyPr/>
        <a:lstStyle/>
        <a:p>
          <a:endParaRPr lang="en-US"/>
        </a:p>
      </dgm:t>
    </dgm:pt>
    <dgm:pt modelId="{C4E423AE-F539-C746-A6FC-1FF92C24A600}" type="pres">
      <dgm:prSet presAssocID="{DFE10521-EEEF-F944-A944-534F0A79F7E5}" presName="accent_2" presStyleCnt="0"/>
      <dgm:spPr/>
    </dgm:pt>
    <dgm:pt modelId="{9F6A0BD0-BCC4-4241-BFF1-BD156983F18E}" type="pres">
      <dgm:prSet presAssocID="{DFE10521-EEEF-F944-A944-534F0A79F7E5}" presName="accentRepeatNode" presStyleLbl="solidFgAcc1" presStyleIdx="1" presStyleCnt="6" custScaleX="85302" custScaleY="82361"/>
      <dgm:spPr/>
    </dgm:pt>
    <dgm:pt modelId="{44AF95CB-12A5-8048-8535-0F6EB543B202}" type="pres">
      <dgm:prSet presAssocID="{D2CFAD1B-7382-1C45-8430-56EC2C2C1EAE}" presName="text_3" presStyleLbl="node1" presStyleIdx="2" presStyleCnt="6">
        <dgm:presLayoutVars>
          <dgm:bulletEnabled val="1"/>
        </dgm:presLayoutVars>
      </dgm:prSet>
      <dgm:spPr/>
      <dgm:t>
        <a:bodyPr/>
        <a:lstStyle/>
        <a:p>
          <a:endParaRPr lang="en-US"/>
        </a:p>
      </dgm:t>
    </dgm:pt>
    <dgm:pt modelId="{2B15202D-425C-8342-885F-59B350B265A2}" type="pres">
      <dgm:prSet presAssocID="{D2CFAD1B-7382-1C45-8430-56EC2C2C1EAE}" presName="accent_3" presStyleCnt="0"/>
      <dgm:spPr/>
    </dgm:pt>
    <dgm:pt modelId="{D4F67044-FF76-1043-9ED5-2F6312F32AA5}" type="pres">
      <dgm:prSet presAssocID="{D2CFAD1B-7382-1C45-8430-56EC2C2C1EAE}" presName="accentRepeatNode" presStyleLbl="solidFgAcc1" presStyleIdx="2" presStyleCnt="6" custScaleX="82361" custScaleY="84040"/>
      <dgm:spPr/>
    </dgm:pt>
    <dgm:pt modelId="{52FC5337-EF3A-1746-B44A-2109FDE2FA71}" type="pres">
      <dgm:prSet presAssocID="{BBF89938-F6A5-DD4C-ACDB-3654B3C78424}" presName="text_4" presStyleLbl="node1" presStyleIdx="3" presStyleCnt="6">
        <dgm:presLayoutVars>
          <dgm:bulletEnabled val="1"/>
        </dgm:presLayoutVars>
      </dgm:prSet>
      <dgm:spPr/>
      <dgm:t>
        <a:bodyPr/>
        <a:lstStyle/>
        <a:p>
          <a:endParaRPr lang="en-US"/>
        </a:p>
      </dgm:t>
    </dgm:pt>
    <dgm:pt modelId="{E8242BD5-009E-F54E-B3B3-B0CC1973DEBC}" type="pres">
      <dgm:prSet presAssocID="{BBF89938-F6A5-DD4C-ACDB-3654B3C78424}" presName="accent_4" presStyleCnt="0"/>
      <dgm:spPr/>
    </dgm:pt>
    <dgm:pt modelId="{EFF66B2C-21D5-B54C-8353-415B0BE1242E}" type="pres">
      <dgm:prSet presAssocID="{BBF89938-F6A5-DD4C-ACDB-3654B3C78424}" presName="accentRepeatNode" presStyleLbl="solidFgAcc1" presStyleIdx="3" presStyleCnt="6" custScaleX="85302" custScaleY="82361"/>
      <dgm:spPr/>
    </dgm:pt>
    <dgm:pt modelId="{C6157EDB-C09D-A346-9965-3F2D7C3B2796}" type="pres">
      <dgm:prSet presAssocID="{E5C53E5A-E3F3-A24B-A9BB-3DC95B9B3FDF}" presName="text_5" presStyleLbl="node1" presStyleIdx="4" presStyleCnt="6">
        <dgm:presLayoutVars>
          <dgm:bulletEnabled val="1"/>
        </dgm:presLayoutVars>
      </dgm:prSet>
      <dgm:spPr/>
      <dgm:t>
        <a:bodyPr/>
        <a:lstStyle/>
        <a:p>
          <a:endParaRPr lang="en-US"/>
        </a:p>
      </dgm:t>
    </dgm:pt>
    <dgm:pt modelId="{DF314239-E7A9-794E-AF69-AD145C8199A6}" type="pres">
      <dgm:prSet presAssocID="{E5C53E5A-E3F3-A24B-A9BB-3DC95B9B3FDF}" presName="accent_5" presStyleCnt="0"/>
      <dgm:spPr/>
    </dgm:pt>
    <dgm:pt modelId="{184C4685-0A12-604C-804D-799D5DABB705}" type="pres">
      <dgm:prSet presAssocID="{E5C53E5A-E3F3-A24B-A9BB-3DC95B9B3FDF}" presName="accentRepeatNode" presStyleLbl="solidFgAcc1" presStyleIdx="4" presStyleCnt="6" custScaleX="85302" custScaleY="82361"/>
      <dgm:spPr/>
    </dgm:pt>
    <dgm:pt modelId="{296905BA-ECD1-2C46-A4C8-8EB01906446C}" type="pres">
      <dgm:prSet presAssocID="{D6884361-C691-7844-A52A-F31AAC43CDC1}" presName="text_6" presStyleLbl="node1" presStyleIdx="5" presStyleCnt="6">
        <dgm:presLayoutVars>
          <dgm:bulletEnabled val="1"/>
        </dgm:presLayoutVars>
      </dgm:prSet>
      <dgm:spPr/>
      <dgm:t>
        <a:bodyPr/>
        <a:lstStyle/>
        <a:p>
          <a:endParaRPr lang="en-US"/>
        </a:p>
      </dgm:t>
    </dgm:pt>
    <dgm:pt modelId="{51F467DB-1A37-4A49-A68C-C2A44A9C7E36}" type="pres">
      <dgm:prSet presAssocID="{D6884361-C691-7844-A52A-F31AAC43CDC1}" presName="accent_6" presStyleCnt="0"/>
      <dgm:spPr/>
    </dgm:pt>
    <dgm:pt modelId="{E0C06DCE-7FDC-BD41-AB14-3F0C4DAA63C8}" type="pres">
      <dgm:prSet presAssocID="{D6884361-C691-7844-A52A-F31AAC43CDC1}" presName="accentRepeatNode" presStyleLbl="solidFgAcc1" presStyleIdx="5" presStyleCnt="6" custScaleX="85302" custScaleY="82361"/>
      <dgm:spPr/>
    </dgm:pt>
  </dgm:ptLst>
  <dgm:cxnLst>
    <dgm:cxn modelId="{B707B5A6-8D69-4EE3-9022-EFF0F7A4B50B}" type="presOf" srcId="{EAF00437-7F0E-A343-A2DD-747CE1CC66F1}" destId="{4AB01A21-0AB8-4443-9CE3-0F53E4D1923D}" srcOrd="0" destOrd="0" presId="urn:microsoft.com/office/officeart/2008/layout/VerticalCurvedList"/>
    <dgm:cxn modelId="{F9346FA2-57DA-4FB3-88E2-747A9B4F4E64}" type="presOf" srcId="{D2CFAD1B-7382-1C45-8430-56EC2C2C1EAE}" destId="{44AF95CB-12A5-8048-8535-0F6EB543B202}" srcOrd="0" destOrd="0" presId="urn:microsoft.com/office/officeart/2008/layout/VerticalCurvedList"/>
    <dgm:cxn modelId="{ED05E3E5-D767-4490-BB67-E64C6DF22F15}" type="presOf" srcId="{770ED44B-71B0-0F4D-8699-E67B9EF5A296}" destId="{296905BA-ECD1-2C46-A4C8-8EB01906446C}" srcOrd="0" destOrd="1" presId="urn:microsoft.com/office/officeart/2008/layout/VerticalCurvedList"/>
    <dgm:cxn modelId="{6F18B95D-2B17-4DE3-9FD4-DFC2B8217AC3}" type="presOf" srcId="{7F896DCC-3165-CF40-A069-19AA5D0C5082}" destId="{52FC5337-EF3A-1746-B44A-2109FDE2FA71}" srcOrd="0" destOrd="1" presId="urn:microsoft.com/office/officeart/2008/layout/VerticalCurvedList"/>
    <dgm:cxn modelId="{A91EE391-A0D8-1E4F-93A0-0EAFCFFAD8C8}" srcId="{D6884361-C691-7844-A52A-F31AAC43CDC1}" destId="{770ED44B-71B0-0F4D-8699-E67B9EF5A296}" srcOrd="0" destOrd="0" parTransId="{9D67CA6D-CBC9-C842-B43C-C76CDE3C8945}" sibTransId="{AA482BDB-AFE8-BC41-80F6-68FC8183C2BC}"/>
    <dgm:cxn modelId="{6FD664F4-24A5-2240-B910-3D5239A20C5E}" srcId="{AA9BD5E3-EB33-8B47-844D-47FC9D462F9C}" destId="{E5C53E5A-E3F3-A24B-A9BB-3DC95B9B3FDF}" srcOrd="4" destOrd="0" parTransId="{F752E2D6-4B34-EB4F-BA5B-8F6B115ABB3F}" sibTransId="{1AEF71E4-0D74-024D-A54F-75EAC394EE2E}"/>
    <dgm:cxn modelId="{7A4B04DF-B3CE-48FC-ABB1-88A189B0A278}" type="presOf" srcId="{D6884361-C691-7844-A52A-F31AAC43CDC1}" destId="{296905BA-ECD1-2C46-A4C8-8EB01906446C}" srcOrd="0" destOrd="0" presId="urn:microsoft.com/office/officeart/2008/layout/VerticalCurvedList"/>
    <dgm:cxn modelId="{B5F3A2D7-D5B2-4A55-A42A-2FACF0ECF508}" type="presOf" srcId="{BBF89938-F6A5-DD4C-ACDB-3654B3C78424}" destId="{52FC5337-EF3A-1746-B44A-2109FDE2FA71}" srcOrd="0" destOrd="0" presId="urn:microsoft.com/office/officeart/2008/layout/VerticalCurvedList"/>
    <dgm:cxn modelId="{9E0C3B13-41BA-114F-B23C-71E5DBB67F7D}" srcId="{AA9BD5E3-EB33-8B47-844D-47FC9D462F9C}" destId="{D6884361-C691-7844-A52A-F31AAC43CDC1}" srcOrd="5" destOrd="0" parTransId="{6F5447A3-0C53-5E47-AD6F-B97888FDAAD9}" sibTransId="{576FE497-30B1-AF40-9924-CA9A51870D45}"/>
    <dgm:cxn modelId="{39A2A6F8-B5F8-4A4F-B415-1CA938E1B015}" type="presOf" srcId="{E5C53E5A-E3F3-A24B-A9BB-3DC95B9B3FDF}" destId="{C6157EDB-C09D-A346-9965-3F2D7C3B2796}" srcOrd="0" destOrd="0" presId="urn:microsoft.com/office/officeart/2008/layout/VerticalCurvedList"/>
    <dgm:cxn modelId="{8D5B7246-9137-4C96-890E-27B929E355B6}" type="presOf" srcId="{AA9BD5E3-EB33-8B47-844D-47FC9D462F9C}" destId="{3AAEC6AA-0C8F-6848-A0F9-9876CF425DC3}" srcOrd="0" destOrd="0" presId="urn:microsoft.com/office/officeart/2008/layout/VerticalCurvedList"/>
    <dgm:cxn modelId="{065C5B67-10D7-BF42-92C8-97810F4B368A}" srcId="{AA9BD5E3-EB33-8B47-844D-47FC9D462F9C}" destId="{D2CFAD1B-7382-1C45-8430-56EC2C2C1EAE}" srcOrd="2" destOrd="0" parTransId="{220392C2-2B01-DE4C-AB3D-F0A0E7BB0B96}" sibTransId="{4FE5E2A1-29FC-3A4C-A703-52A0C008A60B}"/>
    <dgm:cxn modelId="{B9C2458C-4A7A-864C-BE80-4FE18B490050}" srcId="{AA9BD5E3-EB33-8B47-844D-47FC9D462F9C}" destId="{DED8AF20-1530-CA4C-B21F-4DD70E743F50}" srcOrd="0" destOrd="0" parTransId="{9E8CF9CA-9A50-FA4D-BE09-93BB47E6ECB8}" sibTransId="{EAF00437-7F0E-A343-A2DD-747CE1CC66F1}"/>
    <dgm:cxn modelId="{A13A8B75-C4F7-2043-B742-877234C7701B}" srcId="{AA9BD5E3-EB33-8B47-844D-47FC9D462F9C}" destId="{BBF89938-F6A5-DD4C-ACDB-3654B3C78424}" srcOrd="3" destOrd="0" parTransId="{44036F87-FE5D-144F-B582-8D7051EDFCFC}" sibTransId="{D4962C4E-D15E-AC41-9881-8B954C808056}"/>
    <dgm:cxn modelId="{A904A8C5-14BF-48F5-B130-2A61D5ECEDB8}" type="presOf" srcId="{DFE10521-EEEF-F944-A944-534F0A79F7E5}" destId="{1F06E968-547C-634E-900B-0BC15A4DFCDE}" srcOrd="0" destOrd="0" presId="urn:microsoft.com/office/officeart/2008/layout/VerticalCurvedList"/>
    <dgm:cxn modelId="{BB2224B2-6EE7-8941-86FB-F3B9BEA1D2BD}" srcId="{BBF89938-F6A5-DD4C-ACDB-3654B3C78424}" destId="{7F896DCC-3165-CF40-A069-19AA5D0C5082}" srcOrd="0" destOrd="0" parTransId="{623C602B-05A8-E647-A47D-4CA866E87B00}" sibTransId="{528FED1B-22C3-B842-87E9-486A18F37C6B}"/>
    <dgm:cxn modelId="{4FDA099F-6F83-2741-ABCF-74C92BB57355}" srcId="{AA9BD5E3-EB33-8B47-844D-47FC9D462F9C}" destId="{DFE10521-EEEF-F944-A944-534F0A79F7E5}" srcOrd="1" destOrd="0" parTransId="{0A9EC2A2-1EE9-6E44-9062-734AE441FB88}" sibTransId="{D2959B7C-00BC-CB44-A21F-6DF0EE6B3000}"/>
    <dgm:cxn modelId="{289AB53C-D0CD-4CB0-8CB2-E2A623D01F97}" type="presOf" srcId="{DED8AF20-1530-CA4C-B21F-4DD70E743F50}" destId="{3BCEACDC-FA18-214D-B477-D748A17EBD5C}" srcOrd="0" destOrd="0" presId="urn:microsoft.com/office/officeart/2008/layout/VerticalCurvedList"/>
    <dgm:cxn modelId="{07631D58-7CFC-4DFA-8D85-C0CF2B46A2CF}" type="presParOf" srcId="{3AAEC6AA-0C8F-6848-A0F9-9876CF425DC3}" destId="{72FDECFA-844C-CD40-8E13-783D9A8C7840}" srcOrd="0" destOrd="0" presId="urn:microsoft.com/office/officeart/2008/layout/VerticalCurvedList"/>
    <dgm:cxn modelId="{3DB6767C-D95F-4F8D-815A-3B0B0F4727EF}" type="presParOf" srcId="{72FDECFA-844C-CD40-8E13-783D9A8C7840}" destId="{F09BB97D-AD94-DE47-97F0-A116DDCDABD7}" srcOrd="0" destOrd="0" presId="urn:microsoft.com/office/officeart/2008/layout/VerticalCurvedList"/>
    <dgm:cxn modelId="{C8F602EF-27F8-43AE-920B-FD8436B17AF7}" type="presParOf" srcId="{F09BB97D-AD94-DE47-97F0-A116DDCDABD7}" destId="{0049E0AC-E171-7C45-B443-1DEA1DCA31FE}" srcOrd="0" destOrd="0" presId="urn:microsoft.com/office/officeart/2008/layout/VerticalCurvedList"/>
    <dgm:cxn modelId="{6D46B98F-F954-4E06-B621-3CA7FF280962}" type="presParOf" srcId="{F09BB97D-AD94-DE47-97F0-A116DDCDABD7}" destId="{4AB01A21-0AB8-4443-9CE3-0F53E4D1923D}" srcOrd="1" destOrd="0" presId="urn:microsoft.com/office/officeart/2008/layout/VerticalCurvedList"/>
    <dgm:cxn modelId="{1B2B1688-A4CA-42C8-8888-69CD559C22A0}" type="presParOf" srcId="{F09BB97D-AD94-DE47-97F0-A116DDCDABD7}" destId="{DAE010EA-3927-BF4F-A39B-C54DD751A55C}" srcOrd="2" destOrd="0" presId="urn:microsoft.com/office/officeart/2008/layout/VerticalCurvedList"/>
    <dgm:cxn modelId="{E8B096AA-1EC2-4D3E-9105-F2279D4FC768}" type="presParOf" srcId="{F09BB97D-AD94-DE47-97F0-A116DDCDABD7}" destId="{658FB955-9B37-DD4B-9D78-D3D5928ED9AA}" srcOrd="3" destOrd="0" presId="urn:microsoft.com/office/officeart/2008/layout/VerticalCurvedList"/>
    <dgm:cxn modelId="{5AFF73F1-3B75-4903-8A30-5C0F7F5F2F0B}" type="presParOf" srcId="{72FDECFA-844C-CD40-8E13-783D9A8C7840}" destId="{3BCEACDC-FA18-214D-B477-D748A17EBD5C}" srcOrd="1" destOrd="0" presId="urn:microsoft.com/office/officeart/2008/layout/VerticalCurvedList"/>
    <dgm:cxn modelId="{B463FA2D-3CEA-47E5-A159-875F7B299D58}" type="presParOf" srcId="{72FDECFA-844C-CD40-8E13-783D9A8C7840}" destId="{ACC677C5-26C1-B44A-8ABE-5790C7F56737}" srcOrd="2" destOrd="0" presId="urn:microsoft.com/office/officeart/2008/layout/VerticalCurvedList"/>
    <dgm:cxn modelId="{AC434E51-E7F4-42D4-8DE3-2558CF394FBE}" type="presParOf" srcId="{ACC677C5-26C1-B44A-8ABE-5790C7F56737}" destId="{089F918A-01EF-3E48-8134-9613D20377FA}" srcOrd="0" destOrd="0" presId="urn:microsoft.com/office/officeart/2008/layout/VerticalCurvedList"/>
    <dgm:cxn modelId="{E6031497-EBDA-432C-9F60-2FC4B63953D1}" type="presParOf" srcId="{72FDECFA-844C-CD40-8E13-783D9A8C7840}" destId="{1F06E968-547C-634E-900B-0BC15A4DFCDE}" srcOrd="3" destOrd="0" presId="urn:microsoft.com/office/officeart/2008/layout/VerticalCurvedList"/>
    <dgm:cxn modelId="{8EE2DB15-E347-40AC-B45B-876D5C6A55EF}" type="presParOf" srcId="{72FDECFA-844C-CD40-8E13-783D9A8C7840}" destId="{C4E423AE-F539-C746-A6FC-1FF92C24A600}" srcOrd="4" destOrd="0" presId="urn:microsoft.com/office/officeart/2008/layout/VerticalCurvedList"/>
    <dgm:cxn modelId="{AC179D90-EBCB-4745-9138-BDDE5FFEADC2}" type="presParOf" srcId="{C4E423AE-F539-C746-A6FC-1FF92C24A600}" destId="{9F6A0BD0-BCC4-4241-BFF1-BD156983F18E}" srcOrd="0" destOrd="0" presId="urn:microsoft.com/office/officeart/2008/layout/VerticalCurvedList"/>
    <dgm:cxn modelId="{8E253970-2BF4-4AC3-AF44-560C3C70EAD1}" type="presParOf" srcId="{72FDECFA-844C-CD40-8E13-783D9A8C7840}" destId="{44AF95CB-12A5-8048-8535-0F6EB543B202}" srcOrd="5" destOrd="0" presId="urn:microsoft.com/office/officeart/2008/layout/VerticalCurvedList"/>
    <dgm:cxn modelId="{A9FB7761-3C0C-4DC6-9F6F-08CAFD758986}" type="presParOf" srcId="{72FDECFA-844C-CD40-8E13-783D9A8C7840}" destId="{2B15202D-425C-8342-885F-59B350B265A2}" srcOrd="6" destOrd="0" presId="urn:microsoft.com/office/officeart/2008/layout/VerticalCurvedList"/>
    <dgm:cxn modelId="{7A9FD944-817B-4888-9AE0-3542659F9109}" type="presParOf" srcId="{2B15202D-425C-8342-885F-59B350B265A2}" destId="{D4F67044-FF76-1043-9ED5-2F6312F32AA5}" srcOrd="0" destOrd="0" presId="urn:microsoft.com/office/officeart/2008/layout/VerticalCurvedList"/>
    <dgm:cxn modelId="{A3527C2E-E61D-4E2D-A3C5-C3D2A7FFF0CF}" type="presParOf" srcId="{72FDECFA-844C-CD40-8E13-783D9A8C7840}" destId="{52FC5337-EF3A-1746-B44A-2109FDE2FA71}" srcOrd="7" destOrd="0" presId="urn:microsoft.com/office/officeart/2008/layout/VerticalCurvedList"/>
    <dgm:cxn modelId="{5CE182A2-0B1B-4625-8B94-8F95B75880C9}" type="presParOf" srcId="{72FDECFA-844C-CD40-8E13-783D9A8C7840}" destId="{E8242BD5-009E-F54E-B3B3-B0CC1973DEBC}" srcOrd="8" destOrd="0" presId="urn:microsoft.com/office/officeart/2008/layout/VerticalCurvedList"/>
    <dgm:cxn modelId="{F54A47DE-05A4-4F66-B1AC-EDBF6068FA90}" type="presParOf" srcId="{E8242BD5-009E-F54E-B3B3-B0CC1973DEBC}" destId="{EFF66B2C-21D5-B54C-8353-415B0BE1242E}" srcOrd="0" destOrd="0" presId="urn:microsoft.com/office/officeart/2008/layout/VerticalCurvedList"/>
    <dgm:cxn modelId="{B6B8A2BE-1B37-4995-8EC4-96048FA9287F}" type="presParOf" srcId="{72FDECFA-844C-CD40-8E13-783D9A8C7840}" destId="{C6157EDB-C09D-A346-9965-3F2D7C3B2796}" srcOrd="9" destOrd="0" presId="urn:microsoft.com/office/officeart/2008/layout/VerticalCurvedList"/>
    <dgm:cxn modelId="{B5131345-714C-4CDC-B555-B7BCE5DD6102}" type="presParOf" srcId="{72FDECFA-844C-CD40-8E13-783D9A8C7840}" destId="{DF314239-E7A9-794E-AF69-AD145C8199A6}" srcOrd="10" destOrd="0" presId="urn:microsoft.com/office/officeart/2008/layout/VerticalCurvedList"/>
    <dgm:cxn modelId="{A452DCD0-3A32-4019-8FD1-5F48AA69E23B}" type="presParOf" srcId="{DF314239-E7A9-794E-AF69-AD145C8199A6}" destId="{184C4685-0A12-604C-804D-799D5DABB705}" srcOrd="0" destOrd="0" presId="urn:microsoft.com/office/officeart/2008/layout/VerticalCurvedList"/>
    <dgm:cxn modelId="{B448EFF3-180F-4470-8F2E-05CC60F328B0}" type="presParOf" srcId="{72FDECFA-844C-CD40-8E13-783D9A8C7840}" destId="{296905BA-ECD1-2C46-A4C8-8EB01906446C}" srcOrd="11" destOrd="0" presId="urn:microsoft.com/office/officeart/2008/layout/VerticalCurvedList"/>
    <dgm:cxn modelId="{DF85C007-6DCB-4D02-8CE9-0C338CEB3BFF}" type="presParOf" srcId="{72FDECFA-844C-CD40-8E13-783D9A8C7840}" destId="{51F467DB-1A37-4A49-A68C-C2A44A9C7E36}" srcOrd="12" destOrd="0" presId="urn:microsoft.com/office/officeart/2008/layout/VerticalCurvedList"/>
    <dgm:cxn modelId="{9BCFEF1F-52EE-47C9-8E97-C9AA2D240537}" type="presParOf" srcId="{51F467DB-1A37-4A49-A68C-C2A44A9C7E36}" destId="{E0C06DCE-7FDC-BD41-AB14-3F0C4DAA63C8}"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D1C139-1F44-7D42-97B4-7E1B3C61C310}">
      <dsp:nvSpPr>
        <dsp:cNvPr id="0" name=""/>
        <dsp:cNvSpPr/>
      </dsp:nvSpPr>
      <dsp:spPr>
        <a:xfrm>
          <a:off x="0" y="0"/>
          <a:ext cx="4343400" cy="4343400"/>
        </a:xfrm>
        <a:prstGeom prst="pie">
          <a:avLst>
            <a:gd name="adj1" fmla="val 5400000"/>
            <a:gd name="adj2" fmla="val 16200000"/>
          </a:avLst>
        </a:prstGeom>
        <a:solidFill>
          <a:schemeClr val="accent1"/>
        </a:soli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sp>
    <dsp:sp modelId="{162FAF4A-757D-EE44-8C29-6578B7BE8894}">
      <dsp:nvSpPr>
        <dsp:cNvPr id="0" name=""/>
        <dsp:cNvSpPr/>
      </dsp:nvSpPr>
      <dsp:spPr>
        <a:xfrm>
          <a:off x="2171700" y="0"/>
          <a:ext cx="5676900" cy="4343400"/>
        </a:xfrm>
        <a:prstGeom prst="rect">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lvl="0" algn="ctr" defTabSz="1111250" rtl="0">
            <a:lnSpc>
              <a:spcPct val="90000"/>
            </a:lnSpc>
            <a:spcBef>
              <a:spcPct val="0"/>
            </a:spcBef>
            <a:spcAft>
              <a:spcPct val="35000"/>
            </a:spcAft>
          </a:pPr>
          <a:r>
            <a:rPr lang="en-US" sz="2500" b="0" kern="1200" dirty="0" smtClean="0">
              <a:latin typeface="+mj-lt"/>
            </a:rPr>
            <a:t>Protects against active attacks</a:t>
          </a:r>
          <a:endParaRPr lang="en-US" sz="2500" b="0" kern="1200" dirty="0">
            <a:latin typeface="+mj-lt"/>
          </a:endParaRPr>
        </a:p>
      </dsp:txBody>
      <dsp:txXfrm>
        <a:off x="2171700" y="0"/>
        <a:ext cx="2838450" cy="1303022"/>
      </dsp:txXfrm>
    </dsp:sp>
    <dsp:sp modelId="{A56489F7-EC62-A848-9DD9-B3572A72D705}">
      <dsp:nvSpPr>
        <dsp:cNvPr id="0" name=""/>
        <dsp:cNvSpPr/>
      </dsp:nvSpPr>
      <dsp:spPr>
        <a:xfrm>
          <a:off x="760096" y="1303022"/>
          <a:ext cx="2823207" cy="2823207"/>
        </a:xfrm>
        <a:prstGeom prst="pie">
          <a:avLst>
            <a:gd name="adj1" fmla="val 5400000"/>
            <a:gd name="adj2" fmla="val 16200000"/>
          </a:avLst>
        </a:prstGeom>
        <a:solidFill>
          <a:schemeClr val="accent2"/>
        </a:soli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sp>
    <dsp:sp modelId="{9C4DDA5F-2390-A549-90B9-5F960E28DDE6}">
      <dsp:nvSpPr>
        <dsp:cNvPr id="0" name=""/>
        <dsp:cNvSpPr/>
      </dsp:nvSpPr>
      <dsp:spPr>
        <a:xfrm>
          <a:off x="2171700" y="1303022"/>
          <a:ext cx="5676900" cy="2823207"/>
        </a:xfrm>
        <a:prstGeom prst="rect">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lvl="0" algn="ctr" defTabSz="1111250" rtl="0">
            <a:lnSpc>
              <a:spcPct val="90000"/>
            </a:lnSpc>
            <a:spcBef>
              <a:spcPct val="0"/>
            </a:spcBef>
            <a:spcAft>
              <a:spcPct val="35000"/>
            </a:spcAft>
          </a:pPr>
          <a:r>
            <a:rPr lang="en-US" sz="2500" b="0" kern="1200" dirty="0" smtClean="0">
              <a:latin typeface="+mj-lt"/>
            </a:rPr>
            <a:t>Verifies received message is authentic</a:t>
          </a:r>
          <a:endParaRPr lang="en-US" sz="2500" b="0" kern="1200" dirty="0">
            <a:latin typeface="+mj-lt"/>
          </a:endParaRPr>
        </a:p>
      </dsp:txBody>
      <dsp:txXfrm>
        <a:off x="2171700" y="1303022"/>
        <a:ext cx="2838450" cy="1303018"/>
      </dsp:txXfrm>
    </dsp:sp>
    <dsp:sp modelId="{9FB7C61E-C4DD-B747-BB29-DCE1D55CED32}">
      <dsp:nvSpPr>
        <dsp:cNvPr id="0" name=""/>
        <dsp:cNvSpPr/>
      </dsp:nvSpPr>
      <dsp:spPr>
        <a:xfrm>
          <a:off x="1520190" y="2606041"/>
          <a:ext cx="1303018" cy="1303018"/>
        </a:xfrm>
        <a:prstGeom prst="pie">
          <a:avLst>
            <a:gd name="adj1" fmla="val 5400000"/>
            <a:gd name="adj2" fmla="val 16200000"/>
          </a:avLst>
        </a:prstGeom>
        <a:solidFill>
          <a:schemeClr val="accent1"/>
        </a:soli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sp>
    <dsp:sp modelId="{4960AB30-E228-0044-AB56-9832EFB3F416}">
      <dsp:nvSpPr>
        <dsp:cNvPr id="0" name=""/>
        <dsp:cNvSpPr/>
      </dsp:nvSpPr>
      <dsp:spPr>
        <a:xfrm>
          <a:off x="2171700" y="2606041"/>
          <a:ext cx="5676900" cy="1303018"/>
        </a:xfrm>
        <a:prstGeom prst="rect">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lvl="0" algn="ctr" defTabSz="1111250" rtl="0">
            <a:lnSpc>
              <a:spcPct val="90000"/>
            </a:lnSpc>
            <a:spcBef>
              <a:spcPct val="0"/>
            </a:spcBef>
            <a:spcAft>
              <a:spcPct val="35000"/>
            </a:spcAft>
          </a:pPr>
          <a:r>
            <a:rPr lang="en-US" sz="2500" b="0" kern="1200" dirty="0" smtClean="0">
              <a:latin typeface="+mj-lt"/>
            </a:rPr>
            <a:t>Can use conventional encryption</a:t>
          </a:r>
          <a:endParaRPr lang="en-US" sz="2500" b="0" kern="1200" dirty="0">
            <a:latin typeface="+mj-lt"/>
          </a:endParaRPr>
        </a:p>
      </dsp:txBody>
      <dsp:txXfrm>
        <a:off x="2171700" y="2606041"/>
        <a:ext cx="2838450" cy="1303018"/>
      </dsp:txXfrm>
    </dsp:sp>
    <dsp:sp modelId="{F63C5721-CDCD-0E44-857F-A3B146150CD4}">
      <dsp:nvSpPr>
        <dsp:cNvPr id="0" name=""/>
        <dsp:cNvSpPr/>
      </dsp:nvSpPr>
      <dsp:spPr>
        <a:xfrm>
          <a:off x="5010149" y="1303022"/>
          <a:ext cx="2838450" cy="1303018"/>
        </a:xfrm>
        <a:prstGeom prst="rect">
          <a:avLst/>
        </a:prstGeom>
        <a:noFill/>
        <a:ln w="9525" cap="rnd"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114300" lvl="1" indent="-114300" algn="l" defTabSz="666750" rtl="0">
            <a:lnSpc>
              <a:spcPct val="90000"/>
            </a:lnSpc>
            <a:spcBef>
              <a:spcPct val="0"/>
            </a:spcBef>
            <a:spcAft>
              <a:spcPct val="15000"/>
            </a:spcAft>
            <a:buChar char="••"/>
          </a:pPr>
          <a:r>
            <a:rPr lang="en-US" sz="1500" b="0" kern="1200" dirty="0" smtClean="0">
              <a:latin typeface="+mj-lt"/>
            </a:rPr>
            <a:t>Contents have not been altered</a:t>
          </a:r>
          <a:endParaRPr lang="en-US" sz="1500" b="0" kern="1200" dirty="0">
            <a:latin typeface="+mj-lt"/>
          </a:endParaRPr>
        </a:p>
        <a:p>
          <a:pPr marL="114300" lvl="1" indent="-114300" algn="l" defTabSz="666750" rtl="0">
            <a:lnSpc>
              <a:spcPct val="90000"/>
            </a:lnSpc>
            <a:spcBef>
              <a:spcPct val="0"/>
            </a:spcBef>
            <a:spcAft>
              <a:spcPct val="15000"/>
            </a:spcAft>
            <a:buChar char="••"/>
          </a:pPr>
          <a:r>
            <a:rPr lang="en-US" sz="1500" b="0" kern="1200" dirty="0" smtClean="0">
              <a:latin typeface="+mj-lt"/>
            </a:rPr>
            <a:t>From authentic source</a:t>
          </a:r>
          <a:endParaRPr lang="en-US" sz="1500" b="0" kern="1200" dirty="0">
            <a:latin typeface="+mj-lt"/>
          </a:endParaRPr>
        </a:p>
        <a:p>
          <a:pPr marL="114300" lvl="1" indent="-114300" algn="l" defTabSz="666750" rtl="0">
            <a:lnSpc>
              <a:spcPct val="90000"/>
            </a:lnSpc>
            <a:spcBef>
              <a:spcPct val="0"/>
            </a:spcBef>
            <a:spcAft>
              <a:spcPct val="15000"/>
            </a:spcAft>
            <a:buChar char="••"/>
          </a:pPr>
          <a:r>
            <a:rPr lang="en-US" sz="1500" b="0" kern="1200" dirty="0" smtClean="0">
              <a:latin typeface="+mj-lt"/>
            </a:rPr>
            <a:t>Timely and in correct sequence</a:t>
          </a:r>
          <a:endParaRPr lang="en-US" sz="1500" b="0" kern="1200" dirty="0">
            <a:latin typeface="+mj-lt"/>
          </a:endParaRPr>
        </a:p>
      </dsp:txBody>
      <dsp:txXfrm>
        <a:off x="5010149" y="1303022"/>
        <a:ext cx="2838450" cy="1303018"/>
      </dsp:txXfrm>
    </dsp:sp>
    <dsp:sp modelId="{52907ABB-2798-234B-AC87-6694DC68A9CB}">
      <dsp:nvSpPr>
        <dsp:cNvPr id="0" name=""/>
        <dsp:cNvSpPr/>
      </dsp:nvSpPr>
      <dsp:spPr>
        <a:xfrm>
          <a:off x="5010149" y="2606041"/>
          <a:ext cx="2838450" cy="1303018"/>
        </a:xfrm>
        <a:prstGeom prst="rect">
          <a:avLst/>
        </a:prstGeom>
        <a:noFill/>
        <a:ln w="9525" cap="rnd"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114300" lvl="1" indent="-114300" algn="l" defTabSz="666750" rtl="0">
            <a:lnSpc>
              <a:spcPct val="90000"/>
            </a:lnSpc>
            <a:spcBef>
              <a:spcPct val="0"/>
            </a:spcBef>
            <a:spcAft>
              <a:spcPct val="15000"/>
            </a:spcAft>
            <a:buChar char="••"/>
          </a:pPr>
          <a:r>
            <a:rPr lang="en-US" sz="1500" b="0" kern="1200" dirty="0" smtClean="0">
              <a:latin typeface="+mj-lt"/>
            </a:rPr>
            <a:t>Only sender and receiver share a key</a:t>
          </a:r>
          <a:endParaRPr lang="en-US" sz="1500" b="0" kern="1200" dirty="0">
            <a:latin typeface="+mj-lt"/>
          </a:endParaRPr>
        </a:p>
      </dsp:txBody>
      <dsp:txXfrm>
        <a:off x="5010149" y="2606041"/>
        <a:ext cx="2838450" cy="13030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B01A21-0AB8-4443-9CE3-0F53E4D1923D}">
      <dsp:nvSpPr>
        <dsp:cNvPr id="0" name=""/>
        <dsp:cNvSpPr/>
      </dsp:nvSpPr>
      <dsp:spPr>
        <a:xfrm>
          <a:off x="-5780666" y="-884761"/>
          <a:ext cx="6882091" cy="6882091"/>
        </a:xfrm>
        <a:prstGeom prst="blockArc">
          <a:avLst>
            <a:gd name="adj1" fmla="val 18900000"/>
            <a:gd name="adj2" fmla="val 2700000"/>
            <a:gd name="adj3" fmla="val 314"/>
          </a:avLst>
        </a:prstGeom>
        <a:noFill/>
        <a:ln w="9525" cap="rnd"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BCEACDC-FA18-214D-B477-D748A17EBD5C}">
      <dsp:nvSpPr>
        <dsp:cNvPr id="0" name=""/>
        <dsp:cNvSpPr/>
      </dsp:nvSpPr>
      <dsp:spPr>
        <a:xfrm>
          <a:off x="410367" y="269227"/>
          <a:ext cx="8230852" cy="538251"/>
        </a:xfrm>
        <a:prstGeom prst="rect">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27237" tIns="38100" rIns="38100" bIns="38100" numCol="1" spcCol="1270" anchor="ctr" anchorCtr="0">
          <a:noAutofit/>
        </a:bodyPr>
        <a:lstStyle/>
        <a:p>
          <a:pPr lvl="0" algn="l" defTabSz="666750" rtl="0">
            <a:lnSpc>
              <a:spcPct val="90000"/>
            </a:lnSpc>
            <a:spcBef>
              <a:spcPct val="0"/>
            </a:spcBef>
            <a:spcAft>
              <a:spcPct val="35000"/>
            </a:spcAft>
          </a:pPr>
          <a:r>
            <a:rPr lang="en-US" sz="1500" kern="1200" smtClean="0"/>
            <a:t>Can be applied to a block of data of any size</a:t>
          </a:r>
          <a:endParaRPr lang="en-US" sz="1500" kern="1200"/>
        </a:p>
      </dsp:txBody>
      <dsp:txXfrm>
        <a:off x="410367" y="269227"/>
        <a:ext cx="8230852" cy="538251"/>
      </dsp:txXfrm>
    </dsp:sp>
    <dsp:sp modelId="{089F918A-01EF-3E48-8134-9613D20377FA}">
      <dsp:nvSpPr>
        <dsp:cNvPr id="0" name=""/>
        <dsp:cNvSpPr/>
      </dsp:nvSpPr>
      <dsp:spPr>
        <a:xfrm>
          <a:off x="123405" y="261285"/>
          <a:ext cx="573923" cy="554136"/>
        </a:xfrm>
        <a:prstGeom prst="ellipse">
          <a:avLst/>
        </a:prstGeom>
        <a:solidFill>
          <a:schemeClr val="lt1">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1F06E968-547C-634E-900B-0BC15A4DFCDE}">
      <dsp:nvSpPr>
        <dsp:cNvPr id="0" name=""/>
        <dsp:cNvSpPr/>
      </dsp:nvSpPr>
      <dsp:spPr>
        <a:xfrm>
          <a:off x="853115" y="1076502"/>
          <a:ext cx="7788104" cy="538251"/>
        </a:xfrm>
        <a:prstGeom prst="rect">
          <a:avLst/>
        </a:prstGeom>
        <a:solidFill>
          <a:schemeClr val="accent5">
            <a:lumMod val="50000"/>
          </a:schemeClr>
        </a:soli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27237" tIns="38100" rIns="38100" bIns="38100" numCol="1" spcCol="1270" anchor="ctr" anchorCtr="0">
          <a:noAutofit/>
        </a:bodyPr>
        <a:lstStyle/>
        <a:p>
          <a:pPr lvl="0" algn="l" defTabSz="666750" rtl="0">
            <a:lnSpc>
              <a:spcPct val="90000"/>
            </a:lnSpc>
            <a:spcBef>
              <a:spcPct val="0"/>
            </a:spcBef>
            <a:spcAft>
              <a:spcPct val="35000"/>
            </a:spcAft>
          </a:pPr>
          <a:r>
            <a:rPr lang="en-US" sz="1500" kern="1200" smtClean="0"/>
            <a:t>Produces a fixed-length output</a:t>
          </a:r>
          <a:endParaRPr lang="en-US" sz="1500" kern="1200"/>
        </a:p>
      </dsp:txBody>
      <dsp:txXfrm>
        <a:off x="853115" y="1076502"/>
        <a:ext cx="7788104" cy="538251"/>
      </dsp:txXfrm>
    </dsp:sp>
    <dsp:sp modelId="{9F6A0BD0-BCC4-4241-BFF1-BD156983F18E}">
      <dsp:nvSpPr>
        <dsp:cNvPr id="0" name=""/>
        <dsp:cNvSpPr/>
      </dsp:nvSpPr>
      <dsp:spPr>
        <a:xfrm>
          <a:off x="566154" y="1068559"/>
          <a:ext cx="573923" cy="554136"/>
        </a:xfrm>
        <a:prstGeom prst="ellipse">
          <a:avLst/>
        </a:prstGeom>
        <a:solidFill>
          <a:schemeClr val="lt1">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44AF95CB-12A5-8048-8535-0F6EB543B202}">
      <dsp:nvSpPr>
        <dsp:cNvPr id="0" name=""/>
        <dsp:cNvSpPr/>
      </dsp:nvSpPr>
      <dsp:spPr>
        <a:xfrm>
          <a:off x="1055573" y="1883776"/>
          <a:ext cx="7585646" cy="538251"/>
        </a:xfrm>
        <a:prstGeom prst="rect">
          <a:avLst/>
        </a:prstGeom>
        <a:solidFill>
          <a:schemeClr val="accent3">
            <a:lumMod val="75000"/>
          </a:schemeClr>
        </a:soli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27237" tIns="38100" rIns="38100" bIns="38100" numCol="1" spcCol="1270" anchor="ctr" anchorCtr="0">
          <a:noAutofit/>
        </a:bodyPr>
        <a:lstStyle/>
        <a:p>
          <a:pPr lvl="0" algn="l" defTabSz="666750" rtl="0">
            <a:lnSpc>
              <a:spcPct val="90000"/>
            </a:lnSpc>
            <a:spcBef>
              <a:spcPct val="0"/>
            </a:spcBef>
            <a:spcAft>
              <a:spcPct val="35000"/>
            </a:spcAft>
          </a:pPr>
          <a:r>
            <a:rPr lang="en-US" sz="1500" kern="1200" smtClean="0"/>
            <a:t>H(x) is relatively easy to compute for any given x</a:t>
          </a:r>
          <a:endParaRPr lang="en-US" sz="1500" kern="1200"/>
        </a:p>
      </dsp:txBody>
      <dsp:txXfrm>
        <a:off x="1055573" y="1883776"/>
        <a:ext cx="7585646" cy="538251"/>
      </dsp:txXfrm>
    </dsp:sp>
    <dsp:sp modelId="{D4F67044-FF76-1043-9ED5-2F6312F32AA5}">
      <dsp:nvSpPr>
        <dsp:cNvPr id="0" name=""/>
        <dsp:cNvSpPr/>
      </dsp:nvSpPr>
      <dsp:spPr>
        <a:xfrm>
          <a:off x="778505" y="1870185"/>
          <a:ext cx="554136" cy="565432"/>
        </a:xfrm>
        <a:prstGeom prst="ellipse">
          <a:avLst/>
        </a:prstGeom>
        <a:solidFill>
          <a:schemeClr val="lt1">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52FC5337-EF3A-1746-B44A-2109FDE2FA71}">
      <dsp:nvSpPr>
        <dsp:cNvPr id="0" name=""/>
        <dsp:cNvSpPr/>
      </dsp:nvSpPr>
      <dsp:spPr>
        <a:xfrm>
          <a:off x="1055573" y="2690540"/>
          <a:ext cx="7585646" cy="538251"/>
        </a:xfrm>
        <a:prstGeom prst="rect">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27237" tIns="38100" rIns="38100" bIns="38100" numCol="1" spcCol="1270" anchor="t" anchorCtr="0">
          <a:noAutofit/>
        </a:bodyPr>
        <a:lstStyle/>
        <a:p>
          <a:pPr lvl="0" algn="l" defTabSz="666750" rtl="0">
            <a:lnSpc>
              <a:spcPct val="90000"/>
            </a:lnSpc>
            <a:spcBef>
              <a:spcPct val="0"/>
            </a:spcBef>
            <a:spcAft>
              <a:spcPct val="35000"/>
            </a:spcAft>
          </a:pPr>
          <a:r>
            <a:rPr lang="en-US" sz="1500" kern="1200" smtClean="0"/>
            <a:t>One-way or pre-image resistant</a:t>
          </a:r>
          <a:endParaRPr lang="en-US" sz="1500" kern="1200"/>
        </a:p>
        <a:p>
          <a:pPr marL="114300" lvl="1" indent="-114300" algn="l" defTabSz="533400" rtl="0">
            <a:lnSpc>
              <a:spcPct val="90000"/>
            </a:lnSpc>
            <a:spcBef>
              <a:spcPct val="0"/>
            </a:spcBef>
            <a:spcAft>
              <a:spcPct val="15000"/>
            </a:spcAft>
            <a:buChar char="••"/>
          </a:pPr>
          <a:r>
            <a:rPr lang="en-US" sz="1200" kern="1200" smtClean="0"/>
            <a:t>Computationally infeasible to find x such that H(x) = h</a:t>
          </a:r>
          <a:endParaRPr lang="en-US" sz="1200" kern="1200"/>
        </a:p>
      </dsp:txBody>
      <dsp:txXfrm>
        <a:off x="1055573" y="2690540"/>
        <a:ext cx="7585646" cy="538251"/>
      </dsp:txXfrm>
    </dsp:sp>
    <dsp:sp modelId="{EFF66B2C-21D5-B54C-8353-415B0BE1242E}">
      <dsp:nvSpPr>
        <dsp:cNvPr id="0" name=""/>
        <dsp:cNvSpPr/>
      </dsp:nvSpPr>
      <dsp:spPr>
        <a:xfrm>
          <a:off x="768611" y="2682597"/>
          <a:ext cx="573923" cy="554136"/>
        </a:xfrm>
        <a:prstGeom prst="ellipse">
          <a:avLst/>
        </a:prstGeom>
        <a:solidFill>
          <a:schemeClr val="lt1">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C6157EDB-C09D-A346-9965-3F2D7C3B2796}">
      <dsp:nvSpPr>
        <dsp:cNvPr id="0" name=""/>
        <dsp:cNvSpPr/>
      </dsp:nvSpPr>
      <dsp:spPr>
        <a:xfrm>
          <a:off x="853115" y="3497814"/>
          <a:ext cx="7788104" cy="538251"/>
        </a:xfrm>
        <a:prstGeom prst="rect">
          <a:avLst/>
        </a:prstGeom>
        <a:solidFill>
          <a:schemeClr val="accent5">
            <a:lumMod val="50000"/>
          </a:schemeClr>
        </a:soli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27237" tIns="38100" rIns="38100" bIns="38100" numCol="1" spcCol="1270" anchor="ctr" anchorCtr="0">
          <a:noAutofit/>
        </a:bodyPr>
        <a:lstStyle/>
        <a:p>
          <a:pPr lvl="0" algn="l" defTabSz="666750" rtl="0">
            <a:lnSpc>
              <a:spcPct val="90000"/>
            </a:lnSpc>
            <a:spcBef>
              <a:spcPct val="0"/>
            </a:spcBef>
            <a:spcAft>
              <a:spcPct val="35000"/>
            </a:spcAft>
          </a:pPr>
          <a:r>
            <a:rPr lang="en-US" sz="1500" kern="1200" smtClean="0"/>
            <a:t>Computationally infeasible to find y ≠ x such that H(y) = H(x)</a:t>
          </a:r>
          <a:endParaRPr lang="en-US" sz="1500" kern="1200"/>
        </a:p>
      </dsp:txBody>
      <dsp:txXfrm>
        <a:off x="853115" y="3497814"/>
        <a:ext cx="7788104" cy="538251"/>
      </dsp:txXfrm>
    </dsp:sp>
    <dsp:sp modelId="{184C4685-0A12-604C-804D-799D5DABB705}">
      <dsp:nvSpPr>
        <dsp:cNvPr id="0" name=""/>
        <dsp:cNvSpPr/>
      </dsp:nvSpPr>
      <dsp:spPr>
        <a:xfrm>
          <a:off x="566154" y="3489871"/>
          <a:ext cx="573923" cy="554136"/>
        </a:xfrm>
        <a:prstGeom prst="ellipse">
          <a:avLst/>
        </a:prstGeom>
        <a:solidFill>
          <a:schemeClr val="lt1">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296905BA-ECD1-2C46-A4C8-8EB01906446C}">
      <dsp:nvSpPr>
        <dsp:cNvPr id="0" name=""/>
        <dsp:cNvSpPr/>
      </dsp:nvSpPr>
      <dsp:spPr>
        <a:xfrm>
          <a:off x="410367" y="4305089"/>
          <a:ext cx="8230852" cy="538251"/>
        </a:xfrm>
        <a:prstGeom prst="rect">
          <a:avLst/>
        </a:prstGeom>
        <a:solidFill>
          <a:schemeClr val="accent3">
            <a:lumMod val="75000"/>
          </a:schemeClr>
        </a:soli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27237" tIns="38100" rIns="38100" bIns="38100" numCol="1" spcCol="1270" anchor="t" anchorCtr="0">
          <a:noAutofit/>
        </a:bodyPr>
        <a:lstStyle/>
        <a:p>
          <a:pPr lvl="0" algn="l" defTabSz="666750" rtl="0">
            <a:lnSpc>
              <a:spcPct val="90000"/>
            </a:lnSpc>
            <a:spcBef>
              <a:spcPct val="0"/>
            </a:spcBef>
            <a:spcAft>
              <a:spcPct val="35000"/>
            </a:spcAft>
          </a:pPr>
          <a:r>
            <a:rPr lang="en-US" sz="1500" kern="1200" smtClean="0"/>
            <a:t>Collision resistant or strong collision resistance </a:t>
          </a:r>
          <a:endParaRPr lang="en-US" sz="1500" kern="1200"/>
        </a:p>
        <a:p>
          <a:pPr marL="114300" lvl="1" indent="-114300" algn="l" defTabSz="533400" rtl="0">
            <a:lnSpc>
              <a:spcPct val="90000"/>
            </a:lnSpc>
            <a:spcBef>
              <a:spcPct val="0"/>
            </a:spcBef>
            <a:spcAft>
              <a:spcPct val="15000"/>
            </a:spcAft>
            <a:buChar char="••"/>
          </a:pPr>
          <a:r>
            <a:rPr lang="en-US" sz="1200" kern="1200" smtClean="0"/>
            <a:t>Computationally infeasible to find any pair (x,y) such that H(x) = H(y)</a:t>
          </a:r>
          <a:endParaRPr lang="en-US" sz="1200" kern="1200"/>
        </a:p>
      </dsp:txBody>
      <dsp:txXfrm>
        <a:off x="410367" y="4305089"/>
        <a:ext cx="8230852" cy="538251"/>
      </dsp:txXfrm>
    </dsp:sp>
    <dsp:sp modelId="{E0C06DCE-7FDC-BD41-AB14-3F0C4DAA63C8}">
      <dsp:nvSpPr>
        <dsp:cNvPr id="0" name=""/>
        <dsp:cNvSpPr/>
      </dsp:nvSpPr>
      <dsp:spPr>
        <a:xfrm>
          <a:off x="123405" y="4297146"/>
          <a:ext cx="573923" cy="554136"/>
        </a:xfrm>
        <a:prstGeom prst="ellipse">
          <a:avLst/>
        </a:prstGeom>
        <a:solidFill>
          <a:schemeClr val="lt1">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108" charset="0"/>
              </a:defRPr>
            </a:lvl1pPr>
          </a:lstStyle>
          <a:p>
            <a:pPr>
              <a:defRPr/>
            </a:pPr>
            <a:endParaRPr lang="en-AU"/>
          </a:p>
        </p:txBody>
      </p:sp>
      <p:sp>
        <p:nvSpPr>
          <p:cNvPr id="2253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108" charset="0"/>
              </a:defRPr>
            </a:lvl1pPr>
          </a:lstStyle>
          <a:p>
            <a:pPr>
              <a:defRPr/>
            </a:pPr>
            <a:endParaRPr lang="en-AU"/>
          </a:p>
        </p:txBody>
      </p:sp>
      <p:sp>
        <p:nvSpPr>
          <p:cNvPr id="1434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253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253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108" charset="0"/>
              </a:defRPr>
            </a:lvl1pPr>
          </a:lstStyle>
          <a:p>
            <a:pPr>
              <a:defRPr/>
            </a:pPr>
            <a:endParaRPr lang="en-AU"/>
          </a:p>
        </p:txBody>
      </p:sp>
      <p:sp>
        <p:nvSpPr>
          <p:cNvPr id="2253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8" charset="0"/>
              </a:defRPr>
            </a:lvl1pPr>
          </a:lstStyle>
          <a:p>
            <a:pPr>
              <a:defRPr/>
            </a:pPr>
            <a:fld id="{9FA45A9E-7761-3846-9783-F10EE5B548CC}" type="slidenum">
              <a:rPr lang="en-AU"/>
              <a:pPr>
                <a:defRPr/>
              </a:pPr>
              <a:t>‹#›</a:t>
            </a:fld>
            <a:endParaRPr lang="en-AU"/>
          </a:p>
        </p:txBody>
      </p:sp>
    </p:spTree>
    <p:extLst>
      <p:ext uri="{BB962C8B-B14F-4D97-AF65-F5344CB8AC3E}">
        <p14:creationId xmlns:p14="http://schemas.microsoft.com/office/powerpoint/2010/main" val="14811134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108" charset="0"/>
        <a:ea typeface="ＭＳ Ｐゴシック" pitchFamily="33" charset="-128"/>
        <a:cs typeface="ＭＳ Ｐゴシック" pitchFamily="33" charset="-128"/>
      </a:defRPr>
    </a:lvl1pPr>
    <a:lvl2pPr marL="457200" algn="l" rtl="0" eaLnBrk="0" fontAlgn="base" hangingPunct="0">
      <a:spcBef>
        <a:spcPct val="30000"/>
      </a:spcBef>
      <a:spcAft>
        <a:spcPct val="0"/>
      </a:spcAft>
      <a:defRPr sz="1200" kern="1200">
        <a:solidFill>
          <a:schemeClr val="tx1"/>
        </a:solidFill>
        <a:latin typeface="Arial" pitchFamily="-108" charset="0"/>
        <a:ea typeface="ＭＳ Ｐゴシック" pitchFamily="-108" charset="-128"/>
        <a:cs typeface="+mn-cs"/>
      </a:defRPr>
    </a:lvl2pPr>
    <a:lvl3pPr marL="914400" algn="l" rtl="0" eaLnBrk="0" fontAlgn="base" hangingPunct="0">
      <a:spcBef>
        <a:spcPct val="30000"/>
      </a:spcBef>
      <a:spcAft>
        <a:spcPct val="0"/>
      </a:spcAft>
      <a:defRPr sz="1200" kern="1200">
        <a:solidFill>
          <a:schemeClr val="tx1"/>
        </a:solidFill>
        <a:latin typeface="Arial" pitchFamily="-108" charset="0"/>
        <a:ea typeface="ＭＳ Ｐゴシック" pitchFamily="-108" charset="-128"/>
        <a:cs typeface="+mn-cs"/>
      </a:defRPr>
    </a:lvl3pPr>
    <a:lvl4pPr marL="1371600" algn="l" rtl="0" eaLnBrk="0" fontAlgn="base" hangingPunct="0">
      <a:spcBef>
        <a:spcPct val="30000"/>
      </a:spcBef>
      <a:spcAft>
        <a:spcPct val="0"/>
      </a:spcAft>
      <a:defRPr sz="1200" kern="1200">
        <a:solidFill>
          <a:schemeClr val="tx1"/>
        </a:solidFill>
        <a:latin typeface="Arial" pitchFamily="-108" charset="0"/>
        <a:ea typeface="ＭＳ Ｐゴシック" pitchFamily="-108" charset="-128"/>
        <a:cs typeface="+mn-cs"/>
      </a:defRPr>
    </a:lvl4pPr>
    <a:lvl5pPr marL="1828800" algn="l" rtl="0" eaLnBrk="0" fontAlgn="base" hangingPunct="0">
      <a:spcBef>
        <a:spcPct val="30000"/>
      </a:spcBef>
      <a:spcAft>
        <a:spcPct val="0"/>
      </a:spcAft>
      <a:defRPr sz="1200" kern="1200">
        <a:solidFill>
          <a:schemeClr val="tx1"/>
        </a:solidFill>
        <a:latin typeface="Arial" pitchFamily="-108" charset="0"/>
        <a:ea typeface="ＭＳ Ｐゴシック" pitchFamily="-108"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FA45A9E-7761-3846-9783-F10EE5B548CC}" type="slidenum">
              <a:rPr lang="en-AU" smtClean="0"/>
              <a:pPr>
                <a:defRPr/>
              </a:pPr>
              <a:t>1</a:t>
            </a:fld>
            <a:endParaRPr lang="en-AU"/>
          </a:p>
        </p:txBody>
      </p:sp>
    </p:spTree>
    <p:extLst>
      <p:ext uri="{BB962C8B-B14F-4D97-AF65-F5344CB8AC3E}">
        <p14:creationId xmlns:p14="http://schemas.microsoft.com/office/powerpoint/2010/main" val="34484315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1AF121E8-9F45-9043-A786-60531465CC15}" type="slidenum">
              <a:rPr lang="en-AU">
                <a:latin typeface="Arial" pitchFamily="-110" charset="0"/>
              </a:rPr>
              <a:pPr/>
              <a:t>3</a:t>
            </a:fld>
            <a:endParaRPr lang="en-AU">
              <a:latin typeface="Arial" pitchFamily="-110" charset="0"/>
            </a:endParaRPr>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p:spPr>
        <p:txBody>
          <a:bodyPr/>
          <a:lstStyle/>
          <a:p>
            <a:r>
              <a:rPr lang="en-US" dirty="0" smtClean="0"/>
              <a:t>Encryption protects against passive attack (eavesdropping). A different requirement is to protect against active attack (falsification of data and transactions). </a:t>
            </a:r>
          </a:p>
          <a:p>
            <a:r>
              <a:rPr lang="en-US" dirty="0" smtClean="0"/>
              <a:t>Protection against such attacks is known as message or data authentication.</a:t>
            </a:r>
          </a:p>
          <a:p>
            <a:r>
              <a:rPr lang="en-US" dirty="0" smtClean="0">
                <a:latin typeface="Arial" pitchFamily="-110" charset="0"/>
                <a:ea typeface="ＭＳ Ｐゴシック" pitchFamily="-110" charset="-128"/>
                <a:cs typeface="ＭＳ Ｐゴシック" pitchFamily="-110" charset="-128"/>
              </a:rPr>
              <a:t>A message, file, document, or other collection of data is said to be authentic</a:t>
            </a:r>
            <a:r>
              <a:rPr lang="en-US" baseline="0" dirty="0" smtClean="0">
                <a:latin typeface="Arial" pitchFamily="-110" charset="0"/>
                <a:ea typeface="ＭＳ Ｐゴシック" pitchFamily="-110" charset="-128"/>
                <a:cs typeface="ＭＳ Ｐゴシック" pitchFamily="-110" charset="-128"/>
              </a:rPr>
              <a:t> </a:t>
            </a:r>
            <a:r>
              <a:rPr lang="en-US" dirty="0" smtClean="0">
                <a:latin typeface="Arial" pitchFamily="-110" charset="0"/>
                <a:ea typeface="ＭＳ Ｐゴシック" pitchFamily="-110" charset="-128"/>
                <a:cs typeface="ＭＳ Ｐゴシック" pitchFamily="-110" charset="-128"/>
              </a:rPr>
              <a:t>when it is genuine and came from its alleged source. Message or data authentication</a:t>
            </a:r>
          </a:p>
          <a:p>
            <a:r>
              <a:rPr lang="en-US" dirty="0" smtClean="0">
                <a:latin typeface="Arial" pitchFamily="-110" charset="0"/>
                <a:ea typeface="ＭＳ Ｐゴシック" pitchFamily="-110" charset="-128"/>
                <a:cs typeface="ＭＳ Ｐゴシック" pitchFamily="-110" charset="-128"/>
              </a:rPr>
              <a:t>is a procedure that allows communicating parties to verify that received or stored</a:t>
            </a:r>
            <a:r>
              <a:rPr lang="en-US" baseline="0" dirty="0" smtClean="0">
                <a:latin typeface="Arial" pitchFamily="-110" charset="0"/>
                <a:ea typeface="ＭＳ Ｐゴシック" pitchFamily="-110" charset="-128"/>
                <a:cs typeface="ＭＳ Ｐゴシック" pitchFamily="-110" charset="-128"/>
              </a:rPr>
              <a:t> </a:t>
            </a:r>
            <a:r>
              <a:rPr lang="en-US" dirty="0" smtClean="0">
                <a:latin typeface="Arial" pitchFamily="-110" charset="0"/>
                <a:ea typeface="ＭＳ Ｐゴシック" pitchFamily="-110" charset="-128"/>
                <a:cs typeface="ＭＳ Ｐゴシック" pitchFamily="-110" charset="-128"/>
              </a:rPr>
              <a:t>messages are authentic. The two important aspects are to verify that the contents of</a:t>
            </a:r>
          </a:p>
          <a:p>
            <a:r>
              <a:rPr lang="en-US" dirty="0" smtClean="0">
                <a:latin typeface="Arial" pitchFamily="-110" charset="0"/>
                <a:ea typeface="ＭＳ Ｐゴシック" pitchFamily="-110" charset="-128"/>
                <a:cs typeface="ＭＳ Ｐゴシック" pitchFamily="-110" charset="-128"/>
              </a:rPr>
              <a:t>the message have not been altered and that the source is authentic. </a:t>
            </a:r>
          </a:p>
          <a:p>
            <a:r>
              <a:rPr lang="en-US" dirty="0" smtClean="0">
                <a:latin typeface="Arial" pitchFamily="-110" charset="0"/>
                <a:ea typeface="ＭＳ Ｐゴシック" pitchFamily="-110" charset="-128"/>
                <a:cs typeface="ＭＳ Ｐゴシック" pitchFamily="-110" charset="-128"/>
              </a:rPr>
              <a:t>We may also wish</a:t>
            </a:r>
            <a:r>
              <a:rPr lang="en-US" baseline="0" dirty="0" smtClean="0">
                <a:latin typeface="Arial" pitchFamily="-110" charset="0"/>
                <a:ea typeface="ＭＳ Ｐゴシック" pitchFamily="-110" charset="-128"/>
                <a:cs typeface="ＭＳ Ｐゴシック" pitchFamily="-110" charset="-128"/>
              </a:rPr>
              <a:t> </a:t>
            </a:r>
            <a:r>
              <a:rPr lang="en-US" dirty="0" smtClean="0">
                <a:latin typeface="Arial" pitchFamily="-110" charset="0"/>
                <a:ea typeface="ＭＳ Ｐゴシック" pitchFamily="-110" charset="-128"/>
                <a:cs typeface="ＭＳ Ｐゴシック" pitchFamily="-110" charset="-128"/>
              </a:rPr>
              <a:t>to verify a message’s timeliness (it has not been artificially delayed and replayed)</a:t>
            </a:r>
            <a:r>
              <a:rPr lang="en-US" baseline="0" dirty="0" smtClean="0">
                <a:latin typeface="Arial" pitchFamily="-110" charset="0"/>
                <a:ea typeface="ＭＳ Ｐゴシック" pitchFamily="-110" charset="-128"/>
                <a:cs typeface="ＭＳ Ｐゴシック" pitchFamily="-110" charset="-128"/>
              </a:rPr>
              <a:t> </a:t>
            </a:r>
            <a:r>
              <a:rPr lang="en-US" dirty="0" smtClean="0">
                <a:latin typeface="Arial" pitchFamily="-110" charset="0"/>
                <a:ea typeface="ＭＳ Ｐゴシック" pitchFamily="-110" charset="-128"/>
                <a:cs typeface="ＭＳ Ｐゴシック" pitchFamily="-110" charset="-128"/>
              </a:rPr>
              <a:t>and sequence relative to other messages flowing between two parties. All of these</a:t>
            </a:r>
            <a:r>
              <a:rPr lang="en-US" baseline="0" dirty="0" smtClean="0">
                <a:latin typeface="Arial" pitchFamily="-110" charset="0"/>
                <a:ea typeface="ＭＳ Ｐゴシック" pitchFamily="-110" charset="-128"/>
                <a:cs typeface="ＭＳ Ｐゴシック" pitchFamily="-110" charset="-128"/>
              </a:rPr>
              <a:t> </a:t>
            </a:r>
            <a:r>
              <a:rPr lang="en-US" dirty="0" smtClean="0">
                <a:latin typeface="Arial" pitchFamily="-110" charset="0"/>
                <a:ea typeface="ＭＳ Ｐゴシック" pitchFamily="-110" charset="-128"/>
                <a:cs typeface="ＭＳ Ｐゴシック" pitchFamily="-110" charset="-128"/>
              </a:rPr>
              <a:t>concerns come under the category of data integrity as described in Chapter 1.</a:t>
            </a:r>
            <a:r>
              <a:rPr lang="en-US" baseline="0" dirty="0" smtClean="0">
                <a:latin typeface="Arial" pitchFamily="-110" charset="0"/>
                <a:ea typeface="ＭＳ Ｐゴシック" pitchFamily="-110" charset="-128"/>
                <a:cs typeface="ＭＳ Ｐゴシック" pitchFamily="-110" charset="-128"/>
              </a:rPr>
              <a:t> </a:t>
            </a:r>
            <a:r>
              <a:rPr lang="en-US" dirty="0" smtClean="0">
                <a:latin typeface="Arial" pitchFamily="-110" charset="0"/>
                <a:ea typeface="ＭＳ Ｐゴシック" pitchFamily="-110" charset="-128"/>
                <a:cs typeface="ＭＳ Ｐゴシック" pitchFamily="-110" charset="-128"/>
              </a:rPr>
              <a:t>It would seem possible to perform authentication simply by the use of symmetric</a:t>
            </a:r>
          </a:p>
          <a:p>
            <a:r>
              <a:rPr lang="en-US" dirty="0" smtClean="0">
                <a:latin typeface="Arial" pitchFamily="-110" charset="0"/>
                <a:ea typeface="ＭＳ Ｐゴシック" pitchFamily="-110" charset="-128"/>
                <a:cs typeface="ＭＳ Ｐゴシック" pitchFamily="-110" charset="-128"/>
              </a:rPr>
              <a:t>encryption. If we assume that only the sender and receiver share a key (which is</a:t>
            </a:r>
          </a:p>
          <a:p>
            <a:r>
              <a:rPr lang="en-US" dirty="0" smtClean="0">
                <a:latin typeface="Arial" pitchFamily="-110" charset="0"/>
                <a:ea typeface="ＭＳ Ｐゴシック" pitchFamily="-110" charset="-128"/>
                <a:cs typeface="ＭＳ Ｐゴシック" pitchFamily="-110" charset="-128"/>
              </a:rPr>
              <a:t>as it should be), then only the genuine sender would be able to encrypt a message</a:t>
            </a:r>
          </a:p>
          <a:p>
            <a:r>
              <a:rPr lang="en-US" dirty="0" smtClean="0">
                <a:latin typeface="Arial" pitchFamily="-110" charset="0"/>
                <a:ea typeface="ＭＳ Ｐゴシック" pitchFamily="-110" charset="-128"/>
                <a:cs typeface="ＭＳ Ｐゴシック" pitchFamily="-110" charset="-128"/>
              </a:rPr>
              <a:t>successfully for the other participant, provided the receiver can recognize a valid message.</a:t>
            </a:r>
          </a:p>
          <a:p>
            <a:r>
              <a:rPr lang="en-US" dirty="0" smtClean="0">
                <a:latin typeface="Arial" pitchFamily="-110" charset="0"/>
                <a:ea typeface="ＭＳ Ｐゴシック" pitchFamily="-110" charset="-128"/>
                <a:cs typeface="ＭＳ Ｐゴシック" pitchFamily="-110" charset="-128"/>
              </a:rPr>
              <a:t>Furthermore, if the message includes an error-detection code and a sequence</a:t>
            </a:r>
          </a:p>
          <a:p>
            <a:r>
              <a:rPr lang="en-US" dirty="0" smtClean="0">
                <a:latin typeface="Arial" pitchFamily="-110" charset="0"/>
                <a:ea typeface="ＭＳ Ｐゴシック" pitchFamily="-110" charset="-128"/>
                <a:cs typeface="ＭＳ Ｐゴシック" pitchFamily="-110" charset="-128"/>
              </a:rPr>
              <a:t>number, the receiver is assured that no alterations have been made and that sequencing</a:t>
            </a:r>
          </a:p>
          <a:p>
            <a:r>
              <a:rPr lang="en-US" dirty="0" smtClean="0">
                <a:latin typeface="Arial" pitchFamily="-110" charset="0"/>
                <a:ea typeface="ＭＳ Ｐゴシック" pitchFamily="-110" charset="-128"/>
                <a:cs typeface="ＭＳ Ｐゴシック" pitchFamily="-110" charset="-128"/>
              </a:rPr>
              <a:t>is proper. If the message also includes a timestamp, the receiver is assured that the</a:t>
            </a:r>
          </a:p>
          <a:p>
            <a:r>
              <a:rPr lang="en-US" dirty="0" smtClean="0">
                <a:latin typeface="Arial" pitchFamily="-110" charset="0"/>
                <a:ea typeface="ＭＳ Ｐゴシック" pitchFamily="-110" charset="-128"/>
                <a:cs typeface="ＭＳ Ｐゴシック" pitchFamily="-110" charset="-128"/>
              </a:rPr>
              <a:t>message has not been delayed beyond that normally expected for network transit.</a:t>
            </a:r>
          </a:p>
          <a:p>
            <a:endParaRPr lang="en-US" dirty="0" smtClean="0">
              <a:latin typeface="Arial" pitchFamily="-110" charset="0"/>
              <a:ea typeface="ＭＳ Ｐゴシック" pitchFamily="-110" charset="-128"/>
              <a:cs typeface="ＭＳ Ｐゴシック" pitchFamily="-110" charset="-128"/>
            </a:endParaRPr>
          </a:p>
          <a:p>
            <a:r>
              <a:rPr lang="en-US" dirty="0" smtClean="0">
                <a:latin typeface="Arial" pitchFamily="-110" charset="0"/>
                <a:ea typeface="ＭＳ Ｐゴシック" pitchFamily="-110" charset="-128"/>
                <a:cs typeface="ＭＳ Ｐゴシック" pitchFamily="-110" charset="-128"/>
              </a:rPr>
              <a:t>In fact, symmetric encryption alone is not a suitable tool for data authentication.</a:t>
            </a:r>
          </a:p>
          <a:p>
            <a:r>
              <a:rPr lang="en-US" dirty="0" smtClean="0">
                <a:latin typeface="Arial" pitchFamily="-110" charset="0"/>
                <a:ea typeface="ＭＳ Ｐゴシック" pitchFamily="-110" charset="-128"/>
                <a:cs typeface="ＭＳ Ｐゴシック" pitchFamily="-110" charset="-128"/>
              </a:rPr>
              <a:t>To give one simple example, in the ECB mode of encryption, if an attacker</a:t>
            </a:r>
          </a:p>
          <a:p>
            <a:r>
              <a:rPr lang="en-US" dirty="0" smtClean="0">
                <a:latin typeface="Arial" pitchFamily="-110" charset="0"/>
                <a:ea typeface="ＭＳ Ｐゴシック" pitchFamily="-110" charset="-128"/>
                <a:cs typeface="ＭＳ Ｐゴシック" pitchFamily="-110" charset="-128"/>
              </a:rPr>
              <a:t>reorders the blocks of </a:t>
            </a:r>
            <a:r>
              <a:rPr lang="en-US" dirty="0" err="1" smtClean="0">
                <a:latin typeface="Arial" pitchFamily="-110" charset="0"/>
                <a:ea typeface="ＭＳ Ｐゴシック" pitchFamily="-110" charset="-128"/>
                <a:cs typeface="ＭＳ Ｐゴシック" pitchFamily="-110" charset="-128"/>
              </a:rPr>
              <a:t>ciphertext</a:t>
            </a:r>
            <a:r>
              <a:rPr lang="en-US" dirty="0" smtClean="0">
                <a:latin typeface="Arial" pitchFamily="-110" charset="0"/>
                <a:ea typeface="ＭＳ Ｐゴシック" pitchFamily="-110" charset="-128"/>
                <a:cs typeface="ＭＳ Ｐゴシック" pitchFamily="-110" charset="-128"/>
              </a:rPr>
              <a:t>, then each block will still decrypt successfully.</a:t>
            </a:r>
          </a:p>
          <a:p>
            <a:r>
              <a:rPr lang="en-US" dirty="0" smtClean="0">
                <a:latin typeface="Arial" pitchFamily="-110" charset="0"/>
                <a:ea typeface="ＭＳ Ｐゴシック" pitchFamily="-110" charset="-128"/>
                <a:cs typeface="ＭＳ Ｐゴシック" pitchFamily="-110" charset="-128"/>
              </a:rPr>
              <a:t>However, the reordering may alter the meaning of the overall data sequence.</a:t>
            </a:r>
          </a:p>
          <a:p>
            <a:r>
              <a:rPr lang="en-US" dirty="0" smtClean="0">
                <a:latin typeface="Arial" pitchFamily="-110" charset="0"/>
                <a:ea typeface="ＭＳ Ｐゴシック" pitchFamily="-110" charset="-128"/>
                <a:cs typeface="ＭＳ Ｐゴシック" pitchFamily="-110" charset="-128"/>
              </a:rPr>
              <a:t>Although sequence numbers may be used at some level (e.g., each IP packet), it is</a:t>
            </a:r>
          </a:p>
          <a:p>
            <a:r>
              <a:rPr lang="en-US" dirty="0" smtClean="0">
                <a:latin typeface="Arial" pitchFamily="-110" charset="0"/>
                <a:ea typeface="ＭＳ Ｐゴシック" pitchFamily="-110" charset="-128"/>
                <a:cs typeface="ＭＳ Ｐゴシック" pitchFamily="-110" charset="-128"/>
              </a:rPr>
              <a:t>typically not the case that a separate sequence number will be associated with each</a:t>
            </a:r>
          </a:p>
          <a:p>
            <a:r>
              <a:rPr lang="en-US" i="1" dirty="0" smtClean="0">
                <a:latin typeface="Arial" pitchFamily="-110" charset="0"/>
                <a:ea typeface="ＭＳ Ｐゴシック" pitchFamily="-110" charset="-128"/>
                <a:cs typeface="ＭＳ Ｐゴシック" pitchFamily="-110" charset="-128"/>
              </a:rPr>
              <a:t>b-bit block of plaintext. Thus, block reordering is a threat.</a:t>
            </a:r>
            <a:endParaRPr lang="en-US" dirty="0" smtClean="0">
              <a:latin typeface="Arial" pitchFamily="-110" charset="0"/>
              <a:ea typeface="ＭＳ Ｐゴシック" pitchFamily="-110" charset="-128"/>
              <a:cs typeface="ＭＳ Ｐゴシック" pitchFamily="-110" charset="-128"/>
            </a:endParaRPr>
          </a:p>
        </p:txBody>
      </p:sp>
    </p:spTree>
    <p:extLst>
      <p:ext uri="{BB962C8B-B14F-4D97-AF65-F5344CB8AC3E}">
        <p14:creationId xmlns:p14="http://schemas.microsoft.com/office/powerpoint/2010/main" val="1079625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Message Authentication without Message Encryption </a:t>
            </a:r>
            <a:r>
              <a:rPr lang="en-US" dirty="0" smtClean="0"/>
              <a:t>In this section, we examine several approaches to message authentication that do not rely on message encryption. In all of these approaches, an authentication tag is generated and appended to each message for transmission. The message itself is not encrypted and can be read at the destination independent of the authentication function at the destination. Because the approaches discussed in this section do not encrypt the message, message confidentiality is not provided.</a:t>
            </a:r>
            <a:endParaRPr lang="en-US" sz="1200" kern="1200" dirty="0" smtClean="0">
              <a:solidFill>
                <a:schemeClr val="tx1"/>
              </a:solidFill>
              <a:effectLst/>
              <a:latin typeface="Arial" pitchFamily="-108" charset="0"/>
              <a:ea typeface="ＭＳ Ｐゴシック" pitchFamily="33" charset="-128"/>
              <a:cs typeface="ＭＳ Ｐゴシック" pitchFamily="33" charset="-128"/>
            </a:endParaRPr>
          </a:p>
          <a:p>
            <a:endParaRPr lang="en-US" sz="1200" kern="1200" dirty="0" smtClean="0">
              <a:solidFill>
                <a:schemeClr val="tx1"/>
              </a:solidFill>
              <a:effectLst/>
              <a:latin typeface="Arial" pitchFamily="-108" charset="0"/>
              <a:ea typeface="ＭＳ Ｐゴシック" pitchFamily="33" charset="-128"/>
              <a:cs typeface="ＭＳ Ｐゴシック" pitchFamily="33" charset="-128"/>
            </a:endParaRP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Because the approaches discussed in this section do not encrypt the message,</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message confidentiality is not provided. As was mentioned, message encryption by</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itself does not provide a secure form of authentication. However, it is possible to combine</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authentication and confidentiality in a single algorithm by encrypting a message</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plus its authentication tag. Typically, however, message authentication is provided as</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a separate function from message encryption. [DAVI89] suggests three situations in</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which message authentication without confidentiality is preferable:</a:t>
            </a:r>
          </a:p>
          <a:p>
            <a:endParaRPr lang="en-US" sz="1200" kern="1200" dirty="0" smtClean="0">
              <a:solidFill>
                <a:schemeClr val="tx1"/>
              </a:solidFill>
              <a:effectLst/>
              <a:latin typeface="Arial" pitchFamily="-108" charset="0"/>
              <a:ea typeface="ＭＳ Ｐゴシック" pitchFamily="33" charset="-128"/>
              <a:cs typeface="ＭＳ Ｐゴシック" pitchFamily="33" charset="-128"/>
            </a:endParaRP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1.  There are a number of applications in which the same message is broadcast to</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a number of destinations. Two examples are notification to users that the network</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is now unavailable, and an alarm signal in a control center. It is cheaper</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and more reliable to have only one destination responsible for monitoring</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authenticity. Thus, the message must be broadcast in plaintext with an associated</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message authentication tag. The responsible system performs authentication.</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If a violation occurs, the other destination systems are alerted by a</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general alarm.</a:t>
            </a:r>
          </a:p>
          <a:p>
            <a:endParaRPr lang="en-US" sz="1200" kern="1200" dirty="0" smtClean="0">
              <a:solidFill>
                <a:schemeClr val="tx1"/>
              </a:solidFill>
              <a:effectLst/>
              <a:latin typeface="Arial" pitchFamily="-108" charset="0"/>
              <a:ea typeface="ＭＳ Ｐゴシック" pitchFamily="33" charset="-128"/>
              <a:cs typeface="ＭＳ Ｐゴシック" pitchFamily="33" charset="-128"/>
            </a:endParaRP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2.  Another possible scenario is an exchange in which one side has a heavy load and</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cannot afford the time to decrypt all incoming messages. Authentication is carried</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out on a selective basis, with messages being chosen at random for checking.</a:t>
            </a:r>
          </a:p>
          <a:p>
            <a:endParaRPr lang="en-US" sz="1200" kern="1200" dirty="0" smtClean="0">
              <a:solidFill>
                <a:schemeClr val="tx1"/>
              </a:solidFill>
              <a:effectLst/>
              <a:latin typeface="Arial" pitchFamily="-108" charset="0"/>
              <a:ea typeface="ＭＳ Ｐゴシック" pitchFamily="33" charset="-128"/>
              <a:cs typeface="ＭＳ Ｐゴシック" pitchFamily="33" charset="-128"/>
            </a:endParaRP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3.  Authentication of a computer program in plaintext is an attractive service. The</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computer program can be executed without having to decrypt it every time,</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which would be wasteful of processor resources. However, if a message authentication</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tag were attached to the program, it could be checked whenever assurance</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is required of the integrity of the program.</a:t>
            </a:r>
          </a:p>
          <a:p>
            <a:endParaRPr lang="en-US" sz="1200" kern="1200" dirty="0" smtClean="0">
              <a:solidFill>
                <a:schemeClr val="tx1"/>
              </a:solidFill>
              <a:effectLst/>
              <a:latin typeface="Arial" pitchFamily="-108" charset="0"/>
              <a:ea typeface="ＭＳ Ｐゴシック" pitchFamily="33" charset="-128"/>
              <a:cs typeface="ＭＳ Ｐゴシック" pitchFamily="33" charset="-128"/>
            </a:endParaRP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Thus, there is a place for both authentication and encryption in meeting security</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requirements.</a:t>
            </a:r>
            <a:endParaRPr lang="en-US" sz="1200" kern="1200" dirty="0">
              <a:solidFill>
                <a:schemeClr val="tx1"/>
              </a:solidFill>
              <a:effectLst/>
              <a:latin typeface="Arial" pitchFamily="-108" charset="0"/>
              <a:ea typeface="ＭＳ Ｐゴシック" pitchFamily="33" charset="-128"/>
              <a:cs typeface="ＭＳ Ｐゴシック" pitchFamily="33" charset="-128"/>
            </a:endParaRPr>
          </a:p>
        </p:txBody>
      </p:sp>
      <p:sp>
        <p:nvSpPr>
          <p:cNvPr id="4" name="Slide Number Placeholder 3"/>
          <p:cNvSpPr>
            <a:spLocks noGrp="1"/>
          </p:cNvSpPr>
          <p:nvPr>
            <p:ph type="sldNum" sz="quarter" idx="10"/>
          </p:nvPr>
        </p:nvSpPr>
        <p:spPr/>
        <p:txBody>
          <a:bodyPr/>
          <a:lstStyle/>
          <a:p>
            <a:pPr>
              <a:defRPr/>
            </a:pPr>
            <a:fld id="{9FA45A9E-7761-3846-9783-F10EE5B548CC}" type="slidenum">
              <a:rPr lang="en-AU" smtClean="0"/>
              <a:pPr>
                <a:defRPr/>
              </a:pPr>
              <a:t>5</a:t>
            </a:fld>
            <a:endParaRPr lang="en-AU"/>
          </a:p>
        </p:txBody>
      </p:sp>
    </p:spTree>
    <p:extLst>
      <p:ext uri="{BB962C8B-B14F-4D97-AF65-F5344CB8AC3E}">
        <p14:creationId xmlns:p14="http://schemas.microsoft.com/office/powerpoint/2010/main" val="29054924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FA45A9E-7761-3846-9783-F10EE5B548CC}" type="slidenum">
              <a:rPr lang="en-AU" smtClean="0"/>
              <a:pPr>
                <a:defRPr/>
              </a:pPr>
              <a:t>6</a:t>
            </a:fld>
            <a:endParaRPr lang="en-AU"/>
          </a:p>
        </p:txBody>
      </p:sp>
    </p:spTree>
    <p:extLst>
      <p:ext uri="{BB962C8B-B14F-4D97-AF65-F5344CB8AC3E}">
        <p14:creationId xmlns:p14="http://schemas.microsoft.com/office/powerpoint/2010/main" val="32327897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p>
            <a:fld id="{204C6C18-1759-7149-95F3-F2C3C06D9086}" type="slidenum">
              <a:rPr lang="en-AU">
                <a:latin typeface="Arial" pitchFamily="-110" charset="0"/>
              </a:rPr>
              <a:pPr/>
              <a:t>7</a:t>
            </a:fld>
            <a:endParaRPr lang="en-AU">
              <a:latin typeface="Arial" pitchFamily="-110" charset="0"/>
            </a:endParaRPr>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p:spPr>
        <p:txBody>
          <a:bodyPr/>
          <a:lstStyle/>
          <a:p>
            <a:r>
              <a:rPr lang="en-US" dirty="0" smtClean="0">
                <a:latin typeface="Arial" pitchFamily="-110" charset="0"/>
                <a:ea typeface="ＭＳ Ｐゴシック" pitchFamily="-110" charset="-128"/>
                <a:cs typeface="ＭＳ Ｐゴシック" pitchFamily="-110" charset="-128"/>
              </a:rPr>
              <a:t>One authentication technique involves</a:t>
            </a:r>
          </a:p>
          <a:p>
            <a:r>
              <a:rPr lang="en-US" dirty="0" smtClean="0">
                <a:latin typeface="Arial" pitchFamily="-110" charset="0"/>
                <a:ea typeface="ＭＳ Ｐゴシック" pitchFamily="-110" charset="-128"/>
                <a:cs typeface="ＭＳ Ｐゴシック" pitchFamily="-110" charset="-128"/>
              </a:rPr>
              <a:t>the use of a secret key to generate a small block of data, known as a message</a:t>
            </a:r>
          </a:p>
          <a:p>
            <a:r>
              <a:rPr lang="en-US" dirty="0" smtClean="0">
                <a:latin typeface="Arial" pitchFamily="-110" charset="0"/>
                <a:ea typeface="ＭＳ Ｐゴシック" pitchFamily="-110" charset="-128"/>
                <a:cs typeface="ＭＳ Ｐゴシック" pitchFamily="-110" charset="-128"/>
              </a:rPr>
              <a:t>authentication code, that is appended to the message. This technique assumes that</a:t>
            </a:r>
          </a:p>
          <a:p>
            <a:r>
              <a:rPr lang="en-US" dirty="0" smtClean="0">
                <a:latin typeface="Arial" pitchFamily="-110" charset="0"/>
                <a:ea typeface="ＭＳ Ｐゴシック" pitchFamily="-110" charset="-128"/>
                <a:cs typeface="ＭＳ Ｐゴシック" pitchFamily="-110" charset="-128"/>
              </a:rPr>
              <a:t>two communicating parties, say A and B, share a common secret key </a:t>
            </a:r>
            <a:r>
              <a:rPr lang="en-US" i="1" dirty="0" smtClean="0">
                <a:latin typeface="Arial" pitchFamily="-110" charset="0"/>
                <a:ea typeface="ＭＳ Ｐゴシック" pitchFamily="-110" charset="-128"/>
                <a:cs typeface="ＭＳ Ｐゴシック" pitchFamily="-110" charset="-128"/>
              </a:rPr>
              <a:t>K</a:t>
            </a:r>
            <a:r>
              <a:rPr lang="en-US" i="1" baseline="-25000" dirty="0" smtClean="0">
                <a:latin typeface="Arial" pitchFamily="-110" charset="0"/>
                <a:ea typeface="ＭＳ Ｐゴシック" pitchFamily="-110" charset="-128"/>
                <a:cs typeface="ＭＳ Ｐゴシック" pitchFamily="-110" charset="-128"/>
              </a:rPr>
              <a:t>AB</a:t>
            </a:r>
            <a:r>
              <a:rPr lang="en-US" i="1" dirty="0" smtClean="0">
                <a:latin typeface="Arial" pitchFamily="-110" charset="0"/>
                <a:ea typeface="ＭＳ Ｐゴシック" pitchFamily="-110" charset="-128"/>
                <a:cs typeface="ＭＳ Ｐゴシック" pitchFamily="-110" charset="-128"/>
              </a:rPr>
              <a:t>. When</a:t>
            </a:r>
          </a:p>
          <a:p>
            <a:r>
              <a:rPr lang="en-US" dirty="0" smtClean="0">
                <a:latin typeface="Arial" pitchFamily="-110" charset="0"/>
                <a:ea typeface="ＭＳ Ｐゴシック" pitchFamily="-110" charset="-128"/>
                <a:cs typeface="ＭＳ Ｐゴシック" pitchFamily="-110" charset="-128"/>
              </a:rPr>
              <a:t>A has a message to send to B, it calculates the message authentication code as a</a:t>
            </a:r>
          </a:p>
          <a:p>
            <a:r>
              <a:rPr lang="en-US" dirty="0" smtClean="0">
                <a:latin typeface="Arial" pitchFamily="-110" charset="0"/>
                <a:ea typeface="ＭＳ Ｐゴシック" pitchFamily="-110" charset="-128"/>
                <a:cs typeface="ＭＳ Ｐゴシック" pitchFamily="-110" charset="-128"/>
              </a:rPr>
              <a:t>complex function of the message and the key: MAC</a:t>
            </a:r>
            <a:r>
              <a:rPr lang="en-US" i="1" baseline="-25000" dirty="0" smtClean="0">
                <a:latin typeface="Arial" pitchFamily="-110" charset="0"/>
                <a:ea typeface="ＭＳ Ｐゴシック" pitchFamily="-110" charset="-128"/>
                <a:cs typeface="ＭＳ Ｐゴシック" pitchFamily="-110" charset="-128"/>
              </a:rPr>
              <a:t>M</a:t>
            </a:r>
            <a:r>
              <a:rPr lang="en-US" i="1" dirty="0" smtClean="0">
                <a:latin typeface="Arial" pitchFamily="-110" charset="0"/>
                <a:ea typeface="ＭＳ Ｐゴシック" pitchFamily="-110" charset="-128"/>
                <a:cs typeface="ＭＳ Ｐゴシック" pitchFamily="-110" charset="-128"/>
              </a:rPr>
              <a:t>  F(K</a:t>
            </a:r>
            <a:r>
              <a:rPr lang="en-US" i="1" baseline="-25000" dirty="0" smtClean="0">
                <a:latin typeface="Arial" pitchFamily="-110" charset="0"/>
                <a:ea typeface="ＭＳ Ｐゴシック" pitchFamily="-110" charset="-128"/>
                <a:cs typeface="ＭＳ Ｐゴシック" pitchFamily="-110" charset="-128"/>
              </a:rPr>
              <a:t>AB</a:t>
            </a:r>
            <a:r>
              <a:rPr lang="en-US" i="1" dirty="0" smtClean="0">
                <a:latin typeface="Arial" pitchFamily="-110" charset="0"/>
                <a:ea typeface="ＭＳ Ｐゴシック" pitchFamily="-110" charset="-128"/>
                <a:cs typeface="ＭＳ Ｐゴシック" pitchFamily="-110" charset="-128"/>
              </a:rPr>
              <a:t>, M). The message</a:t>
            </a:r>
          </a:p>
          <a:p>
            <a:r>
              <a:rPr lang="en-US" dirty="0" smtClean="0">
                <a:latin typeface="Arial" pitchFamily="-110" charset="0"/>
                <a:ea typeface="ＭＳ Ｐゴシック" pitchFamily="-110" charset="-128"/>
                <a:cs typeface="ＭＳ Ｐゴシック" pitchFamily="-110" charset="-128"/>
              </a:rPr>
              <a:t>plus code are transmitted to the intended recipient. The recipient performs the same</a:t>
            </a:r>
          </a:p>
          <a:p>
            <a:r>
              <a:rPr lang="en-US" dirty="0" smtClean="0">
                <a:latin typeface="Arial" pitchFamily="-110" charset="0"/>
                <a:ea typeface="ＭＳ Ｐゴシック" pitchFamily="-110" charset="-128"/>
                <a:cs typeface="ＭＳ Ｐゴシック" pitchFamily="-110" charset="-128"/>
              </a:rPr>
              <a:t>calculation on the received message, using the same secret key, to generate a new</a:t>
            </a:r>
          </a:p>
          <a:p>
            <a:r>
              <a:rPr lang="en-US" dirty="0" smtClean="0">
                <a:latin typeface="Arial" pitchFamily="-110" charset="0"/>
                <a:ea typeface="ＭＳ Ｐゴシック" pitchFamily="-110" charset="-128"/>
                <a:cs typeface="ＭＳ Ｐゴシック" pitchFamily="-110" charset="-128"/>
              </a:rPr>
              <a:t>message authentication code. The received code is compared to the calculated code</a:t>
            </a:r>
          </a:p>
          <a:p>
            <a:r>
              <a:rPr lang="en-US" dirty="0" smtClean="0">
                <a:latin typeface="Arial" pitchFamily="-110" charset="0"/>
                <a:ea typeface="ＭＳ Ｐゴシック" pitchFamily="-110" charset="-128"/>
                <a:cs typeface="ＭＳ Ｐゴシック" pitchFamily="-110" charset="-128"/>
              </a:rPr>
              <a:t>(Figure 2.3). If we assume that only the receiver and the sender know the identity of</a:t>
            </a:r>
          </a:p>
          <a:p>
            <a:r>
              <a:rPr lang="en-US" dirty="0" smtClean="0">
                <a:latin typeface="Arial" pitchFamily="-110" charset="0"/>
                <a:ea typeface="ＭＳ Ｐゴシック" pitchFamily="-110" charset="-128"/>
                <a:cs typeface="ＭＳ Ｐゴシック" pitchFamily="-110" charset="-128"/>
              </a:rPr>
              <a:t>the secret key, and if the received code matches the calculated code, then</a:t>
            </a:r>
          </a:p>
          <a:p>
            <a:endParaRPr lang="en-US" b="1" dirty="0" smtClean="0">
              <a:latin typeface="Arial" pitchFamily="-110" charset="0"/>
              <a:ea typeface="ＭＳ Ｐゴシック" pitchFamily="-110" charset="-128"/>
              <a:cs typeface="ＭＳ Ｐゴシック" pitchFamily="-110" charset="-128"/>
            </a:endParaRPr>
          </a:p>
          <a:p>
            <a:r>
              <a:rPr lang="en-US" b="0" dirty="0" smtClean="0">
                <a:latin typeface="Arial" pitchFamily="-110" charset="0"/>
                <a:ea typeface="ＭＳ Ｐゴシック" pitchFamily="-110" charset="-128"/>
                <a:cs typeface="ＭＳ Ｐゴシック" pitchFamily="-110" charset="-128"/>
              </a:rPr>
              <a:t>1. The receiver is assured that the message has not been altered. If an attacker</a:t>
            </a:r>
          </a:p>
          <a:p>
            <a:r>
              <a:rPr lang="en-US" b="0" dirty="0" smtClean="0">
                <a:latin typeface="Arial" pitchFamily="-110" charset="0"/>
                <a:ea typeface="ＭＳ Ｐゴシック" pitchFamily="-110" charset="-128"/>
                <a:cs typeface="ＭＳ Ｐゴシック" pitchFamily="-110" charset="-128"/>
              </a:rPr>
              <a:t>alters the message but does not alter the code, then the receiver’s calculation</a:t>
            </a:r>
          </a:p>
          <a:p>
            <a:r>
              <a:rPr lang="en-US" b="0" dirty="0" smtClean="0">
                <a:latin typeface="Arial" pitchFamily="-110" charset="0"/>
                <a:ea typeface="ＭＳ Ｐゴシック" pitchFamily="-110" charset="-128"/>
                <a:cs typeface="ＭＳ Ｐゴシック" pitchFamily="-110" charset="-128"/>
              </a:rPr>
              <a:t>of the code will differ from the received code. Because the attacker is assumed</a:t>
            </a:r>
          </a:p>
          <a:p>
            <a:r>
              <a:rPr lang="en-US" b="0" dirty="0" smtClean="0">
                <a:latin typeface="Arial" pitchFamily="-110" charset="0"/>
                <a:ea typeface="ＭＳ Ｐゴシック" pitchFamily="-110" charset="-128"/>
                <a:cs typeface="ＭＳ Ｐゴシック" pitchFamily="-110" charset="-128"/>
              </a:rPr>
              <a:t>not to know the secret key, the attacker cannot alter the code to correspond to</a:t>
            </a:r>
          </a:p>
          <a:p>
            <a:r>
              <a:rPr lang="en-US" b="0" dirty="0" smtClean="0">
                <a:latin typeface="Arial" pitchFamily="-110" charset="0"/>
                <a:ea typeface="ＭＳ Ｐゴシック" pitchFamily="-110" charset="-128"/>
                <a:cs typeface="ＭＳ Ｐゴシック" pitchFamily="-110" charset="-128"/>
              </a:rPr>
              <a:t>the alterations in the message.</a:t>
            </a:r>
          </a:p>
          <a:p>
            <a:endParaRPr lang="en-US" b="0" dirty="0" smtClean="0">
              <a:latin typeface="Arial" pitchFamily="-110" charset="0"/>
              <a:ea typeface="ＭＳ Ｐゴシック" pitchFamily="-110" charset="-128"/>
              <a:cs typeface="ＭＳ Ｐゴシック" pitchFamily="-110" charset="-128"/>
            </a:endParaRPr>
          </a:p>
          <a:p>
            <a:r>
              <a:rPr lang="en-US" b="0" dirty="0" smtClean="0">
                <a:latin typeface="Arial" pitchFamily="-110" charset="0"/>
                <a:ea typeface="ＭＳ Ｐゴシック" pitchFamily="-110" charset="-128"/>
                <a:cs typeface="ＭＳ Ｐゴシック" pitchFamily="-110" charset="-128"/>
              </a:rPr>
              <a:t>2. The receiver is assured that the message is from the alleged sender. Because</a:t>
            </a:r>
          </a:p>
          <a:p>
            <a:r>
              <a:rPr lang="en-US" b="0" dirty="0" smtClean="0">
                <a:latin typeface="Arial" pitchFamily="-110" charset="0"/>
                <a:ea typeface="ＭＳ Ｐゴシック" pitchFamily="-110" charset="-128"/>
                <a:cs typeface="ＭＳ Ｐゴシック" pitchFamily="-110" charset="-128"/>
              </a:rPr>
              <a:t>no one else knows the secret key, no one else could prepare a message with a</a:t>
            </a:r>
          </a:p>
          <a:p>
            <a:r>
              <a:rPr lang="en-US" b="0" dirty="0" smtClean="0">
                <a:latin typeface="Arial" pitchFamily="-110" charset="0"/>
                <a:ea typeface="ＭＳ Ｐゴシック" pitchFamily="-110" charset="-128"/>
                <a:cs typeface="ＭＳ Ｐゴシック" pitchFamily="-110" charset="-128"/>
              </a:rPr>
              <a:t>proper code.</a:t>
            </a:r>
          </a:p>
          <a:p>
            <a:endParaRPr lang="en-US" b="0" dirty="0" smtClean="0">
              <a:latin typeface="Arial" pitchFamily="-110" charset="0"/>
              <a:ea typeface="ＭＳ Ｐゴシック" pitchFamily="-110" charset="-128"/>
              <a:cs typeface="ＭＳ Ｐゴシック" pitchFamily="-110" charset="-128"/>
            </a:endParaRPr>
          </a:p>
          <a:p>
            <a:r>
              <a:rPr lang="en-US" b="0" dirty="0" smtClean="0">
                <a:latin typeface="Arial" pitchFamily="-110" charset="0"/>
                <a:ea typeface="ＭＳ Ｐゴシック" pitchFamily="-110" charset="-128"/>
                <a:cs typeface="ＭＳ Ｐゴシック" pitchFamily="-110" charset="-128"/>
              </a:rPr>
              <a:t>3. If the message includes a sequence number (such as is used with X.25, HDLC,</a:t>
            </a:r>
          </a:p>
          <a:p>
            <a:r>
              <a:rPr lang="en-US" b="0" dirty="0" smtClean="0">
                <a:latin typeface="Arial" pitchFamily="-110" charset="0"/>
                <a:ea typeface="ＭＳ Ｐゴシック" pitchFamily="-110" charset="-128"/>
                <a:cs typeface="ＭＳ Ｐゴシック" pitchFamily="-110" charset="-128"/>
              </a:rPr>
              <a:t>and TCP), then the receiver can be assured of the proper sequence, because</a:t>
            </a:r>
          </a:p>
          <a:p>
            <a:r>
              <a:rPr lang="en-US" dirty="0" smtClean="0">
                <a:latin typeface="Arial" pitchFamily="-110" charset="0"/>
                <a:ea typeface="ＭＳ Ｐゴシック" pitchFamily="-110" charset="-128"/>
                <a:cs typeface="ＭＳ Ｐゴシック" pitchFamily="-110" charset="-128"/>
              </a:rPr>
              <a:t>an attacker cannot successfully alter the sequence number.</a:t>
            </a:r>
          </a:p>
          <a:p>
            <a:endParaRPr lang="en-US" dirty="0" smtClean="0">
              <a:latin typeface="Arial" pitchFamily="-110" charset="0"/>
              <a:ea typeface="ＭＳ Ｐゴシック" pitchFamily="-110" charset="-128"/>
              <a:cs typeface="ＭＳ Ｐゴシック" pitchFamily="-110" charset="-128"/>
            </a:endParaRP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 A number of algorithms could be used to generate the code. The now withdrawn</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NIST publication FIPS PUB 113 (Computer Data Authentication , May 1985),</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recommended the use of DES. However AES would now be a more suitable choice.</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DES or AES is used to generate an encrypted version of the message, and some of</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 the bits of </a:t>
            </a:r>
            <a:r>
              <a:rPr lang="en-US" sz="1200" kern="1200" dirty="0" err="1" smtClean="0">
                <a:solidFill>
                  <a:schemeClr val="tx1"/>
                </a:solidFill>
                <a:effectLst/>
                <a:latin typeface="Arial" pitchFamily="-108" charset="0"/>
                <a:ea typeface="ＭＳ Ｐゴシック" pitchFamily="33" charset="-128"/>
                <a:cs typeface="ＭＳ Ｐゴシック" pitchFamily="33" charset="-128"/>
              </a:rPr>
              <a:t>ciphertext</a:t>
            </a:r>
            <a:r>
              <a:rPr lang="en-US" sz="1200" kern="1200" dirty="0" smtClean="0">
                <a:solidFill>
                  <a:schemeClr val="tx1"/>
                </a:solidFill>
                <a:effectLst/>
                <a:latin typeface="Arial" pitchFamily="-108" charset="0"/>
                <a:ea typeface="ＭＳ Ｐゴシック" pitchFamily="33" charset="-128"/>
                <a:cs typeface="ＭＳ Ｐゴシック" pitchFamily="33" charset="-128"/>
              </a:rPr>
              <a:t> are used as the code. A 16- or 32-bit code used to be typical, but</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would now be much too small to provide sufficient collision resistance, as we will</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discuss shortly.</a:t>
            </a:r>
          </a:p>
          <a:p>
            <a:endParaRPr lang="en-US" sz="1200" kern="1200" dirty="0" smtClean="0">
              <a:solidFill>
                <a:schemeClr val="tx1"/>
              </a:solidFill>
              <a:effectLst/>
              <a:latin typeface="Arial" pitchFamily="-108" charset="0"/>
              <a:ea typeface="ＭＳ Ｐゴシック" pitchFamily="33" charset="-128"/>
              <a:cs typeface="ＭＳ Ｐゴシック" pitchFamily="33" charset="-128"/>
            </a:endParaRP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The process just described is similar to encryption. One difference is that the</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authentication algorithm need not be reversible, as it must for decryption. It turns</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out that because of the mathematical properties of the authentication function, it is</a:t>
            </a:r>
          </a:p>
          <a:p>
            <a:r>
              <a:rPr lang="en-US" sz="1200" kern="1200" dirty="0" smtClean="0">
                <a:solidFill>
                  <a:schemeClr val="tx1"/>
                </a:solidFill>
                <a:effectLst/>
                <a:latin typeface="Arial" pitchFamily="-108" charset="0"/>
                <a:ea typeface="ＭＳ Ｐゴシック" pitchFamily="33" charset="-128"/>
                <a:cs typeface="ＭＳ Ｐゴシック" pitchFamily="33" charset="-128"/>
              </a:rPr>
              <a:t>less vulnerable to being broken than encryption.</a:t>
            </a:r>
          </a:p>
          <a:p>
            <a:endParaRPr lang="en-US" sz="1200" kern="1200" dirty="0" smtClean="0">
              <a:solidFill>
                <a:schemeClr val="tx1"/>
              </a:solidFill>
              <a:effectLst/>
              <a:latin typeface="Arial" pitchFamily="-108" charset="0"/>
              <a:ea typeface="ＭＳ Ｐゴシック" pitchFamily="33" charset="-128"/>
              <a:cs typeface="ＭＳ Ｐゴシック" pitchFamily="33" charset="-128"/>
            </a:endParaRPr>
          </a:p>
        </p:txBody>
      </p:sp>
    </p:spTree>
    <p:extLst>
      <p:ext uri="{BB962C8B-B14F-4D97-AF65-F5344CB8AC3E}">
        <p14:creationId xmlns:p14="http://schemas.microsoft.com/office/powerpoint/2010/main" val="38777182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p>
            <a:fld id="{03363312-9C5D-9E41-9C15-EAEE56EE6E89}" type="slidenum">
              <a:rPr lang="en-AU">
                <a:latin typeface="Arial" pitchFamily="-110" charset="0"/>
              </a:rPr>
              <a:pPr/>
              <a:t>13</a:t>
            </a:fld>
            <a:endParaRPr lang="en-AU">
              <a:latin typeface="Arial" pitchFamily="-110" charset="0"/>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p:spPr>
        <p:txBody>
          <a:bodyPr/>
          <a:lstStyle/>
          <a:p>
            <a:r>
              <a:rPr lang="en-US" dirty="0" smtClean="0">
                <a:latin typeface="Arial" pitchFamily="-110" charset="0"/>
                <a:ea typeface="ＭＳ Ｐゴシック" pitchFamily="-110" charset="-128"/>
                <a:cs typeface="ＭＳ Ｐゴシック" pitchFamily="-110" charset="-128"/>
              </a:rPr>
              <a:t>Unlike the MAC, a hash function does not also take a secret key as input.</a:t>
            </a:r>
          </a:p>
          <a:p>
            <a:r>
              <a:rPr lang="en-US" dirty="0" smtClean="0">
                <a:latin typeface="Arial" pitchFamily="-110" charset="0"/>
                <a:ea typeface="ＭＳ Ｐゴシック" pitchFamily="-110" charset="-128"/>
                <a:cs typeface="ＭＳ Ｐゴシック" pitchFamily="-110" charset="-128"/>
              </a:rPr>
              <a:t>To authenticate a message, the message digest is sent with the message in such</a:t>
            </a:r>
          </a:p>
          <a:p>
            <a:r>
              <a:rPr lang="en-US" dirty="0" smtClean="0">
                <a:latin typeface="Arial" pitchFamily="-110" charset="0"/>
                <a:ea typeface="ＭＳ Ｐゴシック" pitchFamily="-110" charset="-128"/>
                <a:cs typeface="ＭＳ Ｐゴシック" pitchFamily="-110" charset="-128"/>
              </a:rPr>
              <a:t>a way that the message digest is authentic. Figure 2.5 illustrates three ways in</a:t>
            </a:r>
          </a:p>
          <a:p>
            <a:r>
              <a:rPr lang="en-US" dirty="0" smtClean="0">
                <a:latin typeface="Arial" pitchFamily="-110" charset="0"/>
                <a:ea typeface="ＭＳ Ｐゴシック" pitchFamily="-110" charset="-128"/>
                <a:cs typeface="ＭＳ Ｐゴシック" pitchFamily="-110" charset="-128"/>
              </a:rPr>
              <a:t>which the message can be authenticated using a hash code. The message digest</a:t>
            </a:r>
          </a:p>
          <a:p>
            <a:r>
              <a:rPr lang="en-US" dirty="0" smtClean="0">
                <a:latin typeface="Arial" pitchFamily="-110" charset="0"/>
                <a:ea typeface="ＭＳ Ｐゴシック" pitchFamily="-110" charset="-128"/>
                <a:cs typeface="ＭＳ Ｐゴシック" pitchFamily="-110" charset="-128"/>
              </a:rPr>
              <a:t>can be encrypted using symmetric encryption (part a); if it is assumed that only</a:t>
            </a:r>
          </a:p>
          <a:p>
            <a:r>
              <a:rPr lang="en-US" dirty="0" smtClean="0">
                <a:latin typeface="Arial" pitchFamily="-110" charset="0"/>
                <a:ea typeface="ＭＳ Ｐゴシック" pitchFamily="-110" charset="-128"/>
                <a:cs typeface="ＭＳ Ｐゴシック" pitchFamily="-110" charset="-128"/>
              </a:rPr>
              <a:t>the sender and receiver share the encryption key, then authenticity is assured. The</a:t>
            </a:r>
          </a:p>
          <a:p>
            <a:r>
              <a:rPr lang="en-US" dirty="0" smtClean="0">
                <a:latin typeface="Arial" pitchFamily="-110" charset="0"/>
                <a:ea typeface="ＭＳ Ｐゴシック" pitchFamily="-110" charset="-128"/>
                <a:cs typeface="ＭＳ Ｐゴシック" pitchFamily="-110" charset="-128"/>
              </a:rPr>
              <a:t>message digest can also be encrypted using public-key encryption (part b); this is</a:t>
            </a:r>
          </a:p>
          <a:p>
            <a:r>
              <a:rPr lang="en-US" dirty="0" smtClean="0">
                <a:latin typeface="Arial" pitchFamily="-110" charset="0"/>
                <a:ea typeface="ＭＳ Ｐゴシック" pitchFamily="-110" charset="-128"/>
                <a:cs typeface="ＭＳ Ｐゴシック" pitchFamily="-110" charset="-128"/>
              </a:rPr>
              <a:t>explained in Section 2.3. The public-key approach has two advantages: It provides</a:t>
            </a:r>
          </a:p>
          <a:p>
            <a:r>
              <a:rPr lang="en-US" dirty="0" smtClean="0">
                <a:latin typeface="Arial" pitchFamily="-110" charset="0"/>
                <a:ea typeface="ＭＳ Ｐゴシック" pitchFamily="-110" charset="-128"/>
                <a:cs typeface="ＭＳ Ｐゴシック" pitchFamily="-110" charset="-128"/>
              </a:rPr>
              <a:t>a digital signature as well as message authentication; and it does not require the</a:t>
            </a:r>
          </a:p>
          <a:p>
            <a:r>
              <a:rPr lang="en-US" dirty="0" smtClean="0">
                <a:latin typeface="Arial" pitchFamily="-110" charset="0"/>
                <a:ea typeface="ＭＳ Ｐゴシック" pitchFamily="-110" charset="-128"/>
                <a:cs typeface="ＭＳ Ｐゴシック" pitchFamily="-110" charset="-128"/>
              </a:rPr>
              <a:t>distribution of keys to communicating parties.</a:t>
            </a:r>
          </a:p>
          <a:p>
            <a:endParaRPr lang="en-US" dirty="0" smtClean="0">
              <a:latin typeface="Arial" pitchFamily="-110" charset="0"/>
              <a:ea typeface="ＭＳ Ｐゴシック" pitchFamily="-110" charset="-128"/>
              <a:cs typeface="ＭＳ Ｐゴシック" pitchFamily="-110" charset="-128"/>
            </a:endParaRPr>
          </a:p>
          <a:p>
            <a:r>
              <a:rPr lang="en-US" dirty="0" smtClean="0">
                <a:latin typeface="Arial" pitchFamily="-110" charset="0"/>
                <a:ea typeface="ＭＳ Ｐゴシック" pitchFamily="-110" charset="-128"/>
                <a:cs typeface="ＭＳ Ｐゴシック" pitchFamily="-110" charset="-128"/>
              </a:rPr>
              <a:t>These two approaches have an advantage over approaches that encrypt the</a:t>
            </a:r>
          </a:p>
          <a:p>
            <a:r>
              <a:rPr lang="en-US" dirty="0" smtClean="0">
                <a:latin typeface="Arial" pitchFamily="-110" charset="0"/>
                <a:ea typeface="ＭＳ Ｐゴシック" pitchFamily="-110" charset="-128"/>
                <a:cs typeface="ＭＳ Ｐゴシック" pitchFamily="-110" charset="-128"/>
              </a:rPr>
              <a:t>entire message in that less computation is required. But an even more common approach is</a:t>
            </a:r>
          </a:p>
          <a:p>
            <a:r>
              <a:rPr lang="en-US" dirty="0" smtClean="0">
                <a:latin typeface="Arial" pitchFamily="-110" charset="0"/>
                <a:ea typeface="ＭＳ Ｐゴシック" pitchFamily="-110" charset="-128"/>
                <a:cs typeface="ＭＳ Ｐゴシック" pitchFamily="-110" charset="-128"/>
              </a:rPr>
              <a:t> the use of a technique that avoids encryption altogether. Several reasons</a:t>
            </a:r>
          </a:p>
          <a:p>
            <a:r>
              <a:rPr lang="en-US" dirty="0" smtClean="0">
                <a:latin typeface="Arial" pitchFamily="-110" charset="0"/>
                <a:ea typeface="ＭＳ Ｐゴシック" pitchFamily="-110" charset="-128"/>
                <a:cs typeface="ＭＳ Ｐゴシック" pitchFamily="-110" charset="-128"/>
              </a:rPr>
              <a:t>for this interest are pointed out in [TSUD92]:</a:t>
            </a:r>
          </a:p>
          <a:p>
            <a:endParaRPr lang="en-US" dirty="0" smtClean="0">
              <a:latin typeface="Arial" pitchFamily="-110" charset="0"/>
              <a:ea typeface="ＭＳ Ｐゴシック" pitchFamily="-110" charset="-128"/>
              <a:cs typeface="ＭＳ Ｐゴシック" pitchFamily="-110" charset="-128"/>
            </a:endParaRPr>
          </a:p>
          <a:p>
            <a:r>
              <a:rPr lang="en-US" dirty="0" smtClean="0">
                <a:latin typeface="Arial" pitchFamily="-110" charset="0"/>
                <a:ea typeface="ＭＳ Ｐゴシック" pitchFamily="-110" charset="-128"/>
                <a:cs typeface="ＭＳ Ｐゴシック" pitchFamily="-110" charset="-128"/>
              </a:rPr>
              <a:t>• Encryption software is quite slow. Even though the amount of data to be</a:t>
            </a:r>
          </a:p>
          <a:p>
            <a:r>
              <a:rPr lang="en-US" dirty="0" smtClean="0">
                <a:latin typeface="Arial" pitchFamily="-110" charset="0"/>
                <a:ea typeface="ＭＳ Ｐゴシック" pitchFamily="-110" charset="-128"/>
                <a:cs typeface="ＭＳ Ｐゴシック" pitchFamily="-110" charset="-128"/>
              </a:rPr>
              <a:t>encrypted per message is small, there may be a steady stream of messages into</a:t>
            </a:r>
          </a:p>
          <a:p>
            <a:r>
              <a:rPr lang="en-US" dirty="0" smtClean="0">
                <a:latin typeface="Arial" pitchFamily="-110" charset="0"/>
                <a:ea typeface="ＭＳ Ｐゴシック" pitchFamily="-110" charset="-128"/>
                <a:cs typeface="ＭＳ Ｐゴシック" pitchFamily="-110" charset="-128"/>
              </a:rPr>
              <a:t>and out of a system.</a:t>
            </a:r>
          </a:p>
          <a:p>
            <a:endParaRPr lang="en-US" dirty="0" smtClean="0">
              <a:latin typeface="Arial" pitchFamily="-110" charset="0"/>
              <a:ea typeface="ＭＳ Ｐゴシック" pitchFamily="-110" charset="-128"/>
              <a:cs typeface="ＭＳ Ｐゴシック" pitchFamily="-110" charset="-128"/>
            </a:endParaRPr>
          </a:p>
          <a:p>
            <a:r>
              <a:rPr lang="en-US" dirty="0" smtClean="0">
                <a:latin typeface="Arial" pitchFamily="-110" charset="0"/>
                <a:ea typeface="ＭＳ Ｐゴシック" pitchFamily="-110" charset="-128"/>
                <a:cs typeface="ＭＳ Ｐゴシック" pitchFamily="-110" charset="-128"/>
              </a:rPr>
              <a:t>• Encryption hardware costs are non-negligible. Low-cost chip implementations</a:t>
            </a:r>
          </a:p>
          <a:p>
            <a:r>
              <a:rPr lang="en-US" dirty="0" smtClean="0">
                <a:latin typeface="Arial" pitchFamily="-110" charset="0"/>
                <a:ea typeface="ＭＳ Ｐゴシック" pitchFamily="-110" charset="-128"/>
                <a:cs typeface="ＭＳ Ｐゴシック" pitchFamily="-110" charset="-128"/>
              </a:rPr>
              <a:t>of DES are available, but the cost adds up if all nodes in a network must have</a:t>
            </a:r>
          </a:p>
          <a:p>
            <a:r>
              <a:rPr lang="en-US" dirty="0" smtClean="0">
                <a:latin typeface="Arial" pitchFamily="-110" charset="0"/>
                <a:ea typeface="ＭＳ Ｐゴシック" pitchFamily="-110" charset="-128"/>
                <a:cs typeface="ＭＳ Ｐゴシック" pitchFamily="-110" charset="-128"/>
              </a:rPr>
              <a:t>this capability.</a:t>
            </a:r>
          </a:p>
          <a:p>
            <a:endParaRPr lang="en-US" dirty="0" smtClean="0">
              <a:latin typeface="Arial" pitchFamily="-110" charset="0"/>
              <a:ea typeface="ＭＳ Ｐゴシック" pitchFamily="-110" charset="-128"/>
              <a:cs typeface="ＭＳ Ｐゴシック" pitchFamily="-110" charset="-128"/>
            </a:endParaRPr>
          </a:p>
          <a:p>
            <a:r>
              <a:rPr lang="en-US" dirty="0" smtClean="0">
                <a:latin typeface="Arial" pitchFamily="-110" charset="0"/>
                <a:ea typeface="ＭＳ Ｐゴシック" pitchFamily="-110" charset="-128"/>
                <a:cs typeface="ＭＳ Ｐゴシック" pitchFamily="-110" charset="-128"/>
              </a:rPr>
              <a:t>• Encryption hardware is optimized toward large data sizes. For small blocks of</a:t>
            </a:r>
          </a:p>
          <a:p>
            <a:r>
              <a:rPr lang="en-US" dirty="0" smtClean="0">
                <a:latin typeface="Arial" pitchFamily="-110" charset="0"/>
                <a:ea typeface="ＭＳ Ｐゴシック" pitchFamily="-110" charset="-128"/>
                <a:cs typeface="ＭＳ Ｐゴシック" pitchFamily="-110" charset="-128"/>
              </a:rPr>
              <a:t>data, a high proportion of the time is spent in initialization/invocation overhead.</a:t>
            </a:r>
          </a:p>
          <a:p>
            <a:endParaRPr lang="en-US" dirty="0" smtClean="0">
              <a:latin typeface="Arial" pitchFamily="-110" charset="0"/>
              <a:ea typeface="ＭＳ Ｐゴシック" pitchFamily="-110" charset="-128"/>
              <a:cs typeface="ＭＳ Ｐゴシック" pitchFamily="-110" charset="-128"/>
            </a:endParaRPr>
          </a:p>
          <a:p>
            <a:r>
              <a:rPr lang="en-US" dirty="0" smtClean="0">
                <a:latin typeface="Arial" pitchFamily="-110" charset="0"/>
                <a:ea typeface="ＭＳ Ｐゴシック" pitchFamily="-110" charset="-128"/>
                <a:cs typeface="ＭＳ Ｐゴシック" pitchFamily="-110" charset="-128"/>
              </a:rPr>
              <a:t>• An encryption algorithm may be protected by a patent.</a:t>
            </a:r>
          </a:p>
          <a:p>
            <a:endParaRPr lang="en-US" dirty="0" smtClean="0">
              <a:latin typeface="Arial" pitchFamily="-110" charset="0"/>
              <a:ea typeface="ＭＳ Ｐゴシック" pitchFamily="-110" charset="-128"/>
              <a:cs typeface="ＭＳ Ｐゴシック" pitchFamily="-110" charset="-128"/>
            </a:endParaRPr>
          </a:p>
          <a:p>
            <a:r>
              <a:rPr lang="en-US" dirty="0" smtClean="0">
                <a:latin typeface="Arial" pitchFamily="-110" charset="0"/>
                <a:ea typeface="ＭＳ Ｐゴシック" pitchFamily="-110" charset="-128"/>
                <a:cs typeface="ＭＳ Ｐゴシック" pitchFamily="-110" charset="-128"/>
              </a:rPr>
              <a:t>Figure 2.5c shows a technique that uses a hash function but no encryption</a:t>
            </a:r>
          </a:p>
          <a:p>
            <a:r>
              <a:rPr lang="en-US" dirty="0" smtClean="0">
                <a:latin typeface="Arial" pitchFamily="-110" charset="0"/>
                <a:ea typeface="ＭＳ Ｐゴシック" pitchFamily="-110" charset="-128"/>
                <a:cs typeface="ＭＳ Ｐゴシック" pitchFamily="-110" charset="-128"/>
              </a:rPr>
              <a:t>for message authentication. This technique, known as a keyed hash MAC, assumes</a:t>
            </a:r>
          </a:p>
          <a:p>
            <a:r>
              <a:rPr lang="en-US" dirty="0" smtClean="0">
                <a:latin typeface="Arial" pitchFamily="-110" charset="0"/>
                <a:ea typeface="ＭＳ Ｐゴシック" pitchFamily="-110" charset="-128"/>
                <a:cs typeface="ＭＳ Ｐゴシック" pitchFamily="-110" charset="-128"/>
              </a:rPr>
              <a:t>that two communicating parties, say A and B, share a common secret key </a:t>
            </a:r>
            <a:r>
              <a:rPr lang="en-US" i="1" dirty="0" smtClean="0">
                <a:latin typeface="Arial" pitchFamily="-110" charset="0"/>
                <a:ea typeface="ＭＳ Ｐゴシック" pitchFamily="-110" charset="-128"/>
                <a:cs typeface="ＭＳ Ｐゴシック" pitchFamily="-110" charset="-128"/>
              </a:rPr>
              <a:t>K.</a:t>
            </a:r>
          </a:p>
          <a:p>
            <a:r>
              <a:rPr lang="en-US" dirty="0" smtClean="0">
                <a:latin typeface="Arial" pitchFamily="-110" charset="0"/>
                <a:ea typeface="ＭＳ Ｐゴシック" pitchFamily="-110" charset="-128"/>
                <a:cs typeface="ＭＳ Ｐゴシック" pitchFamily="-110" charset="-128"/>
              </a:rPr>
              <a:t>This secret key is incorporated into the process of generating a hash code. In the</a:t>
            </a:r>
          </a:p>
          <a:p>
            <a:r>
              <a:rPr lang="en-US" dirty="0" smtClean="0">
                <a:latin typeface="Arial" pitchFamily="-110" charset="0"/>
                <a:ea typeface="ＭＳ Ｐゴシック" pitchFamily="-110" charset="-128"/>
                <a:cs typeface="ＭＳ Ｐゴシック" pitchFamily="-110" charset="-128"/>
              </a:rPr>
              <a:t>approach illustrated in Figure 2.5c, when A has a message to send to B, it calculates</a:t>
            </a:r>
          </a:p>
          <a:p>
            <a:r>
              <a:rPr lang="en-US" dirty="0" smtClean="0">
                <a:latin typeface="Arial" pitchFamily="-110" charset="0"/>
                <a:ea typeface="ＭＳ Ｐゴシック" pitchFamily="-110" charset="-128"/>
                <a:cs typeface="ＭＳ Ｐゴシック" pitchFamily="-110" charset="-128"/>
              </a:rPr>
              <a:t>the hash function over the concatenation of the secret key and the message:</a:t>
            </a:r>
          </a:p>
          <a:p>
            <a:r>
              <a:rPr lang="en-US" i="1" dirty="0" smtClean="0">
                <a:latin typeface="Arial" pitchFamily="-110" charset="0"/>
                <a:ea typeface="ＭＳ Ｐゴシック" pitchFamily="-110" charset="-128"/>
                <a:cs typeface="ＭＳ Ｐゴシック" pitchFamily="-110" charset="-128"/>
              </a:rPr>
              <a:t>MD</a:t>
            </a:r>
            <a:r>
              <a:rPr lang="en-US" i="1" baseline="-25000" dirty="0" smtClean="0">
                <a:latin typeface="Arial" pitchFamily="-110" charset="0"/>
                <a:ea typeface="ＭＳ Ｐゴシック" pitchFamily="-110" charset="-128"/>
                <a:cs typeface="ＭＳ Ｐゴシック" pitchFamily="-110" charset="-128"/>
              </a:rPr>
              <a:t>M</a:t>
            </a:r>
            <a:r>
              <a:rPr lang="en-US" i="1" dirty="0" smtClean="0">
                <a:latin typeface="Arial" pitchFamily="-110" charset="0"/>
                <a:ea typeface="ＭＳ Ｐゴシック" pitchFamily="-110" charset="-128"/>
                <a:cs typeface="ＭＳ Ｐゴシック" pitchFamily="-110" charset="-128"/>
              </a:rPr>
              <a:t> = H(K </a:t>
            </a:r>
            <a:r>
              <a:rPr lang="en-US" i="1" dirty="0" err="1" smtClean="0">
                <a:latin typeface="Arial" pitchFamily="-110" charset="0"/>
                <a:ea typeface="ＭＳ Ｐゴシック" pitchFamily="-110" charset="-128"/>
                <a:cs typeface="ＭＳ Ｐゴシック" pitchFamily="-110" charset="-128"/>
              </a:rPr>
              <a:t>ll</a:t>
            </a:r>
            <a:r>
              <a:rPr lang="en-US" i="1" dirty="0" smtClean="0">
                <a:latin typeface="Arial" pitchFamily="-110" charset="0"/>
                <a:ea typeface="ＭＳ Ｐゴシック" pitchFamily="-110" charset="-128"/>
                <a:cs typeface="ＭＳ Ｐゴシック" pitchFamily="-110" charset="-128"/>
              </a:rPr>
              <a:t> M </a:t>
            </a:r>
            <a:r>
              <a:rPr lang="en-US" i="1" dirty="0" err="1" smtClean="0">
                <a:latin typeface="Arial" pitchFamily="-110" charset="0"/>
                <a:ea typeface="ＭＳ Ｐゴシック" pitchFamily="-110" charset="-128"/>
                <a:cs typeface="ＭＳ Ｐゴシック" pitchFamily="-110" charset="-128"/>
              </a:rPr>
              <a:t>ll</a:t>
            </a:r>
            <a:r>
              <a:rPr lang="en-US" i="1" dirty="0" smtClean="0">
                <a:latin typeface="Arial" pitchFamily="-110" charset="0"/>
                <a:ea typeface="ＭＳ Ｐゴシック" pitchFamily="-110" charset="-128"/>
                <a:cs typeface="ＭＳ Ｐゴシック" pitchFamily="-110" charset="-128"/>
              </a:rPr>
              <a:t> K). It then sends [ M ii MD</a:t>
            </a:r>
            <a:r>
              <a:rPr lang="en-US" i="1" baseline="-25000" dirty="0" smtClean="0">
                <a:latin typeface="Arial" pitchFamily="-110" charset="0"/>
                <a:ea typeface="ＭＳ Ｐゴシック" pitchFamily="-110" charset="-128"/>
                <a:cs typeface="ＭＳ Ｐゴシック" pitchFamily="-110" charset="-128"/>
              </a:rPr>
              <a:t>M</a:t>
            </a:r>
            <a:r>
              <a:rPr lang="en-US" i="1" dirty="0" smtClean="0">
                <a:latin typeface="Arial" pitchFamily="-110" charset="0"/>
                <a:ea typeface="ＭＳ Ｐゴシック" pitchFamily="-110" charset="-128"/>
                <a:cs typeface="ＭＳ Ｐゴシック" pitchFamily="-110" charset="-128"/>
              </a:rPr>
              <a:t>] to B. Because B possesses K, it can</a:t>
            </a:r>
          </a:p>
          <a:p>
            <a:r>
              <a:rPr lang="en-US" dirty="0" err="1" smtClean="0">
                <a:latin typeface="Arial" pitchFamily="-110" charset="0"/>
                <a:ea typeface="ＭＳ Ｐゴシック" pitchFamily="-110" charset="-128"/>
                <a:cs typeface="ＭＳ Ｐゴシック" pitchFamily="-110" charset="-128"/>
              </a:rPr>
              <a:t>recompute</a:t>
            </a:r>
            <a:r>
              <a:rPr lang="en-US" dirty="0" smtClean="0">
                <a:latin typeface="Arial" pitchFamily="-110" charset="0"/>
                <a:ea typeface="ＭＳ Ｐゴシック" pitchFamily="-110" charset="-128"/>
                <a:cs typeface="ＭＳ Ｐゴシック" pitchFamily="-110" charset="-128"/>
              </a:rPr>
              <a:t> H(</a:t>
            </a:r>
            <a:r>
              <a:rPr lang="en-US" i="1" dirty="0" smtClean="0">
                <a:latin typeface="Arial" pitchFamily="-110" charset="0"/>
                <a:ea typeface="ＭＳ Ｐゴシック" pitchFamily="-110" charset="-128"/>
                <a:cs typeface="ＭＳ Ｐゴシック" pitchFamily="-110" charset="-128"/>
              </a:rPr>
              <a:t>K</a:t>
            </a:r>
            <a:r>
              <a:rPr lang="en-US" i="1" baseline="0" dirty="0" smtClean="0">
                <a:latin typeface="Arial" pitchFamily="-110" charset="0"/>
                <a:ea typeface="ＭＳ Ｐゴシック" pitchFamily="-110" charset="-128"/>
                <a:cs typeface="ＭＳ Ｐゴシック" pitchFamily="-110" charset="-128"/>
              </a:rPr>
              <a:t> </a:t>
            </a:r>
            <a:r>
              <a:rPr lang="en-US" i="1" baseline="0" dirty="0" err="1" smtClean="0">
                <a:latin typeface="Arial" pitchFamily="-110" charset="0"/>
                <a:ea typeface="ＭＳ Ｐゴシック" pitchFamily="-110" charset="-128"/>
                <a:cs typeface="ＭＳ Ｐゴシック" pitchFamily="-110" charset="-128"/>
              </a:rPr>
              <a:t>ll</a:t>
            </a:r>
            <a:r>
              <a:rPr lang="en-US" i="1" baseline="0" dirty="0" smtClean="0">
                <a:latin typeface="Arial" pitchFamily="-110" charset="0"/>
                <a:ea typeface="ＭＳ Ｐゴシック" pitchFamily="-110" charset="-128"/>
                <a:cs typeface="ＭＳ Ｐゴシック" pitchFamily="-110" charset="-128"/>
              </a:rPr>
              <a:t> </a:t>
            </a:r>
            <a:r>
              <a:rPr lang="en-US" i="1" dirty="0" smtClean="0">
                <a:latin typeface="Arial" pitchFamily="-110" charset="0"/>
                <a:ea typeface="ＭＳ Ｐゴシック" pitchFamily="-110" charset="-128"/>
                <a:cs typeface="ＭＳ Ｐゴシック" pitchFamily="-110" charset="-128"/>
              </a:rPr>
              <a:t>M</a:t>
            </a:r>
            <a:r>
              <a:rPr lang="en-US" i="1" baseline="0" dirty="0" smtClean="0">
                <a:latin typeface="Arial" pitchFamily="-110" charset="0"/>
                <a:ea typeface="ＭＳ Ｐゴシック" pitchFamily="-110" charset="-128"/>
                <a:cs typeface="ＭＳ Ｐゴシック" pitchFamily="-110" charset="-128"/>
              </a:rPr>
              <a:t> </a:t>
            </a:r>
            <a:r>
              <a:rPr lang="en-US" i="1" baseline="0" dirty="0" err="1" smtClean="0">
                <a:latin typeface="Arial" pitchFamily="-110" charset="0"/>
                <a:ea typeface="ＭＳ Ｐゴシック" pitchFamily="-110" charset="-128"/>
                <a:cs typeface="ＭＳ Ｐゴシック" pitchFamily="-110" charset="-128"/>
              </a:rPr>
              <a:t>ll</a:t>
            </a:r>
            <a:r>
              <a:rPr lang="en-US" i="1" baseline="0" dirty="0" smtClean="0">
                <a:latin typeface="Arial" pitchFamily="-110" charset="0"/>
                <a:ea typeface="ＭＳ Ｐゴシック" pitchFamily="-110" charset="-128"/>
                <a:cs typeface="ＭＳ Ｐゴシック" pitchFamily="-110" charset="-128"/>
              </a:rPr>
              <a:t> </a:t>
            </a:r>
            <a:r>
              <a:rPr lang="en-US" i="1" dirty="0" smtClean="0">
                <a:latin typeface="Arial" pitchFamily="-110" charset="0"/>
                <a:ea typeface="ＭＳ Ｐゴシック" pitchFamily="-110" charset="-128"/>
                <a:cs typeface="ＭＳ Ｐゴシック" pitchFamily="-110" charset="-128"/>
              </a:rPr>
              <a:t>K) and verify MD</a:t>
            </a:r>
            <a:r>
              <a:rPr lang="en-US" i="1" baseline="-25000" dirty="0" smtClean="0">
                <a:latin typeface="Arial" pitchFamily="-110" charset="0"/>
                <a:ea typeface="ＭＳ Ｐゴシック" pitchFamily="-110" charset="-128"/>
                <a:cs typeface="ＭＳ Ｐゴシック" pitchFamily="-110" charset="-128"/>
              </a:rPr>
              <a:t>M</a:t>
            </a:r>
            <a:r>
              <a:rPr lang="en-US" i="1" dirty="0" smtClean="0">
                <a:latin typeface="Arial" pitchFamily="-110" charset="0"/>
                <a:ea typeface="ＭＳ Ｐゴシック" pitchFamily="-110" charset="-128"/>
                <a:cs typeface="ＭＳ Ｐゴシック" pitchFamily="-110" charset="-128"/>
              </a:rPr>
              <a:t>. Because the secret key itself is not sent, it</a:t>
            </a:r>
          </a:p>
          <a:p>
            <a:r>
              <a:rPr lang="en-US" dirty="0" smtClean="0">
                <a:latin typeface="Arial" pitchFamily="-110" charset="0"/>
                <a:ea typeface="ＭＳ Ｐゴシック" pitchFamily="-110" charset="-128"/>
                <a:cs typeface="ＭＳ Ｐゴシック" pitchFamily="-110" charset="-128"/>
              </a:rPr>
              <a:t>should not be possible for an attacker to modify an intercepted message. As long as</a:t>
            </a:r>
          </a:p>
          <a:p>
            <a:r>
              <a:rPr lang="en-US" dirty="0" smtClean="0">
                <a:latin typeface="Arial" pitchFamily="-110" charset="0"/>
                <a:ea typeface="ＭＳ Ｐゴシック" pitchFamily="-110" charset="-128"/>
                <a:cs typeface="ＭＳ Ｐゴシック" pitchFamily="-110" charset="-128"/>
              </a:rPr>
              <a:t>the secret key remains secret, it should not be possible for an attacker to generate a</a:t>
            </a:r>
          </a:p>
          <a:p>
            <a:r>
              <a:rPr lang="en-US" dirty="0" smtClean="0">
                <a:latin typeface="Arial" pitchFamily="-110" charset="0"/>
                <a:ea typeface="ＭＳ Ｐゴシック" pitchFamily="-110" charset="-128"/>
                <a:cs typeface="ＭＳ Ｐゴシック" pitchFamily="-110" charset="-128"/>
              </a:rPr>
              <a:t>false message.</a:t>
            </a:r>
          </a:p>
          <a:p>
            <a:endParaRPr lang="en-US" dirty="0" smtClean="0">
              <a:latin typeface="Arial" pitchFamily="-110" charset="0"/>
              <a:ea typeface="ＭＳ Ｐゴシック" pitchFamily="-110" charset="-128"/>
              <a:cs typeface="ＭＳ Ｐゴシック" pitchFamily="-110" charset="-128"/>
            </a:endParaRPr>
          </a:p>
          <a:p>
            <a:r>
              <a:rPr lang="en-US" dirty="0" smtClean="0">
                <a:latin typeface="Arial" pitchFamily="-110" charset="0"/>
                <a:ea typeface="ＭＳ Ｐゴシック" pitchFamily="-110" charset="-128"/>
                <a:cs typeface="ＭＳ Ｐゴシック" pitchFamily="-110" charset="-128"/>
              </a:rPr>
              <a:t>Note that the secret key is used as both a prefix and a suffix to the message. If</a:t>
            </a:r>
          </a:p>
          <a:p>
            <a:r>
              <a:rPr lang="en-US" dirty="0" smtClean="0">
                <a:latin typeface="Arial" pitchFamily="-110" charset="0"/>
                <a:ea typeface="ＭＳ Ｐゴシック" pitchFamily="-110" charset="-128"/>
                <a:cs typeface="ＭＳ Ｐゴシック" pitchFamily="-110" charset="-128"/>
              </a:rPr>
              <a:t>the secret key is used as either only a prefix or only a suffix, the scheme is less secure.</a:t>
            </a:r>
          </a:p>
          <a:p>
            <a:r>
              <a:rPr lang="en-US" dirty="0" smtClean="0">
                <a:latin typeface="Arial" pitchFamily="-110" charset="0"/>
                <a:ea typeface="ＭＳ Ｐゴシック" pitchFamily="-110" charset="-128"/>
                <a:cs typeface="ＭＳ Ｐゴシック" pitchFamily="-110" charset="-128"/>
              </a:rPr>
              <a:t>This topic is discussed in Chapter 21. Chapter 21 also describes a scheme known</a:t>
            </a:r>
          </a:p>
          <a:p>
            <a:r>
              <a:rPr lang="en-US" dirty="0" smtClean="0">
                <a:latin typeface="Arial" pitchFamily="-110" charset="0"/>
                <a:ea typeface="ＭＳ Ｐゴシック" pitchFamily="-110" charset="-128"/>
                <a:cs typeface="ＭＳ Ｐゴシック" pitchFamily="-110" charset="-128"/>
              </a:rPr>
              <a:t>as HMAC, which is somewhat more complex than the approach of Figure 2.5c and</a:t>
            </a:r>
          </a:p>
          <a:p>
            <a:r>
              <a:rPr lang="en-US" dirty="0" smtClean="0">
                <a:latin typeface="Arial" pitchFamily="-110" charset="0"/>
                <a:ea typeface="ＭＳ Ｐゴシック" pitchFamily="-110" charset="-128"/>
                <a:cs typeface="ＭＳ Ｐゴシック" pitchFamily="-110" charset="-128"/>
              </a:rPr>
              <a:t>which has become the standard approach for a keyed hash MAC.</a:t>
            </a:r>
            <a:endParaRPr lang="en-US" dirty="0" smtClean="0">
              <a:latin typeface="Times New Roman" pitchFamily="-110" charset="0"/>
              <a:ea typeface="ＭＳ Ｐゴシック" pitchFamily="-110" charset="-128"/>
              <a:cs typeface="ＭＳ Ｐゴシック" pitchFamily="-110" charset="-128"/>
            </a:endParaRPr>
          </a:p>
        </p:txBody>
      </p:sp>
    </p:spTree>
    <p:extLst>
      <p:ext uri="{BB962C8B-B14F-4D97-AF65-F5344CB8AC3E}">
        <p14:creationId xmlns:p14="http://schemas.microsoft.com/office/powerpoint/2010/main" val="14714059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C1A12AB6-AC26-CC4E-BAFD-5F9DABEAF22B}" type="slidenum">
              <a:rPr lang="en-AU">
                <a:latin typeface="Arial" pitchFamily="-110" charset="0"/>
              </a:rPr>
              <a:pPr/>
              <a:t>17</a:t>
            </a:fld>
            <a:endParaRPr lang="en-AU">
              <a:latin typeface="Arial" pitchFamily="-110"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r>
              <a:rPr lang="en-US" b="0" dirty="0" smtClean="0">
                <a:latin typeface="Arial" pitchFamily="-110" charset="0"/>
                <a:ea typeface="ＭＳ Ｐゴシック" pitchFamily="-110" charset="-128"/>
                <a:cs typeface="ＭＳ Ｐゴシック" pitchFamily="-110" charset="-128"/>
              </a:rPr>
              <a:t>The purpose of a hash function is to produce a</a:t>
            </a:r>
          </a:p>
          <a:p>
            <a:r>
              <a:rPr lang="en-US" b="0" dirty="0" smtClean="0">
                <a:latin typeface="Arial" pitchFamily="-110" charset="0"/>
                <a:ea typeface="ＭＳ Ｐゴシック" pitchFamily="-110" charset="-128"/>
                <a:cs typeface="ＭＳ Ｐゴシック" pitchFamily="-110" charset="-128"/>
              </a:rPr>
              <a:t>“fingerprint” of a file, message, or other block of data. To be useful for message</a:t>
            </a:r>
          </a:p>
          <a:p>
            <a:r>
              <a:rPr lang="en-US" b="0" dirty="0" smtClean="0">
                <a:latin typeface="Arial" pitchFamily="-110" charset="0"/>
                <a:ea typeface="ＭＳ Ｐゴシック" pitchFamily="-110" charset="-128"/>
                <a:cs typeface="ＭＳ Ｐゴシック" pitchFamily="-110" charset="-128"/>
              </a:rPr>
              <a:t>authentication, a hash function H must have the following properties:</a:t>
            </a:r>
          </a:p>
          <a:p>
            <a:endParaRPr lang="en-US" b="0" dirty="0" smtClean="0">
              <a:latin typeface="Arial" pitchFamily="-110" charset="0"/>
              <a:ea typeface="ＭＳ Ｐゴシック" pitchFamily="-110" charset="-128"/>
              <a:cs typeface="ＭＳ Ｐゴシック" pitchFamily="-110" charset="-128"/>
            </a:endParaRPr>
          </a:p>
          <a:p>
            <a:r>
              <a:rPr lang="en-US" b="0" dirty="0" smtClean="0">
                <a:latin typeface="Arial" pitchFamily="-110" charset="0"/>
                <a:ea typeface="ＭＳ Ｐゴシック" pitchFamily="-110" charset="-128"/>
                <a:cs typeface="ＭＳ Ｐゴシック" pitchFamily="-110" charset="-128"/>
              </a:rPr>
              <a:t>1. H can be applied to a block of data of any size.</a:t>
            </a:r>
          </a:p>
          <a:p>
            <a:endParaRPr lang="en-US" b="0" dirty="0" smtClean="0">
              <a:latin typeface="Arial" pitchFamily="-110" charset="0"/>
              <a:ea typeface="ＭＳ Ｐゴシック" pitchFamily="-110" charset="-128"/>
              <a:cs typeface="ＭＳ Ｐゴシック" pitchFamily="-110" charset="-128"/>
            </a:endParaRPr>
          </a:p>
          <a:p>
            <a:r>
              <a:rPr lang="en-US" b="0" dirty="0" smtClean="0">
                <a:latin typeface="Arial" pitchFamily="-110" charset="0"/>
                <a:ea typeface="ＭＳ Ｐゴシック" pitchFamily="-110" charset="-128"/>
                <a:cs typeface="ＭＳ Ｐゴシック" pitchFamily="-110" charset="-128"/>
              </a:rPr>
              <a:t>2. H produces a fixed-length output.</a:t>
            </a:r>
          </a:p>
          <a:p>
            <a:endParaRPr lang="en-US" b="0" dirty="0" smtClean="0">
              <a:latin typeface="Arial" pitchFamily="-110" charset="0"/>
              <a:ea typeface="ＭＳ Ｐゴシック" pitchFamily="-110" charset="-128"/>
              <a:cs typeface="ＭＳ Ｐゴシック" pitchFamily="-110" charset="-128"/>
            </a:endParaRPr>
          </a:p>
          <a:p>
            <a:r>
              <a:rPr lang="en-US" b="0" dirty="0" smtClean="0">
                <a:latin typeface="Arial" pitchFamily="-110" charset="0"/>
                <a:ea typeface="ＭＳ Ｐゴシック" pitchFamily="-110" charset="-128"/>
                <a:cs typeface="ＭＳ Ｐゴシック" pitchFamily="-110" charset="-128"/>
              </a:rPr>
              <a:t>3. </a:t>
            </a:r>
            <a:r>
              <a:rPr lang="en-US" b="0" dirty="0" err="1" smtClean="0">
                <a:latin typeface="Arial" pitchFamily="-110" charset="0"/>
                <a:ea typeface="ＭＳ Ｐゴシック" pitchFamily="-110" charset="-128"/>
                <a:cs typeface="ＭＳ Ｐゴシック" pitchFamily="-110" charset="-128"/>
              </a:rPr>
              <a:t>H(</a:t>
            </a:r>
            <a:r>
              <a:rPr lang="en-US" b="0" i="1" dirty="0" err="1" smtClean="0">
                <a:latin typeface="Arial" pitchFamily="-110" charset="0"/>
                <a:ea typeface="ＭＳ Ｐゴシック" pitchFamily="-110" charset="-128"/>
                <a:cs typeface="ＭＳ Ｐゴシック" pitchFamily="-110" charset="-128"/>
              </a:rPr>
              <a:t>x</a:t>
            </a:r>
            <a:r>
              <a:rPr lang="en-US" b="0" i="1" dirty="0" smtClean="0">
                <a:latin typeface="Arial" pitchFamily="-110" charset="0"/>
                <a:ea typeface="ＭＳ Ｐゴシック" pitchFamily="-110" charset="-128"/>
                <a:cs typeface="ＭＳ Ｐゴシック" pitchFamily="-110" charset="-128"/>
              </a:rPr>
              <a:t>) is relatively easy to compute for any given </a:t>
            </a:r>
            <a:r>
              <a:rPr lang="en-US" b="0" i="1" dirty="0" err="1" smtClean="0">
                <a:latin typeface="Arial" pitchFamily="-110" charset="0"/>
                <a:ea typeface="ＭＳ Ｐゴシック" pitchFamily="-110" charset="-128"/>
                <a:cs typeface="ＭＳ Ｐゴシック" pitchFamily="-110" charset="-128"/>
              </a:rPr>
              <a:t>x</a:t>
            </a:r>
            <a:r>
              <a:rPr lang="en-US" b="0" i="1" dirty="0" smtClean="0">
                <a:latin typeface="Arial" pitchFamily="-110" charset="0"/>
                <a:ea typeface="ＭＳ Ｐゴシック" pitchFamily="-110" charset="-128"/>
                <a:cs typeface="ＭＳ Ｐゴシック" pitchFamily="-110" charset="-128"/>
              </a:rPr>
              <a:t>, making both hardware and</a:t>
            </a:r>
          </a:p>
          <a:p>
            <a:r>
              <a:rPr lang="en-US" b="0" dirty="0" smtClean="0">
                <a:latin typeface="Arial" pitchFamily="-110" charset="0"/>
                <a:ea typeface="ＭＳ Ｐゴシック" pitchFamily="-110" charset="-128"/>
                <a:cs typeface="ＭＳ Ｐゴシック" pitchFamily="-110" charset="-128"/>
              </a:rPr>
              <a:t>software implementations practical.</a:t>
            </a:r>
          </a:p>
          <a:p>
            <a:endParaRPr lang="en-US" b="0" dirty="0" smtClean="0">
              <a:latin typeface="Arial" pitchFamily="-110" charset="0"/>
              <a:ea typeface="ＭＳ Ｐゴシック" pitchFamily="-110" charset="-128"/>
              <a:cs typeface="ＭＳ Ｐゴシック" pitchFamily="-110" charset="-128"/>
            </a:endParaRPr>
          </a:p>
          <a:p>
            <a:r>
              <a:rPr lang="en-US" b="0" dirty="0" smtClean="0">
                <a:latin typeface="Arial" pitchFamily="-110" charset="0"/>
                <a:ea typeface="ＭＳ Ｐゴシック" pitchFamily="-110" charset="-128"/>
                <a:cs typeface="ＭＳ Ｐゴシック" pitchFamily="-110" charset="-128"/>
              </a:rPr>
              <a:t>4. For any given code </a:t>
            </a:r>
            <a:r>
              <a:rPr lang="en-US" b="0" i="1" dirty="0" err="1" smtClean="0">
                <a:latin typeface="Arial" pitchFamily="-110" charset="0"/>
                <a:ea typeface="ＭＳ Ｐゴシック" pitchFamily="-110" charset="-128"/>
                <a:cs typeface="ＭＳ Ｐゴシック" pitchFamily="-110" charset="-128"/>
              </a:rPr>
              <a:t>h</a:t>
            </a:r>
            <a:r>
              <a:rPr lang="en-US" b="0" i="1" dirty="0" smtClean="0">
                <a:latin typeface="Arial" pitchFamily="-110" charset="0"/>
                <a:ea typeface="ＭＳ Ｐゴシック" pitchFamily="-110" charset="-128"/>
                <a:cs typeface="ＭＳ Ｐゴシック" pitchFamily="-110" charset="-128"/>
              </a:rPr>
              <a:t>, it is computationally infeasible to find </a:t>
            </a:r>
            <a:r>
              <a:rPr lang="en-US" b="0" i="1" dirty="0" err="1" smtClean="0">
                <a:latin typeface="Arial" pitchFamily="-110" charset="0"/>
                <a:ea typeface="ＭＳ Ｐゴシック" pitchFamily="-110" charset="-128"/>
                <a:cs typeface="ＭＳ Ｐゴシック" pitchFamily="-110" charset="-128"/>
              </a:rPr>
              <a:t>x</a:t>
            </a:r>
            <a:r>
              <a:rPr lang="en-US" b="0" i="1" dirty="0" smtClean="0">
                <a:latin typeface="Arial" pitchFamily="-110" charset="0"/>
                <a:ea typeface="ＭＳ Ｐゴシック" pitchFamily="-110" charset="-128"/>
                <a:cs typeface="ＭＳ Ｐゴシック" pitchFamily="-110" charset="-128"/>
              </a:rPr>
              <a:t> such that</a:t>
            </a:r>
          </a:p>
          <a:p>
            <a:r>
              <a:rPr lang="en-US" b="0" dirty="0" err="1" smtClean="0">
                <a:latin typeface="Arial" pitchFamily="-110" charset="0"/>
                <a:ea typeface="ＭＳ Ｐゴシック" pitchFamily="-110" charset="-128"/>
                <a:cs typeface="ＭＳ Ｐゴシック" pitchFamily="-110" charset="-128"/>
              </a:rPr>
              <a:t>H(</a:t>
            </a:r>
            <a:r>
              <a:rPr lang="en-US" b="0" i="1" dirty="0" err="1" smtClean="0">
                <a:latin typeface="Arial" pitchFamily="-110" charset="0"/>
                <a:ea typeface="ＭＳ Ｐゴシック" pitchFamily="-110" charset="-128"/>
                <a:cs typeface="ＭＳ Ｐゴシック" pitchFamily="-110" charset="-128"/>
              </a:rPr>
              <a:t>x</a:t>
            </a:r>
            <a:r>
              <a:rPr lang="en-US" b="0" i="1" dirty="0" smtClean="0">
                <a:latin typeface="Arial" pitchFamily="-110" charset="0"/>
                <a:ea typeface="ＭＳ Ｐゴシック" pitchFamily="-110" charset="-128"/>
                <a:cs typeface="ＭＳ Ｐゴシック" pitchFamily="-110" charset="-128"/>
              </a:rPr>
              <a:t>)  </a:t>
            </a:r>
            <a:r>
              <a:rPr lang="en-US" b="0" i="1" dirty="0" err="1" smtClean="0">
                <a:latin typeface="Arial" pitchFamily="-110" charset="0"/>
                <a:ea typeface="ＭＳ Ｐゴシック" pitchFamily="-110" charset="-128"/>
                <a:cs typeface="ＭＳ Ｐゴシック" pitchFamily="-110" charset="-128"/>
              </a:rPr>
              <a:t>h</a:t>
            </a:r>
            <a:r>
              <a:rPr lang="en-US" b="0" i="1" dirty="0" smtClean="0">
                <a:latin typeface="Arial" pitchFamily="-110" charset="0"/>
                <a:ea typeface="ＭＳ Ｐゴシック" pitchFamily="-110" charset="-128"/>
                <a:cs typeface="ＭＳ Ｐゴシック" pitchFamily="-110" charset="-128"/>
              </a:rPr>
              <a:t>. A hash function with this property is referred to as one-way or </a:t>
            </a:r>
            <a:r>
              <a:rPr lang="en-US" b="0" i="1" dirty="0" err="1" smtClean="0">
                <a:latin typeface="Arial" pitchFamily="-110" charset="0"/>
                <a:ea typeface="ＭＳ Ｐゴシック" pitchFamily="-110" charset="-128"/>
                <a:cs typeface="ＭＳ Ｐゴシック" pitchFamily="-110" charset="-128"/>
              </a:rPr>
              <a:t>preimage</a:t>
            </a:r>
            <a:endParaRPr lang="en-US" b="0" i="1" dirty="0" smtClean="0">
              <a:latin typeface="Arial" pitchFamily="-110" charset="0"/>
              <a:ea typeface="ＭＳ Ｐゴシック" pitchFamily="-110" charset="-128"/>
              <a:cs typeface="ＭＳ Ｐゴシック" pitchFamily="-110" charset="-128"/>
            </a:endParaRPr>
          </a:p>
          <a:p>
            <a:r>
              <a:rPr lang="en-US" b="0" dirty="0" smtClean="0">
                <a:latin typeface="Arial" pitchFamily="-110" charset="0"/>
                <a:ea typeface="ＭＳ Ｐゴシック" pitchFamily="-110" charset="-128"/>
                <a:cs typeface="ＭＳ Ｐゴシック" pitchFamily="-110" charset="-128"/>
              </a:rPr>
              <a:t>resistant.</a:t>
            </a:r>
          </a:p>
          <a:p>
            <a:endParaRPr lang="en-US" b="0" dirty="0" smtClean="0">
              <a:latin typeface="Arial" pitchFamily="-110" charset="0"/>
              <a:ea typeface="ＭＳ Ｐゴシック" pitchFamily="-110" charset="-128"/>
              <a:cs typeface="ＭＳ Ｐゴシック" pitchFamily="-110" charset="-128"/>
            </a:endParaRPr>
          </a:p>
          <a:p>
            <a:r>
              <a:rPr lang="en-US" b="0" dirty="0" smtClean="0">
                <a:latin typeface="Arial" pitchFamily="-110" charset="0"/>
                <a:ea typeface="ＭＳ Ｐゴシック" pitchFamily="-110" charset="-128"/>
                <a:cs typeface="ＭＳ Ｐゴシック" pitchFamily="-110" charset="-128"/>
              </a:rPr>
              <a:t>5. For any given block </a:t>
            </a:r>
            <a:r>
              <a:rPr lang="en-US" b="0" i="1" dirty="0" smtClean="0">
                <a:latin typeface="Arial" pitchFamily="-110" charset="0"/>
                <a:ea typeface="ＭＳ Ｐゴシック" pitchFamily="-110" charset="-128"/>
                <a:cs typeface="ＭＳ Ｐゴシック" pitchFamily="-110" charset="-128"/>
              </a:rPr>
              <a:t>x, it is computationally infeasible to find y ≠ x with</a:t>
            </a:r>
          </a:p>
          <a:p>
            <a:r>
              <a:rPr lang="en-US" b="0" dirty="0" err="1" smtClean="0">
                <a:latin typeface="Arial" pitchFamily="-110" charset="0"/>
                <a:ea typeface="ＭＳ Ｐゴシック" pitchFamily="-110" charset="-128"/>
                <a:cs typeface="ＭＳ Ｐゴシック" pitchFamily="-110" charset="-128"/>
              </a:rPr>
              <a:t>H(</a:t>
            </a:r>
            <a:r>
              <a:rPr lang="en-US" b="0" i="1" dirty="0" err="1" smtClean="0">
                <a:latin typeface="Arial" pitchFamily="-110" charset="0"/>
                <a:ea typeface="ＭＳ Ｐゴシック" pitchFamily="-110" charset="-128"/>
                <a:cs typeface="ＭＳ Ｐゴシック" pitchFamily="-110" charset="-128"/>
              </a:rPr>
              <a:t>y</a:t>
            </a:r>
            <a:r>
              <a:rPr lang="en-US" b="0" i="1" dirty="0" smtClean="0">
                <a:latin typeface="Arial" pitchFamily="-110" charset="0"/>
                <a:ea typeface="ＭＳ Ｐゴシック" pitchFamily="-110" charset="-128"/>
                <a:cs typeface="ＭＳ Ｐゴシック" pitchFamily="-110" charset="-128"/>
              </a:rPr>
              <a:t>)  </a:t>
            </a:r>
            <a:r>
              <a:rPr lang="en-US" b="0" i="1" dirty="0" err="1" smtClean="0">
                <a:latin typeface="Arial" pitchFamily="-110" charset="0"/>
                <a:ea typeface="ＭＳ Ｐゴシック" pitchFamily="-110" charset="-128"/>
                <a:cs typeface="ＭＳ Ｐゴシック" pitchFamily="-110" charset="-128"/>
              </a:rPr>
              <a:t>H(x</a:t>
            </a:r>
            <a:r>
              <a:rPr lang="en-US" b="0" i="1" dirty="0" smtClean="0">
                <a:latin typeface="Arial" pitchFamily="-110" charset="0"/>
                <a:ea typeface="ＭＳ Ｐゴシック" pitchFamily="-110" charset="-128"/>
                <a:cs typeface="ＭＳ Ｐゴシック" pitchFamily="-110" charset="-128"/>
              </a:rPr>
              <a:t>). A hash function with this property is referred to as second </a:t>
            </a:r>
            <a:r>
              <a:rPr lang="en-US" b="0" i="1" dirty="0" err="1" smtClean="0">
                <a:latin typeface="Arial" pitchFamily="-110" charset="0"/>
                <a:ea typeface="ＭＳ Ｐゴシック" pitchFamily="-110" charset="-128"/>
                <a:cs typeface="ＭＳ Ｐゴシック" pitchFamily="-110" charset="-128"/>
              </a:rPr>
              <a:t>preimage</a:t>
            </a:r>
            <a:endParaRPr lang="en-US" b="0" i="1" dirty="0" smtClean="0">
              <a:latin typeface="Arial" pitchFamily="-110" charset="0"/>
              <a:ea typeface="ＭＳ Ｐゴシック" pitchFamily="-110" charset="-128"/>
              <a:cs typeface="ＭＳ Ｐゴシック" pitchFamily="-110" charset="-128"/>
            </a:endParaRPr>
          </a:p>
          <a:p>
            <a:r>
              <a:rPr lang="en-US" b="0" dirty="0" smtClean="0">
                <a:latin typeface="Arial" pitchFamily="-110" charset="0"/>
                <a:ea typeface="ＭＳ Ｐゴシック" pitchFamily="-110" charset="-128"/>
                <a:cs typeface="ＭＳ Ｐゴシック" pitchFamily="-110" charset="-128"/>
              </a:rPr>
              <a:t>resistant. This is sometimes referred to as weak collision resistant.</a:t>
            </a:r>
          </a:p>
          <a:p>
            <a:endParaRPr lang="en-US" b="0" dirty="0" smtClean="0">
              <a:latin typeface="Arial" pitchFamily="-110" charset="0"/>
              <a:ea typeface="ＭＳ Ｐゴシック" pitchFamily="-110" charset="-128"/>
              <a:cs typeface="ＭＳ Ｐゴシック" pitchFamily="-110" charset="-128"/>
            </a:endParaRPr>
          </a:p>
          <a:p>
            <a:r>
              <a:rPr lang="en-US" b="0" dirty="0" smtClean="0">
                <a:latin typeface="Arial" pitchFamily="-110" charset="0"/>
                <a:ea typeface="ＭＳ Ｐゴシック" pitchFamily="-110" charset="-128"/>
                <a:cs typeface="ＭＳ Ｐゴシック" pitchFamily="-110" charset="-128"/>
              </a:rPr>
              <a:t>6. It is computationally infeasible to find any pair (</a:t>
            </a:r>
            <a:r>
              <a:rPr lang="en-US" b="0" i="1" dirty="0" err="1" smtClean="0">
                <a:latin typeface="Arial" pitchFamily="-110" charset="0"/>
                <a:ea typeface="ＭＳ Ｐゴシック" pitchFamily="-110" charset="-128"/>
                <a:cs typeface="ＭＳ Ｐゴシック" pitchFamily="-110" charset="-128"/>
              </a:rPr>
              <a:t>x</a:t>
            </a:r>
            <a:r>
              <a:rPr lang="en-US" b="0" i="1" dirty="0" smtClean="0">
                <a:latin typeface="Arial" pitchFamily="-110" charset="0"/>
                <a:ea typeface="ＭＳ Ｐゴシック" pitchFamily="-110" charset="-128"/>
                <a:cs typeface="ＭＳ Ｐゴシック" pitchFamily="-110" charset="-128"/>
              </a:rPr>
              <a:t>, </a:t>
            </a:r>
            <a:r>
              <a:rPr lang="en-US" b="0" i="1" dirty="0" err="1" smtClean="0">
                <a:latin typeface="Arial" pitchFamily="-110" charset="0"/>
                <a:ea typeface="ＭＳ Ｐゴシック" pitchFamily="-110" charset="-128"/>
                <a:cs typeface="ＭＳ Ｐゴシック" pitchFamily="-110" charset="-128"/>
              </a:rPr>
              <a:t>y</a:t>
            </a:r>
            <a:r>
              <a:rPr lang="en-US" b="0" i="1" dirty="0" smtClean="0">
                <a:latin typeface="Arial" pitchFamily="-110" charset="0"/>
                <a:ea typeface="ＭＳ Ｐゴシック" pitchFamily="-110" charset="-128"/>
                <a:cs typeface="ＭＳ Ｐゴシック" pitchFamily="-110" charset="-128"/>
              </a:rPr>
              <a:t>) such that </a:t>
            </a:r>
            <a:r>
              <a:rPr lang="en-US" b="0" i="1" dirty="0" err="1" smtClean="0">
                <a:latin typeface="Arial" pitchFamily="-110" charset="0"/>
                <a:ea typeface="ＭＳ Ｐゴシック" pitchFamily="-110" charset="-128"/>
                <a:cs typeface="ＭＳ Ｐゴシック" pitchFamily="-110" charset="-128"/>
              </a:rPr>
              <a:t>H(x</a:t>
            </a:r>
            <a:r>
              <a:rPr lang="en-US" b="0" i="1" dirty="0" smtClean="0">
                <a:latin typeface="Arial" pitchFamily="-110" charset="0"/>
                <a:ea typeface="ＭＳ Ｐゴシック" pitchFamily="-110" charset="-128"/>
                <a:cs typeface="ＭＳ Ｐゴシック" pitchFamily="-110" charset="-128"/>
              </a:rPr>
              <a:t>)  </a:t>
            </a:r>
            <a:r>
              <a:rPr lang="en-US" b="0" i="1" dirty="0" err="1" smtClean="0">
                <a:latin typeface="Arial" pitchFamily="-110" charset="0"/>
                <a:ea typeface="ＭＳ Ｐゴシック" pitchFamily="-110" charset="-128"/>
                <a:cs typeface="ＭＳ Ｐゴシック" pitchFamily="-110" charset="-128"/>
              </a:rPr>
              <a:t>H(y</a:t>
            </a:r>
            <a:r>
              <a:rPr lang="en-US" b="0" i="1" dirty="0" smtClean="0">
                <a:latin typeface="Arial" pitchFamily="-110" charset="0"/>
                <a:ea typeface="ＭＳ Ｐゴシック" pitchFamily="-110" charset="-128"/>
                <a:cs typeface="ＭＳ Ｐゴシック" pitchFamily="-110" charset="-128"/>
              </a:rPr>
              <a:t>).</a:t>
            </a:r>
          </a:p>
          <a:p>
            <a:r>
              <a:rPr lang="en-US" b="0" dirty="0" smtClean="0">
                <a:latin typeface="Arial" pitchFamily="-110" charset="0"/>
                <a:ea typeface="ＭＳ Ｐゴシック" pitchFamily="-110" charset="-128"/>
                <a:cs typeface="ＭＳ Ｐゴシック" pitchFamily="-110" charset="-128"/>
              </a:rPr>
              <a:t>A hash function with this property is referred to as collision resistant. This is</a:t>
            </a:r>
          </a:p>
          <a:p>
            <a:r>
              <a:rPr lang="en-US" b="0" dirty="0" smtClean="0">
                <a:latin typeface="Arial" pitchFamily="-110" charset="0"/>
                <a:ea typeface="ＭＳ Ｐゴシック" pitchFamily="-110" charset="-128"/>
                <a:cs typeface="ＭＳ Ｐゴシック" pitchFamily="-110" charset="-128"/>
              </a:rPr>
              <a:t>sometimes referred to as strong collision resistant.</a:t>
            </a:r>
          </a:p>
          <a:p>
            <a:endParaRPr lang="en-US" b="0" dirty="0" smtClean="0">
              <a:latin typeface="Arial" pitchFamily="-110" charset="0"/>
              <a:ea typeface="ＭＳ Ｐゴシック" pitchFamily="-110" charset="-128"/>
              <a:cs typeface="ＭＳ Ｐゴシック" pitchFamily="-110" charset="-128"/>
            </a:endParaRPr>
          </a:p>
          <a:p>
            <a:r>
              <a:rPr lang="en-US" b="0" dirty="0" smtClean="0">
                <a:latin typeface="Arial" pitchFamily="-110" charset="0"/>
                <a:ea typeface="ＭＳ Ｐゴシック" pitchFamily="-110" charset="-128"/>
                <a:cs typeface="ＭＳ Ｐゴシック" pitchFamily="-110" charset="-128"/>
              </a:rPr>
              <a:t>The first three properties are requirements for the practical application of a hash</a:t>
            </a:r>
          </a:p>
          <a:p>
            <a:r>
              <a:rPr lang="en-US" b="0" dirty="0" smtClean="0">
                <a:latin typeface="Arial" pitchFamily="-110" charset="0"/>
                <a:ea typeface="ＭＳ Ｐゴシック" pitchFamily="-110" charset="-128"/>
                <a:cs typeface="ＭＳ Ｐゴシック" pitchFamily="-110" charset="-128"/>
              </a:rPr>
              <a:t>function to message authentication.</a:t>
            </a:r>
          </a:p>
          <a:p>
            <a:endParaRPr lang="en-US" b="0" dirty="0" smtClean="0">
              <a:latin typeface="Arial" pitchFamily="-110" charset="0"/>
              <a:ea typeface="ＭＳ Ｐゴシック" pitchFamily="-110" charset="-128"/>
              <a:cs typeface="ＭＳ Ｐゴシック" pitchFamily="-110" charset="-128"/>
            </a:endParaRPr>
          </a:p>
          <a:p>
            <a:r>
              <a:rPr lang="en-US" b="0" dirty="0" smtClean="0">
                <a:latin typeface="Arial" pitchFamily="-110" charset="0"/>
                <a:ea typeface="ＭＳ Ｐゴシック" pitchFamily="-110" charset="-128"/>
                <a:cs typeface="ＭＳ Ｐゴシック" pitchFamily="-110" charset="-128"/>
              </a:rPr>
              <a:t>The fourth property is the one-way property: It is easy to generate a code given a</a:t>
            </a:r>
          </a:p>
          <a:p>
            <a:r>
              <a:rPr lang="en-US" b="0" dirty="0" smtClean="0">
                <a:latin typeface="Arial" pitchFamily="-110" charset="0"/>
                <a:ea typeface="ＭＳ Ｐゴシック" pitchFamily="-110" charset="-128"/>
                <a:cs typeface="ＭＳ Ｐゴシック" pitchFamily="-110" charset="-128"/>
              </a:rPr>
              <a:t>message, but virtually impossible to generate a message given a code. This property is</a:t>
            </a:r>
          </a:p>
          <a:p>
            <a:r>
              <a:rPr lang="en-US" b="0" dirty="0" smtClean="0">
                <a:latin typeface="Arial" pitchFamily="-110" charset="0"/>
                <a:ea typeface="ＭＳ Ｐゴシック" pitchFamily="-110" charset="-128"/>
                <a:cs typeface="ＭＳ Ｐゴシック" pitchFamily="-110" charset="-128"/>
              </a:rPr>
              <a:t>important if the authentication technique involves the use of a secret value (Figure 2.5c).</a:t>
            </a:r>
          </a:p>
          <a:p>
            <a:r>
              <a:rPr lang="en-US" b="0" dirty="0" smtClean="0">
                <a:latin typeface="Arial" pitchFamily="-110" charset="0"/>
                <a:ea typeface="ＭＳ Ｐゴシック" pitchFamily="-110" charset="-128"/>
                <a:cs typeface="ＭＳ Ｐゴシック" pitchFamily="-110" charset="-128"/>
              </a:rPr>
              <a:t>The secret value itself is not sent; however, if the hash function is not one way, an attacker</a:t>
            </a:r>
          </a:p>
          <a:p>
            <a:r>
              <a:rPr lang="en-US" b="0" dirty="0" smtClean="0">
                <a:latin typeface="Arial" pitchFamily="-110" charset="0"/>
                <a:ea typeface="ＭＳ Ｐゴシック" pitchFamily="-110" charset="-128"/>
                <a:cs typeface="ＭＳ Ｐゴシック" pitchFamily="-110" charset="-128"/>
              </a:rPr>
              <a:t>can easily discover the secret value: If the attacker can observe or intercept a transmission,</a:t>
            </a:r>
          </a:p>
          <a:p>
            <a:r>
              <a:rPr lang="en-US" b="0" dirty="0" smtClean="0">
                <a:latin typeface="Arial" pitchFamily="-110" charset="0"/>
                <a:ea typeface="ＭＳ Ｐゴシック" pitchFamily="-110" charset="-128"/>
                <a:cs typeface="ＭＳ Ｐゴシック" pitchFamily="-110" charset="-128"/>
              </a:rPr>
              <a:t>the attacker obtains the message </a:t>
            </a:r>
            <a:r>
              <a:rPr lang="en-US" b="0" i="1" dirty="0" smtClean="0">
                <a:latin typeface="Arial" pitchFamily="-110" charset="0"/>
                <a:ea typeface="ＭＳ Ｐゴシック" pitchFamily="-110" charset="-128"/>
                <a:cs typeface="ＭＳ Ｐゴシック" pitchFamily="-110" charset="-128"/>
              </a:rPr>
              <a:t>M and the hash code MD</a:t>
            </a:r>
            <a:r>
              <a:rPr lang="en-US" b="0" i="1" baseline="-25000" dirty="0" smtClean="0">
                <a:latin typeface="Arial" pitchFamily="-110" charset="0"/>
                <a:ea typeface="ＭＳ Ｐゴシック" pitchFamily="-110" charset="-128"/>
                <a:cs typeface="ＭＳ Ｐゴシック" pitchFamily="-110" charset="-128"/>
              </a:rPr>
              <a:t>M</a:t>
            </a:r>
            <a:r>
              <a:rPr lang="en-US" b="0" i="1" dirty="0" smtClean="0">
                <a:latin typeface="Arial" pitchFamily="-110" charset="0"/>
                <a:ea typeface="ＭＳ Ｐゴシック" pitchFamily="-110" charset="-128"/>
                <a:cs typeface="ＭＳ Ｐゴシック" pitchFamily="-110" charset="-128"/>
              </a:rPr>
              <a:t>  = H(K || M || K). The attacker</a:t>
            </a:r>
          </a:p>
          <a:p>
            <a:r>
              <a:rPr lang="en-US" b="0" dirty="0" smtClean="0">
                <a:latin typeface="Arial" pitchFamily="-110" charset="0"/>
                <a:ea typeface="ＭＳ Ｐゴシック" pitchFamily="-110" charset="-128"/>
                <a:cs typeface="ＭＳ Ｐゴシック" pitchFamily="-110" charset="-128"/>
              </a:rPr>
              <a:t>then inverts the hash function to obtain K</a:t>
            </a:r>
            <a:r>
              <a:rPr lang="en-US" b="0" i="1" dirty="0" smtClean="0">
                <a:latin typeface="Arial" pitchFamily="-110" charset="0"/>
                <a:ea typeface="ＭＳ Ｐゴシック" pitchFamily="-110" charset="-128"/>
                <a:cs typeface="ＭＳ Ｐゴシック" pitchFamily="-110" charset="-128"/>
              </a:rPr>
              <a:t> || M || K =  H</a:t>
            </a:r>
            <a:r>
              <a:rPr lang="en-US" b="0" i="1" baseline="30000" dirty="0" smtClean="0">
                <a:latin typeface="Arial" pitchFamily="-110" charset="0"/>
                <a:ea typeface="ＭＳ Ｐゴシック" pitchFamily="-110" charset="-128"/>
                <a:cs typeface="ＭＳ Ｐゴシック" pitchFamily="-110" charset="-128"/>
              </a:rPr>
              <a:t>-1</a:t>
            </a:r>
            <a:r>
              <a:rPr lang="en-US" b="0" i="1" dirty="0" smtClean="0">
                <a:latin typeface="Arial" pitchFamily="-110" charset="0"/>
                <a:ea typeface="ＭＳ Ｐゴシック" pitchFamily="-110" charset="-128"/>
                <a:cs typeface="ＭＳ Ｐゴシック" pitchFamily="-110" charset="-128"/>
              </a:rPr>
              <a:t>(MD</a:t>
            </a:r>
            <a:r>
              <a:rPr lang="en-US" b="0" i="1" baseline="-25000" dirty="0" smtClean="0">
                <a:latin typeface="Arial" pitchFamily="-110" charset="0"/>
                <a:ea typeface="ＭＳ Ｐゴシック" pitchFamily="-110" charset="-128"/>
                <a:cs typeface="ＭＳ Ｐゴシック" pitchFamily="-110" charset="-128"/>
              </a:rPr>
              <a:t>M</a:t>
            </a:r>
            <a:r>
              <a:rPr lang="en-US" b="0" i="1" dirty="0" smtClean="0">
                <a:latin typeface="Arial" pitchFamily="-110" charset="0"/>
                <a:ea typeface="ＭＳ Ｐゴシック" pitchFamily="-110" charset="-128"/>
                <a:cs typeface="ＭＳ Ｐゴシック" pitchFamily="-110" charset="-128"/>
              </a:rPr>
              <a:t>). Because the attacker now</a:t>
            </a:r>
          </a:p>
          <a:p>
            <a:r>
              <a:rPr lang="en-US" b="0" dirty="0" smtClean="0">
                <a:latin typeface="Arial" pitchFamily="-110" charset="0"/>
                <a:ea typeface="ＭＳ Ｐゴシック" pitchFamily="-110" charset="-128"/>
                <a:cs typeface="ＭＳ Ｐゴシック" pitchFamily="-110" charset="-128"/>
              </a:rPr>
              <a:t>has both </a:t>
            </a:r>
            <a:r>
              <a:rPr lang="en-US" b="0" i="1" dirty="0" smtClean="0">
                <a:latin typeface="Arial" pitchFamily="-110" charset="0"/>
                <a:ea typeface="ＭＳ Ｐゴシック" pitchFamily="-110" charset="-128"/>
                <a:cs typeface="ＭＳ Ｐゴシック" pitchFamily="-110" charset="-128"/>
              </a:rPr>
              <a:t>M and K || M || K, it is a trivial matter to recover K.</a:t>
            </a:r>
          </a:p>
          <a:p>
            <a:endParaRPr lang="en-US" b="0" dirty="0" smtClean="0">
              <a:latin typeface="Arial" pitchFamily="-110" charset="0"/>
              <a:ea typeface="ＭＳ Ｐゴシック" pitchFamily="-110" charset="-128"/>
              <a:cs typeface="ＭＳ Ｐゴシック" pitchFamily="-110" charset="-128"/>
            </a:endParaRPr>
          </a:p>
          <a:p>
            <a:r>
              <a:rPr lang="en-US" b="0" dirty="0" smtClean="0">
                <a:latin typeface="Arial" pitchFamily="-110" charset="0"/>
                <a:ea typeface="ＭＳ Ｐゴシック" pitchFamily="-110" charset="-128"/>
                <a:cs typeface="ＭＳ Ｐゴシック" pitchFamily="-110" charset="-128"/>
              </a:rPr>
              <a:t>The fifth property guarantees that it is impossible to find an alternative</a:t>
            </a:r>
          </a:p>
          <a:p>
            <a:r>
              <a:rPr lang="en-US" b="0" dirty="0" smtClean="0">
                <a:latin typeface="Arial" pitchFamily="-110" charset="0"/>
                <a:ea typeface="ＭＳ Ｐゴシック" pitchFamily="-110" charset="-128"/>
                <a:cs typeface="ＭＳ Ｐゴシック" pitchFamily="-110" charset="-128"/>
              </a:rPr>
              <a:t>message with the same hash value as a given message. This prevents forgery when</a:t>
            </a:r>
          </a:p>
          <a:p>
            <a:r>
              <a:rPr lang="en-US" b="0" dirty="0" smtClean="0">
                <a:latin typeface="Arial" pitchFamily="-110" charset="0"/>
                <a:ea typeface="ＭＳ Ｐゴシック" pitchFamily="-110" charset="-128"/>
                <a:cs typeface="ＭＳ Ｐゴシック" pitchFamily="-110" charset="-128"/>
              </a:rPr>
              <a:t>an encrypted hash code is used (Figures 2.5a and b). If this property were not true,</a:t>
            </a:r>
          </a:p>
          <a:p>
            <a:r>
              <a:rPr lang="en-US" b="0" dirty="0" smtClean="0">
                <a:latin typeface="Arial" pitchFamily="-110" charset="0"/>
                <a:ea typeface="ＭＳ Ｐゴシック" pitchFamily="-110" charset="-128"/>
                <a:cs typeface="ＭＳ Ｐゴシック" pitchFamily="-110" charset="-128"/>
              </a:rPr>
              <a:t>an attacker would be capable of the following sequence: First, observe or intercept</a:t>
            </a:r>
          </a:p>
          <a:p>
            <a:r>
              <a:rPr lang="en-US" b="0" dirty="0" smtClean="0">
                <a:latin typeface="Arial" pitchFamily="-110" charset="0"/>
                <a:ea typeface="ＭＳ Ｐゴシック" pitchFamily="-110" charset="-128"/>
                <a:cs typeface="ＭＳ Ｐゴシック" pitchFamily="-110" charset="-128"/>
              </a:rPr>
              <a:t>a message plus its encrypted hash code; second, generate an unencrypted hash code</a:t>
            </a:r>
          </a:p>
          <a:p>
            <a:r>
              <a:rPr lang="en-US" b="0" dirty="0" smtClean="0">
                <a:latin typeface="Arial" pitchFamily="-110" charset="0"/>
                <a:ea typeface="ＭＳ Ｐゴシック" pitchFamily="-110" charset="-128"/>
                <a:cs typeface="ＭＳ Ｐゴシック" pitchFamily="-110" charset="-128"/>
              </a:rPr>
              <a:t>from the message; third, generate an alternate message with the same hash code.</a:t>
            </a:r>
          </a:p>
          <a:p>
            <a:endParaRPr lang="en-US" b="0" dirty="0" smtClean="0">
              <a:latin typeface="Arial" pitchFamily="-110" charset="0"/>
              <a:ea typeface="ＭＳ Ｐゴシック" pitchFamily="-110" charset="-128"/>
              <a:cs typeface="ＭＳ Ｐゴシック" pitchFamily="-110" charset="-128"/>
            </a:endParaRPr>
          </a:p>
          <a:p>
            <a:r>
              <a:rPr lang="en-US" b="0" dirty="0" smtClean="0">
                <a:latin typeface="Arial" pitchFamily="-110" charset="0"/>
                <a:ea typeface="ＭＳ Ｐゴシック" pitchFamily="-110" charset="-128"/>
                <a:cs typeface="ＭＳ Ｐゴシック" pitchFamily="-110" charset="-128"/>
              </a:rPr>
              <a:t>A hash function that satisfies the first five properties in the preceding list is</a:t>
            </a:r>
          </a:p>
          <a:p>
            <a:r>
              <a:rPr lang="en-US" b="0" dirty="0" smtClean="0">
                <a:latin typeface="Arial" pitchFamily="-110" charset="0"/>
                <a:ea typeface="ＭＳ Ｐゴシック" pitchFamily="-110" charset="-128"/>
                <a:cs typeface="ＭＳ Ｐゴシック" pitchFamily="-110" charset="-128"/>
              </a:rPr>
              <a:t>referred to as a weak hash function. If the sixth property is also satisfied, then it</a:t>
            </a:r>
          </a:p>
          <a:p>
            <a:r>
              <a:rPr lang="en-US" b="0" dirty="0" smtClean="0">
                <a:latin typeface="Arial" pitchFamily="-110" charset="0"/>
                <a:ea typeface="ＭＳ Ｐゴシック" pitchFamily="-110" charset="-128"/>
                <a:cs typeface="ＭＳ Ｐゴシック" pitchFamily="-110" charset="-128"/>
              </a:rPr>
              <a:t>is referred to as a strong hash function. A strong hash function protects against an</a:t>
            </a:r>
          </a:p>
          <a:p>
            <a:r>
              <a:rPr lang="en-US" b="0" dirty="0" smtClean="0">
                <a:latin typeface="Arial" pitchFamily="-110" charset="0"/>
                <a:ea typeface="ＭＳ Ｐゴシック" pitchFamily="-110" charset="-128"/>
                <a:cs typeface="ＭＳ Ｐゴシック" pitchFamily="-110" charset="-128"/>
              </a:rPr>
              <a:t>attack in which one party generates a message for another party to sign. For example,</a:t>
            </a:r>
          </a:p>
          <a:p>
            <a:r>
              <a:rPr lang="en-US" b="0" dirty="0" smtClean="0">
                <a:latin typeface="Arial" pitchFamily="-110" charset="0"/>
                <a:ea typeface="ＭＳ Ｐゴシック" pitchFamily="-110" charset="-128"/>
                <a:cs typeface="ＭＳ Ｐゴシック" pitchFamily="-110" charset="-128"/>
              </a:rPr>
              <a:t>suppose Bob gets to write an IOU message, send it to Alice, and she signs it.</a:t>
            </a:r>
          </a:p>
          <a:p>
            <a:r>
              <a:rPr lang="en-US" b="0" dirty="0" smtClean="0">
                <a:latin typeface="Arial" pitchFamily="-110" charset="0"/>
                <a:ea typeface="ＭＳ Ｐゴシック" pitchFamily="-110" charset="-128"/>
                <a:cs typeface="ＭＳ Ｐゴシック" pitchFamily="-110" charset="-128"/>
              </a:rPr>
              <a:t>Bob finds two messages with the same hash, one of which requires Alice to pay a</a:t>
            </a:r>
          </a:p>
          <a:p>
            <a:r>
              <a:rPr lang="en-US" b="0" dirty="0" smtClean="0">
                <a:latin typeface="Arial" pitchFamily="-110" charset="0"/>
                <a:ea typeface="ＭＳ Ｐゴシック" pitchFamily="-110" charset="-128"/>
                <a:cs typeface="ＭＳ Ｐゴシック" pitchFamily="-110" charset="-128"/>
              </a:rPr>
              <a:t>small amount and one that requires a large payment. Alice signs the first message</a:t>
            </a:r>
          </a:p>
          <a:p>
            <a:r>
              <a:rPr lang="en-US" b="0" dirty="0" smtClean="0">
                <a:latin typeface="Arial" pitchFamily="-110" charset="0"/>
                <a:ea typeface="ＭＳ Ｐゴシック" pitchFamily="-110" charset="-128"/>
                <a:cs typeface="ＭＳ Ｐゴシック" pitchFamily="-110" charset="-128"/>
              </a:rPr>
              <a:t>and Bob is then able to claim that the second message is authentic.</a:t>
            </a:r>
            <a:endParaRPr lang="en-US" b="0" dirty="0" smtClean="0">
              <a:latin typeface="Times New Roman" pitchFamily="-110" charset="0"/>
              <a:ea typeface="ＭＳ Ｐゴシック" pitchFamily="-110" charset="-128"/>
              <a:cs typeface="ＭＳ Ｐゴシック" pitchFamily="-110" charset="-128"/>
            </a:endParaRPr>
          </a:p>
        </p:txBody>
      </p:sp>
    </p:spTree>
    <p:extLst>
      <p:ext uri="{BB962C8B-B14F-4D97-AF65-F5344CB8AC3E}">
        <p14:creationId xmlns:p14="http://schemas.microsoft.com/office/powerpoint/2010/main" val="30651679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endParaRPr lang="en-US" dirty="0">
              <a:solidFill>
                <a:prstClr val="white">
                  <a:lumMod val="65000"/>
                  <a:lumOff val="35000"/>
                </a:prstClr>
              </a:solidFill>
            </a:endParaRPr>
          </a:p>
        </p:txBody>
      </p:sp>
      <p:sp>
        <p:nvSpPr>
          <p:cNvPr id="5" name="Footer Placeholder 4"/>
          <p:cNvSpPr>
            <a:spLocks noGrp="1"/>
          </p:cNvSpPr>
          <p:nvPr>
            <p:ph type="ftr" sz="quarter" idx="11"/>
          </p:nvPr>
        </p:nvSpPr>
        <p:spPr/>
        <p:txBody>
          <a:bodyPr/>
          <a:lstStyle/>
          <a:p>
            <a:endParaRPr lang="en-US" dirty="0">
              <a:solidFill>
                <a:prstClr val="white">
                  <a:lumMod val="65000"/>
                  <a:lumOff val="35000"/>
                </a:prstClr>
              </a:solidFill>
            </a:endParaRPr>
          </a:p>
        </p:txBody>
      </p:sp>
      <p:sp>
        <p:nvSpPr>
          <p:cNvPr id="6" name="Slide Number Placeholder 5"/>
          <p:cNvSpPr>
            <a:spLocks noGrp="1"/>
          </p:cNvSpPr>
          <p:nvPr>
            <p:ph type="sldNum" sz="quarter" idx="12"/>
          </p:nvPr>
        </p:nvSpPr>
        <p:spPr/>
        <p:txBody>
          <a:bodyPr/>
          <a:lstStyle/>
          <a:p>
            <a:fld id="{006B9344-A600-C44C-BFF3-F262E2EAB853}"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extLst>
      <p:ext uri="{BB962C8B-B14F-4D97-AF65-F5344CB8AC3E}">
        <p14:creationId xmlns:p14="http://schemas.microsoft.com/office/powerpoint/2010/main" val="1750628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endParaRPr lang="en-US" dirty="0">
              <a:solidFill>
                <a:prstClr val="white">
                  <a:lumMod val="65000"/>
                  <a:lumOff val="35000"/>
                </a:prstClr>
              </a:solidFill>
            </a:endParaRPr>
          </a:p>
        </p:txBody>
      </p:sp>
      <p:sp>
        <p:nvSpPr>
          <p:cNvPr id="5" name="Footer Placeholder 4"/>
          <p:cNvSpPr>
            <a:spLocks noGrp="1"/>
          </p:cNvSpPr>
          <p:nvPr>
            <p:ph type="ftr" sz="quarter" idx="11"/>
          </p:nvPr>
        </p:nvSpPr>
        <p:spPr/>
        <p:txBody>
          <a:bodyPr/>
          <a:lstStyle/>
          <a:p>
            <a:endParaRPr lang="en-US" dirty="0">
              <a:solidFill>
                <a:prstClr val="white">
                  <a:lumMod val="65000"/>
                  <a:lumOff val="35000"/>
                </a:prstClr>
              </a:solidFill>
            </a:endParaRPr>
          </a:p>
        </p:txBody>
      </p:sp>
      <p:sp>
        <p:nvSpPr>
          <p:cNvPr id="6" name="Slide Number Placeholder 5"/>
          <p:cNvSpPr>
            <a:spLocks noGrp="1"/>
          </p:cNvSpPr>
          <p:nvPr>
            <p:ph type="sldNum" sz="quarter" idx="12"/>
          </p:nvPr>
        </p:nvSpPr>
        <p:spPr/>
        <p:txBody>
          <a:bodyPr/>
          <a:lstStyle/>
          <a:p>
            <a:fld id="{5F36C9FC-DA22-1F47-8722-58727A1D436E}"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extLst>
      <p:ext uri="{BB962C8B-B14F-4D97-AF65-F5344CB8AC3E}">
        <p14:creationId xmlns:p14="http://schemas.microsoft.com/office/powerpoint/2010/main" val="4139671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dirty="0">
              <a:solidFill>
                <a:prstClr val="white">
                  <a:lumMod val="65000"/>
                  <a:lumOff val="35000"/>
                </a:prstClr>
              </a:solidFill>
            </a:endParaRPr>
          </a:p>
        </p:txBody>
      </p:sp>
      <p:sp>
        <p:nvSpPr>
          <p:cNvPr id="5" name="Footer Placeholder 4"/>
          <p:cNvSpPr>
            <a:spLocks noGrp="1"/>
          </p:cNvSpPr>
          <p:nvPr>
            <p:ph type="ftr" sz="quarter" idx="11"/>
          </p:nvPr>
        </p:nvSpPr>
        <p:spPr/>
        <p:txBody>
          <a:bodyPr/>
          <a:lstStyle/>
          <a:p>
            <a:endParaRPr lang="en-US" dirty="0">
              <a:solidFill>
                <a:prstClr val="white">
                  <a:lumMod val="65000"/>
                  <a:lumOff val="35000"/>
                </a:prstClr>
              </a:solidFill>
            </a:endParaRPr>
          </a:p>
        </p:txBody>
      </p:sp>
      <p:sp>
        <p:nvSpPr>
          <p:cNvPr id="6" name="Slide Number Placeholder 5"/>
          <p:cNvSpPr>
            <a:spLocks noGrp="1"/>
          </p:cNvSpPr>
          <p:nvPr>
            <p:ph type="sldNum" sz="quarter" idx="12"/>
          </p:nvPr>
        </p:nvSpPr>
        <p:spPr/>
        <p:txBody>
          <a:bodyPr/>
          <a:lstStyle/>
          <a:p>
            <a:fld id="{0A00927A-0526-144F-9580-37ABB5A1E7E2}"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extLst>
      <p:ext uri="{BB962C8B-B14F-4D97-AF65-F5344CB8AC3E}">
        <p14:creationId xmlns:p14="http://schemas.microsoft.com/office/powerpoint/2010/main" val="753210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endParaRPr lang="en-US" dirty="0">
              <a:solidFill>
                <a:prstClr val="white">
                  <a:lumMod val="65000"/>
                  <a:lumOff val="35000"/>
                </a:prstClr>
              </a:solidFill>
            </a:endParaRPr>
          </a:p>
        </p:txBody>
      </p:sp>
      <p:sp>
        <p:nvSpPr>
          <p:cNvPr id="6" name="Footer Placeholder 5"/>
          <p:cNvSpPr>
            <a:spLocks noGrp="1"/>
          </p:cNvSpPr>
          <p:nvPr>
            <p:ph type="ftr" sz="quarter" idx="11"/>
          </p:nvPr>
        </p:nvSpPr>
        <p:spPr/>
        <p:txBody>
          <a:bodyPr/>
          <a:lstStyle/>
          <a:p>
            <a:endParaRPr lang="en-US" dirty="0">
              <a:solidFill>
                <a:prstClr val="white">
                  <a:lumMod val="65000"/>
                  <a:lumOff val="35000"/>
                </a:prstClr>
              </a:solidFill>
            </a:endParaRPr>
          </a:p>
        </p:txBody>
      </p:sp>
      <p:sp>
        <p:nvSpPr>
          <p:cNvPr id="7" name="Slide Number Placeholder 6"/>
          <p:cNvSpPr>
            <a:spLocks noGrp="1"/>
          </p:cNvSpPr>
          <p:nvPr>
            <p:ph type="sldNum" sz="quarter" idx="12"/>
          </p:nvPr>
        </p:nvSpPr>
        <p:spPr/>
        <p:txBody>
          <a:bodyPr/>
          <a:lstStyle/>
          <a:p>
            <a:fld id="{6D5DF91A-7C92-3743-8A2E-356816C55239}"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extLst>
      <p:ext uri="{BB962C8B-B14F-4D97-AF65-F5344CB8AC3E}">
        <p14:creationId xmlns:p14="http://schemas.microsoft.com/office/powerpoint/2010/main" val="42700449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endParaRPr lang="en-US" dirty="0">
              <a:solidFill>
                <a:prstClr val="white">
                  <a:lumMod val="65000"/>
                  <a:lumOff val="35000"/>
                </a:prstClr>
              </a:solidFill>
            </a:endParaRPr>
          </a:p>
        </p:txBody>
      </p:sp>
      <p:sp>
        <p:nvSpPr>
          <p:cNvPr id="8" name="Footer Placeholder 7"/>
          <p:cNvSpPr>
            <a:spLocks noGrp="1"/>
          </p:cNvSpPr>
          <p:nvPr>
            <p:ph type="ftr" sz="quarter" idx="11"/>
          </p:nvPr>
        </p:nvSpPr>
        <p:spPr/>
        <p:txBody>
          <a:bodyPr/>
          <a:lstStyle/>
          <a:p>
            <a:endParaRPr lang="en-US" dirty="0">
              <a:solidFill>
                <a:prstClr val="white">
                  <a:lumMod val="65000"/>
                  <a:lumOff val="35000"/>
                </a:prstClr>
              </a:solidFill>
            </a:endParaRPr>
          </a:p>
        </p:txBody>
      </p:sp>
      <p:sp>
        <p:nvSpPr>
          <p:cNvPr id="9" name="Slide Number Placeholder 8"/>
          <p:cNvSpPr>
            <a:spLocks noGrp="1"/>
          </p:cNvSpPr>
          <p:nvPr>
            <p:ph type="sldNum" sz="quarter" idx="12"/>
          </p:nvPr>
        </p:nvSpPr>
        <p:spPr/>
        <p:txBody>
          <a:bodyPr/>
          <a:lstStyle/>
          <a:p>
            <a:fld id="{C5B529B3-313B-4E43-B940-6E980F955EE2}"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extLst>
      <p:ext uri="{BB962C8B-B14F-4D97-AF65-F5344CB8AC3E}">
        <p14:creationId xmlns:p14="http://schemas.microsoft.com/office/powerpoint/2010/main" val="11500170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endParaRPr lang="en-US" dirty="0">
              <a:solidFill>
                <a:prstClr val="white">
                  <a:lumMod val="65000"/>
                  <a:lumOff val="35000"/>
                </a:prstClr>
              </a:solidFill>
            </a:endParaRPr>
          </a:p>
        </p:txBody>
      </p:sp>
      <p:sp>
        <p:nvSpPr>
          <p:cNvPr id="5" name="Footer Placeholder 3"/>
          <p:cNvSpPr>
            <a:spLocks noGrp="1"/>
          </p:cNvSpPr>
          <p:nvPr>
            <p:ph type="ftr" sz="quarter" idx="11"/>
          </p:nvPr>
        </p:nvSpPr>
        <p:spPr/>
        <p:txBody>
          <a:bodyPr/>
          <a:lstStyle/>
          <a:p>
            <a:endParaRPr lang="en-US" dirty="0">
              <a:solidFill>
                <a:prstClr val="white">
                  <a:lumMod val="65000"/>
                  <a:lumOff val="35000"/>
                </a:prstClr>
              </a:solidFill>
            </a:endParaRPr>
          </a:p>
        </p:txBody>
      </p:sp>
      <p:sp>
        <p:nvSpPr>
          <p:cNvPr id="6" name="Slide Number Placeholder 4"/>
          <p:cNvSpPr>
            <a:spLocks noGrp="1"/>
          </p:cNvSpPr>
          <p:nvPr>
            <p:ph type="sldNum" sz="quarter" idx="12"/>
          </p:nvPr>
        </p:nvSpPr>
        <p:spPr/>
        <p:txBody>
          <a:bodyPr/>
          <a:lstStyle/>
          <a:p>
            <a:fld id="{20BE093F-740F-2B40-9952-A828B8BE9ABC}"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extLst>
      <p:ext uri="{BB962C8B-B14F-4D97-AF65-F5344CB8AC3E}">
        <p14:creationId xmlns:p14="http://schemas.microsoft.com/office/powerpoint/2010/main" val="3239680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endParaRPr lang="en-US" dirty="0">
              <a:solidFill>
                <a:prstClr val="white">
                  <a:lumMod val="65000"/>
                  <a:lumOff val="35000"/>
                </a:prstClr>
              </a:solidFill>
            </a:endParaRPr>
          </a:p>
        </p:txBody>
      </p:sp>
      <p:sp>
        <p:nvSpPr>
          <p:cNvPr id="5" name="Footer Placeholder 2"/>
          <p:cNvSpPr>
            <a:spLocks noGrp="1"/>
          </p:cNvSpPr>
          <p:nvPr>
            <p:ph type="ftr" sz="quarter" idx="11"/>
          </p:nvPr>
        </p:nvSpPr>
        <p:spPr/>
        <p:txBody>
          <a:bodyPr/>
          <a:lstStyle/>
          <a:p>
            <a:endParaRPr lang="en-US" dirty="0">
              <a:solidFill>
                <a:prstClr val="white">
                  <a:lumMod val="65000"/>
                  <a:lumOff val="35000"/>
                </a:prstClr>
              </a:solidFill>
            </a:endParaRPr>
          </a:p>
        </p:txBody>
      </p:sp>
      <p:sp>
        <p:nvSpPr>
          <p:cNvPr id="6" name="Slide Number Placeholder 3"/>
          <p:cNvSpPr>
            <a:spLocks noGrp="1"/>
          </p:cNvSpPr>
          <p:nvPr>
            <p:ph type="sldNum" sz="quarter" idx="12"/>
          </p:nvPr>
        </p:nvSpPr>
        <p:spPr/>
        <p:txBody>
          <a:bodyPr/>
          <a:lstStyle/>
          <a:p>
            <a:fld id="{4711BA6F-B221-4442-B3E0-4DE91DDD2916}"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extLst>
      <p:ext uri="{BB962C8B-B14F-4D97-AF65-F5344CB8AC3E}">
        <p14:creationId xmlns:p14="http://schemas.microsoft.com/office/powerpoint/2010/main" val="21082595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endParaRPr lang="en-US" dirty="0">
              <a:solidFill>
                <a:prstClr val="white">
                  <a:lumMod val="65000"/>
                  <a:lumOff val="35000"/>
                </a:prstClr>
              </a:solidFill>
            </a:endParaRPr>
          </a:p>
        </p:txBody>
      </p:sp>
      <p:sp>
        <p:nvSpPr>
          <p:cNvPr id="5" name="Footer Placeholder 5"/>
          <p:cNvSpPr>
            <a:spLocks noGrp="1"/>
          </p:cNvSpPr>
          <p:nvPr>
            <p:ph type="ftr" sz="quarter" idx="11"/>
          </p:nvPr>
        </p:nvSpPr>
        <p:spPr/>
        <p:txBody>
          <a:bodyPr/>
          <a:lstStyle/>
          <a:p>
            <a:endParaRPr lang="en-US" dirty="0">
              <a:solidFill>
                <a:prstClr val="white">
                  <a:lumMod val="65000"/>
                  <a:lumOff val="35000"/>
                </a:prstClr>
              </a:solidFill>
            </a:endParaRPr>
          </a:p>
        </p:txBody>
      </p:sp>
      <p:sp>
        <p:nvSpPr>
          <p:cNvPr id="6" name="Slide Number Placeholder 6"/>
          <p:cNvSpPr>
            <a:spLocks noGrp="1"/>
          </p:cNvSpPr>
          <p:nvPr>
            <p:ph type="sldNum" sz="quarter" idx="12"/>
          </p:nvPr>
        </p:nvSpPr>
        <p:spPr/>
        <p:txBody>
          <a:bodyPr/>
          <a:lstStyle/>
          <a:p>
            <a:fld id="{FFC3DB47-CF9E-3940-A66D-FFE81C46DA24}"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extLst>
      <p:ext uri="{BB962C8B-B14F-4D97-AF65-F5344CB8AC3E}">
        <p14:creationId xmlns:p14="http://schemas.microsoft.com/office/powerpoint/2010/main" val="3402452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dirty="0">
              <a:solidFill>
                <a:prstClr val="white">
                  <a:lumMod val="65000"/>
                  <a:lumOff val="35000"/>
                </a:prstClr>
              </a:solidFill>
            </a:endParaRP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CD43092-C6C6-4F4E-AC3B-C3372C3BCD24}"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extLst>
      <p:ext uri="{BB962C8B-B14F-4D97-AF65-F5344CB8AC3E}">
        <p14:creationId xmlns:p14="http://schemas.microsoft.com/office/powerpoint/2010/main" val="16471748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dirty="0">
              <a:solidFill>
                <a:prstClr val="white">
                  <a:lumMod val="65000"/>
                  <a:lumOff val="35000"/>
                </a:prstClr>
              </a:solidFill>
            </a:endParaRPr>
          </a:p>
        </p:txBody>
      </p:sp>
      <p:sp>
        <p:nvSpPr>
          <p:cNvPr id="6" name="Footer Placeholder 5"/>
          <p:cNvSpPr>
            <a:spLocks noGrp="1"/>
          </p:cNvSpPr>
          <p:nvPr>
            <p:ph type="ftr" sz="quarter" idx="11"/>
          </p:nvPr>
        </p:nvSpPr>
        <p:spPr/>
        <p:txBody>
          <a:bodyPr/>
          <a:lstStyle/>
          <a:p>
            <a:endParaRPr lang="en-US" dirty="0">
              <a:solidFill>
                <a:prstClr val="white">
                  <a:lumMod val="65000"/>
                  <a:lumOff val="35000"/>
                </a:prstClr>
              </a:solidFill>
            </a:endParaRPr>
          </a:p>
        </p:txBody>
      </p:sp>
      <p:sp>
        <p:nvSpPr>
          <p:cNvPr id="7" name="Slide Number Placeholder 6"/>
          <p:cNvSpPr>
            <a:spLocks noGrp="1"/>
          </p:cNvSpPr>
          <p:nvPr>
            <p:ph type="sldNum" sz="quarter" idx="12"/>
          </p:nvPr>
        </p:nvSpPr>
        <p:spPr/>
        <p:txBody>
          <a:bodyPr/>
          <a:lstStyle/>
          <a:p>
            <a:fld id="{A855AEC4-77F9-F44E-AF10-D517C4B655CE}"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extLst>
      <p:ext uri="{BB962C8B-B14F-4D97-AF65-F5344CB8AC3E}">
        <p14:creationId xmlns:p14="http://schemas.microsoft.com/office/powerpoint/2010/main" val="1006009016"/>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dirty="0">
              <a:solidFill>
                <a:prstClr val="white">
                  <a:lumMod val="65000"/>
                  <a:lumOff val="35000"/>
                </a:prstClr>
              </a:solidFill>
            </a:endParaRPr>
          </a:p>
        </p:txBody>
      </p:sp>
      <p:sp>
        <p:nvSpPr>
          <p:cNvPr id="5" name="Footer Placeholder 4"/>
          <p:cNvSpPr>
            <a:spLocks noGrp="1"/>
          </p:cNvSpPr>
          <p:nvPr>
            <p:ph type="ftr" sz="quarter" idx="11"/>
          </p:nvPr>
        </p:nvSpPr>
        <p:spPr/>
        <p:txBody>
          <a:bodyPr/>
          <a:lstStyle/>
          <a:p>
            <a:endParaRPr lang="en-US" dirty="0">
              <a:solidFill>
                <a:prstClr val="white">
                  <a:lumMod val="65000"/>
                  <a:lumOff val="35000"/>
                </a:prstClr>
              </a:solidFill>
            </a:endParaRPr>
          </a:p>
        </p:txBody>
      </p:sp>
      <p:sp>
        <p:nvSpPr>
          <p:cNvPr id="6" name="Slide Number Placeholder 5"/>
          <p:cNvSpPr>
            <a:spLocks noGrp="1"/>
          </p:cNvSpPr>
          <p:nvPr>
            <p:ph type="sldNum" sz="quarter" idx="12"/>
          </p:nvPr>
        </p:nvSpPr>
        <p:spPr/>
        <p:txBody>
          <a:bodyPr/>
          <a:lstStyle/>
          <a:p>
            <a:fld id="{A855AEC4-77F9-F44E-AF10-D517C4B655CE}"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extLst>
      <p:ext uri="{BB962C8B-B14F-4D97-AF65-F5344CB8AC3E}">
        <p14:creationId xmlns:p14="http://schemas.microsoft.com/office/powerpoint/2010/main" val="3855069413"/>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dirty="0">
              <a:solidFill>
                <a:prstClr val="white">
                  <a:lumMod val="65000"/>
                  <a:lumOff val="35000"/>
                </a:prstClr>
              </a:solidFill>
            </a:endParaRPr>
          </a:p>
        </p:txBody>
      </p:sp>
      <p:sp>
        <p:nvSpPr>
          <p:cNvPr id="5" name="Footer Placeholder 4"/>
          <p:cNvSpPr>
            <a:spLocks noGrp="1"/>
          </p:cNvSpPr>
          <p:nvPr>
            <p:ph type="ftr" sz="quarter" idx="11"/>
          </p:nvPr>
        </p:nvSpPr>
        <p:spPr/>
        <p:txBody>
          <a:bodyPr/>
          <a:lstStyle/>
          <a:p>
            <a:endParaRPr lang="en-US" dirty="0">
              <a:solidFill>
                <a:prstClr val="white">
                  <a:lumMod val="65000"/>
                  <a:lumOff val="35000"/>
                </a:prstClr>
              </a:solidFill>
            </a:endParaRPr>
          </a:p>
        </p:txBody>
      </p:sp>
      <p:sp>
        <p:nvSpPr>
          <p:cNvPr id="6" name="Slide Number Placeholder 5"/>
          <p:cNvSpPr>
            <a:spLocks noGrp="1"/>
          </p:cNvSpPr>
          <p:nvPr>
            <p:ph type="sldNum" sz="quarter" idx="12"/>
          </p:nvPr>
        </p:nvSpPr>
        <p:spPr/>
        <p:txBody>
          <a:bodyPr/>
          <a:lstStyle/>
          <a:p>
            <a:fld id="{A855AEC4-77F9-F44E-AF10-D517C4B655CE}"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4020015358"/>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dirty="0">
              <a:solidFill>
                <a:prstClr val="white">
                  <a:lumMod val="65000"/>
                  <a:lumOff val="35000"/>
                </a:prstClr>
              </a:solidFill>
            </a:endParaRPr>
          </a:p>
        </p:txBody>
      </p:sp>
      <p:sp>
        <p:nvSpPr>
          <p:cNvPr id="5" name="Footer Placeholder 4"/>
          <p:cNvSpPr>
            <a:spLocks noGrp="1"/>
          </p:cNvSpPr>
          <p:nvPr>
            <p:ph type="ftr" sz="quarter" idx="11"/>
          </p:nvPr>
        </p:nvSpPr>
        <p:spPr/>
        <p:txBody>
          <a:bodyPr/>
          <a:lstStyle/>
          <a:p>
            <a:endParaRPr lang="en-US" dirty="0">
              <a:solidFill>
                <a:prstClr val="white">
                  <a:lumMod val="65000"/>
                  <a:lumOff val="35000"/>
                </a:prstClr>
              </a:solidFill>
            </a:endParaRPr>
          </a:p>
        </p:txBody>
      </p:sp>
      <p:sp>
        <p:nvSpPr>
          <p:cNvPr id="6" name="Slide Number Placeholder 5"/>
          <p:cNvSpPr>
            <a:spLocks noGrp="1"/>
          </p:cNvSpPr>
          <p:nvPr>
            <p:ph type="sldNum" sz="quarter" idx="12"/>
          </p:nvPr>
        </p:nvSpPr>
        <p:spPr/>
        <p:txBody>
          <a:bodyPr/>
          <a:lstStyle/>
          <a:p>
            <a:fld id="{A855AEC4-77F9-F44E-AF10-D517C4B655CE}"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extLst>
      <p:ext uri="{BB962C8B-B14F-4D97-AF65-F5344CB8AC3E}">
        <p14:creationId xmlns:p14="http://schemas.microsoft.com/office/powerpoint/2010/main" val="405784183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endParaRPr lang="en-US" dirty="0">
              <a:solidFill>
                <a:prstClr val="white">
                  <a:lumMod val="65000"/>
                  <a:lumOff val="35000"/>
                </a:prstClr>
              </a:solidFill>
            </a:endParaRPr>
          </a:p>
        </p:txBody>
      </p:sp>
      <p:sp>
        <p:nvSpPr>
          <p:cNvPr id="4" name="Footer Placeholder 4"/>
          <p:cNvSpPr>
            <a:spLocks noGrp="1"/>
          </p:cNvSpPr>
          <p:nvPr>
            <p:ph type="ftr" sz="quarter" idx="11"/>
          </p:nvPr>
        </p:nvSpPr>
        <p:spPr/>
        <p:txBody>
          <a:bodyPr/>
          <a:lstStyle/>
          <a:p>
            <a:endParaRPr lang="en-US" dirty="0">
              <a:solidFill>
                <a:prstClr val="white">
                  <a:lumMod val="65000"/>
                  <a:lumOff val="35000"/>
                </a:prstClr>
              </a:solidFill>
            </a:endParaRPr>
          </a:p>
        </p:txBody>
      </p:sp>
      <p:sp>
        <p:nvSpPr>
          <p:cNvPr id="6" name="Slide Number Placeholder 5"/>
          <p:cNvSpPr>
            <a:spLocks noGrp="1"/>
          </p:cNvSpPr>
          <p:nvPr>
            <p:ph type="sldNum" sz="quarter" idx="12"/>
          </p:nvPr>
        </p:nvSpPr>
        <p:spPr/>
        <p:txBody>
          <a:bodyPr/>
          <a:lstStyle/>
          <a:p>
            <a:fld id="{A855AEC4-77F9-F44E-AF10-D517C4B655CE}"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extLst>
      <p:ext uri="{BB962C8B-B14F-4D97-AF65-F5344CB8AC3E}">
        <p14:creationId xmlns:p14="http://schemas.microsoft.com/office/powerpoint/2010/main" val="430116637"/>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endParaRPr lang="en-US" dirty="0">
              <a:solidFill>
                <a:prstClr val="white">
                  <a:lumMod val="65000"/>
                  <a:lumOff val="35000"/>
                </a:prstClr>
              </a:solidFill>
            </a:endParaRPr>
          </a:p>
        </p:txBody>
      </p:sp>
      <p:sp>
        <p:nvSpPr>
          <p:cNvPr id="4" name="Footer Placeholder 4"/>
          <p:cNvSpPr>
            <a:spLocks noGrp="1"/>
          </p:cNvSpPr>
          <p:nvPr>
            <p:ph type="ftr" sz="quarter" idx="11"/>
          </p:nvPr>
        </p:nvSpPr>
        <p:spPr/>
        <p:txBody>
          <a:bodyPr/>
          <a:lstStyle/>
          <a:p>
            <a:endParaRPr lang="en-US" dirty="0">
              <a:solidFill>
                <a:prstClr val="white">
                  <a:lumMod val="65000"/>
                  <a:lumOff val="35000"/>
                </a:prstClr>
              </a:solidFill>
            </a:endParaRPr>
          </a:p>
        </p:txBody>
      </p:sp>
      <p:sp>
        <p:nvSpPr>
          <p:cNvPr id="6" name="Slide Number Placeholder 5"/>
          <p:cNvSpPr>
            <a:spLocks noGrp="1"/>
          </p:cNvSpPr>
          <p:nvPr>
            <p:ph type="sldNum" sz="quarter" idx="12"/>
          </p:nvPr>
        </p:nvSpPr>
        <p:spPr/>
        <p:txBody>
          <a:bodyPr/>
          <a:lstStyle/>
          <a:p>
            <a:fld id="{A855AEC4-77F9-F44E-AF10-D517C4B655CE}"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extLst>
      <p:ext uri="{BB962C8B-B14F-4D97-AF65-F5344CB8AC3E}">
        <p14:creationId xmlns:p14="http://schemas.microsoft.com/office/powerpoint/2010/main" val="634687660"/>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dirty="0">
              <a:solidFill>
                <a:prstClr val="white">
                  <a:lumMod val="65000"/>
                  <a:lumOff val="35000"/>
                </a:prstClr>
              </a:solidFill>
            </a:endParaRPr>
          </a:p>
        </p:txBody>
      </p:sp>
      <p:sp>
        <p:nvSpPr>
          <p:cNvPr id="5" name="Footer Placeholder 4"/>
          <p:cNvSpPr>
            <a:spLocks noGrp="1"/>
          </p:cNvSpPr>
          <p:nvPr>
            <p:ph type="ftr" sz="quarter" idx="11"/>
          </p:nvPr>
        </p:nvSpPr>
        <p:spPr/>
        <p:txBody>
          <a:bodyPr/>
          <a:lstStyle/>
          <a:p>
            <a:endParaRPr lang="en-US" dirty="0">
              <a:solidFill>
                <a:prstClr val="white">
                  <a:lumMod val="65000"/>
                  <a:lumOff val="35000"/>
                </a:prstClr>
              </a:solidFill>
            </a:endParaRPr>
          </a:p>
        </p:txBody>
      </p:sp>
      <p:sp>
        <p:nvSpPr>
          <p:cNvPr id="6" name="Slide Number Placeholder 5"/>
          <p:cNvSpPr>
            <a:spLocks noGrp="1"/>
          </p:cNvSpPr>
          <p:nvPr>
            <p:ph type="sldNum" sz="quarter" idx="12"/>
          </p:nvPr>
        </p:nvSpPr>
        <p:spPr/>
        <p:txBody>
          <a:bodyPr/>
          <a:lstStyle/>
          <a:p>
            <a:fld id="{85CF7B68-3A81-2E4B-BA12-F5A493E24C50}"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extLst>
      <p:ext uri="{BB962C8B-B14F-4D97-AF65-F5344CB8AC3E}">
        <p14:creationId xmlns:p14="http://schemas.microsoft.com/office/powerpoint/2010/main" val="14730445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dirty="0">
              <a:solidFill>
                <a:prstClr val="white">
                  <a:lumMod val="65000"/>
                  <a:lumOff val="35000"/>
                </a:prstClr>
              </a:solidFill>
            </a:endParaRPr>
          </a:p>
        </p:txBody>
      </p:sp>
      <p:sp>
        <p:nvSpPr>
          <p:cNvPr id="5" name="Footer Placeholder 4"/>
          <p:cNvSpPr>
            <a:spLocks noGrp="1"/>
          </p:cNvSpPr>
          <p:nvPr>
            <p:ph type="ftr" sz="quarter" idx="11"/>
          </p:nvPr>
        </p:nvSpPr>
        <p:spPr/>
        <p:txBody>
          <a:bodyPr/>
          <a:lstStyle/>
          <a:p>
            <a:endParaRPr lang="en-US" dirty="0">
              <a:solidFill>
                <a:prstClr val="white">
                  <a:lumMod val="65000"/>
                  <a:lumOff val="35000"/>
                </a:prstClr>
              </a:solidFill>
            </a:endParaRPr>
          </a:p>
        </p:txBody>
      </p:sp>
      <p:sp>
        <p:nvSpPr>
          <p:cNvPr id="6" name="Slide Number Placeholder 5"/>
          <p:cNvSpPr>
            <a:spLocks noGrp="1"/>
          </p:cNvSpPr>
          <p:nvPr>
            <p:ph type="sldNum" sz="quarter" idx="12"/>
          </p:nvPr>
        </p:nvSpPr>
        <p:spPr/>
        <p:txBody>
          <a:bodyPr/>
          <a:lstStyle/>
          <a:p>
            <a:fld id="{F842B32E-5D81-2D4F-8CC9-49749ECC7299}"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extLst>
      <p:ext uri="{BB962C8B-B14F-4D97-AF65-F5344CB8AC3E}">
        <p14:creationId xmlns:p14="http://schemas.microsoft.com/office/powerpoint/2010/main" val="3008914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endParaRPr lang="en-US" dirty="0">
              <a:solidFill>
                <a:prstClr val="white">
                  <a:lumMod val="65000"/>
                  <a:lumOff val="35000"/>
                </a:prstClr>
              </a:solidFill>
            </a:endParaRPr>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solidFill>
                <a:prstClr val="white">
                  <a:lumMod val="65000"/>
                  <a:lumOff val="35000"/>
                </a:prstClr>
              </a:solidFill>
            </a:endParaRPr>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A855AEC4-77F9-F44E-AF10-D517C4B655CE}"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extLst>
      <p:ext uri="{BB962C8B-B14F-4D97-AF65-F5344CB8AC3E}">
        <p14:creationId xmlns:p14="http://schemas.microsoft.com/office/powerpoint/2010/main" val="418843225"/>
      </p:ext>
    </p:extLst>
  </p:cSld>
  <p:clrMap bg1="dk1" tx1="lt1" bg2="dk2" tx2="lt2" accent1="accent1" accent2="accent2" accent3="accent3" accent4="accent4" accent5="accent5" accent6="accent6" hlink="hlink" folHlink="folHlink"/>
  <p:sldLayoutIdLst>
    <p:sldLayoutId id="2147485211" r:id="rId1"/>
    <p:sldLayoutId id="2147485212" r:id="rId2"/>
    <p:sldLayoutId id="2147485213" r:id="rId3"/>
    <p:sldLayoutId id="2147485214" r:id="rId4"/>
    <p:sldLayoutId id="2147485215" r:id="rId5"/>
    <p:sldLayoutId id="2147485216" r:id="rId6"/>
    <p:sldLayoutId id="2147485217" r:id="rId7"/>
    <p:sldLayoutId id="2147485218" r:id="rId8"/>
    <p:sldLayoutId id="2147485219" r:id="rId9"/>
    <p:sldLayoutId id="2147485220" r:id="rId10"/>
    <p:sldLayoutId id="2147485221" r:id="rId11"/>
    <p:sldLayoutId id="2147485222" r:id="rId12"/>
    <p:sldLayoutId id="2147485223" r:id="rId13"/>
    <p:sldLayoutId id="2147485224" r:id="rId14"/>
    <p:sldLayoutId id="2147485225" r:id="rId15"/>
    <p:sldLayoutId id="2147485226" r:id="rId16"/>
    <p:sldLayoutId id="2147485227" r:id="rId17"/>
  </p:sldLayoutIdLst>
  <p:hf hdr="0" ftr="0" dt="0"/>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3528" y="790747"/>
            <a:ext cx="8226465" cy="1732414"/>
          </a:xfrm>
        </p:spPr>
        <p:txBody>
          <a:bodyPr>
            <a:noAutofit/>
          </a:bodyPr>
          <a:lstStyle/>
          <a:p>
            <a:pPr algn="ctr"/>
            <a:r>
              <a:rPr lang="en-US" sz="4800" b="1" dirty="0" smtClean="0"/>
              <a:t>Information Security</a:t>
            </a:r>
            <a:br>
              <a:rPr lang="en-US" sz="4800" b="1" dirty="0" smtClean="0"/>
            </a:br>
            <a:r>
              <a:rPr lang="en-US" sz="4800" b="1" dirty="0" smtClean="0"/>
              <a:t>Fall 2022</a:t>
            </a:r>
            <a:endParaRPr lang="en-US" sz="4800" b="1" dirty="0"/>
          </a:p>
        </p:txBody>
      </p:sp>
      <p:sp>
        <p:nvSpPr>
          <p:cNvPr id="3" name="Subtitle 2"/>
          <p:cNvSpPr>
            <a:spLocks noGrp="1"/>
          </p:cNvSpPr>
          <p:nvPr>
            <p:ph type="subTitle" idx="1"/>
          </p:nvPr>
        </p:nvSpPr>
        <p:spPr>
          <a:xfrm>
            <a:off x="827584" y="2523161"/>
            <a:ext cx="7722409" cy="2088232"/>
          </a:xfrm>
        </p:spPr>
        <p:txBody>
          <a:bodyPr>
            <a:normAutofit/>
          </a:bodyPr>
          <a:lstStyle/>
          <a:p>
            <a:endParaRPr lang="en-US" dirty="0" smtClean="0">
              <a:solidFill>
                <a:srgbClr val="0070C0"/>
              </a:solidFill>
            </a:endParaRPr>
          </a:p>
          <a:p>
            <a:pPr algn="ctr"/>
            <a:r>
              <a:rPr lang="en-US" sz="2400" b="1" u="sng" dirty="0" smtClean="0">
                <a:solidFill>
                  <a:schemeClr val="tx1"/>
                </a:solidFill>
              </a:rPr>
              <a:t>Week # 4</a:t>
            </a:r>
          </a:p>
          <a:p>
            <a:pPr algn="ctr"/>
            <a:r>
              <a:rPr lang="en-US" sz="2400" b="1" u="sng" dirty="0" smtClean="0">
                <a:solidFill>
                  <a:schemeClr val="tx1"/>
                </a:solidFill>
              </a:rPr>
              <a:t>Lecture # 10, 11 and 12</a:t>
            </a:r>
          </a:p>
          <a:p>
            <a:pPr algn="ctr"/>
            <a:r>
              <a:rPr lang="en-US" sz="2400" b="1" u="sng" dirty="0" smtClean="0">
                <a:solidFill>
                  <a:schemeClr val="tx1"/>
                </a:solidFill>
              </a:rPr>
              <a:t>Dr</a:t>
            </a:r>
            <a:r>
              <a:rPr lang="en-US" sz="2400" b="1" u="sng" dirty="0">
                <a:solidFill>
                  <a:schemeClr val="tx1"/>
                </a:solidFill>
              </a:rPr>
              <a:t>. Aqsa Aslam</a:t>
            </a:r>
          </a:p>
        </p:txBody>
      </p:sp>
      <p:sp>
        <p:nvSpPr>
          <p:cNvPr id="4" name="Slide Number Placeholder 3"/>
          <p:cNvSpPr>
            <a:spLocks noGrp="1"/>
          </p:cNvSpPr>
          <p:nvPr>
            <p:ph type="sldNum" sz="quarter" idx="12"/>
          </p:nvPr>
        </p:nvSpPr>
        <p:spPr/>
        <p:txBody>
          <a:bodyPr/>
          <a:lstStyle/>
          <a:p>
            <a:fld id="{006B9344-A600-C44C-BFF3-F262E2EAB853}" type="slidenum">
              <a:rPr lang="en-US" smtClean="0"/>
              <a:pPr/>
              <a:t>1</a:t>
            </a:fld>
            <a:endParaRPr lang="en-US" dirty="0"/>
          </a:p>
        </p:txBody>
      </p:sp>
    </p:spTree>
    <p:extLst>
      <p:ext uri="{BB962C8B-B14F-4D97-AF65-F5344CB8AC3E}">
        <p14:creationId xmlns:p14="http://schemas.microsoft.com/office/powerpoint/2010/main" val="328779436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2A50C4D-0BA1-4E54-8DFC-01810EC97B99}" type="slidenum">
              <a:rPr lang="en-US" smtClean="0"/>
              <a:t>2</a:t>
            </a:fld>
            <a:endParaRPr lang="en-US"/>
          </a:p>
        </p:txBody>
      </p:sp>
      <p:pic>
        <p:nvPicPr>
          <p:cNvPr id="5" name="Picture 4"/>
          <p:cNvPicPr>
            <a:picLocks noChangeAspect="1"/>
          </p:cNvPicPr>
          <p:nvPr/>
        </p:nvPicPr>
        <p:blipFill rotWithShape="1">
          <a:blip r:embed="rId2"/>
          <a:srcRect l="5778" t="4110"/>
          <a:stretch/>
        </p:blipFill>
        <p:spPr>
          <a:xfrm>
            <a:off x="12686" y="0"/>
            <a:ext cx="5448034" cy="6873313"/>
          </a:xfrm>
          <a:prstGeom prst="rect">
            <a:avLst/>
          </a:prstGeom>
        </p:spPr>
      </p:pic>
      <p:sp>
        <p:nvSpPr>
          <p:cNvPr id="2" name="Rectangle 1"/>
          <p:cNvSpPr/>
          <p:nvPr/>
        </p:nvSpPr>
        <p:spPr>
          <a:xfrm>
            <a:off x="5731309" y="204647"/>
            <a:ext cx="3233179" cy="1361911"/>
          </a:xfrm>
          <a:prstGeom prst="rect">
            <a:avLst/>
          </a:prstGeom>
        </p:spPr>
        <p:txBody>
          <a:bodyPr wrap="square">
            <a:spAutoFit/>
          </a:bodyPr>
          <a:lstStyle/>
          <a:p>
            <a:pPr marL="12700">
              <a:lnSpc>
                <a:spcPct val="100000"/>
              </a:lnSpc>
              <a:spcBef>
                <a:spcPts val="100"/>
              </a:spcBef>
            </a:pPr>
            <a:r>
              <a:rPr lang="en-US" sz="2000" b="1" spc="-45" dirty="0" smtClean="0">
                <a:latin typeface="Carlito"/>
                <a:cs typeface="Carlito"/>
              </a:rPr>
              <a:t>Topics </a:t>
            </a:r>
            <a:r>
              <a:rPr lang="en-US" sz="2000" b="1" spc="-10" dirty="0" smtClean="0">
                <a:latin typeface="Carlito"/>
                <a:cs typeface="Carlito"/>
              </a:rPr>
              <a:t>from text book:</a:t>
            </a:r>
          </a:p>
          <a:p>
            <a:pPr marL="298450" indent="-285750">
              <a:lnSpc>
                <a:spcPct val="100000"/>
              </a:lnSpc>
              <a:spcBef>
                <a:spcPts val="100"/>
              </a:spcBef>
              <a:buFont typeface="Arial" panose="020B0604020202020204" pitchFamily="34" charset="0"/>
              <a:buChar char="•"/>
            </a:pPr>
            <a:r>
              <a:rPr lang="en-US" sz="2000" b="1" spc="-10" dirty="0" smtClean="0">
                <a:latin typeface="Carlito"/>
                <a:cs typeface="Carlito"/>
              </a:rPr>
              <a:t> Chapter </a:t>
            </a:r>
            <a:r>
              <a:rPr lang="en-US" sz="2000" b="1" dirty="0" smtClean="0">
                <a:latin typeface="Carlito"/>
                <a:cs typeface="Carlito"/>
              </a:rPr>
              <a:t># 2</a:t>
            </a:r>
          </a:p>
          <a:p>
            <a:pPr marL="298450" indent="-285750">
              <a:lnSpc>
                <a:spcPct val="100000"/>
              </a:lnSpc>
              <a:spcBef>
                <a:spcPts val="100"/>
              </a:spcBef>
              <a:buFont typeface="Arial" panose="020B0604020202020204" pitchFamily="34" charset="0"/>
              <a:buChar char="•"/>
            </a:pPr>
            <a:r>
              <a:rPr lang="en-US" sz="2000" b="1" dirty="0" smtClean="0">
                <a:latin typeface="Carlito"/>
                <a:cs typeface="Carlito"/>
              </a:rPr>
              <a:t> </a:t>
            </a:r>
            <a:r>
              <a:rPr lang="en-US" sz="2000" b="1" spc="-10" dirty="0" smtClean="0">
                <a:latin typeface="Carlito"/>
                <a:cs typeface="Carlito"/>
              </a:rPr>
              <a:t>Chapter </a:t>
            </a:r>
            <a:r>
              <a:rPr lang="en-US" sz="2000" b="1" dirty="0" smtClean="0">
                <a:latin typeface="Carlito"/>
                <a:cs typeface="Carlito"/>
              </a:rPr>
              <a:t># 20 </a:t>
            </a:r>
          </a:p>
          <a:p>
            <a:pPr marL="298450" indent="-285750">
              <a:lnSpc>
                <a:spcPct val="100000"/>
              </a:lnSpc>
              <a:spcBef>
                <a:spcPts val="100"/>
              </a:spcBef>
              <a:buFont typeface="Arial" panose="020B0604020202020204" pitchFamily="34" charset="0"/>
              <a:buChar char="•"/>
            </a:pPr>
            <a:r>
              <a:rPr lang="en-US" sz="2000" b="1" spc="-10" dirty="0" smtClean="0">
                <a:latin typeface="Carlito"/>
                <a:cs typeface="Carlito"/>
              </a:rPr>
              <a:t>Chapter </a:t>
            </a:r>
            <a:r>
              <a:rPr lang="en-US" sz="2000" b="1" dirty="0" smtClean="0">
                <a:latin typeface="Carlito"/>
                <a:cs typeface="Carlito"/>
              </a:rPr>
              <a:t>#</a:t>
            </a:r>
            <a:r>
              <a:rPr lang="en-US" sz="2000" b="1" spc="-40" dirty="0" smtClean="0">
                <a:latin typeface="Carlito"/>
                <a:cs typeface="Carlito"/>
              </a:rPr>
              <a:t>  </a:t>
            </a:r>
            <a:r>
              <a:rPr lang="en-US" sz="2000" b="1" dirty="0" smtClean="0">
                <a:latin typeface="Carlito"/>
                <a:cs typeface="Carlito"/>
              </a:rPr>
              <a:t>21</a:t>
            </a:r>
            <a:endParaRPr lang="en-US" sz="2000" b="1" dirty="0">
              <a:latin typeface="Carlito"/>
              <a:cs typeface="Carlito"/>
            </a:endParaRPr>
          </a:p>
        </p:txBody>
      </p:sp>
      <p:sp>
        <p:nvSpPr>
          <p:cNvPr id="8" name="object 4"/>
          <p:cNvSpPr/>
          <p:nvPr/>
        </p:nvSpPr>
        <p:spPr>
          <a:xfrm>
            <a:off x="5298509" y="2636912"/>
            <a:ext cx="3845491" cy="1347885"/>
          </a:xfrm>
          <a:prstGeom prst="rect">
            <a:avLst/>
          </a:prstGeom>
          <a:blipFill>
            <a:blip r:embed="rId3" cstate="print"/>
            <a:stretch>
              <a:fillRect/>
            </a:stretch>
          </a:blipFill>
        </p:spPr>
        <p:txBody>
          <a:bodyPr wrap="square" lIns="0" tIns="0" rIns="0" bIns="0" rtlCol="0"/>
          <a:lstStyle/>
          <a:p>
            <a:endParaRPr/>
          </a:p>
        </p:txBody>
      </p:sp>
      <p:sp>
        <p:nvSpPr>
          <p:cNvPr id="9" name="object 5"/>
          <p:cNvSpPr/>
          <p:nvPr/>
        </p:nvSpPr>
        <p:spPr>
          <a:xfrm>
            <a:off x="5292080" y="3997478"/>
            <a:ext cx="3845491" cy="943690"/>
          </a:xfrm>
          <a:prstGeom prst="rect">
            <a:avLst/>
          </a:prstGeom>
          <a:blipFill>
            <a:blip r:embed="rId4"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2436403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p:cNvSpPr>
            <a:spLocks noGrp="1" noChangeArrowheads="1"/>
          </p:cNvSpPr>
          <p:nvPr>
            <p:ph type="title"/>
          </p:nvPr>
        </p:nvSpPr>
        <p:spPr>
          <a:xfrm>
            <a:off x="1115616" y="548680"/>
            <a:ext cx="6984776" cy="504056"/>
          </a:xfrm>
        </p:spPr>
        <p:txBody>
          <a:bodyPr>
            <a:normAutofit fontScale="90000"/>
          </a:bodyPr>
          <a:lstStyle/>
          <a:p>
            <a:pPr eaLnBrk="1" fontAlgn="auto" hangingPunct="1">
              <a:spcAft>
                <a:spcPts val="0"/>
              </a:spcAft>
              <a:defRPr/>
            </a:pPr>
            <a:r>
              <a:rPr lang="en-US" sz="4000" b="1" dirty="0">
                <a:latin typeface="Times New Roman" panose="02020603050405020304" pitchFamily="18" charset="0"/>
                <a:cs typeface="Times New Roman" panose="02020603050405020304" pitchFamily="18" charset="0"/>
              </a:rPr>
              <a:t>Message Authentication</a:t>
            </a:r>
          </a:p>
        </p:txBody>
      </p:sp>
      <p:graphicFrame>
        <p:nvGraphicFramePr>
          <p:cNvPr id="4" name="Content Placeholder 3"/>
          <p:cNvGraphicFramePr>
            <a:graphicFrameLocks noGrp="1"/>
          </p:cNvGraphicFramePr>
          <p:nvPr>
            <p:ph idx="1"/>
            <p:extLst/>
          </p:nvPr>
        </p:nvGraphicFramePr>
        <p:xfrm>
          <a:off x="533400" y="2057400"/>
          <a:ext cx="7848600" cy="4343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8229065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authentication</a:t>
            </a:r>
            <a:endParaRPr lang="en-US" dirty="0"/>
          </a:p>
        </p:txBody>
      </p:sp>
      <p:sp>
        <p:nvSpPr>
          <p:cNvPr id="3" name="Content Placeholder 2"/>
          <p:cNvSpPr>
            <a:spLocks noGrp="1"/>
          </p:cNvSpPr>
          <p:nvPr>
            <p:ph idx="1"/>
          </p:nvPr>
        </p:nvSpPr>
        <p:spPr>
          <a:xfrm>
            <a:off x="611560" y="1556793"/>
            <a:ext cx="6927794" cy="4691614"/>
          </a:xfrm>
        </p:spPr>
        <p:txBody>
          <a:bodyPr/>
          <a:lstStyle/>
          <a:p>
            <a:r>
              <a:rPr lang="en-US" dirty="0" smtClean="0"/>
              <a:t>Message Encryption</a:t>
            </a:r>
          </a:p>
          <a:p>
            <a:r>
              <a:rPr lang="en-US" dirty="0" smtClean="0"/>
              <a:t>Message authentication code (MAC)</a:t>
            </a:r>
          </a:p>
          <a:p>
            <a:r>
              <a:rPr lang="en-US" dirty="0" smtClean="0"/>
              <a:t>Hash function</a:t>
            </a:r>
          </a:p>
          <a:p>
            <a:endParaRPr lang="en-US" dirty="0"/>
          </a:p>
        </p:txBody>
      </p:sp>
      <p:sp>
        <p:nvSpPr>
          <p:cNvPr id="4" name="Slide Number Placeholder 3"/>
          <p:cNvSpPr>
            <a:spLocks noGrp="1"/>
          </p:cNvSpPr>
          <p:nvPr>
            <p:ph type="sldNum" sz="quarter" idx="12"/>
          </p:nvPr>
        </p:nvSpPr>
        <p:spPr/>
        <p:txBody>
          <a:bodyPr/>
          <a:lstStyle/>
          <a:p>
            <a:fld id="{5F36C9FC-DA22-1F47-8722-58727A1D436E}" type="slidenum">
              <a:rPr lang="en-US" smtClean="0">
                <a:solidFill>
                  <a:prstClr val="white">
                    <a:lumMod val="65000"/>
                    <a:lumOff val="35000"/>
                  </a:prstClr>
                </a:solidFill>
              </a:rPr>
              <a:pPr/>
              <a:t>4</a:t>
            </a:fld>
            <a:endParaRPr lang="en-US" dirty="0">
              <a:solidFill>
                <a:prstClr val="white">
                  <a:lumMod val="65000"/>
                  <a:lumOff val="35000"/>
                </a:prstClr>
              </a:solidFill>
            </a:endParaRPr>
          </a:p>
        </p:txBody>
      </p:sp>
    </p:spTree>
    <p:extLst>
      <p:ext uri="{BB962C8B-B14F-4D97-AF65-F5344CB8AC3E}">
        <p14:creationId xmlns:p14="http://schemas.microsoft.com/office/powerpoint/2010/main" val="362378057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252" y="260648"/>
            <a:ext cx="10386739" cy="749564"/>
          </a:xfrm>
        </p:spPr>
        <p:txBody>
          <a:bodyPr>
            <a:normAutofit fontScale="90000"/>
          </a:bodyPr>
          <a:lstStyle/>
          <a:p>
            <a:r>
              <a:rPr lang="en-US" sz="4400" dirty="0" smtClean="0">
                <a:solidFill>
                  <a:schemeClr val="tx1"/>
                </a:solidFill>
              </a:rPr>
              <a:t>Message Authentication Without Confidentiality</a:t>
            </a:r>
            <a:endParaRPr lang="en-US" sz="4400" dirty="0">
              <a:solidFill>
                <a:schemeClr val="tx1"/>
              </a:solidFill>
            </a:endParaRPr>
          </a:p>
        </p:txBody>
      </p:sp>
      <p:sp>
        <p:nvSpPr>
          <p:cNvPr id="3" name="Content Placeholder 2"/>
          <p:cNvSpPr>
            <a:spLocks noGrp="1"/>
          </p:cNvSpPr>
          <p:nvPr>
            <p:ph idx="1"/>
          </p:nvPr>
        </p:nvSpPr>
        <p:spPr>
          <a:xfrm>
            <a:off x="179512" y="1700808"/>
            <a:ext cx="8964488" cy="5157192"/>
          </a:xfrm>
          <a:prstGeom prst="rect">
            <a:avLst/>
          </a:prstGeom>
        </p:spPr>
        <p:txBody>
          <a:bodyPr>
            <a:normAutofit/>
          </a:bodyPr>
          <a:lstStyle/>
          <a:p>
            <a:pPr>
              <a:spcBef>
                <a:spcPts val="1128"/>
              </a:spcBef>
            </a:pPr>
            <a:r>
              <a:rPr lang="en-US" sz="1600" dirty="0" smtClean="0"/>
              <a:t>Message encryption by itself does not provide a secure form of authentication</a:t>
            </a:r>
          </a:p>
          <a:p>
            <a:pPr>
              <a:spcBef>
                <a:spcPts val="1128"/>
              </a:spcBef>
            </a:pPr>
            <a:r>
              <a:rPr lang="en-US" sz="1600" dirty="0" smtClean="0"/>
              <a:t>It is possible to </a:t>
            </a:r>
            <a:r>
              <a:rPr lang="en-US" sz="1600" i="1" dirty="0" smtClean="0"/>
              <a:t>combine authentication and confidentiality in a single algorithm</a:t>
            </a:r>
            <a:r>
              <a:rPr lang="en-US" sz="1600" dirty="0" smtClean="0"/>
              <a:t> by encrypting a message plus its authentication tag</a:t>
            </a:r>
          </a:p>
          <a:p>
            <a:pPr>
              <a:spcBef>
                <a:spcPts val="1128"/>
              </a:spcBef>
            </a:pPr>
            <a:r>
              <a:rPr lang="en-US" sz="1600" dirty="0" smtClean="0"/>
              <a:t>Typically message authentication is provided as a separate function from message encryption</a:t>
            </a:r>
          </a:p>
          <a:p>
            <a:pPr>
              <a:spcBef>
                <a:spcPts val="1128"/>
              </a:spcBef>
            </a:pPr>
            <a:r>
              <a:rPr lang="en-US" sz="1600" dirty="0" smtClean="0"/>
              <a:t>Situations in which message authentication without confidentiality may be preferable include:</a:t>
            </a:r>
          </a:p>
          <a:p>
            <a:pPr lvl="2"/>
            <a:r>
              <a:rPr lang="en-US" dirty="0" smtClean="0"/>
              <a:t>There are a number of applications in which the same message is broadcast to a number of destinations</a:t>
            </a:r>
          </a:p>
          <a:p>
            <a:pPr lvl="2"/>
            <a:r>
              <a:rPr lang="en-US" dirty="0" smtClean="0"/>
              <a:t>An exchange in which one side has a heavy load and cannot afford the time to decrypt all incoming messages</a:t>
            </a:r>
          </a:p>
          <a:p>
            <a:pPr lvl="2"/>
            <a:r>
              <a:rPr lang="en-US" dirty="0" smtClean="0"/>
              <a:t>Authentication of a computer program in plaintext is an attractive service</a:t>
            </a:r>
          </a:p>
          <a:p>
            <a:pPr marL="342900" lvl="2" indent="-342900">
              <a:spcBef>
                <a:spcPts val="1128"/>
              </a:spcBef>
            </a:pPr>
            <a:r>
              <a:rPr lang="en-US" b="1" dirty="0"/>
              <a:t>Thus, there is a place for both authentication and encryption in meeting security requirements</a:t>
            </a:r>
          </a:p>
          <a:p>
            <a:pPr lvl="2"/>
            <a:endParaRPr lang="en-US" dirty="0"/>
          </a:p>
        </p:txBody>
      </p:sp>
    </p:spTree>
    <p:extLst>
      <p:ext uri="{BB962C8B-B14F-4D97-AF65-F5344CB8AC3E}">
        <p14:creationId xmlns:p14="http://schemas.microsoft.com/office/powerpoint/2010/main" val="36001895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55" y="476672"/>
            <a:ext cx="8407770" cy="816042"/>
          </a:xfrm>
        </p:spPr>
        <p:txBody>
          <a:bodyPr/>
          <a:lstStyle/>
          <a:p>
            <a:r>
              <a:rPr lang="en-US" sz="4000" b="1" dirty="0"/>
              <a:t>Message Authentication </a:t>
            </a:r>
            <a:r>
              <a:rPr lang="en-US" sz="4000" b="1" dirty="0" smtClean="0"/>
              <a:t>Code</a:t>
            </a:r>
            <a:endParaRPr lang="en-US" sz="4000" b="1" dirty="0"/>
          </a:p>
        </p:txBody>
      </p:sp>
      <p:sp>
        <p:nvSpPr>
          <p:cNvPr id="3" name="Content Placeholder 2"/>
          <p:cNvSpPr>
            <a:spLocks noGrp="1"/>
          </p:cNvSpPr>
          <p:nvPr>
            <p:ph idx="1"/>
          </p:nvPr>
        </p:nvSpPr>
        <p:spPr>
          <a:xfrm>
            <a:off x="-15038" y="1473650"/>
            <a:ext cx="9159038" cy="5627758"/>
          </a:xfrm>
        </p:spPr>
        <p:txBody>
          <a:bodyPr>
            <a:normAutofit/>
          </a:bodyPr>
          <a:lstStyle/>
          <a:p>
            <a:pPr algn="just"/>
            <a:r>
              <a:rPr lang="en-US" sz="1600" dirty="0">
                <a:latin typeface="Arial" pitchFamily="-110" charset="0"/>
                <a:ea typeface="ＭＳ Ｐゴシック" pitchFamily="-110" charset="-128"/>
                <a:cs typeface="ＭＳ Ｐゴシック" pitchFamily="-110" charset="-128"/>
              </a:rPr>
              <a:t>One authentication technique </a:t>
            </a:r>
            <a:r>
              <a:rPr lang="en-US" sz="1600" dirty="0" smtClean="0">
                <a:latin typeface="Arial" pitchFamily="-110" charset="0"/>
                <a:ea typeface="ＭＳ Ｐゴシック" pitchFamily="-110" charset="-128"/>
                <a:cs typeface="ＭＳ Ｐゴシック" pitchFamily="-110" charset="-128"/>
              </a:rPr>
              <a:t>involves the </a:t>
            </a:r>
            <a:r>
              <a:rPr lang="en-US" sz="1600" dirty="0">
                <a:latin typeface="Arial" pitchFamily="-110" charset="0"/>
                <a:ea typeface="ＭＳ Ｐゴシック" pitchFamily="-110" charset="-128"/>
                <a:cs typeface="ＭＳ Ｐゴシック" pitchFamily="-110" charset="-128"/>
              </a:rPr>
              <a:t>use of a secret key </a:t>
            </a:r>
            <a:r>
              <a:rPr lang="en-US" sz="1600" dirty="0" smtClean="0">
                <a:latin typeface="Arial" pitchFamily="-110" charset="0"/>
                <a:ea typeface="ＭＳ Ｐゴシック" pitchFamily="-110" charset="-128"/>
                <a:cs typeface="ＭＳ Ｐゴシック" pitchFamily="-110" charset="-128"/>
              </a:rPr>
              <a:t>to generate </a:t>
            </a:r>
            <a:r>
              <a:rPr lang="en-US" sz="1600" dirty="0">
                <a:latin typeface="Arial" pitchFamily="-110" charset="0"/>
                <a:ea typeface="ＭＳ Ｐゴシック" pitchFamily="-110" charset="-128"/>
                <a:cs typeface="ＭＳ Ｐゴシック" pitchFamily="-110" charset="-128"/>
              </a:rPr>
              <a:t>a small block of data, known as a </a:t>
            </a:r>
            <a:r>
              <a:rPr lang="en-US" sz="1600" b="1" i="1" dirty="0" smtClean="0">
                <a:latin typeface="Arial" pitchFamily="-110" charset="0"/>
                <a:ea typeface="ＭＳ Ｐゴシック" pitchFamily="-110" charset="-128"/>
                <a:cs typeface="ＭＳ Ｐゴシック" pitchFamily="-110" charset="-128"/>
              </a:rPr>
              <a:t>message authentication code</a:t>
            </a:r>
            <a:r>
              <a:rPr lang="en-US" sz="1600" b="1" i="1" dirty="0">
                <a:latin typeface="Arial" pitchFamily="-110" charset="0"/>
                <a:ea typeface="ＭＳ Ｐゴシック" pitchFamily="-110" charset="-128"/>
                <a:cs typeface="ＭＳ Ｐゴシック" pitchFamily="-110" charset="-128"/>
              </a:rPr>
              <a:t> </a:t>
            </a:r>
            <a:r>
              <a:rPr lang="en-US" sz="1600" b="1" i="1" dirty="0" smtClean="0">
                <a:latin typeface="Arial" pitchFamily="-110" charset="0"/>
                <a:ea typeface="ＭＳ Ｐゴシック" pitchFamily="-110" charset="-128"/>
                <a:cs typeface="ＭＳ Ｐゴシック" pitchFamily="-110" charset="-128"/>
              </a:rPr>
              <a:t>(MAC) </a:t>
            </a:r>
            <a:r>
              <a:rPr lang="en-US" sz="1600" dirty="0">
                <a:latin typeface="Arial" pitchFamily="-110" charset="0"/>
                <a:ea typeface="ＭＳ Ｐゴシック" pitchFamily="-110" charset="-128"/>
                <a:cs typeface="ＭＳ Ｐゴシック" pitchFamily="-110" charset="-128"/>
              </a:rPr>
              <a:t>that is appended to the </a:t>
            </a:r>
            <a:r>
              <a:rPr lang="en-US" sz="1600" dirty="0" smtClean="0">
                <a:latin typeface="Arial" pitchFamily="-110" charset="0"/>
                <a:ea typeface="ＭＳ Ｐゴシック" pitchFamily="-110" charset="-128"/>
                <a:cs typeface="ＭＳ Ｐゴシック" pitchFamily="-110" charset="-128"/>
              </a:rPr>
              <a:t>message. </a:t>
            </a:r>
          </a:p>
          <a:p>
            <a:pPr algn="just"/>
            <a:r>
              <a:rPr lang="en-US" sz="1600" dirty="0" smtClean="0">
                <a:latin typeface="Arial" pitchFamily="-110" charset="0"/>
                <a:ea typeface="ＭＳ Ｐゴシック" pitchFamily="-110" charset="-128"/>
                <a:cs typeface="ＭＳ Ｐゴシック" pitchFamily="-110" charset="-128"/>
              </a:rPr>
              <a:t>Two </a:t>
            </a:r>
            <a:r>
              <a:rPr lang="en-US" sz="1600" dirty="0">
                <a:latin typeface="Arial" pitchFamily="-110" charset="0"/>
                <a:ea typeface="ＭＳ Ｐゴシック" pitchFamily="-110" charset="-128"/>
                <a:cs typeface="ＭＳ Ｐゴシック" pitchFamily="-110" charset="-128"/>
              </a:rPr>
              <a:t>communicating parties, say </a:t>
            </a:r>
            <a:r>
              <a:rPr lang="en-US" sz="1600" b="1" i="1" dirty="0">
                <a:latin typeface="Arial" pitchFamily="-110" charset="0"/>
                <a:ea typeface="ＭＳ Ｐゴシック" pitchFamily="-110" charset="-128"/>
                <a:cs typeface="ＭＳ Ｐゴシック" pitchFamily="-110" charset="-128"/>
              </a:rPr>
              <a:t>A and B</a:t>
            </a:r>
            <a:r>
              <a:rPr lang="en-US" sz="1600" dirty="0">
                <a:latin typeface="Arial" pitchFamily="-110" charset="0"/>
                <a:ea typeface="ＭＳ Ｐゴシック" pitchFamily="-110" charset="-128"/>
                <a:cs typeface="ＭＳ Ｐゴシック" pitchFamily="-110" charset="-128"/>
              </a:rPr>
              <a:t>, share a common secret key </a:t>
            </a:r>
            <a:r>
              <a:rPr lang="en-US" sz="1600" b="1" i="1" dirty="0">
                <a:latin typeface="Arial" pitchFamily="-110" charset="0"/>
                <a:ea typeface="ＭＳ Ｐゴシック" pitchFamily="-110" charset="-128"/>
                <a:cs typeface="ＭＳ Ｐゴシック" pitchFamily="-110" charset="-128"/>
              </a:rPr>
              <a:t>K</a:t>
            </a:r>
            <a:r>
              <a:rPr lang="en-US" sz="1600" b="1" i="1" baseline="-25000" dirty="0">
                <a:latin typeface="Arial" pitchFamily="-110" charset="0"/>
                <a:ea typeface="ＭＳ Ｐゴシック" pitchFamily="-110" charset="-128"/>
                <a:cs typeface="ＭＳ Ｐゴシック" pitchFamily="-110" charset="-128"/>
              </a:rPr>
              <a:t>AB</a:t>
            </a:r>
            <a:r>
              <a:rPr lang="en-US" sz="1600" b="1" i="1" dirty="0" smtClean="0">
                <a:latin typeface="Arial" pitchFamily="-110" charset="0"/>
                <a:ea typeface="ＭＳ Ｐゴシック" pitchFamily="-110" charset="-128"/>
                <a:cs typeface="ＭＳ Ｐゴシック" pitchFamily="-110" charset="-128"/>
              </a:rPr>
              <a:t>.</a:t>
            </a:r>
          </a:p>
          <a:p>
            <a:pPr lvl="1" algn="just"/>
            <a:r>
              <a:rPr lang="en-US" sz="1600" i="1" dirty="0" smtClean="0">
                <a:latin typeface="Arial" pitchFamily="-110" charset="0"/>
                <a:ea typeface="ＭＳ Ｐゴシック" pitchFamily="-110" charset="-128"/>
                <a:cs typeface="ＭＳ Ｐゴシック" pitchFamily="-110" charset="-128"/>
              </a:rPr>
              <a:t>When </a:t>
            </a:r>
            <a:r>
              <a:rPr lang="en-US" sz="1600" dirty="0" smtClean="0">
                <a:latin typeface="Arial" pitchFamily="-110" charset="0"/>
                <a:ea typeface="ＭＳ Ｐゴシック" pitchFamily="-110" charset="-128"/>
                <a:cs typeface="ＭＳ Ｐゴシック" pitchFamily="-110" charset="-128"/>
              </a:rPr>
              <a:t>A </a:t>
            </a:r>
            <a:r>
              <a:rPr lang="en-US" sz="1600" dirty="0">
                <a:latin typeface="Arial" pitchFamily="-110" charset="0"/>
                <a:ea typeface="ＭＳ Ｐゴシック" pitchFamily="-110" charset="-128"/>
                <a:cs typeface="ＭＳ Ｐゴシック" pitchFamily="-110" charset="-128"/>
              </a:rPr>
              <a:t>has a message to send to B, it calculates the message authentication code as </a:t>
            </a:r>
            <a:r>
              <a:rPr lang="en-US" sz="1600" dirty="0" smtClean="0">
                <a:latin typeface="Arial" pitchFamily="-110" charset="0"/>
                <a:ea typeface="ＭＳ Ｐゴシック" pitchFamily="-110" charset="-128"/>
                <a:cs typeface="ＭＳ Ｐゴシック" pitchFamily="-110" charset="-128"/>
              </a:rPr>
              <a:t>a complex </a:t>
            </a:r>
            <a:r>
              <a:rPr lang="en-US" sz="1600" dirty="0">
                <a:latin typeface="Arial" pitchFamily="-110" charset="0"/>
                <a:ea typeface="ＭＳ Ｐゴシック" pitchFamily="-110" charset="-128"/>
                <a:cs typeface="ＭＳ Ｐゴシック" pitchFamily="-110" charset="-128"/>
              </a:rPr>
              <a:t>function of the message and the key: </a:t>
            </a:r>
            <a:r>
              <a:rPr lang="en-US" sz="1600" dirty="0" smtClean="0">
                <a:latin typeface="Arial" pitchFamily="-110" charset="0"/>
                <a:ea typeface="ＭＳ Ｐゴシック" pitchFamily="-110" charset="-128"/>
                <a:cs typeface="ＭＳ Ｐゴシック" pitchFamily="-110" charset="-128"/>
              </a:rPr>
              <a:t> </a:t>
            </a:r>
          </a:p>
          <a:p>
            <a:pPr marL="0" indent="0" algn="ctr">
              <a:buNone/>
            </a:pPr>
            <a:r>
              <a:rPr lang="en-US" sz="1600" b="1" i="1" dirty="0" smtClean="0">
                <a:latin typeface="Arial" pitchFamily="-110" charset="0"/>
                <a:ea typeface="ＭＳ Ｐゴシック" pitchFamily="-110" charset="-128"/>
                <a:cs typeface="ＭＳ Ｐゴシック" pitchFamily="-110" charset="-128"/>
              </a:rPr>
              <a:t>          MAC</a:t>
            </a:r>
            <a:r>
              <a:rPr lang="en-US" sz="1600" b="1" i="1" baseline="-25000" dirty="0" smtClean="0">
                <a:latin typeface="Arial" pitchFamily="-110" charset="0"/>
                <a:ea typeface="ＭＳ Ｐゴシック" pitchFamily="-110" charset="-128"/>
                <a:cs typeface="ＭＳ Ｐゴシック" pitchFamily="-110" charset="-128"/>
              </a:rPr>
              <a:t>M</a:t>
            </a:r>
            <a:r>
              <a:rPr lang="en-US" sz="1600" b="1" i="1" dirty="0" smtClean="0">
                <a:latin typeface="Arial" pitchFamily="-110" charset="0"/>
                <a:ea typeface="ＭＳ Ｐゴシック" pitchFamily="-110" charset="-128"/>
                <a:cs typeface="ＭＳ Ｐゴシック" pitchFamily="-110" charset="-128"/>
              </a:rPr>
              <a:t>  </a:t>
            </a:r>
            <a:r>
              <a:rPr lang="en-US" sz="1600" b="1" i="1" dirty="0">
                <a:latin typeface="Arial" pitchFamily="-110" charset="0"/>
                <a:ea typeface="ＭＳ Ｐゴシック" pitchFamily="-110" charset="-128"/>
                <a:cs typeface="ＭＳ Ｐゴシック" pitchFamily="-110" charset="-128"/>
              </a:rPr>
              <a:t>F(K</a:t>
            </a:r>
            <a:r>
              <a:rPr lang="en-US" sz="1600" b="1" i="1" baseline="-25000" dirty="0">
                <a:latin typeface="Arial" pitchFamily="-110" charset="0"/>
                <a:ea typeface="ＭＳ Ｐゴシック" pitchFamily="-110" charset="-128"/>
                <a:cs typeface="ＭＳ Ｐゴシック" pitchFamily="-110" charset="-128"/>
              </a:rPr>
              <a:t>AB</a:t>
            </a:r>
            <a:r>
              <a:rPr lang="en-US" sz="1600" b="1" i="1" dirty="0">
                <a:latin typeface="Arial" pitchFamily="-110" charset="0"/>
                <a:ea typeface="ＭＳ Ｐゴシック" pitchFamily="-110" charset="-128"/>
                <a:cs typeface="ＭＳ Ｐゴシック" pitchFamily="-110" charset="-128"/>
              </a:rPr>
              <a:t>, M). </a:t>
            </a:r>
            <a:endParaRPr lang="en-US" sz="1600" b="1" i="1" dirty="0" smtClean="0">
              <a:latin typeface="Arial" pitchFamily="-110" charset="0"/>
              <a:ea typeface="ＭＳ Ｐゴシック" pitchFamily="-110" charset="-128"/>
              <a:cs typeface="ＭＳ Ｐゴシック" pitchFamily="-110" charset="-128"/>
            </a:endParaRPr>
          </a:p>
          <a:p>
            <a:pPr lvl="1" algn="just"/>
            <a:r>
              <a:rPr lang="en-US" sz="1600" i="1" dirty="0" smtClean="0">
                <a:latin typeface="Arial" pitchFamily="-110" charset="0"/>
                <a:ea typeface="ＭＳ Ｐゴシック" pitchFamily="-110" charset="-128"/>
                <a:cs typeface="ＭＳ Ｐゴシック" pitchFamily="-110" charset="-128"/>
              </a:rPr>
              <a:t>The message </a:t>
            </a:r>
            <a:r>
              <a:rPr lang="en-US" sz="1600" dirty="0" smtClean="0">
                <a:latin typeface="Arial" pitchFamily="-110" charset="0"/>
                <a:ea typeface="ＭＳ Ｐゴシック" pitchFamily="-110" charset="-128"/>
                <a:cs typeface="ＭＳ Ｐゴシック" pitchFamily="-110" charset="-128"/>
              </a:rPr>
              <a:t>plus </a:t>
            </a:r>
            <a:r>
              <a:rPr lang="en-US" sz="1600" dirty="0">
                <a:latin typeface="Arial" pitchFamily="-110" charset="0"/>
                <a:ea typeface="ＭＳ Ｐゴシック" pitchFamily="-110" charset="-128"/>
                <a:cs typeface="ＭＳ Ｐゴシック" pitchFamily="-110" charset="-128"/>
              </a:rPr>
              <a:t>code are transmitted to the intended recipient</a:t>
            </a:r>
            <a:r>
              <a:rPr lang="en-US" sz="1600" dirty="0" smtClean="0">
                <a:latin typeface="Arial" pitchFamily="-110" charset="0"/>
                <a:ea typeface="ＭＳ Ｐゴシック" pitchFamily="-110" charset="-128"/>
                <a:cs typeface="ＭＳ Ｐゴシック" pitchFamily="-110" charset="-128"/>
              </a:rPr>
              <a:t>.</a:t>
            </a:r>
          </a:p>
          <a:p>
            <a:pPr lvl="1" algn="just"/>
            <a:r>
              <a:rPr lang="en-US" sz="1600" dirty="0" smtClean="0">
                <a:latin typeface="Arial" pitchFamily="-110" charset="0"/>
                <a:ea typeface="ＭＳ Ｐゴシック" pitchFamily="-110" charset="-128"/>
                <a:cs typeface="ＭＳ Ｐゴシック" pitchFamily="-110" charset="-128"/>
              </a:rPr>
              <a:t>The </a:t>
            </a:r>
            <a:r>
              <a:rPr lang="en-US" sz="1600" dirty="0">
                <a:latin typeface="Arial" pitchFamily="-110" charset="0"/>
                <a:ea typeface="ＭＳ Ｐゴシック" pitchFamily="-110" charset="-128"/>
                <a:cs typeface="ＭＳ Ｐゴシック" pitchFamily="-110" charset="-128"/>
              </a:rPr>
              <a:t>recipient performs the </a:t>
            </a:r>
            <a:r>
              <a:rPr lang="en-US" sz="1600" dirty="0" smtClean="0">
                <a:latin typeface="Arial" pitchFamily="-110" charset="0"/>
                <a:ea typeface="ＭＳ Ｐゴシック" pitchFamily="-110" charset="-128"/>
                <a:cs typeface="ＭＳ Ｐゴシック" pitchFamily="-110" charset="-128"/>
              </a:rPr>
              <a:t>same calculation </a:t>
            </a:r>
            <a:r>
              <a:rPr lang="en-US" sz="1600" dirty="0">
                <a:latin typeface="Arial" pitchFamily="-110" charset="0"/>
                <a:ea typeface="ＭＳ Ｐゴシック" pitchFamily="-110" charset="-128"/>
                <a:cs typeface="ＭＳ Ｐゴシック" pitchFamily="-110" charset="-128"/>
              </a:rPr>
              <a:t>on the received message, using the same secret key, to generate a </a:t>
            </a:r>
            <a:r>
              <a:rPr lang="en-US" sz="1600" dirty="0" smtClean="0">
                <a:latin typeface="Arial" pitchFamily="-110" charset="0"/>
                <a:ea typeface="ＭＳ Ｐゴシック" pitchFamily="-110" charset="-128"/>
                <a:cs typeface="ＭＳ Ｐゴシック" pitchFamily="-110" charset="-128"/>
              </a:rPr>
              <a:t>new message </a:t>
            </a:r>
            <a:r>
              <a:rPr lang="en-US" sz="1600" dirty="0">
                <a:latin typeface="Arial" pitchFamily="-110" charset="0"/>
                <a:ea typeface="ＭＳ Ｐゴシック" pitchFamily="-110" charset="-128"/>
                <a:cs typeface="ＭＳ Ｐゴシック" pitchFamily="-110" charset="-128"/>
              </a:rPr>
              <a:t>authentication code</a:t>
            </a:r>
            <a:r>
              <a:rPr lang="en-US" sz="1600" dirty="0" smtClean="0">
                <a:latin typeface="Arial" pitchFamily="-110" charset="0"/>
                <a:ea typeface="ＭＳ Ｐゴシック" pitchFamily="-110" charset="-128"/>
                <a:cs typeface="ＭＳ Ｐゴシック" pitchFamily="-110" charset="-128"/>
              </a:rPr>
              <a:t>.</a:t>
            </a:r>
          </a:p>
          <a:p>
            <a:pPr lvl="1" algn="just"/>
            <a:r>
              <a:rPr lang="en-US" sz="1600" dirty="0" smtClean="0">
                <a:latin typeface="Arial" pitchFamily="-110" charset="0"/>
                <a:ea typeface="ＭＳ Ｐゴシック" pitchFamily="-110" charset="-128"/>
                <a:cs typeface="ＭＳ Ｐゴシック" pitchFamily="-110" charset="-128"/>
              </a:rPr>
              <a:t> </a:t>
            </a:r>
            <a:r>
              <a:rPr lang="en-US" sz="1600" dirty="0">
                <a:latin typeface="Arial" pitchFamily="-110" charset="0"/>
                <a:ea typeface="ＭＳ Ｐゴシック" pitchFamily="-110" charset="-128"/>
                <a:cs typeface="ＭＳ Ｐゴシック" pitchFamily="-110" charset="-128"/>
              </a:rPr>
              <a:t>The received code is compared to the calculated </a:t>
            </a:r>
            <a:r>
              <a:rPr lang="en-US" sz="1600" dirty="0" smtClean="0">
                <a:latin typeface="Arial" pitchFamily="-110" charset="0"/>
                <a:ea typeface="ＭＳ Ｐゴシック" pitchFamily="-110" charset="-128"/>
                <a:cs typeface="ＭＳ Ｐゴシック" pitchFamily="-110" charset="-128"/>
              </a:rPr>
              <a:t>code  </a:t>
            </a:r>
            <a:r>
              <a:rPr lang="en-US" dirty="0" smtClean="0">
                <a:latin typeface="Arial" pitchFamily="-110" charset="0"/>
                <a:ea typeface="ＭＳ Ｐゴシック" pitchFamily="-110" charset="-128"/>
                <a:cs typeface="ＭＳ Ｐゴシック" pitchFamily="-110" charset="-128"/>
              </a:rPr>
              <a:t>and </a:t>
            </a:r>
            <a:r>
              <a:rPr lang="en-US" dirty="0">
                <a:latin typeface="Arial" pitchFamily="-110" charset="0"/>
                <a:ea typeface="ＭＳ Ｐゴシック" pitchFamily="-110" charset="-128"/>
                <a:cs typeface="ＭＳ Ｐゴシック" pitchFamily="-110" charset="-128"/>
              </a:rPr>
              <a:t>if the received code matches the calculated code, </a:t>
            </a:r>
            <a:r>
              <a:rPr lang="en-US" dirty="0" smtClean="0">
                <a:latin typeface="Arial" pitchFamily="-110" charset="0"/>
                <a:ea typeface="ＭＳ Ｐゴシック" pitchFamily="-110" charset="-128"/>
                <a:cs typeface="ＭＳ Ｐゴシック" pitchFamily="-110" charset="-128"/>
              </a:rPr>
              <a:t>then:</a:t>
            </a:r>
          </a:p>
          <a:p>
            <a:pPr lvl="2" algn="just"/>
            <a:r>
              <a:rPr lang="en-US" dirty="0" smtClean="0">
                <a:latin typeface="Arial" pitchFamily="-110" charset="0"/>
                <a:ea typeface="ＭＳ Ｐゴシック" pitchFamily="-110" charset="-128"/>
                <a:cs typeface="ＭＳ Ｐゴシック" pitchFamily="-110" charset="-128"/>
              </a:rPr>
              <a:t> </a:t>
            </a:r>
            <a:r>
              <a:rPr lang="en-US" dirty="0">
                <a:latin typeface="Arial" pitchFamily="-110" charset="0"/>
                <a:ea typeface="ＭＳ Ｐゴシック" pitchFamily="-110" charset="-128"/>
                <a:cs typeface="ＭＳ Ｐゴシック" pitchFamily="-110" charset="-128"/>
              </a:rPr>
              <a:t>The receiver is assured that the message has not been </a:t>
            </a:r>
            <a:r>
              <a:rPr lang="en-US" dirty="0" smtClean="0">
                <a:latin typeface="Arial" pitchFamily="-110" charset="0"/>
                <a:ea typeface="ＭＳ Ｐゴシック" pitchFamily="-110" charset="-128"/>
                <a:cs typeface="ＭＳ Ｐゴシック" pitchFamily="-110" charset="-128"/>
              </a:rPr>
              <a:t>altered</a:t>
            </a:r>
          </a:p>
          <a:p>
            <a:pPr lvl="2" algn="just"/>
            <a:r>
              <a:rPr lang="en-US" dirty="0"/>
              <a:t>The receiver is assured that the message is from the alleged sender</a:t>
            </a:r>
            <a:r>
              <a:rPr lang="en-US" dirty="0" smtClean="0"/>
              <a:t>.</a:t>
            </a:r>
          </a:p>
          <a:p>
            <a:pPr lvl="1" algn="just"/>
            <a:endParaRPr lang="en-US" sz="1600" dirty="0" smtClean="0">
              <a:latin typeface="Arial" pitchFamily="-110" charset="0"/>
              <a:ea typeface="ＭＳ Ｐゴシック" pitchFamily="-110" charset="-128"/>
              <a:cs typeface="ＭＳ Ｐゴシック" pitchFamily="-110" charset="-128"/>
            </a:endParaRPr>
          </a:p>
          <a:p>
            <a:pPr lvl="1" algn="just"/>
            <a:endParaRPr lang="en-US" sz="1600" dirty="0" smtClean="0">
              <a:latin typeface="Arial" pitchFamily="-110" charset="0"/>
              <a:ea typeface="ＭＳ Ｐゴシック" pitchFamily="-110" charset="-128"/>
              <a:cs typeface="ＭＳ Ｐゴシック" pitchFamily="-110" charset="-128"/>
            </a:endParaRPr>
          </a:p>
          <a:p>
            <a:pPr marL="457207" lvl="1" indent="0" algn="just">
              <a:buNone/>
            </a:pPr>
            <a:endParaRPr lang="en-US" b="1" i="1" dirty="0"/>
          </a:p>
        </p:txBody>
      </p:sp>
      <p:sp>
        <p:nvSpPr>
          <p:cNvPr id="4" name="Slide Number Placeholder 3"/>
          <p:cNvSpPr>
            <a:spLocks noGrp="1"/>
          </p:cNvSpPr>
          <p:nvPr>
            <p:ph type="sldNum" sz="quarter" idx="12"/>
          </p:nvPr>
        </p:nvSpPr>
        <p:spPr/>
        <p:txBody>
          <a:bodyPr/>
          <a:lstStyle/>
          <a:p>
            <a:fld id="{5F36C9FC-DA22-1F47-8722-58727A1D436E}" type="slidenum">
              <a:rPr lang="en-US" smtClean="0">
                <a:solidFill>
                  <a:prstClr val="white">
                    <a:lumMod val="65000"/>
                    <a:lumOff val="35000"/>
                  </a:prstClr>
                </a:solidFill>
              </a:rPr>
              <a:pPr/>
              <a:t>6</a:t>
            </a:fld>
            <a:endParaRPr lang="en-US" dirty="0">
              <a:solidFill>
                <a:prstClr val="white">
                  <a:lumMod val="65000"/>
                  <a:lumOff val="35000"/>
                </a:prstClr>
              </a:solidFill>
            </a:endParaRPr>
          </a:p>
        </p:txBody>
      </p:sp>
    </p:spTree>
    <p:extLst>
      <p:ext uri="{BB962C8B-B14F-4D97-AF65-F5344CB8AC3E}">
        <p14:creationId xmlns:p14="http://schemas.microsoft.com/office/powerpoint/2010/main" val="40070096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3.pdf"/>
          <p:cNvPicPr>
            <a:picLocks noChangeAspect="1"/>
          </p:cNvPicPr>
          <p:nvPr/>
        </p:nvPicPr>
        <p:blipFill rotWithShape="1">
          <a:blip r:embed="rId3">
            <a:extLst>
              <a:ext uri="{28A0092B-C50C-407E-A947-70E740481C1C}">
                <a14:useLocalDpi xmlns:a14="http://schemas.microsoft.com/office/drawing/2010/main" val="0"/>
              </a:ext>
            </a:extLst>
          </a:blip>
          <a:srcRect l="7428" t="4689" r="8070" b="7531"/>
          <a:stretch/>
        </p:blipFill>
        <p:spPr>
          <a:xfrm>
            <a:off x="179512" y="116632"/>
            <a:ext cx="6422343" cy="5155219"/>
          </a:xfrm>
          <a:prstGeom prst="rect">
            <a:avLst/>
          </a:prstGeom>
          <a:solidFill>
            <a:schemeClr val="tx1"/>
          </a:solidFill>
        </p:spPr>
      </p:pic>
      <p:sp>
        <p:nvSpPr>
          <p:cNvPr id="5" name="Slide Number Placeholder 4"/>
          <p:cNvSpPr>
            <a:spLocks noGrp="1"/>
          </p:cNvSpPr>
          <p:nvPr>
            <p:ph type="sldNum" sz="quarter" idx="12"/>
          </p:nvPr>
        </p:nvSpPr>
        <p:spPr/>
        <p:txBody>
          <a:bodyPr/>
          <a:lstStyle/>
          <a:p>
            <a:fld id="{4711BA6F-B221-4442-B3E0-4DE91DDD2916}" type="slidenum">
              <a:rPr lang="en-US" smtClean="0">
                <a:solidFill>
                  <a:prstClr val="white">
                    <a:lumMod val="65000"/>
                    <a:lumOff val="35000"/>
                  </a:prstClr>
                </a:solidFill>
              </a:rPr>
              <a:pPr/>
              <a:t>7</a:t>
            </a:fld>
            <a:endParaRPr lang="en-US" dirty="0">
              <a:solidFill>
                <a:prstClr val="white">
                  <a:lumMod val="65000"/>
                  <a:lumOff val="35000"/>
                </a:prstClr>
              </a:solidFill>
            </a:endParaRPr>
          </a:p>
        </p:txBody>
      </p:sp>
      <p:sp>
        <p:nvSpPr>
          <p:cNvPr id="4" name="Rectangle 3"/>
          <p:cNvSpPr/>
          <p:nvPr/>
        </p:nvSpPr>
        <p:spPr>
          <a:xfrm>
            <a:off x="539552" y="5373216"/>
            <a:ext cx="8196649" cy="1200329"/>
          </a:xfrm>
          <a:prstGeom prst="rect">
            <a:avLst/>
          </a:prstGeom>
          <a:solidFill>
            <a:schemeClr val="accent2">
              <a:lumMod val="40000"/>
              <a:lumOff val="60000"/>
            </a:schemeClr>
          </a:solidFill>
        </p:spPr>
        <p:txBody>
          <a:bodyPr wrap="square">
            <a:spAutoFit/>
          </a:bodyPr>
          <a:lstStyle/>
          <a:p>
            <a:r>
              <a:rPr lang="en-US" dirty="0">
                <a:solidFill>
                  <a:srgbClr val="242021"/>
                </a:solidFill>
              </a:rPr>
              <a:t>DES or AES is used to generate an encrypted version of the message, and some of</a:t>
            </a:r>
            <a:r>
              <a:rPr lang="en-US" dirty="0"/>
              <a:t> the bits of </a:t>
            </a:r>
            <a:r>
              <a:rPr lang="en-US" dirty="0" err="1"/>
              <a:t>ciphertext</a:t>
            </a:r>
            <a:r>
              <a:rPr lang="en-US" dirty="0"/>
              <a:t> are used as the code. </a:t>
            </a:r>
            <a:r>
              <a:rPr lang="en-US" dirty="0" smtClean="0"/>
              <a:t>Longer codes are used to provide sufficient collision resistance. </a:t>
            </a:r>
            <a:r>
              <a:rPr lang="en-US" dirty="0"/>
              <a:t>One difference is that </a:t>
            </a:r>
            <a:r>
              <a:rPr lang="en-US" dirty="0" smtClean="0"/>
              <a:t>the authentication </a:t>
            </a:r>
            <a:r>
              <a:rPr lang="en-US" dirty="0"/>
              <a:t>algorithm need not be reversible, as it must for decryption</a:t>
            </a:r>
            <a:r>
              <a:rPr lang="en-US" dirty="0" smtClean="0"/>
              <a:t>.</a:t>
            </a:r>
            <a:endParaRPr lang="en-US" dirty="0"/>
          </a:p>
        </p:txBody>
      </p:sp>
    </p:spTree>
    <p:extLst>
      <p:ext uri="{BB962C8B-B14F-4D97-AF65-F5344CB8AC3E}">
        <p14:creationId xmlns:p14="http://schemas.microsoft.com/office/powerpoint/2010/main" val="3254691533"/>
      </p:ext>
    </p:extLst>
  </p:cSld>
  <p:clrMapOvr>
    <a:masterClrMapping/>
  </p:clrMapOvr>
  <p:transition spd="slow">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710" y="279266"/>
            <a:ext cx="7055380" cy="1400530"/>
          </a:xfrm>
        </p:spPr>
        <p:txBody>
          <a:bodyPr/>
          <a:lstStyle/>
          <a:p>
            <a:r>
              <a:rPr lang="en-US" dirty="0" smtClean="0"/>
              <a:t>One-Hash </a:t>
            </a:r>
            <a:r>
              <a:rPr lang="en-US" dirty="0"/>
              <a:t>Function</a:t>
            </a:r>
          </a:p>
        </p:txBody>
      </p:sp>
      <p:sp>
        <p:nvSpPr>
          <p:cNvPr id="3" name="Content Placeholder 2"/>
          <p:cNvSpPr>
            <a:spLocks noGrp="1"/>
          </p:cNvSpPr>
          <p:nvPr>
            <p:ph idx="1"/>
          </p:nvPr>
        </p:nvSpPr>
        <p:spPr>
          <a:xfrm>
            <a:off x="-33156" y="1340768"/>
            <a:ext cx="9069652" cy="5517232"/>
          </a:xfrm>
        </p:spPr>
        <p:txBody>
          <a:bodyPr/>
          <a:lstStyle/>
          <a:p>
            <a:pPr algn="just"/>
            <a:r>
              <a:rPr lang="en-US" dirty="0"/>
              <a:t>An alternative to the message authentication code </a:t>
            </a:r>
            <a:r>
              <a:rPr lang="en-US" dirty="0" smtClean="0"/>
              <a:t>(MAC) is </a:t>
            </a:r>
            <a:r>
              <a:rPr lang="en-US" dirty="0"/>
              <a:t>the </a:t>
            </a:r>
            <a:r>
              <a:rPr lang="en-US" b="1" i="1" dirty="0"/>
              <a:t>one-way hash function</a:t>
            </a:r>
            <a:r>
              <a:rPr lang="en-US" b="1" i="1" dirty="0" smtClean="0"/>
              <a:t>.</a:t>
            </a:r>
          </a:p>
          <a:p>
            <a:pPr algn="just"/>
            <a:r>
              <a:rPr lang="en-US" dirty="0">
                <a:latin typeface="Arial" pitchFamily="-110" charset="0"/>
                <a:ea typeface="ＭＳ Ｐゴシック" pitchFamily="-110" charset="-128"/>
                <a:cs typeface="ＭＳ Ｐゴシック" pitchFamily="-110" charset="-128"/>
              </a:rPr>
              <a:t>As with the message authentication code, </a:t>
            </a:r>
            <a:r>
              <a:rPr lang="en-US" b="1" i="1" dirty="0">
                <a:latin typeface="Arial" pitchFamily="-110" charset="0"/>
                <a:ea typeface="ＭＳ Ｐゴシック" pitchFamily="-110" charset="-128"/>
                <a:cs typeface="ＭＳ Ｐゴシック" pitchFamily="-110" charset="-128"/>
              </a:rPr>
              <a:t>a hash </a:t>
            </a:r>
            <a:r>
              <a:rPr lang="en-US" b="1" i="1" dirty="0" smtClean="0">
                <a:latin typeface="Arial" pitchFamily="-110" charset="0"/>
                <a:ea typeface="ＭＳ Ｐゴシック" pitchFamily="-110" charset="-128"/>
                <a:cs typeface="ＭＳ Ｐゴシック" pitchFamily="-110" charset="-128"/>
              </a:rPr>
              <a:t>function</a:t>
            </a:r>
            <a:r>
              <a:rPr lang="en-US" dirty="0" smtClean="0">
                <a:latin typeface="Arial" pitchFamily="-110" charset="0"/>
                <a:ea typeface="ＭＳ Ｐゴシック" pitchFamily="-110" charset="-128"/>
                <a:cs typeface="ＭＳ Ｐゴシック" pitchFamily="-110" charset="-128"/>
              </a:rPr>
              <a:t> accepts </a:t>
            </a:r>
            <a:r>
              <a:rPr lang="en-US" dirty="0">
                <a:latin typeface="Arial" pitchFamily="-110" charset="0"/>
                <a:ea typeface="ＭＳ Ｐゴシック" pitchFamily="-110" charset="-128"/>
                <a:cs typeface="ＭＳ Ｐゴシック" pitchFamily="-110" charset="-128"/>
              </a:rPr>
              <a:t>a variable-size message </a:t>
            </a:r>
            <a:r>
              <a:rPr lang="en-US" i="1" dirty="0">
                <a:latin typeface="Arial" pitchFamily="-110" charset="0"/>
                <a:ea typeface="ＭＳ Ｐゴシック" pitchFamily="-110" charset="-128"/>
                <a:cs typeface="ＭＳ Ｐゴシック" pitchFamily="-110" charset="-128"/>
              </a:rPr>
              <a:t>M as input and produces a fixed-size message </a:t>
            </a:r>
            <a:r>
              <a:rPr lang="en-US" i="1" dirty="0" smtClean="0">
                <a:latin typeface="Arial" pitchFamily="-110" charset="0"/>
                <a:ea typeface="ＭＳ Ｐゴシック" pitchFamily="-110" charset="-128"/>
                <a:cs typeface="ＭＳ Ｐゴシック" pitchFamily="-110" charset="-128"/>
              </a:rPr>
              <a:t>digest </a:t>
            </a:r>
            <a:r>
              <a:rPr lang="en-US" dirty="0" smtClean="0">
                <a:latin typeface="Arial" pitchFamily="-110" charset="0"/>
                <a:ea typeface="ＭＳ Ｐゴシック" pitchFamily="-110" charset="-128"/>
                <a:cs typeface="ＭＳ Ｐゴシック" pitchFamily="-110" charset="-128"/>
              </a:rPr>
              <a:t>H(</a:t>
            </a:r>
            <a:r>
              <a:rPr lang="en-US" i="1" dirty="0" smtClean="0">
                <a:latin typeface="Arial" pitchFamily="-110" charset="0"/>
                <a:ea typeface="ＭＳ Ｐゴシック" pitchFamily="-110" charset="-128"/>
                <a:cs typeface="ＭＳ Ｐゴシック" pitchFamily="-110" charset="-128"/>
              </a:rPr>
              <a:t>M</a:t>
            </a:r>
            <a:r>
              <a:rPr lang="en-US" i="1" dirty="0">
                <a:latin typeface="Arial" pitchFamily="-110" charset="0"/>
                <a:ea typeface="ＭＳ Ｐゴシック" pitchFamily="-110" charset="-128"/>
                <a:cs typeface="ＭＳ Ｐゴシック" pitchFamily="-110" charset="-128"/>
              </a:rPr>
              <a:t>) as </a:t>
            </a:r>
            <a:r>
              <a:rPr lang="en-US" i="1" dirty="0" smtClean="0">
                <a:latin typeface="Arial" pitchFamily="-110" charset="0"/>
                <a:ea typeface="ＭＳ Ｐゴシック" pitchFamily="-110" charset="-128"/>
                <a:cs typeface="ＭＳ Ｐゴシック" pitchFamily="-110" charset="-128"/>
              </a:rPr>
              <a:t>output</a:t>
            </a:r>
          </a:p>
          <a:p>
            <a:r>
              <a:rPr lang="en-US" dirty="0" smtClean="0">
                <a:latin typeface="Arial" pitchFamily="-110" charset="0"/>
                <a:ea typeface="ＭＳ Ｐゴシック" pitchFamily="-110" charset="-128"/>
                <a:cs typeface="ＭＳ Ｐゴシック" pitchFamily="-110" charset="-128"/>
              </a:rPr>
              <a:t>Unlike </a:t>
            </a:r>
            <a:r>
              <a:rPr lang="en-US" dirty="0">
                <a:latin typeface="Arial" pitchFamily="-110" charset="0"/>
                <a:ea typeface="ＭＳ Ｐゴシック" pitchFamily="-110" charset="-128"/>
                <a:cs typeface="ＭＳ Ｐゴシック" pitchFamily="-110" charset="-128"/>
              </a:rPr>
              <a:t>the MAC, </a:t>
            </a:r>
            <a:r>
              <a:rPr lang="en-US" b="1" i="1" dirty="0">
                <a:solidFill>
                  <a:srgbClr val="FF0000"/>
                </a:solidFill>
                <a:latin typeface="Arial" pitchFamily="-110" charset="0"/>
                <a:ea typeface="ＭＳ Ｐゴシック" pitchFamily="-110" charset="-128"/>
                <a:cs typeface="ＭＳ Ｐゴシック" pitchFamily="-110" charset="-128"/>
              </a:rPr>
              <a:t>a hash function does not also take a secret key as input</a:t>
            </a:r>
            <a:r>
              <a:rPr lang="en-US" b="1" i="1" dirty="0" smtClean="0">
                <a:solidFill>
                  <a:srgbClr val="FF0000"/>
                </a:solidFill>
                <a:latin typeface="Arial" pitchFamily="-110" charset="0"/>
                <a:ea typeface="ＭＳ Ｐゴシック" pitchFamily="-110" charset="-128"/>
                <a:cs typeface="ＭＳ Ｐゴシック" pitchFamily="-110" charset="-128"/>
              </a:rPr>
              <a:t>.</a:t>
            </a:r>
          </a:p>
          <a:p>
            <a:pPr lvl="1"/>
            <a:r>
              <a:rPr lang="en-US" dirty="0"/>
              <a:t>Typically, the message is padded out to an </a:t>
            </a:r>
            <a:r>
              <a:rPr lang="en-US" dirty="0" smtClean="0"/>
              <a:t>integer multiple </a:t>
            </a:r>
            <a:r>
              <a:rPr lang="en-US" dirty="0"/>
              <a:t>of some fixed length (e.g., 1024 bits) and the padding includes the value </a:t>
            </a:r>
            <a:r>
              <a:rPr lang="en-US" dirty="0" smtClean="0"/>
              <a:t>of the </a:t>
            </a:r>
            <a:r>
              <a:rPr lang="en-US" dirty="0"/>
              <a:t>length of the original message in bits.</a:t>
            </a:r>
            <a:endParaRPr lang="en-US" b="1" i="1" dirty="0">
              <a:solidFill>
                <a:srgbClr val="FF0000"/>
              </a:solidFill>
              <a:latin typeface="Arial" pitchFamily="-110" charset="0"/>
              <a:ea typeface="ＭＳ Ｐゴシック" pitchFamily="-110" charset="-128"/>
              <a:cs typeface="ＭＳ Ｐゴシック" pitchFamily="-110" charset="-128"/>
            </a:endParaRPr>
          </a:p>
        </p:txBody>
      </p:sp>
      <p:sp>
        <p:nvSpPr>
          <p:cNvPr id="4" name="Slide Number Placeholder 3"/>
          <p:cNvSpPr>
            <a:spLocks noGrp="1"/>
          </p:cNvSpPr>
          <p:nvPr>
            <p:ph type="sldNum" sz="quarter" idx="12"/>
          </p:nvPr>
        </p:nvSpPr>
        <p:spPr/>
        <p:txBody>
          <a:bodyPr/>
          <a:lstStyle/>
          <a:p>
            <a:fld id="{5F36C9FC-DA22-1F47-8722-58727A1D436E}" type="slidenum">
              <a:rPr lang="en-US" smtClean="0">
                <a:solidFill>
                  <a:prstClr val="white">
                    <a:lumMod val="65000"/>
                    <a:lumOff val="35000"/>
                  </a:prstClr>
                </a:solidFill>
              </a:rPr>
              <a:pPr/>
              <a:t>8</a:t>
            </a:fld>
            <a:endParaRPr lang="en-US" dirty="0">
              <a:solidFill>
                <a:prstClr val="white">
                  <a:lumMod val="65000"/>
                  <a:lumOff val="35000"/>
                </a:prstClr>
              </a:solidFill>
            </a:endParaRPr>
          </a:p>
        </p:txBody>
      </p:sp>
    </p:spTree>
    <p:extLst>
      <p:ext uri="{BB962C8B-B14F-4D97-AF65-F5344CB8AC3E}">
        <p14:creationId xmlns:p14="http://schemas.microsoft.com/office/powerpoint/2010/main" val="87864173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710" y="279266"/>
            <a:ext cx="7055380" cy="1400530"/>
          </a:xfrm>
        </p:spPr>
        <p:txBody>
          <a:bodyPr/>
          <a:lstStyle/>
          <a:p>
            <a:r>
              <a:rPr lang="en-US" dirty="0" smtClean="0"/>
              <a:t>One-Hash </a:t>
            </a:r>
            <a:r>
              <a:rPr lang="en-US" dirty="0"/>
              <a:t>Function</a:t>
            </a:r>
          </a:p>
        </p:txBody>
      </p:sp>
      <p:sp>
        <p:nvSpPr>
          <p:cNvPr id="4" name="Slide Number Placeholder 3"/>
          <p:cNvSpPr>
            <a:spLocks noGrp="1"/>
          </p:cNvSpPr>
          <p:nvPr>
            <p:ph type="sldNum" sz="quarter" idx="12"/>
          </p:nvPr>
        </p:nvSpPr>
        <p:spPr/>
        <p:txBody>
          <a:bodyPr/>
          <a:lstStyle/>
          <a:p>
            <a:fld id="{5F36C9FC-DA22-1F47-8722-58727A1D436E}" type="slidenum">
              <a:rPr lang="en-US" smtClean="0">
                <a:solidFill>
                  <a:prstClr val="white">
                    <a:lumMod val="65000"/>
                    <a:lumOff val="35000"/>
                  </a:prstClr>
                </a:solidFill>
              </a:rPr>
              <a:pPr/>
              <a:t>9</a:t>
            </a:fld>
            <a:endParaRPr lang="en-US" dirty="0">
              <a:solidFill>
                <a:prstClr val="white">
                  <a:lumMod val="65000"/>
                  <a:lumOff val="35000"/>
                </a:prstClr>
              </a:solidFill>
            </a:endParaRPr>
          </a:p>
        </p:txBody>
      </p:sp>
    </p:spTree>
    <p:extLst>
      <p:ext uri="{BB962C8B-B14F-4D97-AF65-F5344CB8AC3E}">
        <p14:creationId xmlns:p14="http://schemas.microsoft.com/office/powerpoint/2010/main" val="283876736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p:cNvGrpSpPr/>
          <p:nvPr/>
        </p:nvGrpSpPr>
        <p:grpSpPr>
          <a:xfrm>
            <a:off x="683568" y="1056062"/>
            <a:ext cx="6524888" cy="5181250"/>
            <a:chOff x="2471352" y="265084"/>
            <a:chExt cx="7129848" cy="6456392"/>
          </a:xfrm>
        </p:grpSpPr>
        <p:pic>
          <p:nvPicPr>
            <p:cNvPr id="5" name="Picture 4"/>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471352" y="265084"/>
              <a:ext cx="7129848" cy="6456392"/>
            </a:xfrm>
            <a:prstGeom prst="rect">
              <a:avLst/>
            </a:prstGeom>
          </p:spPr>
        </p:pic>
        <p:sp>
          <p:nvSpPr>
            <p:cNvPr id="11" name="Rectangle 10"/>
            <p:cNvSpPr/>
            <p:nvPr/>
          </p:nvSpPr>
          <p:spPr>
            <a:xfrm>
              <a:off x="3348681" y="5832389"/>
              <a:ext cx="3150973" cy="5239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Slide Number Placeholder 3"/>
          <p:cNvSpPr>
            <a:spLocks noGrp="1"/>
          </p:cNvSpPr>
          <p:nvPr>
            <p:ph type="sldNum" sz="quarter" idx="12"/>
          </p:nvPr>
        </p:nvSpPr>
        <p:spPr/>
        <p:txBody>
          <a:bodyPr/>
          <a:lstStyle/>
          <a:p>
            <a:fld id="{A2A50C4D-0BA1-4E54-8DFC-01810EC97B99}" type="slidenum">
              <a:rPr lang="en-US" smtClean="0"/>
              <a:t>10</a:t>
            </a:fld>
            <a:endParaRPr lang="en-US"/>
          </a:p>
        </p:txBody>
      </p:sp>
      <p:sp>
        <p:nvSpPr>
          <p:cNvPr id="6" name="Oval 5"/>
          <p:cNvSpPr/>
          <p:nvPr/>
        </p:nvSpPr>
        <p:spPr>
          <a:xfrm>
            <a:off x="6457950" y="1181615"/>
            <a:ext cx="900499" cy="824814"/>
          </a:xfrm>
          <a:prstGeom prst="ellipse">
            <a:avLst/>
          </a:prstGeom>
          <a:solidFill>
            <a:srgbClr val="FF0000">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6426298" y="3050359"/>
            <a:ext cx="2717702" cy="923330"/>
          </a:xfrm>
          <a:prstGeom prst="rect">
            <a:avLst/>
          </a:prstGeom>
          <a:solidFill>
            <a:schemeClr val="accent2">
              <a:lumMod val="40000"/>
              <a:lumOff val="60000"/>
            </a:schemeClr>
          </a:solidFill>
          <a:ln>
            <a:solidFill>
              <a:srgbClr val="FF0000"/>
            </a:solidFill>
          </a:ln>
        </p:spPr>
        <p:txBody>
          <a:bodyPr wrap="square" rtlCol="0">
            <a:spAutoFit/>
          </a:bodyPr>
          <a:lstStyle/>
          <a:p>
            <a:r>
              <a:rPr lang="en-US" dirty="0" smtClean="0"/>
              <a:t>To accommodate variable size messages or data blocks</a:t>
            </a:r>
            <a:endParaRPr lang="en-US" dirty="0"/>
          </a:p>
        </p:txBody>
      </p:sp>
      <p:cxnSp>
        <p:nvCxnSpPr>
          <p:cNvPr id="9" name="Straight Arrow Connector 8"/>
          <p:cNvCxnSpPr/>
          <p:nvPr/>
        </p:nvCxnSpPr>
        <p:spPr>
          <a:xfrm>
            <a:off x="7058465" y="2006429"/>
            <a:ext cx="299984" cy="686655"/>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p:nvPicPr>
        <p:blipFill>
          <a:blip r:embed="rId4"/>
          <a:stretch>
            <a:fillRect/>
          </a:stretch>
        </p:blipFill>
        <p:spPr>
          <a:xfrm>
            <a:off x="6328702" y="2681203"/>
            <a:ext cx="2379201" cy="300080"/>
          </a:xfrm>
          <a:prstGeom prst="rect">
            <a:avLst/>
          </a:prstGeom>
        </p:spPr>
      </p:pic>
    </p:spTree>
    <p:extLst>
      <p:ext uri="{BB962C8B-B14F-4D97-AF65-F5344CB8AC3E}">
        <p14:creationId xmlns:p14="http://schemas.microsoft.com/office/powerpoint/2010/main" val="298910875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710" y="279266"/>
            <a:ext cx="7055380" cy="1400530"/>
          </a:xfrm>
        </p:spPr>
        <p:txBody>
          <a:bodyPr/>
          <a:lstStyle/>
          <a:p>
            <a:r>
              <a:rPr lang="en-US" dirty="0"/>
              <a:t>One-Way Hash Function</a:t>
            </a:r>
          </a:p>
        </p:txBody>
      </p:sp>
      <p:sp>
        <p:nvSpPr>
          <p:cNvPr id="3" name="Content Placeholder 2"/>
          <p:cNvSpPr>
            <a:spLocks noGrp="1"/>
          </p:cNvSpPr>
          <p:nvPr>
            <p:ph idx="1"/>
          </p:nvPr>
        </p:nvSpPr>
        <p:spPr>
          <a:xfrm>
            <a:off x="0" y="1268760"/>
            <a:ext cx="8964488" cy="5589240"/>
          </a:xfrm>
        </p:spPr>
        <p:txBody>
          <a:bodyPr/>
          <a:lstStyle/>
          <a:p>
            <a:pPr algn="just"/>
            <a:r>
              <a:rPr lang="en-US" dirty="0"/>
              <a:t>This technique, known as a </a:t>
            </a:r>
            <a:r>
              <a:rPr lang="en-US" b="1" i="1" dirty="0"/>
              <a:t>keyed hash </a:t>
            </a:r>
            <a:r>
              <a:rPr lang="en-US" b="1" i="1" dirty="0" smtClean="0"/>
              <a:t>MAC </a:t>
            </a:r>
            <a:r>
              <a:rPr lang="en-US" dirty="0"/>
              <a:t>(see Figure </a:t>
            </a:r>
            <a:r>
              <a:rPr lang="en-US" dirty="0" smtClean="0"/>
              <a:t>2.5c) </a:t>
            </a:r>
            <a:endParaRPr lang="en-US" b="1" i="1" dirty="0" smtClean="0"/>
          </a:p>
          <a:p>
            <a:pPr algn="just"/>
            <a:r>
              <a:rPr lang="en-US" dirty="0"/>
              <a:t>A</a:t>
            </a:r>
            <a:r>
              <a:rPr lang="en-US" dirty="0" smtClean="0"/>
              <a:t>ssumes </a:t>
            </a:r>
            <a:r>
              <a:rPr lang="en-US" dirty="0"/>
              <a:t>that two communicating parties, say A and B, share a common secret key K. </a:t>
            </a:r>
            <a:endParaRPr lang="en-US" dirty="0" smtClean="0"/>
          </a:p>
          <a:p>
            <a:pPr lvl="1" algn="just"/>
            <a:r>
              <a:rPr lang="en-US" dirty="0" smtClean="0"/>
              <a:t>This </a:t>
            </a:r>
            <a:r>
              <a:rPr lang="en-US" dirty="0"/>
              <a:t>secret key is incorporated into the process of generating a hash code</a:t>
            </a:r>
            <a:r>
              <a:rPr lang="en-US" dirty="0" smtClean="0"/>
              <a:t>.</a:t>
            </a:r>
          </a:p>
          <a:p>
            <a:pPr lvl="1" algn="just"/>
            <a:r>
              <a:rPr lang="en-US" dirty="0" smtClean="0"/>
              <a:t>When A has a message to send to B, it calculates the hash function over the concatenation of the secret key and the message: </a:t>
            </a:r>
          </a:p>
          <a:p>
            <a:pPr marL="457207" lvl="1" indent="0" algn="just">
              <a:buNone/>
            </a:pPr>
            <a:r>
              <a:rPr lang="en-US" b="1" dirty="0" smtClean="0"/>
              <a:t>						 </a:t>
            </a:r>
            <a:r>
              <a:rPr lang="en-US" b="1" i="1" dirty="0" smtClean="0">
                <a:solidFill>
                  <a:srgbClr val="FFAC1B"/>
                </a:solidFill>
                <a:latin typeface="Arial" pitchFamily="-110" charset="0"/>
                <a:ea typeface="ＭＳ Ｐゴシック" pitchFamily="-110" charset="-128"/>
                <a:cs typeface="ＭＳ Ｐゴシック" pitchFamily="-110" charset="-128"/>
              </a:rPr>
              <a:t>MD</a:t>
            </a:r>
            <a:r>
              <a:rPr lang="en-US" b="1" i="1" baseline="-25000" dirty="0" smtClean="0">
                <a:solidFill>
                  <a:srgbClr val="FFAC1B"/>
                </a:solidFill>
                <a:latin typeface="Arial" pitchFamily="-110" charset="0"/>
                <a:ea typeface="ＭＳ Ｐゴシック" pitchFamily="-110" charset="-128"/>
                <a:cs typeface="ＭＳ Ｐゴシック" pitchFamily="-110" charset="-128"/>
              </a:rPr>
              <a:t>M</a:t>
            </a:r>
            <a:r>
              <a:rPr lang="en-US" b="1" i="1" dirty="0" smtClean="0">
                <a:solidFill>
                  <a:srgbClr val="FFAC1B"/>
                </a:solidFill>
                <a:latin typeface="Arial" pitchFamily="-110" charset="0"/>
                <a:ea typeface="ＭＳ Ｐゴシック" pitchFamily="-110" charset="-128"/>
                <a:cs typeface="ＭＳ Ｐゴシック" pitchFamily="-110" charset="-128"/>
              </a:rPr>
              <a:t> = H(K </a:t>
            </a:r>
            <a:r>
              <a:rPr lang="en-US" b="1" i="1" dirty="0" err="1" smtClean="0">
                <a:solidFill>
                  <a:srgbClr val="FFAC1B"/>
                </a:solidFill>
                <a:latin typeface="Arial" pitchFamily="-110" charset="0"/>
                <a:ea typeface="ＭＳ Ｐゴシック" pitchFamily="-110" charset="-128"/>
                <a:cs typeface="ＭＳ Ｐゴシック" pitchFamily="-110" charset="-128"/>
              </a:rPr>
              <a:t>ll</a:t>
            </a:r>
            <a:r>
              <a:rPr lang="en-US" b="1" i="1" dirty="0" smtClean="0">
                <a:solidFill>
                  <a:srgbClr val="FFAC1B"/>
                </a:solidFill>
                <a:latin typeface="Arial" pitchFamily="-110" charset="0"/>
                <a:ea typeface="ＭＳ Ｐゴシック" pitchFamily="-110" charset="-128"/>
                <a:cs typeface="ＭＳ Ｐゴシック" pitchFamily="-110" charset="-128"/>
              </a:rPr>
              <a:t> M </a:t>
            </a:r>
            <a:r>
              <a:rPr lang="en-US" b="1" i="1" dirty="0" err="1" smtClean="0">
                <a:solidFill>
                  <a:srgbClr val="FFAC1B"/>
                </a:solidFill>
                <a:latin typeface="Arial" pitchFamily="-110" charset="0"/>
                <a:ea typeface="ＭＳ Ｐゴシック" pitchFamily="-110" charset="-128"/>
                <a:cs typeface="ＭＳ Ｐゴシック" pitchFamily="-110" charset="-128"/>
              </a:rPr>
              <a:t>ll</a:t>
            </a:r>
            <a:r>
              <a:rPr lang="en-US" b="1" i="1" dirty="0" smtClean="0">
                <a:solidFill>
                  <a:srgbClr val="FFAC1B"/>
                </a:solidFill>
                <a:latin typeface="Arial" pitchFamily="-110" charset="0"/>
                <a:ea typeface="ＭＳ Ｐゴシック" pitchFamily="-110" charset="-128"/>
                <a:cs typeface="ＭＳ Ｐゴシック" pitchFamily="-110" charset="-128"/>
              </a:rPr>
              <a:t> K)</a:t>
            </a:r>
            <a:endParaRPr lang="en-US" b="1" dirty="0" smtClean="0">
              <a:solidFill>
                <a:srgbClr val="FFAC1B"/>
              </a:solidFill>
            </a:endParaRPr>
          </a:p>
          <a:p>
            <a:pPr lvl="1" algn="just"/>
            <a:r>
              <a:rPr lang="en-US" dirty="0" smtClean="0"/>
              <a:t>It then sends </a:t>
            </a:r>
            <a:r>
              <a:rPr lang="en-US" b="1" i="1" dirty="0" smtClean="0">
                <a:solidFill>
                  <a:srgbClr val="FFAC1B"/>
                </a:solidFill>
                <a:latin typeface="Arial" pitchFamily="-110" charset="0"/>
                <a:ea typeface="ＭＳ Ｐゴシック" pitchFamily="-110" charset="-128"/>
                <a:cs typeface="ＭＳ Ｐゴシック" pitchFamily="-110" charset="-128"/>
              </a:rPr>
              <a:t>[ M ii MD</a:t>
            </a:r>
            <a:r>
              <a:rPr lang="en-US" b="1" i="1" baseline="-25000" dirty="0" smtClean="0">
                <a:solidFill>
                  <a:srgbClr val="FFAC1B"/>
                </a:solidFill>
                <a:latin typeface="Arial" pitchFamily="-110" charset="0"/>
                <a:ea typeface="ＭＳ Ｐゴシック" pitchFamily="-110" charset="-128"/>
                <a:cs typeface="ＭＳ Ｐゴシック" pitchFamily="-110" charset="-128"/>
              </a:rPr>
              <a:t>M</a:t>
            </a:r>
            <a:r>
              <a:rPr lang="en-US" b="1" i="1" dirty="0" smtClean="0">
                <a:solidFill>
                  <a:srgbClr val="FFAC1B"/>
                </a:solidFill>
                <a:latin typeface="Arial" pitchFamily="-110" charset="0"/>
                <a:ea typeface="ＭＳ Ｐゴシック" pitchFamily="-110" charset="-128"/>
                <a:cs typeface="ＭＳ Ｐゴシック" pitchFamily="-110" charset="-128"/>
              </a:rPr>
              <a:t>]</a:t>
            </a:r>
            <a:r>
              <a:rPr lang="en-US" b="1" i="1" dirty="0" smtClean="0">
                <a:solidFill>
                  <a:srgbClr val="FF0000"/>
                </a:solidFill>
                <a:latin typeface="Arial" pitchFamily="-110" charset="0"/>
                <a:ea typeface="ＭＳ Ｐゴシック" pitchFamily="-110" charset="-128"/>
                <a:cs typeface="ＭＳ Ｐゴシック" pitchFamily="-110" charset="-128"/>
              </a:rPr>
              <a:t> </a:t>
            </a:r>
            <a:r>
              <a:rPr lang="en-US" dirty="0" smtClean="0"/>
              <a:t>to B. Because B possesses K, it can re-compute </a:t>
            </a:r>
            <a:r>
              <a:rPr lang="en-US" b="1" dirty="0" smtClean="0">
                <a:solidFill>
                  <a:srgbClr val="FFAC1B"/>
                </a:solidFill>
                <a:latin typeface="Arial" pitchFamily="-110" charset="0"/>
                <a:ea typeface="ＭＳ Ｐゴシック" pitchFamily="-110" charset="-128"/>
                <a:cs typeface="ＭＳ Ｐゴシック" pitchFamily="-110" charset="-128"/>
              </a:rPr>
              <a:t>H(</a:t>
            </a:r>
            <a:r>
              <a:rPr lang="en-US" b="1" i="1" dirty="0" smtClean="0">
                <a:solidFill>
                  <a:srgbClr val="FFAC1B"/>
                </a:solidFill>
                <a:latin typeface="Arial" pitchFamily="-110" charset="0"/>
                <a:ea typeface="ＭＳ Ｐゴシック" pitchFamily="-110" charset="-128"/>
                <a:cs typeface="ＭＳ Ｐゴシック" pitchFamily="-110" charset="-128"/>
              </a:rPr>
              <a:t>K </a:t>
            </a:r>
            <a:r>
              <a:rPr lang="en-US" b="1" i="1" dirty="0" err="1" smtClean="0">
                <a:solidFill>
                  <a:srgbClr val="FFAC1B"/>
                </a:solidFill>
                <a:latin typeface="Arial" pitchFamily="-110" charset="0"/>
                <a:ea typeface="ＭＳ Ｐゴシック" pitchFamily="-110" charset="-128"/>
                <a:cs typeface="ＭＳ Ｐゴシック" pitchFamily="-110" charset="-128"/>
              </a:rPr>
              <a:t>ll</a:t>
            </a:r>
            <a:r>
              <a:rPr lang="en-US" b="1" i="1" dirty="0" smtClean="0">
                <a:solidFill>
                  <a:srgbClr val="FFAC1B"/>
                </a:solidFill>
                <a:latin typeface="Arial" pitchFamily="-110" charset="0"/>
                <a:ea typeface="ＭＳ Ｐゴシック" pitchFamily="-110" charset="-128"/>
                <a:cs typeface="ＭＳ Ｐゴシック" pitchFamily="-110" charset="-128"/>
              </a:rPr>
              <a:t> M </a:t>
            </a:r>
            <a:r>
              <a:rPr lang="en-US" b="1" i="1" dirty="0" err="1" smtClean="0">
                <a:solidFill>
                  <a:srgbClr val="FFAC1B"/>
                </a:solidFill>
                <a:latin typeface="Arial" pitchFamily="-110" charset="0"/>
                <a:ea typeface="ＭＳ Ｐゴシック" pitchFamily="-110" charset="-128"/>
                <a:cs typeface="ＭＳ Ｐゴシック" pitchFamily="-110" charset="-128"/>
              </a:rPr>
              <a:t>ll</a:t>
            </a:r>
            <a:r>
              <a:rPr lang="en-US" b="1" i="1" dirty="0" smtClean="0">
                <a:solidFill>
                  <a:srgbClr val="FFAC1B"/>
                </a:solidFill>
                <a:latin typeface="Arial" pitchFamily="-110" charset="0"/>
                <a:ea typeface="ＭＳ Ｐゴシック" pitchFamily="-110" charset="-128"/>
                <a:cs typeface="ＭＳ Ｐゴシック" pitchFamily="-110" charset="-128"/>
              </a:rPr>
              <a:t> K) </a:t>
            </a:r>
            <a:r>
              <a:rPr lang="en-US" i="1" dirty="0" smtClean="0">
                <a:latin typeface="Arial" pitchFamily="-110" charset="0"/>
                <a:ea typeface="ＭＳ Ｐゴシック" pitchFamily="-110" charset="-128"/>
                <a:cs typeface="ＭＳ Ｐゴシック" pitchFamily="-110" charset="-128"/>
              </a:rPr>
              <a:t>and verify </a:t>
            </a:r>
            <a:r>
              <a:rPr lang="en-US" b="1" i="1" dirty="0" smtClean="0">
                <a:solidFill>
                  <a:srgbClr val="FFAC1B"/>
                </a:solidFill>
                <a:latin typeface="Arial" pitchFamily="-110" charset="0"/>
                <a:ea typeface="ＭＳ Ｐゴシック" pitchFamily="-110" charset="-128"/>
                <a:cs typeface="ＭＳ Ｐゴシック" pitchFamily="-110" charset="-128"/>
              </a:rPr>
              <a:t>MD</a:t>
            </a:r>
            <a:r>
              <a:rPr lang="en-US" b="1" i="1" baseline="-25000" dirty="0" smtClean="0">
                <a:solidFill>
                  <a:srgbClr val="FFAC1B"/>
                </a:solidFill>
                <a:latin typeface="Arial" pitchFamily="-110" charset="0"/>
                <a:ea typeface="ＭＳ Ｐゴシック" pitchFamily="-110" charset="-128"/>
                <a:cs typeface="ＭＳ Ｐゴシック" pitchFamily="-110" charset="-128"/>
              </a:rPr>
              <a:t>M</a:t>
            </a:r>
            <a:r>
              <a:rPr lang="en-US" b="1" dirty="0" smtClean="0">
                <a:solidFill>
                  <a:srgbClr val="FFAC1B"/>
                </a:solidFill>
              </a:rPr>
              <a:t>. </a:t>
            </a:r>
          </a:p>
          <a:p>
            <a:pPr lvl="2" algn="just"/>
            <a:r>
              <a:rPr lang="en-US" dirty="0" smtClean="0"/>
              <a:t>Because </a:t>
            </a:r>
            <a:r>
              <a:rPr lang="en-US" dirty="0"/>
              <a:t>the secret key itself is not sent, it should not be possible for an attacker to modify an intercepted message. </a:t>
            </a:r>
            <a:endParaRPr lang="en-US" dirty="0" smtClean="0"/>
          </a:p>
          <a:p>
            <a:pPr lvl="2" algn="just"/>
            <a:r>
              <a:rPr lang="en-US" dirty="0" smtClean="0"/>
              <a:t>As </a:t>
            </a:r>
            <a:r>
              <a:rPr lang="en-US" dirty="0"/>
              <a:t>long as the secret key remains secret, it should not be possible for an attacker to generate a false message</a:t>
            </a:r>
            <a:r>
              <a:rPr lang="en-US" dirty="0" smtClean="0"/>
              <a:t>.</a:t>
            </a:r>
          </a:p>
        </p:txBody>
      </p:sp>
      <p:sp>
        <p:nvSpPr>
          <p:cNvPr id="4" name="Slide Number Placeholder 3"/>
          <p:cNvSpPr>
            <a:spLocks noGrp="1"/>
          </p:cNvSpPr>
          <p:nvPr>
            <p:ph type="sldNum" sz="quarter" idx="12"/>
          </p:nvPr>
        </p:nvSpPr>
        <p:spPr/>
        <p:txBody>
          <a:bodyPr/>
          <a:lstStyle/>
          <a:p>
            <a:fld id="{5F36C9FC-DA22-1F47-8722-58727A1D436E}" type="slidenum">
              <a:rPr lang="en-US" smtClean="0">
                <a:solidFill>
                  <a:prstClr val="white">
                    <a:lumMod val="65000"/>
                    <a:lumOff val="35000"/>
                  </a:prstClr>
                </a:solidFill>
              </a:rPr>
              <a:pPr/>
              <a:t>11</a:t>
            </a:fld>
            <a:endParaRPr lang="en-US" dirty="0">
              <a:solidFill>
                <a:prstClr val="white">
                  <a:lumMod val="65000"/>
                  <a:lumOff val="35000"/>
                </a:prstClr>
              </a:solidFill>
            </a:endParaRPr>
          </a:p>
        </p:txBody>
      </p:sp>
    </p:spTree>
    <p:extLst>
      <p:ext uri="{BB962C8B-B14F-4D97-AF65-F5344CB8AC3E}">
        <p14:creationId xmlns:p14="http://schemas.microsoft.com/office/powerpoint/2010/main" val="18899787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2A50C4D-0BA1-4E54-8DFC-01810EC97B99}" type="slidenum">
              <a:rPr lang="en-US" smtClean="0"/>
              <a:t>12</a:t>
            </a:fld>
            <a:endParaRPr lang="en-US"/>
          </a:p>
        </p:txBody>
      </p:sp>
      <p:pic>
        <p:nvPicPr>
          <p:cNvPr id="13" name="Picture 12"/>
          <p:cNvPicPr>
            <a:picLocks noChangeAspect="1"/>
          </p:cNvPicPr>
          <p:nvPr/>
        </p:nvPicPr>
        <p:blipFill>
          <a:blip r:embed="rId2"/>
          <a:stretch>
            <a:fillRect/>
          </a:stretch>
        </p:blipFill>
        <p:spPr>
          <a:xfrm>
            <a:off x="670345" y="2132856"/>
            <a:ext cx="7730958" cy="3236214"/>
          </a:xfrm>
          <a:prstGeom prst="rect">
            <a:avLst/>
          </a:prstGeom>
        </p:spPr>
      </p:pic>
    </p:spTree>
    <p:extLst>
      <p:ext uri="{BB962C8B-B14F-4D97-AF65-F5344CB8AC3E}">
        <p14:creationId xmlns:p14="http://schemas.microsoft.com/office/powerpoint/2010/main" val="146864290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5.pdf"/>
          <p:cNvPicPr>
            <a:picLocks noChangeAspect="1"/>
          </p:cNvPicPr>
          <p:nvPr/>
        </p:nvPicPr>
        <p:blipFill rotWithShape="1">
          <a:blip r:embed="rId3">
            <a:extLst>
              <a:ext uri="{28A0092B-C50C-407E-A947-70E740481C1C}">
                <a14:useLocalDpi xmlns:a14="http://schemas.microsoft.com/office/drawing/2010/main" val="0"/>
              </a:ext>
            </a:extLst>
          </a:blip>
          <a:srcRect t="3150" b="4451"/>
          <a:stretch/>
        </p:blipFill>
        <p:spPr>
          <a:xfrm>
            <a:off x="3472408" y="32546"/>
            <a:ext cx="5708104" cy="6825455"/>
          </a:xfrm>
          <a:prstGeom prst="rect">
            <a:avLst/>
          </a:prstGeom>
          <a:solidFill>
            <a:schemeClr val="tx1"/>
          </a:solidFill>
        </p:spPr>
      </p:pic>
      <p:sp>
        <p:nvSpPr>
          <p:cNvPr id="3" name="Rectangle 2"/>
          <p:cNvSpPr/>
          <p:nvPr/>
        </p:nvSpPr>
        <p:spPr>
          <a:xfrm>
            <a:off x="0" y="260649"/>
            <a:ext cx="3724196" cy="1200329"/>
          </a:xfrm>
          <a:prstGeom prst="rect">
            <a:avLst/>
          </a:prstGeom>
        </p:spPr>
        <p:txBody>
          <a:bodyPr wrap="square">
            <a:spAutoFit/>
          </a:bodyPr>
          <a:lstStyle/>
          <a:p>
            <a:r>
              <a:rPr lang="en-US" b="1" dirty="0"/>
              <a:t>Three ways in which the message can be authenticated using a hash </a:t>
            </a:r>
            <a:r>
              <a:rPr lang="en-US" b="1" dirty="0" smtClean="0"/>
              <a:t>function</a:t>
            </a:r>
          </a:p>
          <a:p>
            <a:r>
              <a:rPr lang="en-US" b="1" dirty="0" smtClean="0"/>
              <a:t> </a:t>
            </a:r>
            <a:r>
              <a:rPr lang="en-US" b="1" dirty="0"/>
              <a:t>(Figure 2.5 )</a:t>
            </a:r>
            <a:endParaRPr lang="en-US" b="1" i="1" dirty="0">
              <a:ea typeface="ＭＳ Ｐゴシック" pitchFamily="-110" charset="-128"/>
              <a:cs typeface="ＭＳ Ｐゴシック" pitchFamily="-110" charset="-128"/>
            </a:endParaRPr>
          </a:p>
        </p:txBody>
      </p:sp>
    </p:spTree>
    <p:extLst>
      <p:ext uri="{BB962C8B-B14F-4D97-AF65-F5344CB8AC3E}">
        <p14:creationId xmlns:p14="http://schemas.microsoft.com/office/powerpoint/2010/main" val="1931386127"/>
      </p:ext>
    </p:extLst>
  </p:cSld>
  <p:clrMapOvr>
    <a:masterClrMapping/>
  </p:clrMapOvr>
  <p:transition spd="slow">
    <p:wipe dir="d"/>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95536" y="2060848"/>
            <a:ext cx="8280920" cy="4187558"/>
          </a:xfrm>
        </p:spPr>
        <p:txBody>
          <a:bodyPr/>
          <a:lstStyle/>
          <a:p>
            <a:r>
              <a:rPr lang="en-US" dirty="0">
                <a:latin typeface="Arial" pitchFamily="-110" charset="0"/>
                <a:ea typeface="ＭＳ Ｐゴシック" pitchFamily="-110" charset="-128"/>
                <a:cs typeface="ＭＳ Ｐゴシック" pitchFamily="-110" charset="-128"/>
              </a:rPr>
              <a:t>The message </a:t>
            </a:r>
            <a:r>
              <a:rPr lang="en-US" dirty="0" smtClean="0">
                <a:latin typeface="Arial" pitchFamily="-110" charset="0"/>
                <a:ea typeface="ＭＳ Ｐゴシック" pitchFamily="-110" charset="-128"/>
                <a:cs typeface="ＭＳ Ｐゴシック" pitchFamily="-110" charset="-128"/>
              </a:rPr>
              <a:t>digest can </a:t>
            </a:r>
            <a:r>
              <a:rPr lang="en-US" dirty="0">
                <a:latin typeface="Arial" pitchFamily="-110" charset="0"/>
                <a:ea typeface="ＭＳ Ｐゴシック" pitchFamily="-110" charset="-128"/>
                <a:cs typeface="ＭＳ Ｐゴシック" pitchFamily="-110" charset="-128"/>
              </a:rPr>
              <a:t>be encrypted using symmetric encryption </a:t>
            </a:r>
            <a:r>
              <a:rPr lang="en-US" dirty="0" smtClean="0"/>
              <a:t>(see</a:t>
            </a:r>
            <a:r>
              <a:rPr lang="en-US" dirty="0"/>
              <a:t> Figure 2.5a</a:t>
            </a:r>
            <a:r>
              <a:rPr lang="en-US" dirty="0" smtClean="0"/>
              <a:t>)</a:t>
            </a:r>
            <a:endParaRPr lang="en-US" dirty="0"/>
          </a:p>
        </p:txBody>
      </p:sp>
      <p:sp>
        <p:nvSpPr>
          <p:cNvPr id="4" name="Slide Number Placeholder 3"/>
          <p:cNvSpPr>
            <a:spLocks noGrp="1"/>
          </p:cNvSpPr>
          <p:nvPr>
            <p:ph type="sldNum" sz="quarter" idx="12"/>
          </p:nvPr>
        </p:nvSpPr>
        <p:spPr/>
        <p:txBody>
          <a:bodyPr/>
          <a:lstStyle/>
          <a:p>
            <a:fld id="{5F36C9FC-DA22-1F47-8722-58727A1D436E}" type="slidenum">
              <a:rPr lang="en-US" smtClean="0">
                <a:solidFill>
                  <a:prstClr val="white">
                    <a:lumMod val="65000"/>
                    <a:lumOff val="35000"/>
                  </a:prstClr>
                </a:solidFill>
              </a:rPr>
              <a:pPr/>
              <a:t>14</a:t>
            </a:fld>
            <a:endParaRPr lang="en-US" dirty="0">
              <a:solidFill>
                <a:prstClr val="white">
                  <a:lumMod val="65000"/>
                  <a:lumOff val="35000"/>
                </a:prstClr>
              </a:solidFill>
            </a:endParaRPr>
          </a:p>
        </p:txBody>
      </p:sp>
      <p:pic>
        <p:nvPicPr>
          <p:cNvPr id="5" name="Picture 4"/>
          <p:cNvPicPr>
            <a:picLocks noChangeAspect="1"/>
          </p:cNvPicPr>
          <p:nvPr/>
        </p:nvPicPr>
        <p:blipFill>
          <a:blip r:embed="rId2"/>
          <a:stretch>
            <a:fillRect/>
          </a:stretch>
        </p:blipFill>
        <p:spPr>
          <a:xfrm>
            <a:off x="859121" y="3140968"/>
            <a:ext cx="6650815" cy="2988657"/>
          </a:xfrm>
          <a:prstGeom prst="rect">
            <a:avLst/>
          </a:prstGeom>
        </p:spPr>
      </p:pic>
    </p:spTree>
    <p:extLst>
      <p:ext uri="{BB962C8B-B14F-4D97-AF65-F5344CB8AC3E}">
        <p14:creationId xmlns:p14="http://schemas.microsoft.com/office/powerpoint/2010/main" val="394317805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18507"/>
            <a:ext cx="7055380" cy="1400530"/>
          </a:xfrm>
        </p:spPr>
        <p:txBody>
          <a:bodyPr/>
          <a:lstStyle/>
          <a:p>
            <a:endParaRPr lang="en-US"/>
          </a:p>
        </p:txBody>
      </p:sp>
      <p:sp>
        <p:nvSpPr>
          <p:cNvPr id="3" name="Content Placeholder 2"/>
          <p:cNvSpPr>
            <a:spLocks noGrp="1"/>
          </p:cNvSpPr>
          <p:nvPr>
            <p:ph idx="1"/>
          </p:nvPr>
        </p:nvSpPr>
        <p:spPr>
          <a:xfrm>
            <a:off x="395536" y="1605234"/>
            <a:ext cx="8280920" cy="4187558"/>
          </a:xfrm>
        </p:spPr>
        <p:txBody>
          <a:bodyPr/>
          <a:lstStyle/>
          <a:p>
            <a:r>
              <a:rPr lang="en-US" dirty="0" smtClean="0"/>
              <a:t>The message digest can also be encrypted using public-key encryption (see Figure 2.5b) ; this is explained in Section 2.3.</a:t>
            </a:r>
          </a:p>
          <a:p>
            <a:r>
              <a:rPr lang="en-US" dirty="0" smtClean="0"/>
              <a:t>The public key approach has two advantages: It provides a digital signature as well as message authentication, and it does not require the distribution of keys to communicating parties. </a:t>
            </a:r>
            <a:endParaRPr lang="en-US" dirty="0"/>
          </a:p>
        </p:txBody>
      </p:sp>
      <p:sp>
        <p:nvSpPr>
          <p:cNvPr id="4" name="Slide Number Placeholder 3"/>
          <p:cNvSpPr>
            <a:spLocks noGrp="1"/>
          </p:cNvSpPr>
          <p:nvPr>
            <p:ph type="sldNum" sz="quarter" idx="12"/>
          </p:nvPr>
        </p:nvSpPr>
        <p:spPr/>
        <p:txBody>
          <a:bodyPr/>
          <a:lstStyle/>
          <a:p>
            <a:fld id="{5F36C9FC-DA22-1F47-8722-58727A1D436E}" type="slidenum">
              <a:rPr lang="en-US" smtClean="0">
                <a:solidFill>
                  <a:prstClr val="white">
                    <a:lumMod val="65000"/>
                    <a:lumOff val="35000"/>
                  </a:prstClr>
                </a:solidFill>
              </a:rPr>
              <a:pPr/>
              <a:t>15</a:t>
            </a:fld>
            <a:endParaRPr lang="en-US" dirty="0">
              <a:solidFill>
                <a:prstClr val="white">
                  <a:lumMod val="65000"/>
                  <a:lumOff val="35000"/>
                </a:prstClr>
              </a:solidFill>
            </a:endParaRPr>
          </a:p>
        </p:txBody>
      </p:sp>
      <p:pic>
        <p:nvPicPr>
          <p:cNvPr id="6" name="Picture 5"/>
          <p:cNvPicPr>
            <a:picLocks noChangeAspect="1"/>
          </p:cNvPicPr>
          <p:nvPr/>
        </p:nvPicPr>
        <p:blipFill>
          <a:blip r:embed="rId2"/>
          <a:stretch>
            <a:fillRect/>
          </a:stretch>
        </p:blipFill>
        <p:spPr>
          <a:xfrm>
            <a:off x="1494827" y="4452315"/>
            <a:ext cx="6082337" cy="2391347"/>
          </a:xfrm>
          <a:prstGeom prst="rect">
            <a:avLst/>
          </a:prstGeom>
        </p:spPr>
      </p:pic>
      <p:sp>
        <p:nvSpPr>
          <p:cNvPr id="8" name="Rectangle 7"/>
          <p:cNvSpPr/>
          <p:nvPr/>
        </p:nvSpPr>
        <p:spPr>
          <a:xfrm>
            <a:off x="2843808" y="3401445"/>
            <a:ext cx="6109244" cy="923330"/>
          </a:xfrm>
          <a:prstGeom prst="rect">
            <a:avLst/>
          </a:prstGeom>
        </p:spPr>
        <p:txBody>
          <a:bodyPr wrap="square">
            <a:spAutoFit/>
          </a:bodyPr>
          <a:lstStyle/>
          <a:p>
            <a:pPr algn="just"/>
            <a:r>
              <a:rPr lang="en-US" b="1" dirty="0" smtClean="0">
                <a:solidFill>
                  <a:srgbClr val="FFC000"/>
                </a:solidFill>
              </a:rPr>
              <a:t>Figure 2.5a and b approaches </a:t>
            </a:r>
            <a:r>
              <a:rPr lang="en-US" b="1" dirty="0">
                <a:solidFill>
                  <a:srgbClr val="FFC000"/>
                </a:solidFill>
              </a:rPr>
              <a:t>have an advantage over approaches that encrypt the entire message, in that less computation is required.</a:t>
            </a:r>
          </a:p>
        </p:txBody>
      </p:sp>
    </p:spTree>
    <p:extLst>
      <p:ext uri="{BB962C8B-B14F-4D97-AF65-F5344CB8AC3E}">
        <p14:creationId xmlns:p14="http://schemas.microsoft.com/office/powerpoint/2010/main" val="110482811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749" y="421118"/>
            <a:ext cx="7615682" cy="744034"/>
          </a:xfrm>
        </p:spPr>
        <p:txBody>
          <a:bodyPr/>
          <a:lstStyle/>
          <a:p>
            <a:r>
              <a:rPr lang="en-US" dirty="0" smtClean="0"/>
              <a:t>Reasons to avoid encryption</a:t>
            </a:r>
            <a:endParaRPr lang="en-US" dirty="0"/>
          </a:p>
        </p:txBody>
      </p:sp>
      <p:sp>
        <p:nvSpPr>
          <p:cNvPr id="3" name="Content Placeholder 2"/>
          <p:cNvSpPr>
            <a:spLocks noGrp="1"/>
          </p:cNvSpPr>
          <p:nvPr>
            <p:ph idx="1"/>
          </p:nvPr>
        </p:nvSpPr>
        <p:spPr>
          <a:xfrm>
            <a:off x="150749" y="1628801"/>
            <a:ext cx="8813739" cy="5040560"/>
          </a:xfrm>
        </p:spPr>
        <p:txBody>
          <a:bodyPr>
            <a:normAutofit lnSpcReduction="10000"/>
          </a:bodyPr>
          <a:lstStyle/>
          <a:p>
            <a:pPr algn="just"/>
            <a:r>
              <a:rPr lang="en-US" dirty="0" smtClean="0"/>
              <a:t>More common </a:t>
            </a:r>
            <a:r>
              <a:rPr lang="en-US" dirty="0"/>
              <a:t>approach is the use of a technique that avoids encryption altogether. </a:t>
            </a:r>
            <a:endParaRPr lang="en-US" dirty="0" smtClean="0"/>
          </a:p>
          <a:p>
            <a:pPr algn="just"/>
            <a:r>
              <a:rPr lang="en-US" dirty="0" smtClean="0"/>
              <a:t>Several </a:t>
            </a:r>
            <a:r>
              <a:rPr lang="en-US" dirty="0"/>
              <a:t>reasons for this interest are pointed out in [TSUD92</a:t>
            </a:r>
            <a:r>
              <a:rPr lang="en-US" dirty="0" smtClean="0"/>
              <a:t>]:</a:t>
            </a:r>
          </a:p>
          <a:p>
            <a:pPr marL="457200" indent="-457200" algn="just">
              <a:buFont typeface="+mj-lt"/>
              <a:buAutoNum type="arabicPeriod"/>
            </a:pPr>
            <a:r>
              <a:rPr lang="en-US" dirty="0" smtClean="0"/>
              <a:t>Encryption </a:t>
            </a:r>
            <a:r>
              <a:rPr lang="en-US" dirty="0"/>
              <a:t>software is quite slow</a:t>
            </a:r>
            <a:r>
              <a:rPr lang="en-US" dirty="0" smtClean="0"/>
              <a:t>.</a:t>
            </a:r>
          </a:p>
          <a:p>
            <a:pPr lvl="1" algn="just"/>
            <a:r>
              <a:rPr lang="en-US" dirty="0" smtClean="0"/>
              <a:t> </a:t>
            </a:r>
            <a:r>
              <a:rPr lang="en-US" dirty="0"/>
              <a:t>Even though the amount of data to be encrypted per message is small, there may be a steady stream of messages into and out of a </a:t>
            </a:r>
            <a:r>
              <a:rPr lang="en-US" dirty="0" smtClean="0"/>
              <a:t>system.</a:t>
            </a:r>
          </a:p>
          <a:p>
            <a:pPr marL="457200" indent="-457200" algn="just">
              <a:buFont typeface="+mj-lt"/>
              <a:buAutoNum type="arabicPeriod"/>
            </a:pPr>
            <a:r>
              <a:rPr lang="en-US" dirty="0" smtClean="0"/>
              <a:t>Encryption </a:t>
            </a:r>
            <a:r>
              <a:rPr lang="en-US" dirty="0"/>
              <a:t>hardware costs are </a:t>
            </a:r>
            <a:r>
              <a:rPr lang="en-US" dirty="0" smtClean="0"/>
              <a:t>non-negligible</a:t>
            </a:r>
            <a:r>
              <a:rPr lang="en-US" dirty="0"/>
              <a:t>. </a:t>
            </a:r>
            <a:endParaRPr lang="en-US" dirty="0" smtClean="0"/>
          </a:p>
          <a:p>
            <a:pPr lvl="1" algn="just"/>
            <a:r>
              <a:rPr lang="en-US" dirty="0" smtClean="0"/>
              <a:t>Low-cost </a:t>
            </a:r>
            <a:r>
              <a:rPr lang="en-US" dirty="0"/>
              <a:t>chip implementations of DES and AES are available, but the cost adds up if all nodes in a network must have this capability</a:t>
            </a:r>
            <a:r>
              <a:rPr lang="en-US" dirty="0" smtClean="0"/>
              <a:t>.</a:t>
            </a:r>
          </a:p>
          <a:p>
            <a:pPr marL="457200" indent="-457200" algn="just">
              <a:buFont typeface="+mj-lt"/>
              <a:buAutoNum type="arabicPeriod"/>
            </a:pPr>
            <a:r>
              <a:rPr lang="en-US" dirty="0" smtClean="0"/>
              <a:t> </a:t>
            </a:r>
            <a:r>
              <a:rPr lang="en-US" dirty="0"/>
              <a:t>Encryption hardware is optimized toward large data sizes. </a:t>
            </a:r>
            <a:endParaRPr lang="en-US" dirty="0" smtClean="0"/>
          </a:p>
          <a:p>
            <a:pPr lvl="1" algn="just"/>
            <a:r>
              <a:rPr lang="en-US" dirty="0" smtClean="0"/>
              <a:t>For </a:t>
            </a:r>
            <a:r>
              <a:rPr lang="en-US" dirty="0"/>
              <a:t>small blocks of data, a high proportion of the time is spent in initialization/invocation overhead. </a:t>
            </a:r>
            <a:endParaRPr lang="en-US" dirty="0"/>
          </a:p>
          <a:p>
            <a:pPr marL="457200" indent="-457200" algn="just">
              <a:buFont typeface="+mj-lt"/>
              <a:buAutoNum type="arabicPeriod"/>
            </a:pPr>
            <a:r>
              <a:rPr lang="en-US" dirty="0" smtClean="0"/>
              <a:t> </a:t>
            </a:r>
            <a:r>
              <a:rPr lang="en-US" dirty="0"/>
              <a:t>An encryption algorithm may be protected by a patent.</a:t>
            </a:r>
          </a:p>
        </p:txBody>
      </p:sp>
      <p:sp>
        <p:nvSpPr>
          <p:cNvPr id="4" name="Slide Number Placeholder 3"/>
          <p:cNvSpPr>
            <a:spLocks noGrp="1"/>
          </p:cNvSpPr>
          <p:nvPr>
            <p:ph type="sldNum" sz="quarter" idx="12"/>
          </p:nvPr>
        </p:nvSpPr>
        <p:spPr/>
        <p:txBody>
          <a:bodyPr/>
          <a:lstStyle/>
          <a:p>
            <a:fld id="{5F36C9FC-DA22-1F47-8722-58727A1D436E}" type="slidenum">
              <a:rPr lang="en-US" smtClean="0">
                <a:solidFill>
                  <a:prstClr val="white">
                    <a:lumMod val="65000"/>
                    <a:lumOff val="35000"/>
                  </a:prstClr>
                </a:solidFill>
              </a:rPr>
              <a:pPr/>
              <a:t>16</a:t>
            </a:fld>
            <a:endParaRPr lang="en-US" dirty="0">
              <a:solidFill>
                <a:prstClr val="white">
                  <a:lumMod val="65000"/>
                  <a:lumOff val="35000"/>
                </a:prstClr>
              </a:solidFill>
            </a:endParaRPr>
          </a:p>
        </p:txBody>
      </p:sp>
    </p:spTree>
    <p:extLst>
      <p:ext uri="{BB962C8B-B14F-4D97-AF65-F5344CB8AC3E}">
        <p14:creationId xmlns:p14="http://schemas.microsoft.com/office/powerpoint/2010/main" val="351246291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p:cNvSpPr>
            <a:spLocks noGrp="1" noChangeArrowheads="1"/>
          </p:cNvSpPr>
          <p:nvPr>
            <p:ph type="title"/>
          </p:nvPr>
        </p:nvSpPr>
        <p:spPr>
          <a:xfrm>
            <a:off x="351" y="116632"/>
            <a:ext cx="9180512" cy="1600200"/>
          </a:xfrm>
        </p:spPr>
        <p:txBody>
          <a:bodyPr/>
          <a:lstStyle/>
          <a:p>
            <a:pPr>
              <a:lnSpc>
                <a:spcPts val="2800"/>
              </a:lnSpc>
            </a:pPr>
            <a:r>
              <a:rPr lang="en-US" sz="2800" dirty="0">
                <a:latin typeface="Arial" pitchFamily="-110" charset="0"/>
                <a:ea typeface="ＭＳ Ｐゴシック" pitchFamily="-110" charset="-128"/>
                <a:cs typeface="ＭＳ Ｐゴシック" pitchFamily="-110" charset="-128"/>
              </a:rPr>
              <a:t>To be useful for message</a:t>
            </a:r>
            <a:br>
              <a:rPr lang="en-US" sz="2800" dirty="0">
                <a:latin typeface="Arial" pitchFamily="-110" charset="0"/>
                <a:ea typeface="ＭＳ Ｐゴシック" pitchFamily="-110" charset="-128"/>
                <a:cs typeface="ＭＳ Ｐゴシック" pitchFamily="-110" charset="-128"/>
              </a:rPr>
            </a:br>
            <a:r>
              <a:rPr lang="en-US" sz="2800" dirty="0">
                <a:latin typeface="Arial" pitchFamily="-110" charset="0"/>
                <a:ea typeface="ＭＳ Ｐゴシック" pitchFamily="-110" charset="-128"/>
                <a:cs typeface="ＭＳ Ｐゴシック" pitchFamily="-110" charset="-128"/>
              </a:rPr>
              <a:t>authentication, a hash function H must have the following properties:</a:t>
            </a:r>
            <a:br>
              <a:rPr lang="en-US" sz="2800" dirty="0">
                <a:latin typeface="Arial" pitchFamily="-110" charset="0"/>
                <a:ea typeface="ＭＳ Ｐゴシック" pitchFamily="-110" charset="-128"/>
                <a:cs typeface="ＭＳ Ｐゴシック" pitchFamily="-110" charset="-128"/>
              </a:rPr>
            </a:br>
            <a:endParaRPr lang="en-US" sz="2800" dirty="0">
              <a:solidFill>
                <a:schemeClr val="accent6">
                  <a:lumMod val="20000"/>
                  <a:lumOff val="80000"/>
                </a:schemeClr>
              </a:solidFill>
              <a:effectLst>
                <a:outerShdw blurRad="38100" dist="38100" dir="2700000" algn="tl">
                  <a:srgbClr val="000000">
                    <a:alpha val="43137"/>
                  </a:srgbClr>
                </a:outerShdw>
              </a:effectLst>
              <a:ea typeface="+mj-ea"/>
              <a:cs typeface="+mj-cs"/>
            </a:endParaRPr>
          </a:p>
        </p:txBody>
      </p:sp>
      <p:graphicFrame>
        <p:nvGraphicFramePr>
          <p:cNvPr id="24" name="Content Placeholder 23"/>
          <p:cNvGraphicFramePr>
            <a:graphicFrameLocks noGrp="1"/>
          </p:cNvGraphicFramePr>
          <p:nvPr>
            <p:ph idx="1"/>
            <p:extLst/>
          </p:nvPr>
        </p:nvGraphicFramePr>
        <p:xfrm>
          <a:off x="179512" y="1484784"/>
          <a:ext cx="8712968" cy="51125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319140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18</a:t>
            </a:fld>
            <a:endParaRPr lang="en-US"/>
          </a:p>
        </p:txBody>
      </p:sp>
      <p:grpSp>
        <p:nvGrpSpPr>
          <p:cNvPr id="8" name="Group 7"/>
          <p:cNvGrpSpPr/>
          <p:nvPr/>
        </p:nvGrpSpPr>
        <p:grpSpPr>
          <a:xfrm>
            <a:off x="1372663" y="2128545"/>
            <a:ext cx="6507118" cy="3493873"/>
            <a:chOff x="3038048" y="2928867"/>
            <a:chExt cx="6115904" cy="2941840"/>
          </a:xfrm>
        </p:grpSpPr>
        <p:pic>
          <p:nvPicPr>
            <p:cNvPr id="6" name="Picture 5"/>
            <p:cNvPicPr>
              <a:picLocks noChangeAspect="1"/>
            </p:cNvPicPr>
            <p:nvPr/>
          </p:nvPicPr>
          <p:blipFill>
            <a:blip r:embed="rId2"/>
            <a:stretch>
              <a:fillRect/>
            </a:stretch>
          </p:blipFill>
          <p:spPr>
            <a:xfrm>
              <a:off x="3038048" y="2928867"/>
              <a:ext cx="6115904" cy="1000265"/>
            </a:xfrm>
            <a:prstGeom prst="rect">
              <a:avLst/>
            </a:prstGeom>
          </p:spPr>
        </p:pic>
        <p:pic>
          <p:nvPicPr>
            <p:cNvPr id="7" name="Picture 6"/>
            <p:cNvPicPr>
              <a:picLocks noChangeAspect="1"/>
            </p:cNvPicPr>
            <p:nvPr/>
          </p:nvPicPr>
          <p:blipFill>
            <a:blip r:embed="rId3"/>
            <a:stretch>
              <a:fillRect/>
            </a:stretch>
          </p:blipFill>
          <p:spPr>
            <a:xfrm>
              <a:off x="3038048" y="3879704"/>
              <a:ext cx="6106377" cy="1991003"/>
            </a:xfrm>
            <a:prstGeom prst="rect">
              <a:avLst/>
            </a:prstGeom>
          </p:spPr>
        </p:pic>
      </p:grpSp>
      <p:pic>
        <p:nvPicPr>
          <p:cNvPr id="9" name="Picture 8"/>
          <p:cNvPicPr>
            <a:picLocks noChangeAspect="1"/>
          </p:cNvPicPr>
          <p:nvPr/>
        </p:nvPicPr>
        <p:blipFill>
          <a:blip r:embed="rId4"/>
          <a:stretch>
            <a:fillRect/>
          </a:stretch>
        </p:blipFill>
        <p:spPr>
          <a:xfrm>
            <a:off x="451946" y="1205064"/>
            <a:ext cx="8348552" cy="894038"/>
          </a:xfrm>
          <a:prstGeom prst="rect">
            <a:avLst/>
          </a:prstGeom>
        </p:spPr>
      </p:pic>
      <p:sp>
        <p:nvSpPr>
          <p:cNvPr id="3" name="Rectangle 2"/>
          <p:cNvSpPr/>
          <p:nvPr/>
        </p:nvSpPr>
        <p:spPr>
          <a:xfrm>
            <a:off x="1306728" y="4063829"/>
            <a:ext cx="6785713" cy="1558589"/>
          </a:xfrm>
          <a:prstGeom prst="rect">
            <a:avLst/>
          </a:prstGeom>
          <a:solidFill>
            <a:srgbClr val="FF00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835696" y="476672"/>
            <a:ext cx="2736304" cy="369332"/>
          </a:xfrm>
          <a:prstGeom prst="rect">
            <a:avLst/>
          </a:prstGeom>
          <a:noFill/>
        </p:spPr>
        <p:txBody>
          <a:bodyPr wrap="square" rtlCol="0">
            <a:spAutoFit/>
          </a:bodyPr>
          <a:lstStyle/>
          <a:p>
            <a:r>
              <a:rPr lang="en-US" dirty="0" smtClean="0"/>
              <a:t>Detail of previous slide</a:t>
            </a:r>
            <a:endParaRPr lang="en-US" dirty="0"/>
          </a:p>
        </p:txBody>
      </p:sp>
    </p:spTree>
    <p:extLst>
      <p:ext uri="{BB962C8B-B14F-4D97-AF65-F5344CB8AC3E}">
        <p14:creationId xmlns:p14="http://schemas.microsoft.com/office/powerpoint/2010/main" val="133320020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19</a:t>
            </a:fld>
            <a:endParaRPr lang="en-US"/>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417815" y="1214263"/>
            <a:ext cx="4599662" cy="349190"/>
          </a:xfrm>
          <a:prstGeom prst="rect">
            <a:avLst/>
          </a:prstGeom>
        </p:spPr>
      </p:pic>
      <p:pic>
        <p:nvPicPr>
          <p:cNvPr id="4" name="Picture 3"/>
          <p:cNvPicPr>
            <a:picLocks noChangeAspect="1"/>
          </p:cNvPicPr>
          <p:nvPr/>
        </p:nvPicPr>
        <p:blipFill>
          <a:blip r:embed="rId4"/>
          <a:stretch>
            <a:fillRect/>
          </a:stretch>
        </p:blipFill>
        <p:spPr>
          <a:xfrm>
            <a:off x="417816" y="4065413"/>
            <a:ext cx="8097535" cy="1459587"/>
          </a:xfrm>
          <a:prstGeom prst="rect">
            <a:avLst/>
          </a:prstGeom>
        </p:spPr>
      </p:pic>
      <p:pic>
        <p:nvPicPr>
          <p:cNvPr id="5" name="Picture 4"/>
          <p:cNvPicPr>
            <a:picLocks noChangeAspect="1"/>
          </p:cNvPicPr>
          <p:nvPr/>
        </p:nvPicPr>
        <p:blipFill>
          <a:blip r:embed="rId5"/>
          <a:stretch>
            <a:fillRect/>
          </a:stretch>
        </p:blipFill>
        <p:spPr>
          <a:xfrm>
            <a:off x="417815" y="1875264"/>
            <a:ext cx="8099135" cy="1703742"/>
          </a:xfrm>
          <a:prstGeom prst="rect">
            <a:avLst/>
          </a:prstGeom>
        </p:spPr>
      </p:pic>
    </p:spTree>
    <p:extLst>
      <p:ext uri="{BB962C8B-B14F-4D97-AF65-F5344CB8AC3E}">
        <p14:creationId xmlns:p14="http://schemas.microsoft.com/office/powerpoint/2010/main" val="62223013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Ion</Template>
  <TotalTime>45548</TotalTime>
  <Words>2879</Words>
  <Application>Microsoft Office PowerPoint</Application>
  <PresentationFormat>On-screen Show (4:3)</PresentationFormat>
  <Paragraphs>292</Paragraphs>
  <Slides>19</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ＭＳ Ｐゴシック</vt:lpstr>
      <vt:lpstr>Arial</vt:lpstr>
      <vt:lpstr>Carlito</vt:lpstr>
      <vt:lpstr>Century Gothic</vt:lpstr>
      <vt:lpstr>Times New Roman</vt:lpstr>
      <vt:lpstr>Wingdings 3</vt:lpstr>
      <vt:lpstr>Ion</vt:lpstr>
      <vt:lpstr>Information Security Fall 2022</vt:lpstr>
      <vt:lpstr>PowerPoint Presentation</vt:lpstr>
      <vt:lpstr>Message Authentication</vt:lpstr>
      <vt:lpstr>Types of authentication</vt:lpstr>
      <vt:lpstr>Message Authentication Without Confidentiality</vt:lpstr>
      <vt:lpstr>Message Authentication Code</vt:lpstr>
      <vt:lpstr>PowerPoint Presentation</vt:lpstr>
      <vt:lpstr>One-Hash Function</vt:lpstr>
      <vt:lpstr>One-Hash Function</vt:lpstr>
      <vt:lpstr>PowerPoint Presentation</vt:lpstr>
      <vt:lpstr>One-Way Hash Function</vt:lpstr>
      <vt:lpstr>PowerPoint Presentation</vt:lpstr>
      <vt:lpstr>PowerPoint Presentation</vt:lpstr>
      <vt:lpstr>PowerPoint Presentation</vt:lpstr>
      <vt:lpstr>PowerPoint Presentation</vt:lpstr>
      <vt:lpstr>Reasons to avoid encryption</vt:lpstr>
      <vt:lpstr>To be useful for message authentication, a hash function H must have the following properties: </vt:lpstr>
      <vt:lpstr>PowerPoint Presentation</vt:lpstr>
      <vt:lpstr>PowerPoint Presentation</vt:lpstr>
    </vt:vector>
  </TitlesOfParts>
  <Manager/>
  <Company>Computer Science, UNSW@ADFA</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Security: Principles and Practice, 1/e</dc:title>
  <dc:subject>Chapter 2 Lecture Overheads</dc:subject>
  <dc:creator>Dr Lawrie Brown</dc:creator>
  <cp:keywords/>
  <dc:description/>
  <cp:lastModifiedBy>Microsoft account</cp:lastModifiedBy>
  <cp:revision>411</cp:revision>
  <dcterms:created xsi:type="dcterms:W3CDTF">2012-03-04T03:14:23Z</dcterms:created>
  <dcterms:modified xsi:type="dcterms:W3CDTF">2022-09-15T08:23:49Z</dcterms:modified>
  <cp:category/>
</cp:coreProperties>
</file>