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8" r:id="rId1"/>
  </p:sldMasterIdLst>
  <p:notesMasterIdLst>
    <p:notesMasterId r:id="rId39"/>
  </p:notesMasterIdLst>
  <p:sldIdLst>
    <p:sldId id="426" r:id="rId2"/>
    <p:sldId id="410" r:id="rId3"/>
    <p:sldId id="401" r:id="rId4"/>
    <p:sldId id="363" r:id="rId5"/>
    <p:sldId id="413" r:id="rId6"/>
    <p:sldId id="374" r:id="rId7"/>
    <p:sldId id="411" r:id="rId8"/>
    <p:sldId id="378" r:id="rId9"/>
    <p:sldId id="393" r:id="rId10"/>
    <p:sldId id="375" r:id="rId11"/>
    <p:sldId id="365" r:id="rId12"/>
    <p:sldId id="392" r:id="rId13"/>
    <p:sldId id="395" r:id="rId14"/>
    <p:sldId id="416" r:id="rId15"/>
    <p:sldId id="420" r:id="rId16"/>
    <p:sldId id="417" r:id="rId17"/>
    <p:sldId id="418" r:id="rId18"/>
    <p:sldId id="421" r:id="rId19"/>
    <p:sldId id="428" r:id="rId20"/>
    <p:sldId id="440" r:id="rId21"/>
    <p:sldId id="441" r:id="rId22"/>
    <p:sldId id="442" r:id="rId23"/>
    <p:sldId id="443" r:id="rId24"/>
    <p:sldId id="444" r:id="rId25"/>
    <p:sldId id="446" r:id="rId26"/>
    <p:sldId id="447" r:id="rId27"/>
    <p:sldId id="448" r:id="rId28"/>
    <p:sldId id="456" r:id="rId29"/>
    <p:sldId id="453" r:id="rId30"/>
    <p:sldId id="452" r:id="rId31"/>
    <p:sldId id="454" r:id="rId32"/>
    <p:sldId id="451" r:id="rId33"/>
    <p:sldId id="455" r:id="rId34"/>
    <p:sldId id="422" r:id="rId35"/>
    <p:sldId id="414" r:id="rId36"/>
    <p:sldId id="415" r:id="rId37"/>
    <p:sldId id="396" r:id="rId38"/>
  </p:sldIdLst>
  <p:sldSz cx="9144000" cy="6858000" type="screen4x3"/>
  <p:notesSz cx="6858000" cy="9144000"/>
  <p:defaultTextStyle>
    <a:defPPr>
      <a:defRPr lang="en-A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10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10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10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10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10" charset="0"/>
        <a:ea typeface="+mn-ea"/>
        <a:cs typeface="+mn-cs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pitchFamily="-110" charset="0"/>
        <a:ea typeface="+mn-ea"/>
        <a:cs typeface="+mn-cs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pitchFamily="-110" charset="0"/>
        <a:ea typeface="+mn-ea"/>
        <a:cs typeface="+mn-cs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pitchFamily="-110" charset="0"/>
        <a:ea typeface="+mn-ea"/>
        <a:cs typeface="+mn-cs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pitchFamily="-110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F60"/>
    <a:srgbClr val="FFC07E"/>
    <a:srgbClr val="FFD27E"/>
    <a:srgbClr val="FFB56C"/>
    <a:srgbClr val="FFAC1B"/>
    <a:srgbClr val="FFCC33"/>
    <a:srgbClr val="0000FF"/>
    <a:srgbClr val="3333FF"/>
    <a:srgbClr val="000000"/>
    <a:srgbClr val="8C64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13" autoAdjust="0"/>
    <p:restoredTop sz="82765" autoAdjust="0"/>
  </p:normalViewPr>
  <p:slideViewPr>
    <p:cSldViewPr>
      <p:cViewPr varScale="1">
        <p:scale>
          <a:sx n="61" d="100"/>
          <a:sy n="61" d="100"/>
        </p:scale>
        <p:origin x="1830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60"/>
    </p:cViewPr>
  </p:sorterViewPr>
  <p:notesViewPr>
    <p:cSldViewPr>
      <p:cViewPr varScale="1">
        <p:scale>
          <a:sx n="119" d="100"/>
          <a:sy n="119" d="100"/>
        </p:scale>
        <p:origin x="-2128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E11971-5984-FB4D-808C-C913769AB92D}" type="doc">
      <dgm:prSet loTypeId="urn:microsoft.com/office/officeart/2005/8/layout/arrow4" loCatId="relationship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6E55461-A1ED-1549-B148-C16F35E977F6}">
      <dgm:prSet custT="1"/>
      <dgm:spPr/>
      <dgm:t>
        <a:bodyPr/>
        <a:lstStyle/>
        <a:p>
          <a:pPr marL="342900" indent="-342900" algn="l" defTabSz="914400" rtl="0" eaLnBrk="1" latinLnBrk="0" hangingPunct="1">
            <a:lnSpc>
              <a:spcPct val="90000"/>
            </a:lnSpc>
            <a:spcBef>
              <a:spcPts val="0"/>
            </a:spcBef>
            <a:spcAft>
              <a:spcPct val="35000"/>
            </a:spcAft>
            <a:buClr>
              <a:schemeClr val="accent6">
                <a:lumMod val="60000"/>
                <a:lumOff val="40000"/>
              </a:schemeClr>
            </a:buClr>
            <a:buSzPct val="125000"/>
            <a:buFont typeface="Arial"/>
            <a:buChar char="•"/>
            <a:defRPr/>
          </a:pPr>
          <a:r>
            <a:rPr lang="en-US" sz="2000" b="0" kern="1200" dirty="0" smtClean="0">
              <a:latin typeface="+mj-lt"/>
              <a:ea typeface="+mn-ea"/>
              <a:cs typeface="+mn-cs"/>
            </a:rPr>
            <a:t>Until recently was the most widely used encryption scheme</a:t>
          </a:r>
          <a:endParaRPr lang="en-US" sz="2000" b="0" kern="1200" dirty="0">
            <a:latin typeface="+mj-lt"/>
            <a:ea typeface="+mn-ea"/>
            <a:cs typeface="+mn-cs"/>
          </a:endParaRPr>
        </a:p>
      </dgm:t>
    </dgm:pt>
    <dgm:pt modelId="{3594470A-1D33-E74F-9216-4EDA6336884E}" type="parTrans" cxnId="{CF3D2E1B-4F8E-754E-B3C4-534E14228DB4}">
      <dgm:prSet/>
      <dgm:spPr/>
      <dgm:t>
        <a:bodyPr/>
        <a:lstStyle/>
        <a:p>
          <a:endParaRPr lang="en-US"/>
        </a:p>
      </dgm:t>
    </dgm:pt>
    <dgm:pt modelId="{E72AB9F9-649C-1644-A69B-40B54E82EF5D}" type="sibTrans" cxnId="{CF3D2E1B-4F8E-754E-B3C4-534E14228DB4}">
      <dgm:prSet/>
      <dgm:spPr/>
      <dgm:t>
        <a:bodyPr/>
        <a:lstStyle/>
        <a:p>
          <a:endParaRPr lang="en-US"/>
        </a:p>
      </dgm:t>
    </dgm:pt>
    <dgm:pt modelId="{EE54917A-84FF-094A-97BB-5BC51B0632A0}">
      <dgm:prSet custT="1"/>
      <dgm:spPr/>
      <dgm:t>
        <a:bodyPr/>
        <a:lstStyle/>
        <a:p>
          <a:pPr marL="463550" indent="-68263" algn="l" defTabSz="800100" rtl="0">
            <a:lnSpc>
              <a:spcPct val="90000"/>
            </a:lnSpc>
            <a:spcBef>
              <a:spcPct val="0"/>
            </a:spcBef>
            <a:spcAft>
              <a:spcPts val="1032"/>
            </a:spcAft>
            <a:buNone/>
          </a:pPr>
          <a:r>
            <a:rPr lang="en-US" sz="1600" b="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rPr>
            <a:t> 	Referred to as the Data Encryption   	Algorithm (DEA)</a:t>
          </a:r>
        </a:p>
      </dgm:t>
    </dgm:pt>
    <dgm:pt modelId="{16695056-8FE5-0540-A855-529CD273FF66}" type="parTrans" cxnId="{51F1A3E1-EB9B-3D44-8CD4-944F1DCC818E}">
      <dgm:prSet/>
      <dgm:spPr/>
      <dgm:t>
        <a:bodyPr/>
        <a:lstStyle/>
        <a:p>
          <a:endParaRPr lang="en-US"/>
        </a:p>
      </dgm:t>
    </dgm:pt>
    <dgm:pt modelId="{819F5C3F-21DB-0B49-8CF4-0B170152BAF5}" type="sibTrans" cxnId="{51F1A3E1-EB9B-3D44-8CD4-944F1DCC818E}">
      <dgm:prSet/>
      <dgm:spPr/>
      <dgm:t>
        <a:bodyPr/>
        <a:lstStyle/>
        <a:p>
          <a:endParaRPr lang="en-US"/>
        </a:p>
      </dgm:t>
    </dgm:pt>
    <dgm:pt modelId="{97C0C7C4-120E-334E-AC61-7BE0E7017C6C}">
      <dgm:prSet custT="1"/>
      <dgm:spPr/>
      <dgm:t>
        <a:bodyPr/>
        <a:lstStyle/>
        <a:p>
          <a:pPr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 smtClean="0">
              <a:latin typeface="+mj-lt"/>
              <a:ea typeface="+mn-ea"/>
              <a:cs typeface="+mn-cs"/>
            </a:rPr>
            <a:t> Strength concerns:</a:t>
          </a:r>
        </a:p>
      </dgm:t>
    </dgm:pt>
    <dgm:pt modelId="{BA3C18A4-01CF-B345-ABBD-0BF3ED634274}" type="parTrans" cxnId="{04BB826F-8042-0F4B-BD8B-78FA5714BDCF}">
      <dgm:prSet/>
      <dgm:spPr/>
      <dgm:t>
        <a:bodyPr/>
        <a:lstStyle/>
        <a:p>
          <a:endParaRPr lang="en-US"/>
        </a:p>
      </dgm:t>
    </dgm:pt>
    <dgm:pt modelId="{C11F33E5-9CF6-7E4A-AC98-740659F3377A}" type="sibTrans" cxnId="{04BB826F-8042-0F4B-BD8B-78FA5714BDCF}">
      <dgm:prSet/>
      <dgm:spPr/>
      <dgm:t>
        <a:bodyPr/>
        <a:lstStyle/>
        <a:p>
          <a:endParaRPr lang="en-US"/>
        </a:p>
      </dgm:t>
    </dgm:pt>
    <dgm:pt modelId="{6A65FA09-3785-C549-A972-52AFA8EC8FE5}">
      <dgm:prSet custT="1"/>
      <dgm:spPr/>
      <dgm:t>
        <a:bodyPr/>
        <a:lstStyle/>
        <a:p>
          <a:pPr marL="463550" indent="-68263" algn="l" defTabSz="800100" rtl="0">
            <a:lnSpc>
              <a:spcPct val="90000"/>
            </a:lnSpc>
            <a:spcBef>
              <a:spcPct val="0"/>
            </a:spcBef>
            <a:spcAft>
              <a:spcPts val="1032"/>
            </a:spcAft>
            <a:buNone/>
          </a:pPr>
          <a:r>
            <a:rPr lang="en-US" sz="1600" b="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rPr>
            <a:t> 	Concerns about the algorithm itself</a:t>
          </a:r>
        </a:p>
      </dgm:t>
    </dgm:pt>
    <dgm:pt modelId="{705C5FAD-47F3-3B44-AD19-A145162B51A8}" type="parTrans" cxnId="{BA35C84E-EA29-F245-917C-9B38AEE43A47}">
      <dgm:prSet/>
      <dgm:spPr/>
      <dgm:t>
        <a:bodyPr/>
        <a:lstStyle/>
        <a:p>
          <a:endParaRPr lang="en-US"/>
        </a:p>
      </dgm:t>
    </dgm:pt>
    <dgm:pt modelId="{D854DF7A-194F-3847-9A9E-B8E00EBC41A3}" type="sibTrans" cxnId="{BA35C84E-EA29-F245-917C-9B38AEE43A47}">
      <dgm:prSet/>
      <dgm:spPr/>
      <dgm:t>
        <a:bodyPr/>
        <a:lstStyle/>
        <a:p>
          <a:endParaRPr lang="en-US"/>
        </a:p>
      </dgm:t>
    </dgm:pt>
    <dgm:pt modelId="{32AC1309-E4BD-A54C-890E-3C98188E51CC}">
      <dgm:prSet custT="1"/>
      <dgm:spPr/>
      <dgm:t>
        <a:bodyPr/>
        <a:lstStyle/>
        <a:p>
          <a:pPr marL="463550" indent="-68263" algn="l" defTabSz="800100" rtl="0">
            <a:lnSpc>
              <a:spcPct val="90000"/>
            </a:lnSpc>
            <a:spcBef>
              <a:spcPct val="0"/>
            </a:spcBef>
            <a:spcAft>
              <a:spcPts val="1032"/>
            </a:spcAft>
            <a:buNone/>
          </a:pPr>
          <a:r>
            <a:rPr lang="en-US" sz="1600" b="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rPr>
            <a:t> 	Uses 64 bit plaintext block and 56 bit key to 	produce a 64 bit ciphertext block</a:t>
          </a:r>
        </a:p>
      </dgm:t>
    </dgm:pt>
    <dgm:pt modelId="{E2807ECE-9761-244E-BC26-7DFB3E6F2F19}" type="sibTrans" cxnId="{64671C1D-11F9-6340-A5AA-4C7862492E76}">
      <dgm:prSet/>
      <dgm:spPr/>
      <dgm:t>
        <a:bodyPr/>
        <a:lstStyle/>
        <a:p>
          <a:endParaRPr lang="en-US"/>
        </a:p>
      </dgm:t>
    </dgm:pt>
    <dgm:pt modelId="{FBC38945-A8EC-8547-B11D-830C8CD9F38B}" type="parTrans" cxnId="{64671C1D-11F9-6340-A5AA-4C7862492E76}">
      <dgm:prSet/>
      <dgm:spPr/>
      <dgm:t>
        <a:bodyPr/>
        <a:lstStyle/>
        <a:p>
          <a:endParaRPr lang="en-US"/>
        </a:p>
      </dgm:t>
    </dgm:pt>
    <dgm:pt modelId="{B3DF7A20-9B6A-4B4E-94A9-BEC16C6EC02C}">
      <dgm:prSet custT="1"/>
      <dgm:spPr/>
      <dgm:t>
        <a:bodyPr/>
        <a:lstStyle/>
        <a:p>
          <a:pPr marL="463550" indent="-68263" algn="l" defTabSz="800100" rtl="0">
            <a:lnSpc>
              <a:spcPct val="90000"/>
            </a:lnSpc>
            <a:spcBef>
              <a:spcPct val="0"/>
            </a:spcBef>
            <a:spcAft>
              <a:spcPts val="1032"/>
            </a:spcAft>
            <a:buNone/>
          </a:pPr>
          <a:r>
            <a:rPr lang="en-US" sz="1600" b="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rPr>
            <a:t> 	FIPS PUB 46</a:t>
          </a:r>
        </a:p>
      </dgm:t>
    </dgm:pt>
    <dgm:pt modelId="{06C4AF35-5376-C341-9C9A-6A5A21668AE6}" type="sibTrans" cxnId="{6C121ADE-A8D6-EE43-A9D0-A00B0EE7048D}">
      <dgm:prSet/>
      <dgm:spPr/>
      <dgm:t>
        <a:bodyPr/>
        <a:lstStyle/>
        <a:p>
          <a:endParaRPr lang="en-US"/>
        </a:p>
      </dgm:t>
    </dgm:pt>
    <dgm:pt modelId="{5F58495F-BC89-884F-A9F4-BD95ADB806E3}" type="parTrans" cxnId="{6C121ADE-A8D6-EE43-A9D0-A00B0EE7048D}">
      <dgm:prSet/>
      <dgm:spPr/>
      <dgm:t>
        <a:bodyPr/>
        <a:lstStyle/>
        <a:p>
          <a:endParaRPr lang="en-US"/>
        </a:p>
      </dgm:t>
    </dgm:pt>
    <dgm:pt modelId="{0887A2BB-7939-F94A-B168-33A9D3F4EF0F}">
      <dgm:prSet custT="1"/>
      <dgm:spPr/>
      <dgm:t>
        <a:bodyPr/>
        <a:lstStyle/>
        <a:p>
          <a:pPr marL="463550" indent="-68263" algn="l" defTabSz="800100" rtl="0">
            <a:lnSpc>
              <a:spcPct val="90000"/>
            </a:lnSpc>
            <a:spcBef>
              <a:spcPct val="0"/>
            </a:spcBef>
            <a:spcAft>
              <a:spcPts val="1032"/>
            </a:spcAft>
            <a:buNone/>
          </a:pPr>
          <a:r>
            <a:rPr lang="en-US" sz="1600" b="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rPr>
            <a:t> 	Concerns about the use of a 56-bit key</a:t>
          </a:r>
        </a:p>
      </dgm:t>
    </dgm:pt>
    <dgm:pt modelId="{339B30BD-EB87-2D4E-ACF7-3D2D84F4BB6D}" type="parTrans" cxnId="{02EF2E37-144A-194F-872D-4886FE633FF7}">
      <dgm:prSet/>
      <dgm:spPr/>
      <dgm:t>
        <a:bodyPr/>
        <a:lstStyle/>
        <a:p>
          <a:endParaRPr lang="en-US"/>
        </a:p>
      </dgm:t>
    </dgm:pt>
    <dgm:pt modelId="{6AFFED07-AB1C-5845-9B0C-22EB2AA1DCFA}" type="sibTrans" cxnId="{02EF2E37-144A-194F-872D-4886FE633FF7}">
      <dgm:prSet/>
      <dgm:spPr/>
      <dgm:t>
        <a:bodyPr/>
        <a:lstStyle/>
        <a:p>
          <a:endParaRPr lang="en-US"/>
        </a:p>
      </dgm:t>
    </dgm:pt>
    <dgm:pt modelId="{A885C472-3C25-DE40-B000-A986FB62DE3E}">
      <dgm:prSet custT="1"/>
      <dgm:spPr/>
      <dgm:t>
        <a:bodyPr/>
        <a:lstStyle/>
        <a:p>
          <a:pPr marL="806450" indent="-120650" algn="l" defTabSz="622300" rtl="0">
            <a:lnSpc>
              <a:spcPct val="90000"/>
            </a:lnSpc>
            <a:spcBef>
              <a:spcPct val="0"/>
            </a:spcBef>
            <a:spcAft>
              <a:spcPts val="888"/>
            </a:spcAft>
            <a:buNone/>
          </a:pPr>
          <a:r>
            <a:rPr lang="en-US" sz="1400" b="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rPr>
            <a:t>The speed of commercial off-the-shelf processors makes this key length woefully inadequate</a:t>
          </a:r>
        </a:p>
      </dgm:t>
    </dgm:pt>
    <dgm:pt modelId="{CC8D4FB7-B906-844A-AEF9-55B3A42AFA75}" type="sibTrans" cxnId="{9110B17E-2226-AA4A-9BC6-C415E63FE817}">
      <dgm:prSet/>
      <dgm:spPr/>
      <dgm:t>
        <a:bodyPr/>
        <a:lstStyle/>
        <a:p>
          <a:endParaRPr lang="en-US"/>
        </a:p>
      </dgm:t>
    </dgm:pt>
    <dgm:pt modelId="{0E952E80-220C-7E46-874A-09802F2CA599}" type="parTrans" cxnId="{9110B17E-2226-AA4A-9BC6-C415E63FE817}">
      <dgm:prSet/>
      <dgm:spPr/>
      <dgm:t>
        <a:bodyPr/>
        <a:lstStyle/>
        <a:p>
          <a:endParaRPr lang="en-US"/>
        </a:p>
      </dgm:t>
    </dgm:pt>
    <dgm:pt modelId="{9C52FC72-C9CB-444F-A9D2-EFC6E9DBF659}">
      <dgm:prSet custT="1"/>
      <dgm:spPr/>
      <dgm:t>
        <a:bodyPr/>
        <a:lstStyle/>
        <a:p>
          <a:pPr marL="806450" indent="-120650" algn="l" defTabSz="622300" rtl="0">
            <a:lnSpc>
              <a:spcPct val="90000"/>
            </a:lnSpc>
            <a:spcBef>
              <a:spcPct val="0"/>
            </a:spcBef>
            <a:spcAft>
              <a:spcPts val="888"/>
            </a:spcAft>
            <a:buNone/>
          </a:pPr>
          <a:r>
            <a:rPr lang="en-US" sz="1400" b="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rPr>
            <a:t>DES is the most studied encryption 		       algorithm in existence</a:t>
          </a:r>
        </a:p>
      </dgm:t>
    </dgm:pt>
    <dgm:pt modelId="{E723F59E-DADC-1B40-B9E2-7BC2D10E8E4B}" type="parTrans" cxnId="{7DB6974D-2CE6-604B-8DB3-1885A8CC7CB5}">
      <dgm:prSet/>
      <dgm:spPr/>
      <dgm:t>
        <a:bodyPr/>
        <a:lstStyle/>
        <a:p>
          <a:endParaRPr lang="en-US"/>
        </a:p>
      </dgm:t>
    </dgm:pt>
    <dgm:pt modelId="{FD503CF5-1C29-9440-A38F-28F2C8BF5209}" type="sibTrans" cxnId="{7DB6974D-2CE6-604B-8DB3-1885A8CC7CB5}">
      <dgm:prSet/>
      <dgm:spPr/>
      <dgm:t>
        <a:bodyPr/>
        <a:lstStyle/>
        <a:p>
          <a:endParaRPr lang="en-US"/>
        </a:p>
      </dgm:t>
    </dgm:pt>
    <dgm:pt modelId="{28CF0727-D620-3446-A0BB-234F3056F8D9}" type="pres">
      <dgm:prSet presAssocID="{74E11971-5984-FB4D-808C-C913769AB92D}" presName="compositeShape" presStyleCnt="0">
        <dgm:presLayoutVars>
          <dgm:chMax val="2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FE2DD38-065C-4B4B-9D04-50857136CFF3}" type="pres">
      <dgm:prSet presAssocID="{D6E55461-A1ED-1549-B148-C16F35E977F6}" presName="upArrow" presStyleLbl="node1" presStyleIdx="0" presStyleCnt="2" custScaleX="66320" custScaleY="78371" custLinFactNeighborX="8566" custLinFactNeighborY="-1757"/>
      <dgm:spPr/>
      <dgm:t>
        <a:bodyPr/>
        <a:lstStyle/>
        <a:p>
          <a:endParaRPr lang="en-US"/>
        </a:p>
      </dgm:t>
    </dgm:pt>
    <dgm:pt modelId="{48FAAA8E-A08D-6146-8B57-457EADABE666}" type="pres">
      <dgm:prSet presAssocID="{D6E55461-A1ED-1549-B148-C16F35E977F6}" presName="upArrowText" presStyleLbl="revTx" presStyleIdx="0" presStyleCnt="2" custScaleX="114506" custScaleY="115054" custLinFactNeighborX="9892" custLinFactNeighborY="40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528ED87-2622-5445-A524-3B42DFF6F4F9}" type="pres">
      <dgm:prSet presAssocID="{97C0C7C4-120E-334E-AC61-7BE0E7017C6C}" presName="downArrow" presStyleLbl="node1" presStyleIdx="1" presStyleCnt="2" custScaleX="67694" custScaleY="73408" custLinFactNeighborX="-21118" custLinFactNeighborY="-8743"/>
      <dgm:spPr/>
      <dgm:t>
        <a:bodyPr/>
        <a:lstStyle/>
        <a:p>
          <a:endParaRPr lang="en-US"/>
        </a:p>
      </dgm:t>
    </dgm:pt>
    <dgm:pt modelId="{8F451FD7-07C1-D24E-88AE-8EE98D36D6A8}" type="pres">
      <dgm:prSet presAssocID="{97C0C7C4-120E-334E-AC61-7BE0E7017C6C}" presName="downArrowText" presStyleLbl="revTx" presStyleIdx="1" presStyleCnt="2" custScaleX="109102" custLinFactNeighborX="139" custLinFactNeighborY="-506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1F1A3E1-EB9B-3D44-8CD4-944F1DCC818E}" srcId="{D6E55461-A1ED-1549-B148-C16F35E977F6}" destId="{EE54917A-84FF-094A-97BB-5BC51B0632A0}" srcOrd="1" destOrd="0" parTransId="{16695056-8FE5-0540-A855-529CD273FF66}" sibTransId="{819F5C3F-21DB-0B49-8CF4-0B170152BAF5}"/>
    <dgm:cxn modelId="{02EF2E37-144A-194F-872D-4886FE633FF7}" srcId="{97C0C7C4-120E-334E-AC61-7BE0E7017C6C}" destId="{0887A2BB-7939-F94A-B168-33A9D3F4EF0F}" srcOrd="1" destOrd="0" parTransId="{339B30BD-EB87-2D4E-ACF7-3D2D84F4BB6D}" sibTransId="{6AFFED07-AB1C-5845-9B0C-22EB2AA1DCFA}"/>
    <dgm:cxn modelId="{D366A975-CD76-3249-BCAF-7C43B8984AAC}" type="presOf" srcId="{6A65FA09-3785-C549-A972-52AFA8EC8FE5}" destId="{8F451FD7-07C1-D24E-88AE-8EE98D36D6A8}" srcOrd="0" destOrd="1" presId="urn:microsoft.com/office/officeart/2005/8/layout/arrow4"/>
    <dgm:cxn modelId="{F9918BE9-5ABF-1A42-91B4-D304AF638E23}" type="presOf" srcId="{0887A2BB-7939-F94A-B168-33A9D3F4EF0F}" destId="{8F451FD7-07C1-D24E-88AE-8EE98D36D6A8}" srcOrd="0" destOrd="3" presId="urn:microsoft.com/office/officeart/2005/8/layout/arrow4"/>
    <dgm:cxn modelId="{04BB826F-8042-0F4B-BD8B-78FA5714BDCF}" srcId="{74E11971-5984-FB4D-808C-C913769AB92D}" destId="{97C0C7C4-120E-334E-AC61-7BE0E7017C6C}" srcOrd="1" destOrd="0" parTransId="{BA3C18A4-01CF-B345-ABBD-0BF3ED634274}" sibTransId="{C11F33E5-9CF6-7E4A-AC98-740659F3377A}"/>
    <dgm:cxn modelId="{6DC3F5A0-900A-AB4E-AA8A-A390B3267811}" type="presOf" srcId="{EE54917A-84FF-094A-97BB-5BC51B0632A0}" destId="{48FAAA8E-A08D-6146-8B57-457EADABE666}" srcOrd="0" destOrd="2" presId="urn:microsoft.com/office/officeart/2005/8/layout/arrow4"/>
    <dgm:cxn modelId="{CA85B9D8-B7CD-3947-811E-B8C8128B2DF8}" type="presOf" srcId="{74E11971-5984-FB4D-808C-C913769AB92D}" destId="{28CF0727-D620-3446-A0BB-234F3056F8D9}" srcOrd="0" destOrd="0" presId="urn:microsoft.com/office/officeart/2005/8/layout/arrow4"/>
    <dgm:cxn modelId="{9110B17E-2226-AA4A-9BC6-C415E63FE817}" srcId="{97C0C7C4-120E-334E-AC61-7BE0E7017C6C}" destId="{A885C472-3C25-DE40-B000-A986FB62DE3E}" srcOrd="2" destOrd="0" parTransId="{0E952E80-220C-7E46-874A-09802F2CA599}" sibTransId="{CC8D4FB7-B906-844A-AEF9-55B3A42AFA75}"/>
    <dgm:cxn modelId="{170E52DB-788E-964A-BE4B-36C85C144E7B}" type="presOf" srcId="{9C52FC72-C9CB-444F-A9D2-EFC6E9DBF659}" destId="{8F451FD7-07C1-D24E-88AE-8EE98D36D6A8}" srcOrd="0" destOrd="2" presId="urn:microsoft.com/office/officeart/2005/8/layout/arrow4"/>
    <dgm:cxn modelId="{64671C1D-11F9-6340-A5AA-4C7862492E76}" srcId="{D6E55461-A1ED-1549-B148-C16F35E977F6}" destId="{32AC1309-E4BD-A54C-890E-3C98188E51CC}" srcOrd="2" destOrd="0" parTransId="{FBC38945-A8EC-8547-B11D-830C8CD9F38B}" sibTransId="{E2807ECE-9761-244E-BC26-7DFB3E6F2F19}"/>
    <dgm:cxn modelId="{952E6BA5-E8D5-4B4F-8C95-8FCD6C602C5A}" type="presOf" srcId="{D6E55461-A1ED-1549-B148-C16F35E977F6}" destId="{48FAAA8E-A08D-6146-8B57-457EADABE666}" srcOrd="0" destOrd="0" presId="urn:microsoft.com/office/officeart/2005/8/layout/arrow4"/>
    <dgm:cxn modelId="{7DB6974D-2CE6-604B-8DB3-1885A8CC7CB5}" srcId="{6A65FA09-3785-C549-A972-52AFA8EC8FE5}" destId="{9C52FC72-C9CB-444F-A9D2-EFC6E9DBF659}" srcOrd="0" destOrd="0" parTransId="{E723F59E-DADC-1B40-B9E2-7BC2D10E8E4B}" sibTransId="{FD503CF5-1C29-9440-A38F-28F2C8BF5209}"/>
    <dgm:cxn modelId="{6C121ADE-A8D6-EE43-A9D0-A00B0EE7048D}" srcId="{D6E55461-A1ED-1549-B148-C16F35E977F6}" destId="{B3DF7A20-9B6A-4B4E-94A9-BEC16C6EC02C}" srcOrd="0" destOrd="0" parTransId="{5F58495F-BC89-884F-A9F4-BD95ADB806E3}" sibTransId="{06C4AF35-5376-C341-9C9A-6A5A21668AE6}"/>
    <dgm:cxn modelId="{A07FB3FB-6E28-494B-BD8B-D58F192F30B4}" type="presOf" srcId="{32AC1309-E4BD-A54C-890E-3C98188E51CC}" destId="{48FAAA8E-A08D-6146-8B57-457EADABE666}" srcOrd="0" destOrd="3" presId="urn:microsoft.com/office/officeart/2005/8/layout/arrow4"/>
    <dgm:cxn modelId="{CF3D2E1B-4F8E-754E-B3C4-534E14228DB4}" srcId="{74E11971-5984-FB4D-808C-C913769AB92D}" destId="{D6E55461-A1ED-1549-B148-C16F35E977F6}" srcOrd="0" destOrd="0" parTransId="{3594470A-1D33-E74F-9216-4EDA6336884E}" sibTransId="{E72AB9F9-649C-1644-A69B-40B54E82EF5D}"/>
    <dgm:cxn modelId="{F7F69A2B-EE05-3B4D-BEFA-CA240F4474A0}" type="presOf" srcId="{A885C472-3C25-DE40-B000-A986FB62DE3E}" destId="{8F451FD7-07C1-D24E-88AE-8EE98D36D6A8}" srcOrd="0" destOrd="4" presId="urn:microsoft.com/office/officeart/2005/8/layout/arrow4"/>
    <dgm:cxn modelId="{F23669C9-D12E-9E4A-8F25-2923E9D4D868}" type="presOf" srcId="{97C0C7C4-120E-334E-AC61-7BE0E7017C6C}" destId="{8F451FD7-07C1-D24E-88AE-8EE98D36D6A8}" srcOrd="0" destOrd="0" presId="urn:microsoft.com/office/officeart/2005/8/layout/arrow4"/>
    <dgm:cxn modelId="{BA35C84E-EA29-F245-917C-9B38AEE43A47}" srcId="{97C0C7C4-120E-334E-AC61-7BE0E7017C6C}" destId="{6A65FA09-3785-C549-A972-52AFA8EC8FE5}" srcOrd="0" destOrd="0" parTransId="{705C5FAD-47F3-3B44-AD19-A145162B51A8}" sibTransId="{D854DF7A-194F-3847-9A9E-B8E00EBC41A3}"/>
    <dgm:cxn modelId="{26D2B170-75CC-D04F-B7BC-DA79F7B6D9FD}" type="presOf" srcId="{B3DF7A20-9B6A-4B4E-94A9-BEC16C6EC02C}" destId="{48FAAA8E-A08D-6146-8B57-457EADABE666}" srcOrd="0" destOrd="1" presId="urn:microsoft.com/office/officeart/2005/8/layout/arrow4"/>
    <dgm:cxn modelId="{E9AEDBCE-733E-BC4D-B637-279E9D9CF5E3}" type="presParOf" srcId="{28CF0727-D620-3446-A0BB-234F3056F8D9}" destId="{BFE2DD38-065C-4B4B-9D04-50857136CFF3}" srcOrd="0" destOrd="0" presId="urn:microsoft.com/office/officeart/2005/8/layout/arrow4"/>
    <dgm:cxn modelId="{64C1A942-A6C7-2D44-B35E-AC02B6DBEB1C}" type="presParOf" srcId="{28CF0727-D620-3446-A0BB-234F3056F8D9}" destId="{48FAAA8E-A08D-6146-8B57-457EADABE666}" srcOrd="1" destOrd="0" presId="urn:microsoft.com/office/officeart/2005/8/layout/arrow4"/>
    <dgm:cxn modelId="{ADB1432F-539F-BE44-B5BE-41EF55838EF0}" type="presParOf" srcId="{28CF0727-D620-3446-A0BB-234F3056F8D9}" destId="{C528ED87-2622-5445-A524-3B42DFF6F4F9}" srcOrd="2" destOrd="0" presId="urn:microsoft.com/office/officeart/2005/8/layout/arrow4"/>
    <dgm:cxn modelId="{87A56ABD-AB7A-CC4E-86DA-173DB7964B09}" type="presParOf" srcId="{28CF0727-D620-3446-A0BB-234F3056F8D9}" destId="{8F451FD7-07C1-D24E-88AE-8EE98D36D6A8}" srcOrd="3" destOrd="0" presId="urn:microsoft.com/office/officeart/2005/8/layout/arrow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4D15ACF-09FA-FB4F-8F7D-E6FF59A36FF0}" type="doc">
      <dgm:prSet loTypeId="urn:microsoft.com/office/officeart/2005/8/layout/lProcess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D6164EB-D7ED-6342-828C-72F9595B3158}">
      <dgm:prSet/>
      <dgm:spPr/>
      <dgm:t>
        <a:bodyPr/>
        <a:lstStyle/>
        <a:p>
          <a:pPr rtl="0"/>
          <a:r>
            <a:rPr lang="en-US" b="1" dirty="0" smtClean="0">
              <a:effectLst/>
            </a:rPr>
            <a:t>Needed a replacement for 3DES</a:t>
          </a:r>
          <a:endParaRPr lang="en-US" dirty="0">
            <a:effectLst/>
          </a:endParaRPr>
        </a:p>
      </dgm:t>
    </dgm:pt>
    <dgm:pt modelId="{59651BEE-D58E-054B-A1CF-9C3A0B207B8F}" type="parTrans" cxnId="{BC1C011A-618E-C347-A32B-EBD3F58913B1}">
      <dgm:prSet/>
      <dgm:spPr/>
      <dgm:t>
        <a:bodyPr/>
        <a:lstStyle/>
        <a:p>
          <a:endParaRPr lang="en-US"/>
        </a:p>
      </dgm:t>
    </dgm:pt>
    <dgm:pt modelId="{877112CD-AC6C-9A4A-B224-5D5E685ECFFB}" type="sibTrans" cxnId="{BC1C011A-618E-C347-A32B-EBD3F58913B1}">
      <dgm:prSet/>
      <dgm:spPr/>
      <dgm:t>
        <a:bodyPr/>
        <a:lstStyle/>
        <a:p>
          <a:endParaRPr lang="en-US"/>
        </a:p>
      </dgm:t>
    </dgm:pt>
    <dgm:pt modelId="{3CFCB383-DADE-654C-A5D8-12DAA7CEA391}">
      <dgm:prSet custT="1"/>
      <dgm:spPr>
        <a:solidFill>
          <a:srgbClr val="FF6600"/>
        </a:solidFill>
      </dgm:spPr>
      <dgm:t>
        <a:bodyPr/>
        <a:lstStyle/>
        <a:p>
          <a:pPr rtl="0"/>
          <a:r>
            <a:rPr lang="en-US" sz="1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rPr>
            <a:t>3DES was not reasonable for long term use</a:t>
          </a:r>
        </a:p>
      </dgm:t>
    </dgm:pt>
    <dgm:pt modelId="{6C0B8728-05C2-6B48-A1CB-B166843082D8}" type="parTrans" cxnId="{97006530-F327-DC48-B7EE-192D8798DFD2}">
      <dgm:prSet/>
      <dgm:spPr/>
      <dgm:t>
        <a:bodyPr/>
        <a:lstStyle/>
        <a:p>
          <a:endParaRPr lang="en-US"/>
        </a:p>
      </dgm:t>
    </dgm:pt>
    <dgm:pt modelId="{B93E2734-B9A1-4F48-BBFA-BFD72BAC59F1}" type="sibTrans" cxnId="{97006530-F327-DC48-B7EE-192D8798DFD2}">
      <dgm:prSet/>
      <dgm:spPr/>
      <dgm:t>
        <a:bodyPr/>
        <a:lstStyle/>
        <a:p>
          <a:endParaRPr lang="en-US"/>
        </a:p>
      </dgm:t>
    </dgm:pt>
    <dgm:pt modelId="{904A5BE3-DB8A-7549-9CC2-310FAFE11132}">
      <dgm:prSet/>
      <dgm:spPr/>
      <dgm:t>
        <a:bodyPr/>
        <a:lstStyle/>
        <a:p>
          <a:pPr rtl="0"/>
          <a:r>
            <a:rPr lang="en-US" b="1" dirty="0" smtClean="0"/>
            <a:t>NIST called for proposals for a new AES in 1997</a:t>
          </a:r>
          <a:endParaRPr lang="en-US" dirty="0"/>
        </a:p>
      </dgm:t>
    </dgm:pt>
    <dgm:pt modelId="{82CC6848-EC8B-7944-B3CD-A6B597BBBF07}" type="parTrans" cxnId="{E1F81116-6D3C-E14B-8A31-FD2D2E97CF65}">
      <dgm:prSet/>
      <dgm:spPr/>
      <dgm:t>
        <a:bodyPr/>
        <a:lstStyle/>
        <a:p>
          <a:endParaRPr lang="en-US"/>
        </a:p>
      </dgm:t>
    </dgm:pt>
    <dgm:pt modelId="{411CDA91-8665-B646-B445-BE6BBB2B0C99}" type="sibTrans" cxnId="{E1F81116-6D3C-E14B-8A31-FD2D2E97CF65}">
      <dgm:prSet/>
      <dgm:spPr/>
      <dgm:t>
        <a:bodyPr/>
        <a:lstStyle/>
        <a:p>
          <a:endParaRPr lang="en-US"/>
        </a:p>
      </dgm:t>
    </dgm:pt>
    <dgm:pt modelId="{6968C39E-8CBE-6F4B-A267-2F71EF660F35}">
      <dgm:prSet/>
      <dgm:spPr>
        <a:solidFill>
          <a:srgbClr val="FF6600"/>
        </a:solidFill>
      </dgm:spPr>
      <dgm:t>
        <a:bodyPr/>
        <a:lstStyle/>
        <a:p>
          <a:pPr rtl="0"/>
          <a:r>
            <a:rPr 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rPr>
            <a:t>Should have a security strength equal to or better than 3DES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j-lt"/>
          </a:endParaRPr>
        </a:p>
      </dgm:t>
    </dgm:pt>
    <dgm:pt modelId="{2022CBCC-3913-4348-9C1E-6A46DAC4BA56}" type="parTrans" cxnId="{B60F23C5-99FD-CB40-91DC-8AC25715A6F7}">
      <dgm:prSet/>
      <dgm:spPr/>
      <dgm:t>
        <a:bodyPr/>
        <a:lstStyle/>
        <a:p>
          <a:endParaRPr lang="en-US"/>
        </a:p>
      </dgm:t>
    </dgm:pt>
    <dgm:pt modelId="{E2799859-51C8-EA4D-BF1A-E78D234B0EDC}" type="sibTrans" cxnId="{B60F23C5-99FD-CB40-91DC-8AC25715A6F7}">
      <dgm:prSet/>
      <dgm:spPr/>
      <dgm:t>
        <a:bodyPr/>
        <a:lstStyle/>
        <a:p>
          <a:endParaRPr lang="en-US"/>
        </a:p>
      </dgm:t>
    </dgm:pt>
    <dgm:pt modelId="{301CF320-3673-1043-8B5A-4A07132E739F}">
      <dgm:prSet/>
      <dgm:spPr>
        <a:solidFill>
          <a:srgbClr val="FF6600"/>
        </a:solidFill>
      </dgm:spPr>
      <dgm:t>
        <a:bodyPr/>
        <a:lstStyle/>
        <a:p>
          <a:pPr rtl="0"/>
          <a:r>
            <a:rPr 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rPr>
            <a:t>Significantly improved efficiency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j-lt"/>
          </a:endParaRPr>
        </a:p>
      </dgm:t>
    </dgm:pt>
    <dgm:pt modelId="{8FB46D5B-7254-8641-848B-84FC128255EB}" type="parTrans" cxnId="{15D13E5B-4622-5045-A488-5672A9515203}">
      <dgm:prSet/>
      <dgm:spPr/>
      <dgm:t>
        <a:bodyPr/>
        <a:lstStyle/>
        <a:p>
          <a:endParaRPr lang="en-US"/>
        </a:p>
      </dgm:t>
    </dgm:pt>
    <dgm:pt modelId="{C35250FA-0517-F74E-B9EE-13A6F0FFF731}" type="sibTrans" cxnId="{15D13E5B-4622-5045-A488-5672A9515203}">
      <dgm:prSet/>
      <dgm:spPr/>
      <dgm:t>
        <a:bodyPr/>
        <a:lstStyle/>
        <a:p>
          <a:endParaRPr lang="en-US"/>
        </a:p>
      </dgm:t>
    </dgm:pt>
    <dgm:pt modelId="{5BD4138D-52F5-5F4E-B016-4F3881361F0F}">
      <dgm:prSet/>
      <dgm:spPr>
        <a:solidFill>
          <a:srgbClr val="FF6600"/>
        </a:solidFill>
      </dgm:spPr>
      <dgm:t>
        <a:bodyPr/>
        <a:lstStyle/>
        <a:p>
          <a:pPr rtl="0"/>
          <a:r>
            <a:rPr 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rPr>
            <a:t>Symmetric block cipher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j-lt"/>
          </a:endParaRPr>
        </a:p>
      </dgm:t>
    </dgm:pt>
    <dgm:pt modelId="{29BECC1D-8FA0-534D-B146-390353AF5F2F}" type="parTrans" cxnId="{9FF1BE36-6455-5245-A347-3045CD675675}">
      <dgm:prSet/>
      <dgm:spPr/>
      <dgm:t>
        <a:bodyPr/>
        <a:lstStyle/>
        <a:p>
          <a:endParaRPr lang="en-US"/>
        </a:p>
      </dgm:t>
    </dgm:pt>
    <dgm:pt modelId="{AA7A2892-810E-2C43-B347-40EA915C4947}" type="sibTrans" cxnId="{9FF1BE36-6455-5245-A347-3045CD675675}">
      <dgm:prSet/>
      <dgm:spPr/>
      <dgm:t>
        <a:bodyPr/>
        <a:lstStyle/>
        <a:p>
          <a:endParaRPr lang="en-US"/>
        </a:p>
      </dgm:t>
    </dgm:pt>
    <dgm:pt modelId="{22CAFFD2-A545-8943-A373-6548DFFDE1AF}">
      <dgm:prSet/>
      <dgm:spPr>
        <a:solidFill>
          <a:srgbClr val="FF6600"/>
        </a:solidFill>
      </dgm:spPr>
      <dgm:t>
        <a:bodyPr/>
        <a:lstStyle/>
        <a:p>
          <a:pPr rtl="0"/>
          <a:r>
            <a:rPr 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rPr>
            <a:t>128 bit data and 128/192/256 bit keys</a:t>
          </a:r>
          <a:endParaRPr lang="en-U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j-lt"/>
          </a:endParaRPr>
        </a:p>
      </dgm:t>
    </dgm:pt>
    <dgm:pt modelId="{E6C3AB4A-5995-8248-B3E1-61E10E460B61}" type="parTrans" cxnId="{4D54641C-054A-DD4E-A899-E478C463F6B7}">
      <dgm:prSet/>
      <dgm:spPr/>
      <dgm:t>
        <a:bodyPr/>
        <a:lstStyle/>
        <a:p>
          <a:endParaRPr lang="en-US"/>
        </a:p>
      </dgm:t>
    </dgm:pt>
    <dgm:pt modelId="{94B4FD3F-80C2-244D-92A9-E97C66F5D555}" type="sibTrans" cxnId="{4D54641C-054A-DD4E-A899-E478C463F6B7}">
      <dgm:prSet/>
      <dgm:spPr/>
      <dgm:t>
        <a:bodyPr/>
        <a:lstStyle/>
        <a:p>
          <a:endParaRPr lang="en-US"/>
        </a:p>
      </dgm:t>
    </dgm:pt>
    <dgm:pt modelId="{91E4542F-E5C1-0649-8E70-B71D796B7A2B}">
      <dgm:prSet/>
      <dgm:spPr/>
      <dgm:t>
        <a:bodyPr/>
        <a:lstStyle/>
        <a:p>
          <a:pPr rtl="0"/>
          <a:r>
            <a:rPr lang="en-US" b="1" dirty="0" smtClean="0"/>
            <a:t>Selected </a:t>
          </a:r>
          <a:r>
            <a:rPr lang="en-US" b="1" dirty="0" err="1" smtClean="0"/>
            <a:t>Rijndael</a:t>
          </a:r>
          <a:r>
            <a:rPr lang="en-US" b="1" dirty="0" smtClean="0"/>
            <a:t> in November 2001</a:t>
          </a:r>
          <a:endParaRPr lang="en-US" dirty="0"/>
        </a:p>
      </dgm:t>
    </dgm:pt>
    <dgm:pt modelId="{2A101C32-2EC1-EF4E-90E9-54677E10D7F9}" type="parTrans" cxnId="{806289DC-6E9A-4441-8974-F8743D4D762B}">
      <dgm:prSet/>
      <dgm:spPr/>
      <dgm:t>
        <a:bodyPr/>
        <a:lstStyle/>
        <a:p>
          <a:endParaRPr lang="en-US"/>
        </a:p>
      </dgm:t>
    </dgm:pt>
    <dgm:pt modelId="{15E68A15-86DA-004D-9DCE-0AEAFA603E3F}" type="sibTrans" cxnId="{806289DC-6E9A-4441-8974-F8743D4D762B}">
      <dgm:prSet/>
      <dgm:spPr/>
      <dgm:t>
        <a:bodyPr/>
        <a:lstStyle/>
        <a:p>
          <a:endParaRPr lang="en-US"/>
        </a:p>
      </dgm:t>
    </dgm:pt>
    <dgm:pt modelId="{C172F93B-4668-3A49-9D3B-F2BF139B21BD}">
      <dgm:prSet custT="1"/>
      <dgm:spPr>
        <a:solidFill>
          <a:srgbClr val="FF6600"/>
        </a:solidFill>
      </dgm:spPr>
      <dgm:t>
        <a:bodyPr/>
        <a:lstStyle/>
        <a:p>
          <a:pPr rtl="0"/>
          <a:r>
            <a:rPr lang="en-US" sz="1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rPr>
            <a:t>Published as </a:t>
          </a:r>
        </a:p>
        <a:p>
          <a:pPr rtl="0"/>
          <a:r>
            <a:rPr lang="en-US" sz="1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rPr>
            <a:t>FIPS 197</a:t>
          </a:r>
        </a:p>
      </dgm:t>
    </dgm:pt>
    <dgm:pt modelId="{B85748EB-A820-C341-9DD2-8CC9B25E11E6}" type="parTrans" cxnId="{4716227B-8C11-DD4F-9837-7D4CAAA07FD3}">
      <dgm:prSet/>
      <dgm:spPr/>
      <dgm:t>
        <a:bodyPr/>
        <a:lstStyle/>
        <a:p>
          <a:endParaRPr lang="en-US"/>
        </a:p>
      </dgm:t>
    </dgm:pt>
    <dgm:pt modelId="{F8409F2A-4A81-EF4F-8F1D-1274D53A6653}" type="sibTrans" cxnId="{4716227B-8C11-DD4F-9837-7D4CAAA07FD3}">
      <dgm:prSet/>
      <dgm:spPr/>
      <dgm:t>
        <a:bodyPr/>
        <a:lstStyle/>
        <a:p>
          <a:endParaRPr lang="en-US"/>
        </a:p>
      </dgm:t>
    </dgm:pt>
    <dgm:pt modelId="{6CD21563-8118-D247-A96E-8F9704B9B448}" type="pres">
      <dgm:prSet presAssocID="{94D15ACF-09FA-FB4F-8F7D-E6FF59A36FF0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1D54488-2DA7-924E-9F9E-8AADB3605EDE}" type="pres">
      <dgm:prSet presAssocID="{9D6164EB-D7ED-6342-828C-72F9595B3158}" presName="compNode" presStyleCnt="0"/>
      <dgm:spPr/>
    </dgm:pt>
    <dgm:pt modelId="{781D7F12-172F-E746-B25A-8095484E1922}" type="pres">
      <dgm:prSet presAssocID="{9D6164EB-D7ED-6342-828C-72F9595B3158}" presName="aNode" presStyleLbl="bgShp" presStyleIdx="0" presStyleCnt="3"/>
      <dgm:spPr/>
      <dgm:t>
        <a:bodyPr/>
        <a:lstStyle/>
        <a:p>
          <a:endParaRPr lang="en-US"/>
        </a:p>
      </dgm:t>
    </dgm:pt>
    <dgm:pt modelId="{A3171A3C-0FA2-2543-A906-3C1DB000AC32}" type="pres">
      <dgm:prSet presAssocID="{9D6164EB-D7ED-6342-828C-72F9595B3158}" presName="textNode" presStyleLbl="bgShp" presStyleIdx="0" presStyleCnt="3"/>
      <dgm:spPr/>
      <dgm:t>
        <a:bodyPr/>
        <a:lstStyle/>
        <a:p>
          <a:endParaRPr lang="en-US"/>
        </a:p>
      </dgm:t>
    </dgm:pt>
    <dgm:pt modelId="{C6EC61DE-CBAE-B84D-97AE-F89BCE11BAEA}" type="pres">
      <dgm:prSet presAssocID="{9D6164EB-D7ED-6342-828C-72F9595B3158}" presName="compChildNode" presStyleCnt="0"/>
      <dgm:spPr/>
    </dgm:pt>
    <dgm:pt modelId="{943C00A8-9744-C64A-8078-47EB4A14E430}" type="pres">
      <dgm:prSet presAssocID="{9D6164EB-D7ED-6342-828C-72F9595B3158}" presName="theInnerList" presStyleCnt="0"/>
      <dgm:spPr/>
    </dgm:pt>
    <dgm:pt modelId="{8BCCC83A-2845-2C41-8726-C6420FB0B836}" type="pres">
      <dgm:prSet presAssocID="{3CFCB383-DADE-654C-A5D8-12DAA7CEA391}" presName="child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7C510D9-B12E-DF47-8115-6FE2852B4C1F}" type="pres">
      <dgm:prSet presAssocID="{9D6164EB-D7ED-6342-828C-72F9595B3158}" presName="aSpace" presStyleCnt="0"/>
      <dgm:spPr/>
    </dgm:pt>
    <dgm:pt modelId="{4BDE371D-9DCC-7445-91E2-A830722308F5}" type="pres">
      <dgm:prSet presAssocID="{904A5BE3-DB8A-7549-9CC2-310FAFE11132}" presName="compNode" presStyleCnt="0"/>
      <dgm:spPr/>
    </dgm:pt>
    <dgm:pt modelId="{3D24085E-7D27-8342-B893-64784A838C69}" type="pres">
      <dgm:prSet presAssocID="{904A5BE3-DB8A-7549-9CC2-310FAFE11132}" presName="aNode" presStyleLbl="bgShp" presStyleIdx="1" presStyleCnt="3"/>
      <dgm:spPr/>
      <dgm:t>
        <a:bodyPr/>
        <a:lstStyle/>
        <a:p>
          <a:endParaRPr lang="en-US"/>
        </a:p>
      </dgm:t>
    </dgm:pt>
    <dgm:pt modelId="{745A601F-24AF-6E4F-93E4-0D8D8FD379EE}" type="pres">
      <dgm:prSet presAssocID="{904A5BE3-DB8A-7549-9CC2-310FAFE11132}" presName="textNode" presStyleLbl="bgShp" presStyleIdx="1" presStyleCnt="3"/>
      <dgm:spPr/>
      <dgm:t>
        <a:bodyPr/>
        <a:lstStyle/>
        <a:p>
          <a:endParaRPr lang="en-US"/>
        </a:p>
      </dgm:t>
    </dgm:pt>
    <dgm:pt modelId="{C716BE32-1BEB-2B49-A78D-07A7A1A28029}" type="pres">
      <dgm:prSet presAssocID="{904A5BE3-DB8A-7549-9CC2-310FAFE11132}" presName="compChildNode" presStyleCnt="0"/>
      <dgm:spPr/>
    </dgm:pt>
    <dgm:pt modelId="{328C5B30-C641-074C-AA92-73CE3C30529B}" type="pres">
      <dgm:prSet presAssocID="{904A5BE3-DB8A-7549-9CC2-310FAFE11132}" presName="theInnerList" presStyleCnt="0"/>
      <dgm:spPr/>
    </dgm:pt>
    <dgm:pt modelId="{2F7DD57D-E033-D345-BE20-DA5ED5C15AE0}" type="pres">
      <dgm:prSet presAssocID="{6968C39E-8CBE-6F4B-A267-2F71EF660F35}" presName="child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0C87B6A-36EA-8548-8F48-388594E74FE3}" type="pres">
      <dgm:prSet presAssocID="{6968C39E-8CBE-6F4B-A267-2F71EF660F35}" presName="aSpace2" presStyleCnt="0"/>
      <dgm:spPr/>
    </dgm:pt>
    <dgm:pt modelId="{32502699-8027-A547-B5B5-7795C0A9D368}" type="pres">
      <dgm:prSet presAssocID="{301CF320-3673-1043-8B5A-4A07132E739F}" presName="child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9DEFAD0-1634-404A-8000-D73D3C9A027F}" type="pres">
      <dgm:prSet presAssocID="{301CF320-3673-1043-8B5A-4A07132E739F}" presName="aSpace2" presStyleCnt="0"/>
      <dgm:spPr/>
    </dgm:pt>
    <dgm:pt modelId="{0F5088D2-59EA-5548-80E2-3309C25C7018}" type="pres">
      <dgm:prSet presAssocID="{5BD4138D-52F5-5F4E-B016-4F3881361F0F}" presName="child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68A2220-D36D-9E45-9DBA-15CFB247CCCD}" type="pres">
      <dgm:prSet presAssocID="{5BD4138D-52F5-5F4E-B016-4F3881361F0F}" presName="aSpace2" presStyleCnt="0"/>
      <dgm:spPr/>
    </dgm:pt>
    <dgm:pt modelId="{A9F685CA-EF48-034D-871D-D72673837C72}" type="pres">
      <dgm:prSet presAssocID="{22CAFFD2-A545-8943-A373-6548DFFDE1AF}" presName="child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7E9F736-71FA-9A44-9A4F-17FADA9AE3B3}" type="pres">
      <dgm:prSet presAssocID="{904A5BE3-DB8A-7549-9CC2-310FAFE11132}" presName="aSpace" presStyleCnt="0"/>
      <dgm:spPr/>
    </dgm:pt>
    <dgm:pt modelId="{53C796F7-8B20-4744-A32E-380E3199EB4C}" type="pres">
      <dgm:prSet presAssocID="{91E4542F-E5C1-0649-8E70-B71D796B7A2B}" presName="compNode" presStyleCnt="0"/>
      <dgm:spPr/>
    </dgm:pt>
    <dgm:pt modelId="{18147555-F082-0E40-924F-5E712089BBAA}" type="pres">
      <dgm:prSet presAssocID="{91E4542F-E5C1-0649-8E70-B71D796B7A2B}" presName="aNode" presStyleLbl="bgShp" presStyleIdx="2" presStyleCnt="3"/>
      <dgm:spPr/>
      <dgm:t>
        <a:bodyPr/>
        <a:lstStyle/>
        <a:p>
          <a:endParaRPr lang="en-US"/>
        </a:p>
      </dgm:t>
    </dgm:pt>
    <dgm:pt modelId="{F146A149-58B7-B849-867F-36C53A648485}" type="pres">
      <dgm:prSet presAssocID="{91E4542F-E5C1-0649-8E70-B71D796B7A2B}" presName="textNode" presStyleLbl="bgShp" presStyleIdx="2" presStyleCnt="3"/>
      <dgm:spPr/>
      <dgm:t>
        <a:bodyPr/>
        <a:lstStyle/>
        <a:p>
          <a:endParaRPr lang="en-US"/>
        </a:p>
      </dgm:t>
    </dgm:pt>
    <dgm:pt modelId="{10146D15-6CFE-C64B-906C-7ABFD4A7265E}" type="pres">
      <dgm:prSet presAssocID="{91E4542F-E5C1-0649-8E70-B71D796B7A2B}" presName="compChildNode" presStyleCnt="0"/>
      <dgm:spPr/>
    </dgm:pt>
    <dgm:pt modelId="{444E1DB8-8EE0-3847-85BB-37E66A69944F}" type="pres">
      <dgm:prSet presAssocID="{91E4542F-E5C1-0649-8E70-B71D796B7A2B}" presName="theInnerList" presStyleCnt="0"/>
      <dgm:spPr/>
    </dgm:pt>
    <dgm:pt modelId="{576361A2-9C21-E94B-A1A3-52D5EC9C8EEE}" type="pres">
      <dgm:prSet presAssocID="{C172F93B-4668-3A49-9D3B-F2BF139B21BD}" presName="child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E89F363-4A09-0944-8389-DC8CE8E13B42}" type="presOf" srcId="{904A5BE3-DB8A-7549-9CC2-310FAFE11132}" destId="{745A601F-24AF-6E4F-93E4-0D8D8FD379EE}" srcOrd="1" destOrd="0" presId="urn:microsoft.com/office/officeart/2005/8/layout/lProcess2"/>
    <dgm:cxn modelId="{997E3CAF-E409-5D42-946D-D8BE89902DF4}" type="presOf" srcId="{5BD4138D-52F5-5F4E-B016-4F3881361F0F}" destId="{0F5088D2-59EA-5548-80E2-3309C25C7018}" srcOrd="0" destOrd="0" presId="urn:microsoft.com/office/officeart/2005/8/layout/lProcess2"/>
    <dgm:cxn modelId="{97006530-F327-DC48-B7EE-192D8798DFD2}" srcId="{9D6164EB-D7ED-6342-828C-72F9595B3158}" destId="{3CFCB383-DADE-654C-A5D8-12DAA7CEA391}" srcOrd="0" destOrd="0" parTransId="{6C0B8728-05C2-6B48-A1CB-B166843082D8}" sibTransId="{B93E2734-B9A1-4F48-BBFA-BFD72BAC59F1}"/>
    <dgm:cxn modelId="{4716227B-8C11-DD4F-9837-7D4CAAA07FD3}" srcId="{91E4542F-E5C1-0649-8E70-B71D796B7A2B}" destId="{C172F93B-4668-3A49-9D3B-F2BF139B21BD}" srcOrd="0" destOrd="0" parTransId="{B85748EB-A820-C341-9DD2-8CC9B25E11E6}" sibTransId="{F8409F2A-4A81-EF4F-8F1D-1274D53A6653}"/>
    <dgm:cxn modelId="{CF558F8C-B2CE-394C-BA09-2E0F77B1D01F}" type="presOf" srcId="{9D6164EB-D7ED-6342-828C-72F9595B3158}" destId="{A3171A3C-0FA2-2543-A906-3C1DB000AC32}" srcOrd="1" destOrd="0" presId="urn:microsoft.com/office/officeart/2005/8/layout/lProcess2"/>
    <dgm:cxn modelId="{B60F23C5-99FD-CB40-91DC-8AC25715A6F7}" srcId="{904A5BE3-DB8A-7549-9CC2-310FAFE11132}" destId="{6968C39E-8CBE-6F4B-A267-2F71EF660F35}" srcOrd="0" destOrd="0" parTransId="{2022CBCC-3913-4348-9C1E-6A46DAC4BA56}" sibTransId="{E2799859-51C8-EA4D-BF1A-E78D234B0EDC}"/>
    <dgm:cxn modelId="{8940A0C4-A828-D94A-8F0D-53A7C9A2FD57}" type="presOf" srcId="{6968C39E-8CBE-6F4B-A267-2F71EF660F35}" destId="{2F7DD57D-E033-D345-BE20-DA5ED5C15AE0}" srcOrd="0" destOrd="0" presId="urn:microsoft.com/office/officeart/2005/8/layout/lProcess2"/>
    <dgm:cxn modelId="{E98738F1-530E-1245-B2B0-495038409200}" type="presOf" srcId="{3CFCB383-DADE-654C-A5D8-12DAA7CEA391}" destId="{8BCCC83A-2845-2C41-8726-C6420FB0B836}" srcOrd="0" destOrd="0" presId="urn:microsoft.com/office/officeart/2005/8/layout/lProcess2"/>
    <dgm:cxn modelId="{C49C9184-12A5-0C43-A7BF-89E8940431B8}" type="presOf" srcId="{9D6164EB-D7ED-6342-828C-72F9595B3158}" destId="{781D7F12-172F-E746-B25A-8095484E1922}" srcOrd="0" destOrd="0" presId="urn:microsoft.com/office/officeart/2005/8/layout/lProcess2"/>
    <dgm:cxn modelId="{4D54641C-054A-DD4E-A899-E478C463F6B7}" srcId="{904A5BE3-DB8A-7549-9CC2-310FAFE11132}" destId="{22CAFFD2-A545-8943-A373-6548DFFDE1AF}" srcOrd="3" destOrd="0" parTransId="{E6C3AB4A-5995-8248-B3E1-61E10E460B61}" sibTransId="{94B4FD3F-80C2-244D-92A9-E97C66F5D555}"/>
    <dgm:cxn modelId="{B328573C-C93D-4740-A8EF-47F1C3E7A7FF}" type="presOf" srcId="{91E4542F-E5C1-0649-8E70-B71D796B7A2B}" destId="{18147555-F082-0E40-924F-5E712089BBAA}" srcOrd="0" destOrd="0" presId="urn:microsoft.com/office/officeart/2005/8/layout/lProcess2"/>
    <dgm:cxn modelId="{79E65FAE-C740-F74D-9B8C-94DE83B9FCD4}" type="presOf" srcId="{91E4542F-E5C1-0649-8E70-B71D796B7A2B}" destId="{F146A149-58B7-B849-867F-36C53A648485}" srcOrd="1" destOrd="0" presId="urn:microsoft.com/office/officeart/2005/8/layout/lProcess2"/>
    <dgm:cxn modelId="{E83AA030-C1F5-B449-AF38-F373D8046949}" type="presOf" srcId="{C172F93B-4668-3A49-9D3B-F2BF139B21BD}" destId="{576361A2-9C21-E94B-A1A3-52D5EC9C8EEE}" srcOrd="0" destOrd="0" presId="urn:microsoft.com/office/officeart/2005/8/layout/lProcess2"/>
    <dgm:cxn modelId="{BF8A4615-D412-F449-9246-13C0399FC50C}" type="presOf" srcId="{22CAFFD2-A545-8943-A373-6548DFFDE1AF}" destId="{A9F685CA-EF48-034D-871D-D72673837C72}" srcOrd="0" destOrd="0" presId="urn:microsoft.com/office/officeart/2005/8/layout/lProcess2"/>
    <dgm:cxn modelId="{90D1CF34-5209-BC4C-881B-779559F6F3A2}" type="presOf" srcId="{94D15ACF-09FA-FB4F-8F7D-E6FF59A36FF0}" destId="{6CD21563-8118-D247-A96E-8F9704B9B448}" srcOrd="0" destOrd="0" presId="urn:microsoft.com/office/officeart/2005/8/layout/lProcess2"/>
    <dgm:cxn modelId="{52DB8D8B-9E19-0C4E-94BD-61EA99D0CB91}" type="presOf" srcId="{904A5BE3-DB8A-7549-9CC2-310FAFE11132}" destId="{3D24085E-7D27-8342-B893-64784A838C69}" srcOrd="0" destOrd="0" presId="urn:microsoft.com/office/officeart/2005/8/layout/lProcess2"/>
    <dgm:cxn modelId="{BC1C011A-618E-C347-A32B-EBD3F58913B1}" srcId="{94D15ACF-09FA-FB4F-8F7D-E6FF59A36FF0}" destId="{9D6164EB-D7ED-6342-828C-72F9595B3158}" srcOrd="0" destOrd="0" parTransId="{59651BEE-D58E-054B-A1CF-9C3A0B207B8F}" sibTransId="{877112CD-AC6C-9A4A-B224-5D5E685ECFFB}"/>
    <dgm:cxn modelId="{806289DC-6E9A-4441-8974-F8743D4D762B}" srcId="{94D15ACF-09FA-FB4F-8F7D-E6FF59A36FF0}" destId="{91E4542F-E5C1-0649-8E70-B71D796B7A2B}" srcOrd="2" destOrd="0" parTransId="{2A101C32-2EC1-EF4E-90E9-54677E10D7F9}" sibTransId="{15E68A15-86DA-004D-9DCE-0AEAFA603E3F}"/>
    <dgm:cxn modelId="{15D13E5B-4622-5045-A488-5672A9515203}" srcId="{904A5BE3-DB8A-7549-9CC2-310FAFE11132}" destId="{301CF320-3673-1043-8B5A-4A07132E739F}" srcOrd="1" destOrd="0" parTransId="{8FB46D5B-7254-8641-848B-84FC128255EB}" sibTransId="{C35250FA-0517-F74E-B9EE-13A6F0FFF731}"/>
    <dgm:cxn modelId="{E1F81116-6D3C-E14B-8A31-FD2D2E97CF65}" srcId="{94D15ACF-09FA-FB4F-8F7D-E6FF59A36FF0}" destId="{904A5BE3-DB8A-7549-9CC2-310FAFE11132}" srcOrd="1" destOrd="0" parTransId="{82CC6848-EC8B-7944-B3CD-A6B597BBBF07}" sibTransId="{411CDA91-8665-B646-B445-BE6BBB2B0C99}"/>
    <dgm:cxn modelId="{9FF1BE36-6455-5245-A347-3045CD675675}" srcId="{904A5BE3-DB8A-7549-9CC2-310FAFE11132}" destId="{5BD4138D-52F5-5F4E-B016-4F3881361F0F}" srcOrd="2" destOrd="0" parTransId="{29BECC1D-8FA0-534D-B146-390353AF5F2F}" sibTransId="{AA7A2892-810E-2C43-B347-40EA915C4947}"/>
    <dgm:cxn modelId="{5331FBD9-3869-2649-8D85-F6B6DF229569}" type="presOf" srcId="{301CF320-3673-1043-8B5A-4A07132E739F}" destId="{32502699-8027-A547-B5B5-7795C0A9D368}" srcOrd="0" destOrd="0" presId="urn:microsoft.com/office/officeart/2005/8/layout/lProcess2"/>
    <dgm:cxn modelId="{CDF71098-A306-9E47-AEE1-F5F6FCB5BBEA}" type="presParOf" srcId="{6CD21563-8118-D247-A96E-8F9704B9B448}" destId="{01D54488-2DA7-924E-9F9E-8AADB3605EDE}" srcOrd="0" destOrd="0" presId="urn:microsoft.com/office/officeart/2005/8/layout/lProcess2"/>
    <dgm:cxn modelId="{941E257C-8A30-2645-BBCE-FA2C14506E6C}" type="presParOf" srcId="{01D54488-2DA7-924E-9F9E-8AADB3605EDE}" destId="{781D7F12-172F-E746-B25A-8095484E1922}" srcOrd="0" destOrd="0" presId="urn:microsoft.com/office/officeart/2005/8/layout/lProcess2"/>
    <dgm:cxn modelId="{09134FAD-42E9-C047-BF85-3E49FB67903E}" type="presParOf" srcId="{01D54488-2DA7-924E-9F9E-8AADB3605EDE}" destId="{A3171A3C-0FA2-2543-A906-3C1DB000AC32}" srcOrd="1" destOrd="0" presId="urn:microsoft.com/office/officeart/2005/8/layout/lProcess2"/>
    <dgm:cxn modelId="{5C9F83B7-B40B-524F-ABE6-E52761EA9A34}" type="presParOf" srcId="{01D54488-2DA7-924E-9F9E-8AADB3605EDE}" destId="{C6EC61DE-CBAE-B84D-97AE-F89BCE11BAEA}" srcOrd="2" destOrd="0" presId="urn:microsoft.com/office/officeart/2005/8/layout/lProcess2"/>
    <dgm:cxn modelId="{47BF180E-E9C8-5541-8799-B83A1891AAEF}" type="presParOf" srcId="{C6EC61DE-CBAE-B84D-97AE-F89BCE11BAEA}" destId="{943C00A8-9744-C64A-8078-47EB4A14E430}" srcOrd="0" destOrd="0" presId="urn:microsoft.com/office/officeart/2005/8/layout/lProcess2"/>
    <dgm:cxn modelId="{3AB5AA81-7194-6B43-8927-BF0591484A13}" type="presParOf" srcId="{943C00A8-9744-C64A-8078-47EB4A14E430}" destId="{8BCCC83A-2845-2C41-8726-C6420FB0B836}" srcOrd="0" destOrd="0" presId="urn:microsoft.com/office/officeart/2005/8/layout/lProcess2"/>
    <dgm:cxn modelId="{42E73263-660E-1743-99FF-DF98477B8006}" type="presParOf" srcId="{6CD21563-8118-D247-A96E-8F9704B9B448}" destId="{67C510D9-B12E-DF47-8115-6FE2852B4C1F}" srcOrd="1" destOrd="0" presId="urn:microsoft.com/office/officeart/2005/8/layout/lProcess2"/>
    <dgm:cxn modelId="{3E51949D-C874-8042-9876-30B3EA1ADDEE}" type="presParOf" srcId="{6CD21563-8118-D247-A96E-8F9704B9B448}" destId="{4BDE371D-9DCC-7445-91E2-A830722308F5}" srcOrd="2" destOrd="0" presId="urn:microsoft.com/office/officeart/2005/8/layout/lProcess2"/>
    <dgm:cxn modelId="{1F6CBAFF-F589-1542-AC6C-4173AD6781B3}" type="presParOf" srcId="{4BDE371D-9DCC-7445-91E2-A830722308F5}" destId="{3D24085E-7D27-8342-B893-64784A838C69}" srcOrd="0" destOrd="0" presId="urn:microsoft.com/office/officeart/2005/8/layout/lProcess2"/>
    <dgm:cxn modelId="{E2F26E3F-8B9B-4540-99FC-5D9579FE2F75}" type="presParOf" srcId="{4BDE371D-9DCC-7445-91E2-A830722308F5}" destId="{745A601F-24AF-6E4F-93E4-0D8D8FD379EE}" srcOrd="1" destOrd="0" presId="urn:microsoft.com/office/officeart/2005/8/layout/lProcess2"/>
    <dgm:cxn modelId="{CA999D5D-3593-884A-AE19-0409301C1F33}" type="presParOf" srcId="{4BDE371D-9DCC-7445-91E2-A830722308F5}" destId="{C716BE32-1BEB-2B49-A78D-07A7A1A28029}" srcOrd="2" destOrd="0" presId="urn:microsoft.com/office/officeart/2005/8/layout/lProcess2"/>
    <dgm:cxn modelId="{52B28B29-A0C1-3F4F-AD11-A418FEBB2776}" type="presParOf" srcId="{C716BE32-1BEB-2B49-A78D-07A7A1A28029}" destId="{328C5B30-C641-074C-AA92-73CE3C30529B}" srcOrd="0" destOrd="0" presId="urn:microsoft.com/office/officeart/2005/8/layout/lProcess2"/>
    <dgm:cxn modelId="{5D245899-4574-2043-9F34-3CFCB81E7F37}" type="presParOf" srcId="{328C5B30-C641-074C-AA92-73CE3C30529B}" destId="{2F7DD57D-E033-D345-BE20-DA5ED5C15AE0}" srcOrd="0" destOrd="0" presId="urn:microsoft.com/office/officeart/2005/8/layout/lProcess2"/>
    <dgm:cxn modelId="{22185EC7-2AA1-6141-BED8-3E7F84DC46E5}" type="presParOf" srcId="{328C5B30-C641-074C-AA92-73CE3C30529B}" destId="{F0C87B6A-36EA-8548-8F48-388594E74FE3}" srcOrd="1" destOrd="0" presId="urn:microsoft.com/office/officeart/2005/8/layout/lProcess2"/>
    <dgm:cxn modelId="{CE5110BC-99C7-B84A-8130-35ADECDAC8EA}" type="presParOf" srcId="{328C5B30-C641-074C-AA92-73CE3C30529B}" destId="{32502699-8027-A547-B5B5-7795C0A9D368}" srcOrd="2" destOrd="0" presId="urn:microsoft.com/office/officeart/2005/8/layout/lProcess2"/>
    <dgm:cxn modelId="{87C04FC1-2C15-004D-8125-A6A322FB4977}" type="presParOf" srcId="{328C5B30-C641-074C-AA92-73CE3C30529B}" destId="{69DEFAD0-1634-404A-8000-D73D3C9A027F}" srcOrd="3" destOrd="0" presId="urn:microsoft.com/office/officeart/2005/8/layout/lProcess2"/>
    <dgm:cxn modelId="{C320C68C-18A0-A04B-99C6-BB98A5B8BF01}" type="presParOf" srcId="{328C5B30-C641-074C-AA92-73CE3C30529B}" destId="{0F5088D2-59EA-5548-80E2-3309C25C7018}" srcOrd="4" destOrd="0" presId="urn:microsoft.com/office/officeart/2005/8/layout/lProcess2"/>
    <dgm:cxn modelId="{551075C7-7DCD-7D40-80F6-3AF7768DF2D6}" type="presParOf" srcId="{328C5B30-C641-074C-AA92-73CE3C30529B}" destId="{E68A2220-D36D-9E45-9DBA-15CFB247CCCD}" srcOrd="5" destOrd="0" presId="urn:microsoft.com/office/officeart/2005/8/layout/lProcess2"/>
    <dgm:cxn modelId="{26747BFF-EC51-584B-981D-185DDAC72B1B}" type="presParOf" srcId="{328C5B30-C641-074C-AA92-73CE3C30529B}" destId="{A9F685CA-EF48-034D-871D-D72673837C72}" srcOrd="6" destOrd="0" presId="urn:microsoft.com/office/officeart/2005/8/layout/lProcess2"/>
    <dgm:cxn modelId="{1543FAE8-36CA-424A-B0E9-02A60C36AB19}" type="presParOf" srcId="{6CD21563-8118-D247-A96E-8F9704B9B448}" destId="{37E9F736-71FA-9A44-9A4F-17FADA9AE3B3}" srcOrd="3" destOrd="0" presId="urn:microsoft.com/office/officeart/2005/8/layout/lProcess2"/>
    <dgm:cxn modelId="{15C09DF2-B37A-C048-B2DE-608ECE874E3D}" type="presParOf" srcId="{6CD21563-8118-D247-A96E-8F9704B9B448}" destId="{53C796F7-8B20-4744-A32E-380E3199EB4C}" srcOrd="4" destOrd="0" presId="urn:microsoft.com/office/officeart/2005/8/layout/lProcess2"/>
    <dgm:cxn modelId="{ACFE3A61-05FB-644D-A5F2-7AF357BBF682}" type="presParOf" srcId="{53C796F7-8B20-4744-A32E-380E3199EB4C}" destId="{18147555-F082-0E40-924F-5E712089BBAA}" srcOrd="0" destOrd="0" presId="urn:microsoft.com/office/officeart/2005/8/layout/lProcess2"/>
    <dgm:cxn modelId="{4DA849EA-CAFF-814E-8D15-1996B55BED30}" type="presParOf" srcId="{53C796F7-8B20-4744-A32E-380E3199EB4C}" destId="{F146A149-58B7-B849-867F-36C53A648485}" srcOrd="1" destOrd="0" presId="urn:microsoft.com/office/officeart/2005/8/layout/lProcess2"/>
    <dgm:cxn modelId="{6881D5D7-AB89-6040-8F1B-7B8A087D3E48}" type="presParOf" srcId="{53C796F7-8B20-4744-A32E-380E3199EB4C}" destId="{10146D15-6CFE-C64B-906C-7ABFD4A7265E}" srcOrd="2" destOrd="0" presId="urn:microsoft.com/office/officeart/2005/8/layout/lProcess2"/>
    <dgm:cxn modelId="{A3F3D249-BAAC-474A-9FC5-1805EF6D7DEF}" type="presParOf" srcId="{10146D15-6CFE-C64B-906C-7ABFD4A7265E}" destId="{444E1DB8-8EE0-3847-85BB-37E66A69944F}" srcOrd="0" destOrd="0" presId="urn:microsoft.com/office/officeart/2005/8/layout/lProcess2"/>
    <dgm:cxn modelId="{05572609-22AC-4140-B1B5-35E5EC7C2752}" type="presParOf" srcId="{444E1DB8-8EE0-3847-85BB-37E66A69944F}" destId="{576361A2-9C21-E94B-A1A3-52D5EC9C8EEE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DCCE67F-8DB1-4E40-94AC-EE5A6D777C69}" type="doc">
      <dgm:prSet loTypeId="urn:microsoft.com/office/officeart/2005/8/layout/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87619E7-CBA2-2243-8374-6D19F65A2E4C}">
      <dgm:prSet custT="1"/>
      <dgm:spPr/>
      <dgm:t>
        <a:bodyPr/>
        <a:lstStyle/>
        <a:p>
          <a:r>
            <a:rPr lang="en-US" sz="2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Block Cipher</a:t>
          </a:r>
          <a:endParaRPr lang="en-US" sz="20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2686974-9B07-084D-9284-3162383E72A1}" type="parTrans" cxnId="{6A55A77F-C429-0D4D-9F12-26BC8EA05792}">
      <dgm:prSet/>
      <dgm:spPr/>
      <dgm:t>
        <a:bodyPr/>
        <a:lstStyle/>
        <a:p>
          <a:endParaRPr lang="en-US"/>
        </a:p>
      </dgm:t>
    </dgm:pt>
    <dgm:pt modelId="{50AE24B3-1916-2B4F-8D77-598476DA2E84}" type="sibTrans" cxnId="{6A55A77F-C429-0D4D-9F12-26BC8EA05792}">
      <dgm:prSet/>
      <dgm:spPr/>
      <dgm:t>
        <a:bodyPr/>
        <a:lstStyle/>
        <a:p>
          <a:endParaRPr lang="en-US"/>
        </a:p>
      </dgm:t>
    </dgm:pt>
    <dgm:pt modelId="{AA438D01-5622-EB4A-83E9-112C44396E6F}">
      <dgm:prSet/>
      <dgm:spPr/>
      <dgm:t>
        <a:bodyPr/>
        <a:lstStyle/>
        <a:p>
          <a:r>
            <a:rPr lang="en-US" dirty="0" smtClean="0">
              <a:latin typeface="+mj-lt"/>
            </a:rPr>
            <a:t>Processes the input one block of elements at a time</a:t>
          </a:r>
          <a:endParaRPr lang="en-US" dirty="0">
            <a:latin typeface="+mj-lt"/>
          </a:endParaRPr>
        </a:p>
      </dgm:t>
    </dgm:pt>
    <dgm:pt modelId="{91D55F56-C06F-9941-AE2F-7D3973533531}" type="parTrans" cxnId="{41FB2C55-7C78-B142-AA1D-22BC6A0CE61F}">
      <dgm:prSet/>
      <dgm:spPr/>
      <dgm:t>
        <a:bodyPr/>
        <a:lstStyle/>
        <a:p>
          <a:endParaRPr lang="en-US"/>
        </a:p>
      </dgm:t>
    </dgm:pt>
    <dgm:pt modelId="{2DCA53C8-7768-164E-88EE-560BBAF09B5B}" type="sibTrans" cxnId="{41FB2C55-7C78-B142-AA1D-22BC6A0CE61F}">
      <dgm:prSet/>
      <dgm:spPr/>
      <dgm:t>
        <a:bodyPr/>
        <a:lstStyle/>
        <a:p>
          <a:endParaRPr lang="en-US"/>
        </a:p>
      </dgm:t>
    </dgm:pt>
    <dgm:pt modelId="{B8E05236-2378-5B48-8C79-EADF58DE9CFD}">
      <dgm:prSet/>
      <dgm:spPr/>
      <dgm:t>
        <a:bodyPr/>
        <a:lstStyle/>
        <a:p>
          <a:r>
            <a:rPr lang="en-US" dirty="0" smtClean="0">
              <a:latin typeface="+mj-lt"/>
            </a:rPr>
            <a:t>Produces an output block for each input block</a:t>
          </a:r>
        </a:p>
      </dgm:t>
    </dgm:pt>
    <dgm:pt modelId="{7104CB8C-41AA-624A-B42E-B626E8E99D6D}" type="parTrans" cxnId="{E3825432-21F8-AE47-B8B9-E0441C6BE69F}">
      <dgm:prSet/>
      <dgm:spPr/>
      <dgm:t>
        <a:bodyPr/>
        <a:lstStyle/>
        <a:p>
          <a:endParaRPr lang="en-US"/>
        </a:p>
      </dgm:t>
    </dgm:pt>
    <dgm:pt modelId="{425A5DAF-ED48-CF4C-B534-ADCB8F1F70F3}" type="sibTrans" cxnId="{E3825432-21F8-AE47-B8B9-E0441C6BE69F}">
      <dgm:prSet/>
      <dgm:spPr/>
      <dgm:t>
        <a:bodyPr/>
        <a:lstStyle/>
        <a:p>
          <a:endParaRPr lang="en-US"/>
        </a:p>
      </dgm:t>
    </dgm:pt>
    <dgm:pt modelId="{77412DC5-DE60-C242-AB72-782CD5818090}">
      <dgm:prSet/>
      <dgm:spPr/>
      <dgm:t>
        <a:bodyPr/>
        <a:lstStyle/>
        <a:p>
          <a:r>
            <a:rPr lang="en-US" dirty="0" smtClean="0">
              <a:latin typeface="+mj-lt"/>
            </a:rPr>
            <a:t>Can reuse keys</a:t>
          </a:r>
        </a:p>
      </dgm:t>
    </dgm:pt>
    <dgm:pt modelId="{204CE34E-694E-B445-9A13-0FED24D91770}" type="parTrans" cxnId="{8A0D62AA-8484-E24B-BEF7-78F1B860D326}">
      <dgm:prSet/>
      <dgm:spPr/>
      <dgm:t>
        <a:bodyPr/>
        <a:lstStyle/>
        <a:p>
          <a:endParaRPr lang="en-US"/>
        </a:p>
      </dgm:t>
    </dgm:pt>
    <dgm:pt modelId="{1B222651-8C35-524D-A629-59A8F5F4AA4A}" type="sibTrans" cxnId="{8A0D62AA-8484-E24B-BEF7-78F1B860D326}">
      <dgm:prSet/>
      <dgm:spPr/>
      <dgm:t>
        <a:bodyPr/>
        <a:lstStyle/>
        <a:p>
          <a:endParaRPr lang="en-US"/>
        </a:p>
      </dgm:t>
    </dgm:pt>
    <dgm:pt modelId="{E7079069-E772-EF4F-9C77-B1E7B043F7E6}">
      <dgm:prSet/>
      <dgm:spPr/>
      <dgm:t>
        <a:bodyPr/>
        <a:lstStyle/>
        <a:p>
          <a:r>
            <a:rPr lang="en-US" dirty="0" smtClean="0">
              <a:latin typeface="+mj-lt"/>
            </a:rPr>
            <a:t>More common</a:t>
          </a:r>
          <a:endParaRPr lang="en-US" dirty="0">
            <a:latin typeface="+mj-lt"/>
          </a:endParaRPr>
        </a:p>
      </dgm:t>
    </dgm:pt>
    <dgm:pt modelId="{660144F7-BAC9-C644-9C0A-7705DDDFB2A4}" type="parTrans" cxnId="{1767A36A-96AD-3A4F-A204-B74E0CCE228C}">
      <dgm:prSet/>
      <dgm:spPr/>
      <dgm:t>
        <a:bodyPr/>
        <a:lstStyle/>
        <a:p>
          <a:endParaRPr lang="en-US"/>
        </a:p>
      </dgm:t>
    </dgm:pt>
    <dgm:pt modelId="{C55DD3D4-CCC3-6645-A3A2-F6E58E6909E0}" type="sibTrans" cxnId="{1767A36A-96AD-3A4F-A204-B74E0CCE228C}">
      <dgm:prSet/>
      <dgm:spPr/>
      <dgm:t>
        <a:bodyPr/>
        <a:lstStyle/>
        <a:p>
          <a:endParaRPr lang="en-US"/>
        </a:p>
      </dgm:t>
    </dgm:pt>
    <dgm:pt modelId="{7C5130F5-2623-7B4D-B064-6A321151D8DC}">
      <dgm:prSet custT="1"/>
      <dgm:spPr/>
      <dgm:t>
        <a:bodyPr/>
        <a:lstStyle/>
        <a:p>
          <a:r>
            <a:rPr lang="en-US" sz="2000" b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Stream Cipher</a:t>
          </a:r>
          <a:endParaRPr lang="en-US" sz="20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856D73D-20A4-0F42-8C31-23D66F850B27}" type="parTrans" cxnId="{C3221D56-EDA6-D643-8113-9CD967B13526}">
      <dgm:prSet/>
      <dgm:spPr/>
      <dgm:t>
        <a:bodyPr/>
        <a:lstStyle/>
        <a:p>
          <a:endParaRPr lang="en-US"/>
        </a:p>
      </dgm:t>
    </dgm:pt>
    <dgm:pt modelId="{970C6670-09A2-EA44-A6CA-58767FEAB60D}" type="sibTrans" cxnId="{C3221D56-EDA6-D643-8113-9CD967B13526}">
      <dgm:prSet/>
      <dgm:spPr/>
      <dgm:t>
        <a:bodyPr/>
        <a:lstStyle/>
        <a:p>
          <a:endParaRPr lang="en-US"/>
        </a:p>
      </dgm:t>
    </dgm:pt>
    <dgm:pt modelId="{463FF73A-063D-5B4E-89E0-0876D93FA45F}">
      <dgm:prSet/>
      <dgm:spPr/>
      <dgm:t>
        <a:bodyPr/>
        <a:lstStyle/>
        <a:p>
          <a:r>
            <a:rPr lang="en-US" dirty="0" smtClean="0">
              <a:latin typeface="+mj-lt"/>
            </a:rPr>
            <a:t>Processes the input elements continuously</a:t>
          </a:r>
          <a:endParaRPr lang="en-US" dirty="0">
            <a:latin typeface="+mj-lt"/>
          </a:endParaRPr>
        </a:p>
      </dgm:t>
    </dgm:pt>
    <dgm:pt modelId="{2AFBE181-4D82-4049-A3BE-F259B5DD7BC0}" type="parTrans" cxnId="{0BD88234-0CFD-8A47-9697-69563B613A7C}">
      <dgm:prSet/>
      <dgm:spPr/>
      <dgm:t>
        <a:bodyPr/>
        <a:lstStyle/>
        <a:p>
          <a:endParaRPr lang="en-US"/>
        </a:p>
      </dgm:t>
    </dgm:pt>
    <dgm:pt modelId="{33616064-699C-FD44-8673-4DD4A8249F72}" type="sibTrans" cxnId="{0BD88234-0CFD-8A47-9697-69563B613A7C}">
      <dgm:prSet/>
      <dgm:spPr/>
      <dgm:t>
        <a:bodyPr/>
        <a:lstStyle/>
        <a:p>
          <a:endParaRPr lang="en-US"/>
        </a:p>
      </dgm:t>
    </dgm:pt>
    <dgm:pt modelId="{0FACDD0F-8549-9340-B902-491178B29EA1}">
      <dgm:prSet/>
      <dgm:spPr/>
      <dgm:t>
        <a:bodyPr/>
        <a:lstStyle/>
        <a:p>
          <a:r>
            <a:rPr lang="en-US" dirty="0" smtClean="0">
              <a:latin typeface="+mj-lt"/>
            </a:rPr>
            <a:t>Produces output one element at a time</a:t>
          </a:r>
        </a:p>
      </dgm:t>
    </dgm:pt>
    <dgm:pt modelId="{A6AF0DD4-8188-EE4E-A092-8507BE0042FD}" type="parTrans" cxnId="{63851ADA-8D6D-0A46-A87E-8CEEB987F019}">
      <dgm:prSet/>
      <dgm:spPr/>
      <dgm:t>
        <a:bodyPr/>
        <a:lstStyle/>
        <a:p>
          <a:endParaRPr lang="en-US"/>
        </a:p>
      </dgm:t>
    </dgm:pt>
    <dgm:pt modelId="{7A54E453-4B89-594A-858B-429081116503}" type="sibTrans" cxnId="{63851ADA-8D6D-0A46-A87E-8CEEB987F019}">
      <dgm:prSet/>
      <dgm:spPr/>
      <dgm:t>
        <a:bodyPr/>
        <a:lstStyle/>
        <a:p>
          <a:endParaRPr lang="en-US"/>
        </a:p>
      </dgm:t>
    </dgm:pt>
    <dgm:pt modelId="{1C0DB200-A55C-6D40-B316-F045503C1635}">
      <dgm:prSet/>
      <dgm:spPr/>
      <dgm:t>
        <a:bodyPr/>
        <a:lstStyle/>
        <a:p>
          <a:r>
            <a:rPr lang="en-US" dirty="0" smtClean="0">
              <a:latin typeface="+mj-lt"/>
            </a:rPr>
            <a:t>Primary advantage is that they are almost always faster and use far less code</a:t>
          </a:r>
        </a:p>
      </dgm:t>
    </dgm:pt>
    <dgm:pt modelId="{B22FE74D-A3E0-FC4B-A9DB-2C72FF21BAC5}" type="parTrans" cxnId="{77A3E82B-0054-E848-8AAD-6645C79EBF7E}">
      <dgm:prSet/>
      <dgm:spPr/>
      <dgm:t>
        <a:bodyPr/>
        <a:lstStyle/>
        <a:p>
          <a:endParaRPr lang="en-US"/>
        </a:p>
      </dgm:t>
    </dgm:pt>
    <dgm:pt modelId="{8764260A-DD97-A849-A115-1852886EA6EA}" type="sibTrans" cxnId="{77A3E82B-0054-E848-8AAD-6645C79EBF7E}">
      <dgm:prSet/>
      <dgm:spPr/>
      <dgm:t>
        <a:bodyPr/>
        <a:lstStyle/>
        <a:p>
          <a:endParaRPr lang="en-US"/>
        </a:p>
      </dgm:t>
    </dgm:pt>
    <dgm:pt modelId="{A9F5D9F8-5C34-D34E-9105-AD3767893546}">
      <dgm:prSet/>
      <dgm:spPr/>
      <dgm:t>
        <a:bodyPr/>
        <a:lstStyle/>
        <a:p>
          <a:r>
            <a:rPr lang="en-US" dirty="0" smtClean="0">
              <a:latin typeface="+mj-lt"/>
            </a:rPr>
            <a:t>Encrypts plaintext one byte at a time</a:t>
          </a:r>
        </a:p>
      </dgm:t>
    </dgm:pt>
    <dgm:pt modelId="{1C412B15-0140-A646-9E0C-06D173B23765}" type="parTrans" cxnId="{17D80330-CCFD-3D4D-87FA-851A38849793}">
      <dgm:prSet/>
      <dgm:spPr/>
      <dgm:t>
        <a:bodyPr/>
        <a:lstStyle/>
        <a:p>
          <a:endParaRPr lang="en-US"/>
        </a:p>
      </dgm:t>
    </dgm:pt>
    <dgm:pt modelId="{CD0499F7-0DEC-674A-83D3-22BB5A97D8C4}" type="sibTrans" cxnId="{17D80330-CCFD-3D4D-87FA-851A38849793}">
      <dgm:prSet/>
      <dgm:spPr/>
      <dgm:t>
        <a:bodyPr/>
        <a:lstStyle/>
        <a:p>
          <a:endParaRPr lang="en-US"/>
        </a:p>
      </dgm:t>
    </dgm:pt>
    <dgm:pt modelId="{F3F48BE8-1A70-4548-BA50-6AB076E8BCDC}">
      <dgm:prSet/>
      <dgm:spPr/>
      <dgm:t>
        <a:bodyPr/>
        <a:lstStyle/>
        <a:p>
          <a:r>
            <a:rPr lang="en-US" dirty="0" smtClean="0">
              <a:latin typeface="+mj-lt"/>
            </a:rPr>
            <a:t>Pseudorandom stream is one that is unpredictable without knowledge of the input key</a:t>
          </a:r>
          <a:endParaRPr lang="en-US" dirty="0">
            <a:latin typeface="+mj-lt"/>
          </a:endParaRPr>
        </a:p>
      </dgm:t>
    </dgm:pt>
    <dgm:pt modelId="{AA4E3655-08B1-3446-8F00-F6D692D95E8C}" type="parTrans" cxnId="{7FD0176B-4C8F-1F42-B5D5-99C79671A350}">
      <dgm:prSet/>
      <dgm:spPr/>
      <dgm:t>
        <a:bodyPr/>
        <a:lstStyle/>
        <a:p>
          <a:endParaRPr lang="en-US"/>
        </a:p>
      </dgm:t>
    </dgm:pt>
    <dgm:pt modelId="{E7E531E1-929C-2A42-8F50-4024D5D02956}" type="sibTrans" cxnId="{7FD0176B-4C8F-1F42-B5D5-99C79671A350}">
      <dgm:prSet/>
      <dgm:spPr/>
      <dgm:t>
        <a:bodyPr/>
        <a:lstStyle/>
        <a:p>
          <a:endParaRPr lang="en-US"/>
        </a:p>
      </dgm:t>
    </dgm:pt>
    <dgm:pt modelId="{EC314881-2384-A144-BA8C-DF1B6F604ACB}" type="pres">
      <dgm:prSet presAssocID="{0DCCE67F-8DB1-4E40-94AC-EE5A6D777C69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60E9ADF-B46D-8941-88EF-30561659F258}" type="pres">
      <dgm:prSet presAssocID="{587619E7-CBA2-2243-8374-6D19F65A2E4C}" presName="parentLin" presStyleCnt="0"/>
      <dgm:spPr/>
      <dgm:t>
        <a:bodyPr/>
        <a:lstStyle/>
        <a:p>
          <a:endParaRPr lang="en-US"/>
        </a:p>
      </dgm:t>
    </dgm:pt>
    <dgm:pt modelId="{C2965011-AB65-384F-AF9D-74BA3282A275}" type="pres">
      <dgm:prSet presAssocID="{587619E7-CBA2-2243-8374-6D19F65A2E4C}" presName="parentLeftMargin" presStyleLbl="node1" presStyleIdx="0" presStyleCnt="2"/>
      <dgm:spPr/>
      <dgm:t>
        <a:bodyPr/>
        <a:lstStyle/>
        <a:p>
          <a:endParaRPr lang="en-US"/>
        </a:p>
      </dgm:t>
    </dgm:pt>
    <dgm:pt modelId="{079F0438-4146-1C44-B03D-FC56A77BC902}" type="pres">
      <dgm:prSet presAssocID="{587619E7-CBA2-2243-8374-6D19F65A2E4C}" presName="parentText" presStyleLbl="node1" presStyleIdx="0" presStyleCnt="2" custScaleX="43769" custLinFactX="78419" custLinFactNeighborX="100000" custLinFactNeighborY="-2456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C28D010-1D1D-F14C-89D3-ABE47A5DBBD2}" type="pres">
      <dgm:prSet presAssocID="{587619E7-CBA2-2243-8374-6D19F65A2E4C}" presName="negativeSpace" presStyleCnt="0"/>
      <dgm:spPr/>
      <dgm:t>
        <a:bodyPr/>
        <a:lstStyle/>
        <a:p>
          <a:endParaRPr lang="en-US"/>
        </a:p>
      </dgm:t>
    </dgm:pt>
    <dgm:pt modelId="{9DA0C844-4653-3B4A-877A-42D10E7D552F}" type="pres">
      <dgm:prSet presAssocID="{587619E7-CBA2-2243-8374-6D19F65A2E4C}" presName="childText" presStyleLbl="conFgAcc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E3ADE7E-40E4-C64D-BE0C-4913CCDDAB20}" type="pres">
      <dgm:prSet presAssocID="{50AE24B3-1916-2B4F-8D77-598476DA2E84}" presName="spaceBetweenRectangles" presStyleCnt="0"/>
      <dgm:spPr/>
      <dgm:t>
        <a:bodyPr/>
        <a:lstStyle/>
        <a:p>
          <a:endParaRPr lang="en-US"/>
        </a:p>
      </dgm:t>
    </dgm:pt>
    <dgm:pt modelId="{66D8A165-4E1A-2C49-8B98-40CC6644B741}" type="pres">
      <dgm:prSet presAssocID="{7C5130F5-2623-7B4D-B064-6A321151D8DC}" presName="parentLin" presStyleCnt="0"/>
      <dgm:spPr/>
      <dgm:t>
        <a:bodyPr/>
        <a:lstStyle/>
        <a:p>
          <a:endParaRPr lang="en-US"/>
        </a:p>
      </dgm:t>
    </dgm:pt>
    <dgm:pt modelId="{C8D69397-E8AE-F84B-92EF-2C48DFBA2611}" type="pres">
      <dgm:prSet presAssocID="{7C5130F5-2623-7B4D-B064-6A321151D8DC}" presName="parentLeftMargin" presStyleLbl="node1" presStyleIdx="0" presStyleCnt="2"/>
      <dgm:spPr/>
      <dgm:t>
        <a:bodyPr/>
        <a:lstStyle/>
        <a:p>
          <a:endParaRPr lang="en-US"/>
        </a:p>
      </dgm:t>
    </dgm:pt>
    <dgm:pt modelId="{C08EB4B2-2F49-7346-B3F8-4571FBD25FDB}" type="pres">
      <dgm:prSet presAssocID="{7C5130F5-2623-7B4D-B064-6A321151D8DC}" presName="parentText" presStyleLbl="node1" presStyleIdx="1" presStyleCnt="2" custScaleX="48937" custLinFactNeighborX="6383" custLinFactNeighborY="3328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7D54539-AAA7-204C-924D-C1DFAC565B48}" type="pres">
      <dgm:prSet presAssocID="{7C5130F5-2623-7B4D-B064-6A321151D8DC}" presName="negativeSpace" presStyleCnt="0"/>
      <dgm:spPr/>
      <dgm:t>
        <a:bodyPr/>
        <a:lstStyle/>
        <a:p>
          <a:endParaRPr lang="en-US"/>
        </a:p>
      </dgm:t>
    </dgm:pt>
    <dgm:pt modelId="{50C2B052-D272-0C4B-BC34-52ECD042C19E}" type="pres">
      <dgm:prSet presAssocID="{7C5130F5-2623-7B4D-B064-6A321151D8DC}" presName="childText" presStyleLbl="conFgAcc1" presStyleIdx="1" presStyleCnt="2" custLinFactNeighborX="1064" custLinFactNeighborY="4257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5F8E48E-10D9-404F-A98A-561FB58340AB}" type="presOf" srcId="{1C0DB200-A55C-6D40-B316-F045503C1635}" destId="{50C2B052-D272-0C4B-BC34-52ECD042C19E}" srcOrd="0" destOrd="2" presId="urn:microsoft.com/office/officeart/2005/8/layout/list1"/>
    <dgm:cxn modelId="{0A38F484-84AD-164D-98DC-A66B5583D409}" type="presOf" srcId="{A9F5D9F8-5C34-D34E-9105-AD3767893546}" destId="{50C2B052-D272-0C4B-BC34-52ECD042C19E}" srcOrd="0" destOrd="3" presId="urn:microsoft.com/office/officeart/2005/8/layout/list1"/>
    <dgm:cxn modelId="{9DF3C77E-A9EC-5640-995C-23514458B935}" type="presOf" srcId="{463FF73A-063D-5B4E-89E0-0876D93FA45F}" destId="{50C2B052-D272-0C4B-BC34-52ECD042C19E}" srcOrd="0" destOrd="0" presId="urn:microsoft.com/office/officeart/2005/8/layout/list1"/>
    <dgm:cxn modelId="{CF6FA177-F5E5-AC4D-9A40-A92CEEAEB304}" type="presOf" srcId="{F3F48BE8-1A70-4548-BA50-6AB076E8BCDC}" destId="{50C2B052-D272-0C4B-BC34-52ECD042C19E}" srcOrd="0" destOrd="4" presId="urn:microsoft.com/office/officeart/2005/8/layout/list1"/>
    <dgm:cxn modelId="{64679F17-3A31-7E4D-A4C1-0B66877585EF}" type="presOf" srcId="{E7079069-E772-EF4F-9C77-B1E7B043F7E6}" destId="{9DA0C844-4653-3B4A-877A-42D10E7D552F}" srcOrd="0" destOrd="3" presId="urn:microsoft.com/office/officeart/2005/8/layout/list1"/>
    <dgm:cxn modelId="{E3825432-21F8-AE47-B8B9-E0441C6BE69F}" srcId="{587619E7-CBA2-2243-8374-6D19F65A2E4C}" destId="{B8E05236-2378-5B48-8C79-EADF58DE9CFD}" srcOrd="1" destOrd="0" parTransId="{7104CB8C-41AA-624A-B42E-B626E8E99D6D}" sibTransId="{425A5DAF-ED48-CF4C-B534-ADCB8F1F70F3}"/>
    <dgm:cxn modelId="{7FD0176B-4C8F-1F42-B5D5-99C79671A350}" srcId="{7C5130F5-2623-7B4D-B064-6A321151D8DC}" destId="{F3F48BE8-1A70-4548-BA50-6AB076E8BCDC}" srcOrd="4" destOrd="0" parTransId="{AA4E3655-08B1-3446-8F00-F6D692D95E8C}" sibTransId="{E7E531E1-929C-2A42-8F50-4024D5D02956}"/>
    <dgm:cxn modelId="{1767A36A-96AD-3A4F-A204-B74E0CCE228C}" srcId="{587619E7-CBA2-2243-8374-6D19F65A2E4C}" destId="{E7079069-E772-EF4F-9C77-B1E7B043F7E6}" srcOrd="3" destOrd="0" parTransId="{660144F7-BAC9-C644-9C0A-7705DDDFB2A4}" sibTransId="{C55DD3D4-CCC3-6645-A3A2-F6E58E6909E0}"/>
    <dgm:cxn modelId="{41FB2C55-7C78-B142-AA1D-22BC6A0CE61F}" srcId="{587619E7-CBA2-2243-8374-6D19F65A2E4C}" destId="{AA438D01-5622-EB4A-83E9-112C44396E6F}" srcOrd="0" destOrd="0" parTransId="{91D55F56-C06F-9941-AE2F-7D3973533531}" sibTransId="{2DCA53C8-7768-164E-88EE-560BBAF09B5B}"/>
    <dgm:cxn modelId="{0BD88234-0CFD-8A47-9697-69563B613A7C}" srcId="{7C5130F5-2623-7B4D-B064-6A321151D8DC}" destId="{463FF73A-063D-5B4E-89E0-0876D93FA45F}" srcOrd="0" destOrd="0" parTransId="{2AFBE181-4D82-4049-A3BE-F259B5DD7BC0}" sibTransId="{33616064-699C-FD44-8673-4DD4A8249F72}"/>
    <dgm:cxn modelId="{77A3E82B-0054-E848-8AAD-6645C79EBF7E}" srcId="{7C5130F5-2623-7B4D-B064-6A321151D8DC}" destId="{1C0DB200-A55C-6D40-B316-F045503C1635}" srcOrd="2" destOrd="0" parTransId="{B22FE74D-A3E0-FC4B-A9DB-2C72FF21BAC5}" sibTransId="{8764260A-DD97-A849-A115-1852886EA6EA}"/>
    <dgm:cxn modelId="{C2616659-95B8-F743-B615-3ADBB467360C}" type="presOf" srcId="{7C5130F5-2623-7B4D-B064-6A321151D8DC}" destId="{C8D69397-E8AE-F84B-92EF-2C48DFBA2611}" srcOrd="0" destOrd="0" presId="urn:microsoft.com/office/officeart/2005/8/layout/list1"/>
    <dgm:cxn modelId="{3BDCEA1E-EC33-7C45-A6FF-18355745596A}" type="presOf" srcId="{B8E05236-2378-5B48-8C79-EADF58DE9CFD}" destId="{9DA0C844-4653-3B4A-877A-42D10E7D552F}" srcOrd="0" destOrd="1" presId="urn:microsoft.com/office/officeart/2005/8/layout/list1"/>
    <dgm:cxn modelId="{C687533F-606C-224E-9CDD-4EBD72F42FED}" type="presOf" srcId="{0DCCE67F-8DB1-4E40-94AC-EE5A6D777C69}" destId="{EC314881-2384-A144-BA8C-DF1B6F604ACB}" srcOrd="0" destOrd="0" presId="urn:microsoft.com/office/officeart/2005/8/layout/list1"/>
    <dgm:cxn modelId="{0F7BAC4A-7ADE-3F4E-BE47-D63A68B80600}" type="presOf" srcId="{587619E7-CBA2-2243-8374-6D19F65A2E4C}" destId="{C2965011-AB65-384F-AF9D-74BA3282A275}" srcOrd="0" destOrd="0" presId="urn:microsoft.com/office/officeart/2005/8/layout/list1"/>
    <dgm:cxn modelId="{6A55A77F-C429-0D4D-9F12-26BC8EA05792}" srcId="{0DCCE67F-8DB1-4E40-94AC-EE5A6D777C69}" destId="{587619E7-CBA2-2243-8374-6D19F65A2E4C}" srcOrd="0" destOrd="0" parTransId="{B2686974-9B07-084D-9284-3162383E72A1}" sibTransId="{50AE24B3-1916-2B4F-8D77-598476DA2E84}"/>
    <dgm:cxn modelId="{AF05B4A5-2249-0341-8FED-89EB514E7C91}" type="presOf" srcId="{7C5130F5-2623-7B4D-B064-6A321151D8DC}" destId="{C08EB4B2-2F49-7346-B3F8-4571FBD25FDB}" srcOrd="1" destOrd="0" presId="urn:microsoft.com/office/officeart/2005/8/layout/list1"/>
    <dgm:cxn modelId="{6D20BB13-2AD3-FC4B-864A-60048C7E7205}" type="presOf" srcId="{0FACDD0F-8549-9340-B902-491178B29EA1}" destId="{50C2B052-D272-0C4B-BC34-52ECD042C19E}" srcOrd="0" destOrd="1" presId="urn:microsoft.com/office/officeart/2005/8/layout/list1"/>
    <dgm:cxn modelId="{C3221D56-EDA6-D643-8113-9CD967B13526}" srcId="{0DCCE67F-8DB1-4E40-94AC-EE5A6D777C69}" destId="{7C5130F5-2623-7B4D-B064-6A321151D8DC}" srcOrd="1" destOrd="0" parTransId="{C856D73D-20A4-0F42-8C31-23D66F850B27}" sibTransId="{970C6670-09A2-EA44-A6CA-58767FEAB60D}"/>
    <dgm:cxn modelId="{590036CB-FFD2-D044-887D-83BC46A868BE}" type="presOf" srcId="{77412DC5-DE60-C242-AB72-782CD5818090}" destId="{9DA0C844-4653-3B4A-877A-42D10E7D552F}" srcOrd="0" destOrd="2" presId="urn:microsoft.com/office/officeart/2005/8/layout/list1"/>
    <dgm:cxn modelId="{17D80330-CCFD-3D4D-87FA-851A38849793}" srcId="{7C5130F5-2623-7B4D-B064-6A321151D8DC}" destId="{A9F5D9F8-5C34-D34E-9105-AD3767893546}" srcOrd="3" destOrd="0" parTransId="{1C412B15-0140-A646-9E0C-06D173B23765}" sibTransId="{CD0499F7-0DEC-674A-83D3-22BB5A97D8C4}"/>
    <dgm:cxn modelId="{63851ADA-8D6D-0A46-A87E-8CEEB987F019}" srcId="{7C5130F5-2623-7B4D-B064-6A321151D8DC}" destId="{0FACDD0F-8549-9340-B902-491178B29EA1}" srcOrd="1" destOrd="0" parTransId="{A6AF0DD4-8188-EE4E-A092-8507BE0042FD}" sibTransId="{7A54E453-4B89-594A-858B-429081116503}"/>
    <dgm:cxn modelId="{15101433-B267-2141-B0A1-76C3BD6038F5}" type="presOf" srcId="{AA438D01-5622-EB4A-83E9-112C44396E6F}" destId="{9DA0C844-4653-3B4A-877A-42D10E7D552F}" srcOrd="0" destOrd="0" presId="urn:microsoft.com/office/officeart/2005/8/layout/list1"/>
    <dgm:cxn modelId="{8A0D62AA-8484-E24B-BEF7-78F1B860D326}" srcId="{587619E7-CBA2-2243-8374-6D19F65A2E4C}" destId="{77412DC5-DE60-C242-AB72-782CD5818090}" srcOrd="2" destOrd="0" parTransId="{204CE34E-694E-B445-9A13-0FED24D91770}" sibTransId="{1B222651-8C35-524D-A629-59A8F5F4AA4A}"/>
    <dgm:cxn modelId="{9587F7F2-B4FE-7248-9140-8797B58A9CA1}" type="presOf" srcId="{587619E7-CBA2-2243-8374-6D19F65A2E4C}" destId="{079F0438-4146-1C44-B03D-FC56A77BC902}" srcOrd="1" destOrd="0" presId="urn:microsoft.com/office/officeart/2005/8/layout/list1"/>
    <dgm:cxn modelId="{2CB6916A-5428-C643-ADC0-22F51F862B9A}" type="presParOf" srcId="{EC314881-2384-A144-BA8C-DF1B6F604ACB}" destId="{660E9ADF-B46D-8941-88EF-30561659F258}" srcOrd="0" destOrd="0" presId="urn:microsoft.com/office/officeart/2005/8/layout/list1"/>
    <dgm:cxn modelId="{9E17E8D1-EC18-374A-BBDA-9F1BF0FB426C}" type="presParOf" srcId="{660E9ADF-B46D-8941-88EF-30561659F258}" destId="{C2965011-AB65-384F-AF9D-74BA3282A275}" srcOrd="0" destOrd="0" presId="urn:microsoft.com/office/officeart/2005/8/layout/list1"/>
    <dgm:cxn modelId="{1F32D446-E450-2146-954A-0BC43EA01808}" type="presParOf" srcId="{660E9ADF-B46D-8941-88EF-30561659F258}" destId="{079F0438-4146-1C44-B03D-FC56A77BC902}" srcOrd="1" destOrd="0" presId="urn:microsoft.com/office/officeart/2005/8/layout/list1"/>
    <dgm:cxn modelId="{7F11F33D-244E-994B-90E1-32579FB07AAB}" type="presParOf" srcId="{EC314881-2384-A144-BA8C-DF1B6F604ACB}" destId="{DC28D010-1D1D-F14C-89D3-ABE47A5DBBD2}" srcOrd="1" destOrd="0" presId="urn:microsoft.com/office/officeart/2005/8/layout/list1"/>
    <dgm:cxn modelId="{D8E535AF-55FD-6540-8891-C77F3FCB8062}" type="presParOf" srcId="{EC314881-2384-A144-BA8C-DF1B6F604ACB}" destId="{9DA0C844-4653-3B4A-877A-42D10E7D552F}" srcOrd="2" destOrd="0" presId="urn:microsoft.com/office/officeart/2005/8/layout/list1"/>
    <dgm:cxn modelId="{CA2718D4-8E90-EB4F-939D-E1CB5F0EF164}" type="presParOf" srcId="{EC314881-2384-A144-BA8C-DF1B6F604ACB}" destId="{7E3ADE7E-40E4-C64D-BE0C-4913CCDDAB20}" srcOrd="3" destOrd="0" presId="urn:microsoft.com/office/officeart/2005/8/layout/list1"/>
    <dgm:cxn modelId="{806599F2-EB77-1448-8420-C876B23731C8}" type="presParOf" srcId="{EC314881-2384-A144-BA8C-DF1B6F604ACB}" destId="{66D8A165-4E1A-2C49-8B98-40CC6644B741}" srcOrd="4" destOrd="0" presId="urn:microsoft.com/office/officeart/2005/8/layout/list1"/>
    <dgm:cxn modelId="{67C20C6B-E8D1-EF41-82A1-AFA68A78B6B8}" type="presParOf" srcId="{66D8A165-4E1A-2C49-8B98-40CC6644B741}" destId="{C8D69397-E8AE-F84B-92EF-2C48DFBA2611}" srcOrd="0" destOrd="0" presId="urn:microsoft.com/office/officeart/2005/8/layout/list1"/>
    <dgm:cxn modelId="{A4D0B12B-5AF6-3A45-BB04-DD0C23A0C65C}" type="presParOf" srcId="{66D8A165-4E1A-2C49-8B98-40CC6644B741}" destId="{C08EB4B2-2F49-7346-B3F8-4571FBD25FDB}" srcOrd="1" destOrd="0" presId="urn:microsoft.com/office/officeart/2005/8/layout/list1"/>
    <dgm:cxn modelId="{8CCE2561-1F56-2949-B9E8-795BEB665EFB}" type="presParOf" srcId="{EC314881-2384-A144-BA8C-DF1B6F604ACB}" destId="{77D54539-AAA7-204C-924D-C1DFAC565B48}" srcOrd="5" destOrd="0" presId="urn:microsoft.com/office/officeart/2005/8/layout/list1"/>
    <dgm:cxn modelId="{42E75BBA-83D8-3C41-8EC0-C4BB134A5292}" type="presParOf" srcId="{EC314881-2384-A144-BA8C-DF1B6F604ACB}" destId="{50C2B052-D272-0C4B-BC34-52ECD042C19E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E2DD38-065C-4B4B-9D04-50857136CFF3}">
      <dsp:nvSpPr>
        <dsp:cNvPr id="0" name=""/>
        <dsp:cNvSpPr/>
      </dsp:nvSpPr>
      <dsp:spPr>
        <a:xfrm>
          <a:off x="381011" y="304811"/>
          <a:ext cx="1901158" cy="1863223"/>
        </a:xfrm>
        <a:prstGeom prst="upArrow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8FAAA8E-A08D-6146-8B57-457EADABE666}">
      <dsp:nvSpPr>
        <dsp:cNvPr id="0" name=""/>
        <dsp:cNvSpPr/>
      </dsp:nvSpPr>
      <dsp:spPr>
        <a:xfrm>
          <a:off x="2733732" y="-79893"/>
          <a:ext cx="5570268" cy="27353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0" rIns="142240" bIns="142240" numCol="1" spcCol="1270" anchor="ctr" anchorCtr="0">
          <a:noAutofit/>
        </a:bodyPr>
        <a:lstStyle/>
        <a:p>
          <a:pPr marL="342900" lvl="0" indent="-342900" algn="l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6">
                <a:lumMod val="60000"/>
                <a:lumOff val="40000"/>
              </a:schemeClr>
            </a:buClr>
            <a:buSzPct val="125000"/>
            <a:buFont typeface="Arial"/>
            <a:buChar char="•"/>
            <a:defRPr/>
          </a:pPr>
          <a:r>
            <a:rPr lang="en-US" sz="2000" b="0" kern="1200" dirty="0" smtClean="0">
              <a:latin typeface="+mj-lt"/>
              <a:ea typeface="+mn-ea"/>
              <a:cs typeface="+mn-cs"/>
            </a:rPr>
            <a:t>Until recently was the most widely used encryption scheme</a:t>
          </a:r>
          <a:endParaRPr lang="en-US" sz="2000" b="0" kern="1200" dirty="0">
            <a:latin typeface="+mj-lt"/>
            <a:ea typeface="+mn-ea"/>
            <a:cs typeface="+mn-cs"/>
          </a:endParaRPr>
        </a:p>
        <a:p>
          <a:pPr marL="463550" lvl="1" indent="-68263" algn="l" defTabSz="800100" rtl="0">
            <a:lnSpc>
              <a:spcPct val="90000"/>
            </a:lnSpc>
            <a:spcBef>
              <a:spcPct val="0"/>
            </a:spcBef>
            <a:spcAft>
              <a:spcPts val="1032"/>
            </a:spcAft>
            <a:buChar char="••"/>
          </a:pPr>
          <a:r>
            <a:rPr lang="en-US" sz="1600" b="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rPr>
            <a:t> 	FIPS PUB 46</a:t>
          </a:r>
        </a:p>
        <a:p>
          <a:pPr marL="463550" lvl="1" indent="-68263" algn="l" defTabSz="800100" rtl="0">
            <a:lnSpc>
              <a:spcPct val="90000"/>
            </a:lnSpc>
            <a:spcBef>
              <a:spcPct val="0"/>
            </a:spcBef>
            <a:spcAft>
              <a:spcPts val="1032"/>
            </a:spcAft>
            <a:buChar char="••"/>
          </a:pPr>
          <a:r>
            <a:rPr lang="en-US" sz="1600" b="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rPr>
            <a:t> 	Referred to as the Data Encryption   	Algorithm (DEA)</a:t>
          </a:r>
        </a:p>
        <a:p>
          <a:pPr marL="463550" lvl="1" indent="-68263" algn="l" defTabSz="800100" rtl="0">
            <a:lnSpc>
              <a:spcPct val="90000"/>
            </a:lnSpc>
            <a:spcBef>
              <a:spcPct val="0"/>
            </a:spcBef>
            <a:spcAft>
              <a:spcPts val="1032"/>
            </a:spcAft>
            <a:buChar char="••"/>
          </a:pPr>
          <a:r>
            <a:rPr lang="en-US" sz="1600" b="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rPr>
            <a:t> 	Uses 64 bit plaintext block and 56 bit key to 	produce a 64 bit ciphertext block</a:t>
          </a:r>
        </a:p>
      </dsp:txBody>
      <dsp:txXfrm>
        <a:off x="2733732" y="-79893"/>
        <a:ext cx="5570268" cy="2735339"/>
      </dsp:txXfrm>
    </dsp:sp>
    <dsp:sp modelId="{C528ED87-2622-5445-A524-3B42DFF6F4F9}">
      <dsp:nvSpPr>
        <dsp:cNvPr id="0" name=""/>
        <dsp:cNvSpPr/>
      </dsp:nvSpPr>
      <dsp:spPr>
        <a:xfrm>
          <a:off x="370376" y="2773279"/>
          <a:ext cx="1940545" cy="1745231"/>
        </a:xfrm>
        <a:prstGeom prst="downArrow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F451FD7-07C1-D24E-88AE-8EE98D36D6A8}">
      <dsp:nvSpPr>
        <dsp:cNvPr id="0" name=""/>
        <dsp:cNvSpPr/>
      </dsp:nvSpPr>
      <dsp:spPr>
        <a:xfrm>
          <a:off x="3250722" y="2544688"/>
          <a:ext cx="5307384" cy="2377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0" rIns="142240" bIns="14224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 smtClean="0">
              <a:latin typeface="+mj-lt"/>
              <a:ea typeface="+mn-ea"/>
              <a:cs typeface="+mn-cs"/>
            </a:rPr>
            <a:t> Strength concerns:</a:t>
          </a:r>
        </a:p>
        <a:p>
          <a:pPr marL="463550" lvl="1" indent="-68263" algn="l" defTabSz="800100" rtl="0">
            <a:lnSpc>
              <a:spcPct val="90000"/>
            </a:lnSpc>
            <a:spcBef>
              <a:spcPct val="0"/>
            </a:spcBef>
            <a:spcAft>
              <a:spcPts val="1032"/>
            </a:spcAft>
            <a:buChar char="••"/>
          </a:pPr>
          <a:r>
            <a:rPr lang="en-US" sz="1600" b="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rPr>
            <a:t> 	Concerns about the algorithm itself</a:t>
          </a:r>
        </a:p>
        <a:p>
          <a:pPr marL="806450" lvl="2" indent="-120650" algn="l" defTabSz="622300" rtl="0">
            <a:lnSpc>
              <a:spcPct val="90000"/>
            </a:lnSpc>
            <a:spcBef>
              <a:spcPct val="0"/>
            </a:spcBef>
            <a:spcAft>
              <a:spcPts val="888"/>
            </a:spcAft>
            <a:buChar char="••"/>
          </a:pPr>
          <a:r>
            <a:rPr lang="en-US" sz="1400" b="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rPr>
            <a:t>DES is the most studied encryption 		       algorithm in existence</a:t>
          </a:r>
        </a:p>
        <a:p>
          <a:pPr marL="463550" lvl="1" indent="-68263" algn="l" defTabSz="800100" rtl="0">
            <a:lnSpc>
              <a:spcPct val="90000"/>
            </a:lnSpc>
            <a:spcBef>
              <a:spcPct val="0"/>
            </a:spcBef>
            <a:spcAft>
              <a:spcPts val="1032"/>
            </a:spcAft>
            <a:buChar char="••"/>
          </a:pPr>
          <a:r>
            <a:rPr lang="en-US" sz="1600" b="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rPr>
            <a:t> 	Concerns about the use of a 56-bit key</a:t>
          </a:r>
        </a:p>
        <a:p>
          <a:pPr marL="806450" lvl="1" indent="-120650" algn="l" defTabSz="622300" rtl="0">
            <a:lnSpc>
              <a:spcPct val="90000"/>
            </a:lnSpc>
            <a:spcBef>
              <a:spcPct val="0"/>
            </a:spcBef>
            <a:spcAft>
              <a:spcPts val="888"/>
            </a:spcAft>
            <a:buChar char="••"/>
          </a:pPr>
          <a:r>
            <a:rPr lang="en-US" sz="1400" b="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rPr>
            <a:t>The speed of commercial off-the-shelf processors makes this key length woefully inadequate</a:t>
          </a:r>
        </a:p>
      </dsp:txBody>
      <dsp:txXfrm>
        <a:off x="3250722" y="2544688"/>
        <a:ext cx="5307384" cy="23774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1D7F12-172F-E746-B25A-8095484E1922}">
      <dsp:nvSpPr>
        <dsp:cNvPr id="0" name=""/>
        <dsp:cNvSpPr/>
      </dsp:nvSpPr>
      <dsp:spPr>
        <a:xfrm>
          <a:off x="1004" y="0"/>
          <a:ext cx="2611933" cy="46482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>
              <a:effectLst/>
            </a:rPr>
            <a:t>Needed a replacement for 3DES</a:t>
          </a:r>
          <a:endParaRPr lang="en-US" sz="2400" kern="1200" dirty="0">
            <a:effectLst/>
          </a:endParaRPr>
        </a:p>
      </dsp:txBody>
      <dsp:txXfrm>
        <a:off x="1004" y="0"/>
        <a:ext cx="2611933" cy="1394460"/>
      </dsp:txXfrm>
    </dsp:sp>
    <dsp:sp modelId="{8BCCC83A-2845-2C41-8726-C6420FB0B836}">
      <dsp:nvSpPr>
        <dsp:cNvPr id="0" name=""/>
        <dsp:cNvSpPr/>
      </dsp:nvSpPr>
      <dsp:spPr>
        <a:xfrm>
          <a:off x="262197" y="1394460"/>
          <a:ext cx="2089546" cy="3021330"/>
        </a:xfrm>
        <a:prstGeom prst="roundRect">
          <a:avLst>
            <a:gd name="adj" fmla="val 10000"/>
          </a:avLst>
        </a:prstGeom>
        <a:solidFill>
          <a:srgbClr val="FF66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rPr>
            <a:t>3DES was not reasonable for long term use</a:t>
          </a:r>
        </a:p>
      </dsp:txBody>
      <dsp:txXfrm>
        <a:off x="323398" y="1455661"/>
        <a:ext cx="1967144" cy="2898928"/>
      </dsp:txXfrm>
    </dsp:sp>
    <dsp:sp modelId="{3D24085E-7D27-8342-B893-64784A838C69}">
      <dsp:nvSpPr>
        <dsp:cNvPr id="0" name=""/>
        <dsp:cNvSpPr/>
      </dsp:nvSpPr>
      <dsp:spPr>
        <a:xfrm>
          <a:off x="2808833" y="0"/>
          <a:ext cx="2611933" cy="46482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NIST called for proposals for a new AES in 1997</a:t>
          </a:r>
          <a:endParaRPr lang="en-US" sz="2400" kern="1200" dirty="0"/>
        </a:p>
      </dsp:txBody>
      <dsp:txXfrm>
        <a:off x="2808833" y="0"/>
        <a:ext cx="2611933" cy="1394460"/>
      </dsp:txXfrm>
    </dsp:sp>
    <dsp:sp modelId="{2F7DD57D-E033-D345-BE20-DA5ED5C15AE0}">
      <dsp:nvSpPr>
        <dsp:cNvPr id="0" name=""/>
        <dsp:cNvSpPr/>
      </dsp:nvSpPr>
      <dsp:spPr>
        <a:xfrm>
          <a:off x="3070026" y="1394573"/>
          <a:ext cx="2089546" cy="677143"/>
        </a:xfrm>
        <a:prstGeom prst="roundRect">
          <a:avLst>
            <a:gd name="adj" fmla="val 10000"/>
          </a:avLst>
        </a:prstGeom>
        <a:solidFill>
          <a:srgbClr val="FF66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rPr>
            <a:t>Should have a security strength equal to or better than 3DES</a:t>
          </a:r>
          <a:endParaRPr lang="en-US" sz="13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j-lt"/>
          </a:endParaRPr>
        </a:p>
      </dsp:txBody>
      <dsp:txXfrm>
        <a:off x="3089859" y="1414406"/>
        <a:ext cx="2049880" cy="637477"/>
      </dsp:txXfrm>
    </dsp:sp>
    <dsp:sp modelId="{32502699-8027-A547-B5B5-7795C0A9D368}">
      <dsp:nvSpPr>
        <dsp:cNvPr id="0" name=""/>
        <dsp:cNvSpPr/>
      </dsp:nvSpPr>
      <dsp:spPr>
        <a:xfrm>
          <a:off x="3070026" y="2175893"/>
          <a:ext cx="2089546" cy="677143"/>
        </a:xfrm>
        <a:prstGeom prst="roundRect">
          <a:avLst>
            <a:gd name="adj" fmla="val 10000"/>
          </a:avLst>
        </a:prstGeom>
        <a:solidFill>
          <a:srgbClr val="FF66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rPr>
            <a:t>Significantly improved efficiency</a:t>
          </a:r>
          <a:endParaRPr lang="en-US" sz="13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j-lt"/>
          </a:endParaRPr>
        </a:p>
      </dsp:txBody>
      <dsp:txXfrm>
        <a:off x="3089859" y="2195726"/>
        <a:ext cx="2049880" cy="637477"/>
      </dsp:txXfrm>
    </dsp:sp>
    <dsp:sp modelId="{0F5088D2-59EA-5548-80E2-3309C25C7018}">
      <dsp:nvSpPr>
        <dsp:cNvPr id="0" name=""/>
        <dsp:cNvSpPr/>
      </dsp:nvSpPr>
      <dsp:spPr>
        <a:xfrm>
          <a:off x="3070026" y="2957212"/>
          <a:ext cx="2089546" cy="677143"/>
        </a:xfrm>
        <a:prstGeom prst="roundRect">
          <a:avLst>
            <a:gd name="adj" fmla="val 10000"/>
          </a:avLst>
        </a:prstGeom>
        <a:solidFill>
          <a:srgbClr val="FF66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rPr>
            <a:t>Symmetric block cipher</a:t>
          </a:r>
          <a:endParaRPr lang="en-US" sz="13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j-lt"/>
          </a:endParaRPr>
        </a:p>
      </dsp:txBody>
      <dsp:txXfrm>
        <a:off x="3089859" y="2977045"/>
        <a:ext cx="2049880" cy="637477"/>
      </dsp:txXfrm>
    </dsp:sp>
    <dsp:sp modelId="{A9F685CA-EF48-034D-871D-D72673837C72}">
      <dsp:nvSpPr>
        <dsp:cNvPr id="0" name=""/>
        <dsp:cNvSpPr/>
      </dsp:nvSpPr>
      <dsp:spPr>
        <a:xfrm>
          <a:off x="3070026" y="3738532"/>
          <a:ext cx="2089546" cy="677143"/>
        </a:xfrm>
        <a:prstGeom prst="roundRect">
          <a:avLst>
            <a:gd name="adj" fmla="val 10000"/>
          </a:avLst>
        </a:prstGeom>
        <a:solidFill>
          <a:srgbClr val="FF66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rPr>
            <a:t>128 bit data and 128/192/256 bit keys</a:t>
          </a:r>
          <a:endParaRPr lang="en-US" sz="13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j-lt"/>
          </a:endParaRPr>
        </a:p>
      </dsp:txBody>
      <dsp:txXfrm>
        <a:off x="3089859" y="3758365"/>
        <a:ext cx="2049880" cy="637477"/>
      </dsp:txXfrm>
    </dsp:sp>
    <dsp:sp modelId="{18147555-F082-0E40-924F-5E712089BBAA}">
      <dsp:nvSpPr>
        <dsp:cNvPr id="0" name=""/>
        <dsp:cNvSpPr/>
      </dsp:nvSpPr>
      <dsp:spPr>
        <a:xfrm>
          <a:off x="5616661" y="0"/>
          <a:ext cx="2611933" cy="46482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Selected </a:t>
          </a:r>
          <a:r>
            <a:rPr lang="en-US" sz="2400" b="1" kern="1200" dirty="0" err="1" smtClean="0"/>
            <a:t>Rijndael</a:t>
          </a:r>
          <a:r>
            <a:rPr lang="en-US" sz="2400" b="1" kern="1200" dirty="0" smtClean="0"/>
            <a:t> in November 2001</a:t>
          </a:r>
          <a:endParaRPr lang="en-US" sz="2400" kern="1200" dirty="0"/>
        </a:p>
      </dsp:txBody>
      <dsp:txXfrm>
        <a:off x="5616661" y="0"/>
        <a:ext cx="2611933" cy="1394460"/>
      </dsp:txXfrm>
    </dsp:sp>
    <dsp:sp modelId="{576361A2-9C21-E94B-A1A3-52D5EC9C8EEE}">
      <dsp:nvSpPr>
        <dsp:cNvPr id="0" name=""/>
        <dsp:cNvSpPr/>
      </dsp:nvSpPr>
      <dsp:spPr>
        <a:xfrm>
          <a:off x="5877855" y="1394460"/>
          <a:ext cx="2089546" cy="3021330"/>
        </a:xfrm>
        <a:prstGeom prst="roundRect">
          <a:avLst>
            <a:gd name="adj" fmla="val 10000"/>
          </a:avLst>
        </a:prstGeom>
        <a:solidFill>
          <a:srgbClr val="FF66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rPr>
            <a:t>Published as </a:t>
          </a:r>
        </a:p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rPr>
            <a:t>FIPS 197</a:t>
          </a:r>
        </a:p>
      </dsp:txBody>
      <dsp:txXfrm>
        <a:off x="5939056" y="1455661"/>
        <a:ext cx="1967144" cy="28989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A0C844-4653-3B4A-877A-42D10E7D552F}">
      <dsp:nvSpPr>
        <dsp:cNvPr id="0" name=""/>
        <dsp:cNvSpPr/>
      </dsp:nvSpPr>
      <dsp:spPr>
        <a:xfrm>
          <a:off x="0" y="352199"/>
          <a:ext cx="7162800" cy="146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55913" tIns="333248" rIns="555913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+mj-lt"/>
            </a:rPr>
            <a:t>Processes the input one block of elements at a time</a:t>
          </a:r>
          <a:endParaRPr lang="en-US" sz="1600" kern="1200" dirty="0">
            <a:latin typeface="+mj-lt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+mj-lt"/>
            </a:rPr>
            <a:t>Produces an output block for each input block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+mj-lt"/>
            </a:rPr>
            <a:t>Can reuse keys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+mj-lt"/>
            </a:rPr>
            <a:t>More common</a:t>
          </a:r>
          <a:endParaRPr lang="en-US" sz="1600" kern="1200" dirty="0">
            <a:latin typeface="+mj-lt"/>
          </a:endParaRPr>
        </a:p>
      </dsp:txBody>
      <dsp:txXfrm>
        <a:off x="0" y="352199"/>
        <a:ext cx="7162800" cy="1461600"/>
      </dsp:txXfrm>
    </dsp:sp>
    <dsp:sp modelId="{079F0438-4146-1C44-B03D-FC56A77BC902}">
      <dsp:nvSpPr>
        <dsp:cNvPr id="0" name=""/>
        <dsp:cNvSpPr/>
      </dsp:nvSpPr>
      <dsp:spPr>
        <a:xfrm>
          <a:off x="4648177" y="0"/>
          <a:ext cx="2194560" cy="4723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9516" tIns="0" rIns="189516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Block Cipher</a:t>
          </a:r>
          <a:endParaRPr lang="en-US" sz="20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4671234" y="23057"/>
        <a:ext cx="2148446" cy="426206"/>
      </dsp:txXfrm>
    </dsp:sp>
    <dsp:sp modelId="{50C2B052-D272-0C4B-BC34-52ECD042C19E}">
      <dsp:nvSpPr>
        <dsp:cNvPr id="0" name=""/>
        <dsp:cNvSpPr/>
      </dsp:nvSpPr>
      <dsp:spPr>
        <a:xfrm>
          <a:off x="0" y="2236893"/>
          <a:ext cx="7162800" cy="216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55913" tIns="333248" rIns="555913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+mj-lt"/>
            </a:rPr>
            <a:t>Processes the input elements continuously</a:t>
          </a:r>
          <a:endParaRPr lang="en-US" sz="1600" kern="1200" dirty="0">
            <a:latin typeface="+mj-lt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+mj-lt"/>
            </a:rPr>
            <a:t>Produces output one element at a time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+mj-lt"/>
            </a:rPr>
            <a:t>Primary advantage is that they are almost always faster and use far less code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+mj-lt"/>
            </a:rPr>
            <a:t>Encrypts plaintext one byte at a time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+mj-lt"/>
            </a:rPr>
            <a:t>Pseudorandom stream is one that is unpredictable without knowledge of the input key</a:t>
          </a:r>
          <a:endParaRPr lang="en-US" sz="1600" kern="1200" dirty="0">
            <a:latin typeface="+mj-lt"/>
          </a:endParaRPr>
        </a:p>
      </dsp:txBody>
      <dsp:txXfrm>
        <a:off x="0" y="2236893"/>
        <a:ext cx="7162800" cy="2167200"/>
      </dsp:txXfrm>
    </dsp:sp>
    <dsp:sp modelId="{C08EB4B2-2F49-7346-B3F8-4571FBD25FDB}">
      <dsp:nvSpPr>
        <dsp:cNvPr id="0" name=""/>
        <dsp:cNvSpPr/>
      </dsp:nvSpPr>
      <dsp:spPr>
        <a:xfrm>
          <a:off x="381000" y="2057402"/>
          <a:ext cx="2453681" cy="4723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9516" tIns="0" rIns="189516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Stream Cipher</a:t>
          </a:r>
          <a:endParaRPr lang="en-US" sz="20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404057" y="2080459"/>
        <a:ext cx="2407567" cy="4262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4">
  <dgm:title val=""/>
  <dgm:desc val=""/>
  <dgm:catLst>
    <dgm:cat type="relationship" pri="8000"/>
    <dgm:cat type="process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lte" val="1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/>
              <dgm:constr type="b" for="ch" forName="upArrow" refType="h" fact="0.48"/>
              <dgm:constr type="l" for="ch" forName="upArrow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/>
              <dgm:constr type="b" for="ch" forName="upArrowText" refType="h" fact="0.48"/>
              <dgm:constr type="l" for="ch" forName="upArrowText" refType="w" refFor="ch" refForName="upArrow" fact="1.03"/>
            </dgm:constrLst>
          </dgm:if>
          <dgm:else name="Name4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 fact="0.48"/>
              <dgm:constr type="b" for="ch" forName="upArrow" refType="h" fact="0.48"/>
              <dgm:constr type="l" for="ch" forName="upArrow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 fact="0.48"/>
              <dgm:constr type="b" for="ch" forName="upArrowText" refType="h" fact="0.48"/>
              <dgm:constr type="l" for="ch" forName="upArrowText" refType="w" refFor="ch" refForName="upArrow" fact="1.03"/>
              <dgm:constr type="w" for="ch" forName="downArrow" refType="w" fact="0.33"/>
              <dgm:constr type="h" for="ch" forName="downArrow" refType="h" fact="0.48"/>
              <dgm:constr type="t" for="ch" forName="downArrow" refType="h" fact="0.52"/>
              <dgm:constr type="l" for="ch" forName="downArrow" refType="w" refFor="ch" refForName="downArrow" fact="0.3"/>
              <dgm:constr type="h" for="ch" forName="downArrow" refType="w" refFor="ch" refForName="downArrow" op="gte" fact="0.75"/>
              <dgm:constr type="w" for="ch" forName="downArrowText" refType="w" fact="0.56"/>
              <dgm:constr type="h" for="ch" forName="downArrowText" refType="h" fact="0.48"/>
              <dgm:constr type="t" for="ch" forName="downArrowText" refType="h" fact="0.52"/>
              <dgm:constr type="l" for="ch" forName="downArrowText" refType="w" refFor="ch" refForName="downArrow" fact="1.33"/>
            </dgm:constrLst>
          </dgm:else>
        </dgm:choose>
      </dgm:if>
      <dgm:else name="Name5">
        <dgm:choose name="Name6">
          <dgm:if name="Name7" axis="ch" ptType="node" func="cnt" op="lte" val="1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/>
              <dgm:constr type="t" for="ch" forName="upArrow"/>
              <dgm:constr type="l" for="ch" forName="upArrow" refType="w" fact="0.67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/>
              <dgm:constr type="t" for="ch" forName="upArrowText"/>
              <dgm:constr type="l" for="ch" forName="upArrowText" refType="w" fact="0.1"/>
            </dgm:constrLst>
          </dgm:if>
          <dgm:else name="Name8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 fact="0.48"/>
              <dgm:constr type="t" for="ch" forName="upArrow"/>
              <dgm:constr type="l" for="ch" forName="upArrow" refType="w" fact="0.67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 fact="0.48"/>
              <dgm:constr type="t" for="ch" forName="upArrowText"/>
              <dgm:constr type="l" for="ch" forName="upArrowText" refType="w" fact="0.1"/>
              <dgm:constr type="w" for="ch" forName="downArrow" refType="w" fact="0.33"/>
              <dgm:constr type="h" for="ch" forName="downArrow" refType="h" fact="0.48"/>
              <dgm:constr type="t" for="ch" forName="downArrow" refType="h" fact="0.52"/>
              <dgm:constr type="l" for="ch" forName="downArrow" refType="w" fact="0.57"/>
              <dgm:constr type="h" for="ch" forName="downArrow" refType="w" refFor="ch" refForName="downArrow" op="gte" fact="0.75"/>
              <dgm:constr type="w" for="ch" forName="downArrowText" refType="w" fact="0.56"/>
              <dgm:constr type="h" for="ch" forName="downArrowText" refType="h" fact="0.48"/>
              <dgm:constr type="t" for="ch" forName="downArrowText" refType="h" fact="0.52"/>
              <dgm:constr type="l" for="ch" forName="downArrowText"/>
            </dgm:constrLst>
          </dgm:else>
        </dgm:choose>
      </dgm:else>
    </dgm:choose>
    <dgm:ruleLst/>
    <dgm:forEach name="Name9" axis="ch" ptType="node" cnt="1">
      <dgm:layoutNode name="upArrow" styleLbl="node1">
        <dgm:alg type="sp"/>
        <dgm:shape xmlns:r="http://schemas.openxmlformats.org/officeDocument/2006/relationships" type="upArrow" r:blip="">
          <dgm:adjLst/>
        </dgm:shape>
        <dgm:presOf/>
        <dgm:constrLst/>
        <dgm:ruleLst/>
      </dgm:layoutNode>
      <dgm:layoutNode name="upArrowText" styleLbl="revTx">
        <dgm:varLst>
          <dgm:chMax val="0"/>
          <dgm:bulletEnabled val="1"/>
        </dgm:varLst>
        <dgm:choose name="Name10">
          <dgm:if name="Name1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12">
            <dgm:choose name="Name13">
              <dgm:if name="Name14" func="var" arg="dir" op="equ" val="norm">
                <dgm:alg type="tx">
                  <dgm:param type="parTxLTRAlign" val="l"/>
                  <dgm:param type="parTxRTLAlign" val="l"/>
                  <dgm:param type="txAnchorVertCh" val="mid"/>
                </dgm:alg>
              </dgm:if>
              <dgm:else name="Name15">
                <dgm:alg type="tx">
                  <dgm:param type="parTxLTRAlign" val="r"/>
                  <dgm:param type="parTxRTLAlign" val="r"/>
                  <dgm:param type="txAnchorVertCh" val="mid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tMarg"/>
        </dgm:constrLst>
        <dgm:ruleLst>
          <dgm:rule type="primFontSz" val="5" fact="NaN" max="NaN"/>
        </dgm:ruleLst>
      </dgm:layoutNode>
    </dgm:forEach>
    <dgm:forEach name="Name16" axis="ch" ptType="node" st="2" cnt="1">
      <dgm:layoutNode name="downArrow" styleLbl="node1">
        <dgm:alg type="sp"/>
        <dgm:shape xmlns:r="http://schemas.openxmlformats.org/officeDocument/2006/relationships" type="downArrow" r:blip="">
          <dgm:adjLst/>
        </dgm:shape>
        <dgm:presOf/>
        <dgm:constrLst/>
        <dgm:ruleLst/>
      </dgm:layoutNode>
      <dgm:layoutNode name="downArrowText" styleLbl="revTx">
        <dgm:varLst>
          <dgm:chMax val="0"/>
          <dgm:bulletEnabled val="1"/>
        </dgm:varLst>
        <dgm:choose name="Name17">
          <dgm:if name="Name18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19">
            <dgm:choose name="Name20">
              <dgm:if name="Name21" func="var" arg="dir" op="equ" val="norm">
                <dgm:alg type="tx">
                  <dgm:param type="parTxLTRAlign" val="l"/>
                  <dgm:param type="parTxRTLAlign" val="l"/>
                  <dgm:param type="txAnchorVertCh" val="mid"/>
                </dgm:alg>
              </dgm:if>
              <dgm:else name="Name22">
                <dgm:alg type="tx">
                  <dgm:param type="parTxLTRAlign" val="r"/>
                  <dgm:param type="parTxRTLAlign" val="r"/>
                  <dgm:param type="txAnchorVertCh" val="mid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tMarg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8" charset="0"/>
              </a:defRPr>
            </a:lvl1pPr>
          </a:lstStyle>
          <a:p>
            <a:pPr>
              <a:defRPr/>
            </a:pPr>
            <a:fld id="{9FA45A9E-7761-3846-9783-F10EE5B548CC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111341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8" charset="0"/>
        <a:ea typeface="ＭＳ Ｐゴシック" pitchFamily="33" charset="-128"/>
        <a:cs typeface="ＭＳ Ｐゴシック" pitchFamily="33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8" charset="0"/>
        <a:ea typeface="ＭＳ Ｐゴシック" pitchFamily="-10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8" charset="0"/>
        <a:ea typeface="ＭＳ Ｐゴシック" pitchFamily="-10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8" charset="0"/>
        <a:ea typeface="ＭＳ Ｐゴシック" pitchFamily="-10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8" charset="0"/>
        <a:ea typeface="ＭＳ Ｐゴシック" pitchFamily="-108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FA45A9E-7761-3846-9783-F10EE5B548CC}" type="slidenum">
              <a:rPr lang="en-AU" smtClean="0"/>
              <a:pPr>
                <a:defRPr/>
              </a:pPr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26862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C7AC41B-982D-2740-975B-CBC1E41F9A36}" type="slidenum">
              <a:rPr lang="en-AU">
                <a:latin typeface="Arial" pitchFamily="-110" charset="0"/>
              </a:rPr>
              <a:pPr/>
              <a:t>3</a:t>
            </a:fld>
            <a:endParaRPr lang="en-AU">
              <a:latin typeface="Arial" pitchFamily="-110" charset="0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 universal technique for providing confidentiality for transmitted or stored</a:t>
            </a:r>
            <a:r>
              <a:rPr lang="en-US" b="0" baseline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</a:t>
            </a:r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data is symmetric encryption.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This section introduces the basic concept of symmetric encryption. This is followed by an overview of the two most important symmetric encryption algorithms: 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 Data Encryption Standard (DES)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 Advanced Encryption Standard (AES)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which are block encryption algorithms. 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Finally, this section introduces the concept of symmetric stream encryption algorithms.</a:t>
            </a:r>
            <a:r>
              <a:rPr lang="en-US" b="0" baseline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</a:t>
            </a:r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Symmetric encryption, also referred to as conventional encryption or single-key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encryption, was the only type of encryption in use prior to the introduction of public-key</a:t>
            </a:r>
            <a:r>
              <a:rPr lang="en-US" b="0" baseline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</a:t>
            </a:r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encryption in the late 1970s. 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Countless individuals and groups, from Julius Caesar to the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German U-boat force to present-day diplomatic, military, and commercial users, have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used symmetric encryption for secret communication. It remains the more widely used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of the two types of encryption.</a:t>
            </a:r>
          </a:p>
          <a:p>
            <a:pPr eaLnBrk="1" hangingPunct="1"/>
            <a:endParaRPr lang="en-US" b="0" dirty="0" smtClean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There are two requirements for secure use of symmetric encryption:</a:t>
            </a:r>
          </a:p>
          <a:p>
            <a:pPr eaLnBrk="1" hangingPunct="1"/>
            <a:endParaRPr lang="en-US" b="0" dirty="0" smtClean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1. We need a strong encryption algorithm. At a minimum, we would like the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algorithm to be such that an opponent who knows the algorithm and has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access to one or more </a:t>
            </a:r>
            <a:r>
              <a:rPr lang="en-US" b="0" dirty="0" err="1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ciphertexts</a:t>
            </a:r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would be unable to decipher the ciphertext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or figure out the key. This requirement is usually stated in a stronger form: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 opponent should be unable to decrypt ciphertext or discover the key even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if he or she is in possession of a number of </a:t>
            </a:r>
            <a:r>
              <a:rPr lang="en-US" b="0" dirty="0" err="1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ciphertexts</a:t>
            </a:r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together with the plaintext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that produced each ciphertext.</a:t>
            </a:r>
          </a:p>
          <a:p>
            <a:pPr eaLnBrk="1" hangingPunct="1"/>
            <a:endParaRPr lang="en-US" b="0" dirty="0" smtClean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2. Sender and receiver must have obtained copies of the secret key in a secure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fashion and must keep the key secure. If someone can discover the key and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knows the algorithm, all communication using this key is readable.</a:t>
            </a:r>
          </a:p>
          <a:p>
            <a:pPr eaLnBrk="1" hangingPunct="1"/>
            <a:endParaRPr lang="en-US" dirty="0" smtClean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endParaRPr lang="en-US" dirty="0" smtClean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709965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26896E3-56B8-DD4F-92D1-41B1FE9B0E6C}" type="slidenum">
              <a:rPr lang="en-AU">
                <a:latin typeface="Arial" pitchFamily="-110" charset="0"/>
              </a:rPr>
              <a:pPr/>
              <a:t>4</a:t>
            </a:fld>
            <a:endParaRPr lang="en-AU">
              <a:latin typeface="Arial" pitchFamily="-110" charset="0"/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562600" cy="4343400"/>
          </a:xfrm>
          <a:noFill/>
          <a:ln/>
        </p:spPr>
        <p:txBody>
          <a:bodyPr/>
          <a:lstStyle/>
          <a:p>
            <a:pPr eaLnBrk="1" hangingPunct="1"/>
            <a:r>
              <a:rPr lang="en-US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 symmetric encryption scheme has five ingredients (Figure 2.1):</a:t>
            </a:r>
          </a:p>
          <a:p>
            <a:pPr eaLnBrk="1" hangingPunct="1"/>
            <a:endParaRPr lang="en-US" dirty="0" smtClean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• </a:t>
            </a:r>
            <a:r>
              <a:rPr lang="en-US" b="1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Plaintext:</a:t>
            </a:r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This is the original message or data that is fed into the algorithm as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input.</a:t>
            </a:r>
          </a:p>
          <a:p>
            <a:pPr eaLnBrk="1" hangingPunct="1"/>
            <a:endParaRPr lang="en-US" b="0" dirty="0" smtClean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• </a:t>
            </a:r>
            <a:r>
              <a:rPr lang="en-US" b="1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Encryption algorithm</a:t>
            </a:r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: The encryption algorithm performs various substitutions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and transformations on the plaintext.</a:t>
            </a:r>
          </a:p>
          <a:p>
            <a:pPr eaLnBrk="1" hangingPunct="1"/>
            <a:endParaRPr lang="en-US" b="0" dirty="0" smtClean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• </a:t>
            </a:r>
            <a:r>
              <a:rPr lang="en-US" b="1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Secret key</a:t>
            </a:r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: The secret key is also input to the encryption algorithm. The exact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substitutions and transformations performed by the algorithm depend on the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key.</a:t>
            </a:r>
          </a:p>
          <a:p>
            <a:pPr eaLnBrk="1" hangingPunct="1"/>
            <a:endParaRPr lang="en-US" b="0" dirty="0" smtClean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• </a:t>
            </a:r>
            <a:r>
              <a:rPr lang="en-US" b="1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Ciphertext: </a:t>
            </a:r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This is the scrambled message produced as output. It depends on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 plaintext and the secret key. For a given message, two different keys will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produce two different </a:t>
            </a:r>
            <a:r>
              <a:rPr lang="en-US" b="0" dirty="0" err="1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ciphertexts</a:t>
            </a:r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.</a:t>
            </a:r>
          </a:p>
          <a:p>
            <a:pPr eaLnBrk="1" hangingPunct="1"/>
            <a:endParaRPr lang="en-US" b="0" dirty="0" smtClean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• </a:t>
            </a:r>
            <a:r>
              <a:rPr lang="en-US" b="1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Decryption algorithm</a:t>
            </a:r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: This is essentially the encryption algorithm run in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reverse. It takes the ciphertext and the secret key and produces the original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plaintext.</a:t>
            </a:r>
            <a:endParaRPr lang="en-US" b="0" dirty="0" smtClean="0">
              <a:latin typeface="Times New Roman" pitchFamily="-110" charset="0"/>
              <a:ea typeface="Times New Roman" pitchFamily="-110" charset="0"/>
              <a:cs typeface="Times New Roman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09886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C7AC41B-982D-2740-975B-CBC1E41F9A36}" type="slidenum">
              <a:rPr lang="en-AU">
                <a:latin typeface="Arial" pitchFamily="-110" charset="0"/>
              </a:rPr>
              <a:pPr/>
              <a:t>5</a:t>
            </a:fld>
            <a:endParaRPr lang="en-AU">
              <a:latin typeface="Arial" pitchFamily="-110" charset="0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 universal technique for providing confidentiality for transmitted or stored</a:t>
            </a:r>
            <a:r>
              <a:rPr lang="en-US" b="0" baseline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</a:t>
            </a:r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data is symmetric encryption.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This section introduces the basic concept of symmetric encryption. This is followed by an overview of the two most important symmetric encryption algorithms: 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 Data Encryption Standard (DES)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 Advanced Encryption Standard (AES)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which are block encryption algorithms. 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Finally, this section introduces the concept of symmetric stream encryption algorithms.</a:t>
            </a:r>
            <a:r>
              <a:rPr lang="en-US" b="0" baseline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</a:t>
            </a:r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Symmetric encryption, also referred to as conventional encryption or single-key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encryption, was the only type of encryption in use prior to the introduction of public-key</a:t>
            </a:r>
            <a:r>
              <a:rPr lang="en-US" b="0" baseline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</a:t>
            </a:r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encryption in the late 1970s. 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Countless individuals and groups, from Julius Caesar to the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German U-boat force to present-day diplomatic, military, and commercial users, have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used symmetric encryption for secret communication. It remains the more widely used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of the two types of encryption.</a:t>
            </a:r>
          </a:p>
          <a:p>
            <a:pPr eaLnBrk="1" hangingPunct="1"/>
            <a:endParaRPr lang="en-US" b="0" dirty="0" smtClean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There are two requirements for secure use of symmetric encryption:</a:t>
            </a:r>
          </a:p>
          <a:p>
            <a:pPr eaLnBrk="1" hangingPunct="1"/>
            <a:endParaRPr lang="en-US" b="0" dirty="0" smtClean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1. We need a strong encryption algorithm. At a minimum, we would like the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algorithm to be such that an opponent who knows the algorithm and has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access to one or more </a:t>
            </a:r>
            <a:r>
              <a:rPr lang="en-US" b="0" dirty="0" err="1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ciphertexts</a:t>
            </a:r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would be unable to decipher the ciphertext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or figure out the key. This requirement is usually stated in a stronger form: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 opponent should be unable to decrypt ciphertext or discover the key even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if he or she is in possession of a number of </a:t>
            </a:r>
            <a:r>
              <a:rPr lang="en-US" b="0" dirty="0" err="1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ciphertexts</a:t>
            </a:r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together with the plaintext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that produced each ciphertext.</a:t>
            </a:r>
          </a:p>
          <a:p>
            <a:pPr eaLnBrk="1" hangingPunct="1"/>
            <a:endParaRPr lang="en-US" b="0" dirty="0" smtClean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2. Sender and receiver must have obtained copies of the secret key in a secure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fashion and must keep the key secure. If someone can discover the key and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knows the algorithm, all communication using this key is readable.</a:t>
            </a:r>
          </a:p>
          <a:p>
            <a:pPr eaLnBrk="1" hangingPunct="1"/>
            <a:endParaRPr lang="en-US" dirty="0" smtClean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endParaRPr lang="en-US" dirty="0" smtClean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176847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CC1BE9F-ADEE-204B-9924-0E88CCB94F1B}" type="slidenum">
              <a:rPr lang="en-AU">
                <a:latin typeface="Arial" pitchFamily="-110" charset="0"/>
              </a:rPr>
              <a:pPr/>
              <a:t>6</a:t>
            </a:fld>
            <a:endParaRPr lang="en-AU">
              <a:latin typeface="Arial" pitchFamily="-110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There are two general approaches to attacking a symmetric encryption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scheme. The first attack is known as </a:t>
            </a:r>
            <a:r>
              <a:rPr lang="en-US" b="1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cryptanalysis</a:t>
            </a:r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. Cryptanalytic attacks rely on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 nature of the algorithm plus perhaps some knowledge of the general characteristics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of the plaintext or even some sample plaintext-</a:t>
            </a:r>
            <a:r>
              <a:rPr lang="en-US" b="0" dirty="0" err="1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ciphertext</a:t>
            </a:r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pairs. This type of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attack exploits the characteristics of the algorithm to attempt to deduce a specific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plaintext or to deduce the key being used. If the attack succeeds in deducing the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key, the effect is catastrophic: All future and past messages encrypted with that key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are compromised.</a:t>
            </a:r>
          </a:p>
          <a:p>
            <a:pPr eaLnBrk="1" hangingPunct="1"/>
            <a:endParaRPr lang="en-US" dirty="0" smtClean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 second method, known as the </a:t>
            </a:r>
            <a:r>
              <a:rPr lang="en-US" b="1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brute-force attack</a:t>
            </a:r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, is to try every possible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key on a piece of ciphertext until an intelligible translation into plaintext is obtained.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On average, half of all possible keys must be tried to achieve success. </a:t>
            </a:r>
            <a:endParaRPr lang="en-US" b="0" dirty="0" smtClean="0">
              <a:latin typeface="Times New Roman" pitchFamily="-110" charset="0"/>
              <a:ea typeface="ＭＳ Ｐゴシック" pitchFamily="-110" charset="-128"/>
              <a:cs typeface="ＭＳ Ｐゴシック" pitchFamily="-11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865273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41D161F-7245-BE4F-9C02-B359E60FBFCD}" type="slidenum">
              <a:rPr lang="en-AU">
                <a:latin typeface="Arial" pitchFamily="-110" charset="0"/>
              </a:rPr>
              <a:pPr/>
              <a:t>8</a:t>
            </a:fld>
            <a:endParaRPr lang="en-AU">
              <a:latin typeface="Arial" pitchFamily="-110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 Until recently, the most widely used encryption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scheme was based on the Data Encryption Standard (DES) adopted in 1977 by the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National Bureau of Standards, now the National Institute of Standards and Technology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(NIST), as FIPS PUB 46 (Data Encryption Standard , January 1977).  The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algorithm itself is referred to as the Data Encryption Algorithm (DEA). DES takes a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plaintext block of 64 bits and a key of 56 bits, to produce a ciphertext block of 64 bits.</a:t>
            </a:r>
          </a:p>
          <a:p>
            <a:endParaRPr lang="en-US" sz="1200" kern="1200" dirty="0" smtClean="0">
              <a:solidFill>
                <a:schemeClr val="tx1"/>
              </a:solidFill>
              <a:effectLst/>
              <a:latin typeface="Arial" pitchFamily="-108" charset="0"/>
              <a:ea typeface="ＭＳ Ｐゴシック" pitchFamily="33" charset="-128"/>
              <a:cs typeface="ＭＳ Ｐゴシック" pitchFamily="33" charset="-128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Concerns about the strength of DES fall into two categories: concerns about the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algorithm itself, and concerns about the use of a 56-bit key. The first concern refers to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the possibility that cryptanalysis is possible by exploiting the characteristics of the DES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algorithm. Over the years, there have been numerous attempts to find and exploit weaknesses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in the algorithm, making DES the most-studied encryption algorithm in existence.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Despite numerous approaches, no one has so far reported a fatal weakness in DES.</a:t>
            </a:r>
          </a:p>
          <a:p>
            <a:endParaRPr lang="en-US" dirty="0" smtClean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 more serious concern is key length. With a key length of 56 bits, there are 2</a:t>
            </a:r>
            <a:r>
              <a:rPr lang="en-US" baseline="3000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56</a:t>
            </a:r>
          </a:p>
          <a:p>
            <a:r>
              <a:rPr lang="en-US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possible keys, which is approximately 7.2 x 10</a:t>
            </a:r>
            <a:r>
              <a:rPr lang="en-US" baseline="3000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16</a:t>
            </a:r>
            <a:r>
              <a:rPr lang="en-US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keys.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 Given the speed of commercial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off-the-shelf processors, this key length is woefully inadequate. A paper from Seagate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Technology [SEAG08] suggests that a rate of one billion (10</a:t>
            </a:r>
            <a:r>
              <a:rPr lang="en-US" sz="1200" kern="1200" baseline="30000" dirty="0" smtClean="0">
                <a:solidFill>
                  <a:schemeClr val="tx1"/>
                </a:solidFill>
                <a:effectLst/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9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) key combinations per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second is reasonable for today’s multicore computers. Recent offerings confirm this.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Both Intel and AMD now offer hardware-based instructions to accelerate the use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of AES. Tests run on a contemporary multicore Intel machine resulted in an encryption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rate of about half a billion encryptions per second [BASU12]. Another recent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analysis suggests that with contemporary supercomputer technology, a rate of 10</a:t>
            </a:r>
            <a:r>
              <a:rPr lang="en-US" sz="1200" kern="1200" baseline="30000" dirty="0" smtClean="0">
                <a:solidFill>
                  <a:schemeClr val="tx1"/>
                </a:solidFill>
                <a:effectLst/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13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 encryptions/s is reasonable [AROR12].</a:t>
            </a:r>
          </a:p>
          <a:p>
            <a:endParaRPr lang="en-US" dirty="0" smtClean="0">
              <a:latin typeface="Times New Roman" pitchFamily="-110" charset="0"/>
              <a:ea typeface="ＭＳ Ｐゴシック" pitchFamily="-110" charset="-128"/>
              <a:cs typeface="ＭＳ Ｐゴシック" pitchFamily="-11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349677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AFFF266-5831-A744-AC73-233EE3AED622}" type="slidenum">
              <a:rPr lang="en-AU">
                <a:latin typeface="Arial" pitchFamily="-110" charset="0"/>
              </a:rPr>
              <a:pPr/>
              <a:t>9</a:t>
            </a:fld>
            <a:endParaRPr lang="en-AU">
              <a:latin typeface="Arial" pitchFamily="-110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 life of DES was extended by the use of triple DES (3DES),</a:t>
            </a:r>
          </a:p>
          <a:p>
            <a:r>
              <a:rPr lang="en-US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which involves repeating the basic DES algorithm three times, using either two</a:t>
            </a:r>
          </a:p>
          <a:p>
            <a:r>
              <a:rPr lang="en-US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or three unique keys, for a key size of 112 or 168 bits. Triple DES (3DES) was</a:t>
            </a:r>
          </a:p>
          <a:p>
            <a:r>
              <a:rPr lang="en-US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first standardized for use in financial applications in ANSI standard X9.17 in 1985.</a:t>
            </a:r>
          </a:p>
          <a:p>
            <a:r>
              <a:rPr lang="en-US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3DES was incorporated as part of the Data Encryption Standard in 1999, with the</a:t>
            </a:r>
          </a:p>
          <a:p>
            <a:r>
              <a:rPr lang="en-US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publication of FIPS PUB 46-3.</a:t>
            </a:r>
          </a:p>
          <a:p>
            <a:endParaRPr lang="en-US" dirty="0" smtClean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3DES has two attractions that assure its widespread use over the next few</a:t>
            </a:r>
          </a:p>
          <a:p>
            <a:r>
              <a:rPr lang="en-US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years. First, with its 168-bit key length, it overcomes the vulnerability to brute-force</a:t>
            </a:r>
          </a:p>
          <a:p>
            <a:r>
              <a:rPr lang="en-US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attack of DES. Second, the underlying encryption algorithm in 3DES is the same as</a:t>
            </a:r>
          </a:p>
          <a:p>
            <a:r>
              <a:rPr lang="en-US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in DES. This algorithm has been subjected to more scrutiny than any other encryption</a:t>
            </a:r>
          </a:p>
          <a:p>
            <a:r>
              <a:rPr lang="en-US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algorithm over a longer period of time, and no effective cryptanalytic attack</a:t>
            </a:r>
          </a:p>
          <a:p>
            <a:r>
              <a:rPr lang="en-US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based on the algorithm rather than brute force has been found. Accordingly, there</a:t>
            </a:r>
          </a:p>
          <a:p>
            <a:r>
              <a:rPr lang="en-US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is a high level of confidence that 3DES is very resistant to cryptanalysis. If security</a:t>
            </a:r>
          </a:p>
          <a:p>
            <a:r>
              <a:rPr lang="en-US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were the only consideration, then 3DES would be an appropriate choice for a standardized</a:t>
            </a:r>
          </a:p>
          <a:p>
            <a:r>
              <a:rPr lang="en-US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encryption algorithm for decades to come.</a:t>
            </a:r>
          </a:p>
          <a:p>
            <a:endParaRPr lang="en-US" dirty="0" smtClean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 principal drawback of 3DES is that the algorithm is relatively sluggish in</a:t>
            </a:r>
          </a:p>
          <a:p>
            <a:r>
              <a:rPr lang="en-US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software. The original DES was designed for mid-1970s hardware implementation</a:t>
            </a:r>
          </a:p>
          <a:p>
            <a:r>
              <a:rPr lang="en-US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and does not produce efficient software code. 3DES, which requires three times as</a:t>
            </a:r>
          </a:p>
          <a:p>
            <a:r>
              <a:rPr lang="en-US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many calculations as DES, is correspondingly slower. A secondary drawback is that</a:t>
            </a:r>
          </a:p>
          <a:p>
            <a:r>
              <a:rPr lang="en-US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both DES and 3DES use a 64-bit block size. For reasons of both efficiency and security,</a:t>
            </a:r>
          </a:p>
          <a:p>
            <a:r>
              <a:rPr lang="en-US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 larger block size is desirable.</a:t>
            </a:r>
            <a:endParaRPr lang="en-US" dirty="0" smtClean="0">
              <a:latin typeface="Times New Roman" pitchFamily="-110" charset="0"/>
              <a:ea typeface="ＭＳ Ｐゴシック" pitchFamily="-110" charset="-128"/>
              <a:cs typeface="ＭＳ Ｐゴシック" pitchFamily="-11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164965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2313EC9-A858-154B-BCF4-68836FB2E02C}" type="slidenum">
              <a:rPr lang="en-AU">
                <a:latin typeface="Arial" pitchFamily="-110" charset="0"/>
              </a:rPr>
              <a:pPr/>
              <a:t>10</a:t>
            </a:fld>
            <a:endParaRPr lang="en-AU">
              <a:latin typeface="Arial" pitchFamily="-110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Because of its drawbacks, 3DES is not a</a:t>
            </a:r>
          </a:p>
          <a:p>
            <a:r>
              <a:rPr lang="en-US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reasonable candidate for long-term use. As a replacement, NIST in 1997 issued a</a:t>
            </a:r>
          </a:p>
          <a:p>
            <a:r>
              <a:rPr lang="en-US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call for proposals for a new Advanced Encryption Standard (AES), which should</a:t>
            </a:r>
          </a:p>
          <a:p>
            <a:r>
              <a:rPr lang="en-US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have a security strength equal to or better than 3DES and significantly improved</a:t>
            </a:r>
          </a:p>
          <a:p>
            <a:r>
              <a:rPr lang="en-US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efficiency. In addition to these general requirements, NIST specified that AES must</a:t>
            </a:r>
          </a:p>
          <a:p>
            <a:r>
              <a:rPr lang="en-US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be a symmetric block cipher with a block length of 128 bits and support for key</a:t>
            </a:r>
          </a:p>
          <a:p>
            <a:r>
              <a:rPr lang="en-US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lengths of 128, 192, and 256 bits. Evaluation criteria included security, computational</a:t>
            </a:r>
          </a:p>
          <a:p>
            <a:r>
              <a:rPr lang="en-US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efficiency, memory requirements, hardware and software suitability, and flexibility.</a:t>
            </a:r>
          </a:p>
          <a:p>
            <a:endParaRPr lang="en-US" dirty="0" smtClean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In a first round of evaluation, 15 proposed algorithms were accepted. A</a:t>
            </a:r>
          </a:p>
          <a:p>
            <a:r>
              <a:rPr lang="en-US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second round narrowed the field to 5 algorithms. NIST completed its evaluation</a:t>
            </a:r>
          </a:p>
          <a:p>
            <a:r>
              <a:rPr lang="en-US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process and published a final standard (FIPS PUB 197) in November of 2001. NIST</a:t>
            </a:r>
          </a:p>
          <a:p>
            <a:r>
              <a:rPr lang="en-US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selected </a:t>
            </a:r>
            <a:r>
              <a:rPr lang="en-US" dirty="0" err="1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Rijndael</a:t>
            </a:r>
            <a:r>
              <a:rPr lang="en-US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as the proposed AES algorithm. AES is now widely available in</a:t>
            </a:r>
          </a:p>
          <a:p>
            <a:r>
              <a:rPr lang="en-US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commercial products. AES is described in detail in Chapter 20.</a:t>
            </a:r>
            <a:endParaRPr lang="en-US" dirty="0" smtClean="0">
              <a:solidFill>
                <a:srgbClr val="000000"/>
              </a:solidFill>
              <a:latin typeface="Times New Roman" pitchFamily="-110" charset="0"/>
              <a:ea typeface="ＭＳ Ｐゴシック" pitchFamily="-110" charset="-128"/>
              <a:cs typeface="ＭＳ Ｐゴシック" pitchFamily="-11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654163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E2027D8-8F21-DE43-B42D-A54F7CA3580B}" type="slidenum">
              <a:rPr lang="en-AU">
                <a:latin typeface="Arial" pitchFamily="-110" charset="0"/>
              </a:rPr>
              <a:pPr/>
              <a:t>11</a:t>
            </a:fld>
            <a:endParaRPr lang="en-AU">
              <a:latin typeface="Arial" pitchFamily="-110" charset="0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171450" indent="-171450" eaLnBrk="1" hangingPunct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The most commonly used symmetric encryption algorithms are block ciphers</a:t>
            </a:r>
            <a:r>
              <a:rPr lang="en-US" dirty="0" smtClean="0"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.</a:t>
            </a:r>
          </a:p>
          <a:p>
            <a:pPr marL="171450" indent="-171450" eaLnBrk="1" hangingPunct="1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A </a:t>
            </a:r>
            <a:r>
              <a:rPr lang="en-US" dirty="0"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block cipher processes the plaintext input in fixed-size blocks and produces a block of ciphertext of equal size for each plaintext block. </a:t>
            </a:r>
            <a:endParaRPr lang="en-US" dirty="0" smtClean="0">
              <a:latin typeface="Times New Roman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pPr marL="171450" indent="-171450" eaLnBrk="1" hangingPunct="1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The </a:t>
            </a:r>
            <a:r>
              <a:rPr lang="en-US" dirty="0"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algorithm processes longer plaintext amounts as a series of fixed-size blocks. </a:t>
            </a:r>
            <a:endParaRPr lang="en-US" dirty="0" smtClean="0">
              <a:latin typeface="Times New Roman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pPr marL="171450" indent="-171450" eaLnBrk="1" hangingPunct="1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The </a:t>
            </a:r>
            <a:r>
              <a:rPr lang="en-US" dirty="0"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most important symmetric algorithms, all of which are block ciphers, are the Data Encryption Standard (DES), triple DES, and the Advanced Encryption Standard (AES); </a:t>
            </a:r>
            <a:endParaRPr lang="en-US" dirty="0" smtClean="0">
              <a:latin typeface="Times New Roman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pPr marL="171450" indent="-171450" eaLnBrk="1" hangingPunct="1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see </a:t>
            </a:r>
            <a:r>
              <a:rPr lang="en-US" dirty="0"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Table </a:t>
            </a:r>
            <a:r>
              <a:rPr lang="en-US" dirty="0" smtClean="0"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2.1.  </a:t>
            </a:r>
            <a:r>
              <a:rPr lang="en-US" dirty="0">
                <a:latin typeface="Times New Roman" pitchFamily="-110" charset="0"/>
                <a:ea typeface="ＭＳ Ｐゴシック" pitchFamily="-110" charset="-128"/>
                <a:cs typeface="ＭＳ Ｐゴシック" pitchFamily="-110" charset="-128"/>
              </a:rPr>
              <a:t>This subsection provides an overview of these algorithms.  Chapter 20 presents the technical details.</a:t>
            </a:r>
          </a:p>
        </p:txBody>
      </p:sp>
    </p:spTree>
    <p:extLst>
      <p:ext uri="{BB962C8B-B14F-4D97-AF65-F5344CB8AC3E}">
        <p14:creationId xmlns:p14="http://schemas.microsoft.com/office/powerpoint/2010/main" val="43989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928C4FB-7298-D14C-96D7-BA07164FC86F}" type="slidenum">
              <a:rPr lang="en-AU">
                <a:latin typeface="Arial" pitchFamily="-110" charset="0"/>
              </a:rPr>
              <a:pPr/>
              <a:t>12</a:t>
            </a:fld>
            <a:endParaRPr lang="en-AU">
              <a:latin typeface="Arial" pitchFamily="-110" charset="0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562600" cy="4495800"/>
          </a:xfrm>
          <a:noFill/>
          <a:ln/>
        </p:spPr>
        <p:txBody>
          <a:bodyPr/>
          <a:lstStyle/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 Table 2.2 shows how much time is required for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a brute-force attack for various key sizes. As can be seen, a single PC can break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DES in about a year; if multiple PCs work in parallel, the time is drastically shortened.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And today’s supercomputers should be able to find a key in about an hour.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Key sizes of 128 bits or greater are effectively unbreakable using simply a brute-force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approach. Even if we managed to speed up the attacking system by a factor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of 1 trillion (10</a:t>
            </a:r>
            <a:r>
              <a:rPr lang="en-US" sz="1200" b="0" i="0" u="none" strike="noStrike" kern="1200" baseline="30000" dirty="0" smtClean="0">
                <a:solidFill>
                  <a:schemeClr val="tx1"/>
                </a:solidFill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12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 ), it would still take over 100,000 years to break a code using a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pitchFamily="-108" charset="0"/>
                <a:ea typeface="ＭＳ Ｐゴシック" pitchFamily="33" charset="-128"/>
                <a:cs typeface="ＭＳ Ｐゴシック" pitchFamily="33" charset="-128"/>
              </a:rPr>
              <a:t>128-bit key.</a:t>
            </a:r>
            <a:endParaRPr lang="en-US" dirty="0" smtClean="0">
              <a:latin typeface="Times New Roman" pitchFamily="-110" charset="0"/>
              <a:ea typeface="ＭＳ Ｐゴシック" pitchFamily="-110" charset="-128"/>
              <a:cs typeface="ＭＳ Ｐゴシック" pitchFamily="-11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51266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dirty="0" smtClean="0"/>
              <a:t>Typically, symmetric encryption is applied to a</a:t>
            </a:r>
            <a:r>
              <a:rPr lang="en-US" baseline="0" dirty="0" smtClean="0"/>
              <a:t> </a:t>
            </a:r>
            <a:r>
              <a:rPr lang="en-US" dirty="0" smtClean="0"/>
              <a:t>unit of data larger than a single 64-bit or 128-bit block. </a:t>
            </a:r>
          </a:p>
          <a:p>
            <a:pPr>
              <a:defRPr/>
            </a:pPr>
            <a:r>
              <a:rPr lang="en-US" dirty="0" smtClean="0"/>
              <a:t>E-mail messages, network</a:t>
            </a:r>
            <a:r>
              <a:rPr lang="en-US" baseline="0" dirty="0" smtClean="0"/>
              <a:t> </a:t>
            </a:r>
            <a:r>
              <a:rPr lang="en-US" dirty="0" smtClean="0"/>
              <a:t>packets, database records, and other plaintext sources must be broken up into a</a:t>
            </a:r>
            <a:r>
              <a:rPr lang="en-US" baseline="0" dirty="0" smtClean="0"/>
              <a:t> </a:t>
            </a:r>
            <a:r>
              <a:rPr lang="en-US" dirty="0" smtClean="0"/>
              <a:t>series of fixed-length block for encryption by a symmetric block cipher. </a:t>
            </a:r>
          </a:p>
          <a:p>
            <a:pPr>
              <a:defRPr/>
            </a:pPr>
            <a:r>
              <a:rPr lang="en-US" dirty="0" smtClean="0"/>
              <a:t>The simplest</a:t>
            </a:r>
            <a:r>
              <a:rPr lang="en-US" baseline="0" dirty="0" smtClean="0"/>
              <a:t> </a:t>
            </a:r>
            <a:r>
              <a:rPr lang="en-US" dirty="0" smtClean="0"/>
              <a:t>approach to multiple-block encryption is known as electronic codebook (ECB)</a:t>
            </a:r>
            <a:r>
              <a:rPr lang="en-US" baseline="0" dirty="0" smtClean="0"/>
              <a:t> </a:t>
            </a:r>
            <a:r>
              <a:rPr lang="en-US" dirty="0" smtClean="0"/>
              <a:t>mode, in which plaintext is handled </a:t>
            </a:r>
            <a:r>
              <a:rPr lang="en-US" i="1" dirty="0" smtClean="0"/>
              <a:t>b bits at a time and each block of plaintext is</a:t>
            </a:r>
          </a:p>
          <a:p>
            <a:pPr>
              <a:defRPr/>
            </a:pPr>
            <a:r>
              <a:rPr lang="en-US" dirty="0" smtClean="0"/>
              <a:t>encrypted using the same key. Typically </a:t>
            </a:r>
            <a:r>
              <a:rPr lang="en-US" i="1" dirty="0" smtClean="0"/>
              <a:t>b =64 or b =128</a:t>
            </a: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For lengthy messages, the ECB mode may not be secure. A cryptanalyst may</a:t>
            </a:r>
          </a:p>
          <a:p>
            <a:pPr>
              <a:defRPr/>
            </a:pPr>
            <a:r>
              <a:rPr lang="en-US" dirty="0" smtClean="0"/>
              <a:t>be able to exploit regularities in the plaintext to ease the task of decryption. For</a:t>
            </a:r>
          </a:p>
          <a:p>
            <a:pPr>
              <a:defRPr/>
            </a:pPr>
            <a:r>
              <a:rPr lang="en-US" dirty="0" smtClean="0"/>
              <a:t>example, if it is known that the message always starts out with certain predefined</a:t>
            </a:r>
          </a:p>
          <a:p>
            <a:pPr>
              <a:defRPr/>
            </a:pPr>
            <a:r>
              <a:rPr lang="en-US" dirty="0" smtClean="0"/>
              <a:t>fields, then the cryptanalyst may have a number of known plaintext-</a:t>
            </a:r>
            <a:r>
              <a:rPr lang="en-US" dirty="0" err="1" smtClean="0"/>
              <a:t>ciphertext</a:t>
            </a:r>
            <a:r>
              <a:rPr lang="en-US" dirty="0" smtClean="0"/>
              <a:t> pairs</a:t>
            </a:r>
          </a:p>
          <a:p>
            <a:pPr>
              <a:defRPr/>
            </a:pPr>
            <a:r>
              <a:rPr lang="en-US" dirty="0" smtClean="0"/>
              <a:t>to work with.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To increase the security of symmetric block encryption for large sequences</a:t>
            </a:r>
          </a:p>
          <a:p>
            <a:pPr>
              <a:defRPr/>
            </a:pPr>
            <a:r>
              <a:rPr lang="en-US" dirty="0" smtClean="0"/>
              <a:t>of data, a number of alternative techniques have been developed, called </a:t>
            </a:r>
            <a:r>
              <a:rPr lang="en-US" b="1" dirty="0" smtClean="0"/>
              <a:t>modes of</a:t>
            </a:r>
          </a:p>
          <a:p>
            <a:pPr>
              <a:defRPr/>
            </a:pPr>
            <a:r>
              <a:rPr lang="en-US" b="1" dirty="0" smtClean="0"/>
              <a:t>operation. </a:t>
            </a:r>
            <a:r>
              <a:rPr lang="en-US" dirty="0" smtClean="0"/>
              <a:t>These modes overcome the weaknesses of ECB; each mode has its own</a:t>
            </a:r>
          </a:p>
          <a:p>
            <a:pPr>
              <a:defRPr/>
            </a:pPr>
            <a:r>
              <a:rPr lang="en-US" dirty="0" smtClean="0"/>
              <a:t>particular advantages. This topic is explored in Chapter 20.</a:t>
            </a:r>
            <a:endParaRPr lang="en-US" dirty="0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53386E0-290C-8A40-901F-50999F697ABC}" type="slidenum">
              <a:rPr lang="en-AU" smtClean="0">
                <a:latin typeface="Arial" pitchFamily="-110" charset="0"/>
              </a:rPr>
              <a:pPr/>
              <a:t>13</a:t>
            </a:fld>
            <a:endParaRPr lang="en-AU" smtClean="0">
              <a:latin typeface="Arial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58704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2989D2AC-6326-1240-9DED-3BAB86934429}" type="slidenum">
              <a:rPr lang="en-AU" sz="1200"/>
              <a:pPr eaLnBrk="1" hangingPunct="1"/>
              <a:t>15</a:t>
            </a:fld>
            <a:endParaRPr lang="en-AU" sz="120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b="0" dirty="0">
                <a:latin typeface="Times New Roman" charset="0"/>
                <a:ea typeface="ＭＳ Ｐゴシック" charset="0"/>
                <a:cs typeface="ＭＳ Ｐゴシック" charset="0"/>
              </a:rPr>
              <a:t>An encryption scheme is </a:t>
            </a:r>
            <a:r>
              <a:rPr lang="en-US" b="1" dirty="0">
                <a:latin typeface="Times New Roman" charset="0"/>
                <a:ea typeface="ＭＳ Ｐゴシック" charset="0"/>
                <a:cs typeface="ＭＳ Ｐゴシック" charset="0"/>
              </a:rPr>
              <a:t>computationally secure </a:t>
            </a:r>
            <a:r>
              <a:rPr lang="en-US" b="0" dirty="0">
                <a:latin typeface="Times New Roman" charset="0"/>
                <a:ea typeface="ＭＳ Ｐゴシック" charset="0"/>
                <a:cs typeface="ＭＳ Ｐゴシック" charset="0"/>
              </a:rPr>
              <a:t>if the ciphertext generated</a:t>
            </a:r>
          </a:p>
          <a:p>
            <a:pPr eaLnBrk="1" hangingPunct="1"/>
            <a:r>
              <a:rPr lang="en-US" b="0" dirty="0">
                <a:latin typeface="Times New Roman" charset="0"/>
                <a:ea typeface="ＭＳ Ｐゴシック" charset="0"/>
                <a:cs typeface="ＭＳ Ｐゴシック" charset="0"/>
              </a:rPr>
              <a:t>by the scheme meets one or both of the following criteria:</a:t>
            </a:r>
          </a:p>
          <a:p>
            <a:pPr eaLnBrk="1" hangingPunct="1"/>
            <a:endParaRPr lang="en-US" b="0" dirty="0">
              <a:latin typeface="Times New Roman" charset="0"/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US" b="0" dirty="0">
                <a:latin typeface="Times New Roman" charset="0"/>
                <a:ea typeface="ＭＳ Ｐゴシック" charset="0"/>
                <a:cs typeface="ＭＳ Ｐゴシック" charset="0"/>
              </a:rPr>
              <a:t>• The cost of breaking the cipher exceeds the value of the encrypted information.</a:t>
            </a:r>
          </a:p>
          <a:p>
            <a:pPr eaLnBrk="1" hangingPunct="1"/>
            <a:endParaRPr lang="en-US" b="0" dirty="0">
              <a:latin typeface="Times New Roman" charset="0"/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US" b="0" dirty="0">
                <a:latin typeface="Times New Roman" charset="0"/>
                <a:ea typeface="ＭＳ Ｐゴシック" charset="0"/>
                <a:cs typeface="ＭＳ Ｐゴシック" charset="0"/>
              </a:rPr>
              <a:t>• The time required to break the cipher exceeds the useful lifetime of the</a:t>
            </a:r>
          </a:p>
          <a:p>
            <a:pPr eaLnBrk="1" hangingPunct="1"/>
            <a:r>
              <a:rPr lang="en-US" b="0" dirty="0">
                <a:latin typeface="Times New Roman" charset="0"/>
                <a:ea typeface="ＭＳ Ｐゴシック" charset="0"/>
                <a:cs typeface="ＭＳ Ｐゴシック" charset="0"/>
              </a:rPr>
              <a:t>information.</a:t>
            </a:r>
          </a:p>
          <a:p>
            <a:pPr eaLnBrk="1" hangingPunct="1"/>
            <a:endParaRPr lang="en-US" b="0" dirty="0">
              <a:latin typeface="Times New Roman" charset="0"/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US" b="0" dirty="0">
                <a:latin typeface="Times New Roman" charset="0"/>
                <a:ea typeface="ＭＳ Ｐゴシック" charset="0"/>
                <a:cs typeface="ＭＳ Ｐゴシック" charset="0"/>
              </a:rPr>
              <a:t>Unfortunately, it is very difficult to estimate the amount of effort required</a:t>
            </a:r>
          </a:p>
          <a:p>
            <a:pPr eaLnBrk="1" hangingPunct="1"/>
            <a:r>
              <a:rPr lang="en-US" b="0" dirty="0">
                <a:latin typeface="Times New Roman" charset="0"/>
                <a:ea typeface="ＭＳ Ｐゴシック" charset="0"/>
                <a:cs typeface="ＭＳ Ｐゴシック" charset="0"/>
              </a:rPr>
              <a:t>to cryptanalyze ciphertext successfully. However, assuming there are no inherent</a:t>
            </a:r>
          </a:p>
          <a:p>
            <a:pPr eaLnBrk="1" hangingPunct="1"/>
            <a:r>
              <a:rPr lang="en-US" b="0" dirty="0">
                <a:latin typeface="Times New Roman" charset="0"/>
                <a:ea typeface="ＭＳ Ｐゴシック" charset="0"/>
                <a:cs typeface="ＭＳ Ｐゴシック" charset="0"/>
              </a:rPr>
              <a:t>mathematical weaknesses in the algorithm, then a brute-force approach is indicated,</a:t>
            </a:r>
          </a:p>
          <a:p>
            <a:pPr eaLnBrk="1" hangingPunct="1"/>
            <a:r>
              <a:rPr lang="en-US" b="0" dirty="0">
                <a:latin typeface="Times New Roman" charset="0"/>
                <a:ea typeface="ＭＳ Ｐゴシック" charset="0"/>
                <a:cs typeface="ＭＳ Ｐゴシック" charset="0"/>
              </a:rPr>
              <a:t>and here we can make some reasonable estimates about costs and time.</a:t>
            </a:r>
          </a:p>
          <a:p>
            <a:pPr eaLnBrk="1" hangingPunct="1"/>
            <a:endParaRPr lang="en-US" b="0" dirty="0">
              <a:latin typeface="Times New Roman" charset="0"/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US" b="0" dirty="0">
                <a:latin typeface="Times New Roman" charset="0"/>
                <a:ea typeface="ＭＳ Ｐゴシック" charset="0"/>
                <a:cs typeface="ＭＳ Ｐゴシック" charset="0"/>
              </a:rPr>
              <a:t>A brute-force approach involves trying every possible key until an intelligible</a:t>
            </a:r>
          </a:p>
          <a:p>
            <a:pPr eaLnBrk="1" hangingPunct="1"/>
            <a:r>
              <a:rPr lang="en-US" b="0" dirty="0">
                <a:latin typeface="Times New Roman" charset="0"/>
                <a:ea typeface="ＭＳ Ｐゴシック" charset="0"/>
                <a:cs typeface="ＭＳ Ｐゴシック" charset="0"/>
              </a:rPr>
              <a:t>translation of the ciphertext into plaintext is obtained. On average, half of all</a:t>
            </a:r>
          </a:p>
          <a:p>
            <a:pPr eaLnBrk="1" hangingPunct="1"/>
            <a:r>
              <a:rPr lang="en-US" b="0" dirty="0">
                <a:latin typeface="Times New Roman" charset="0"/>
                <a:ea typeface="ＭＳ Ｐゴシック" charset="0"/>
                <a:cs typeface="ＭＳ Ｐゴシック" charset="0"/>
              </a:rPr>
              <a:t>possible keys must be tried to achieve success. This type of attack is discussed in</a:t>
            </a:r>
          </a:p>
          <a:p>
            <a:pPr eaLnBrk="1" hangingPunct="1"/>
            <a:r>
              <a:rPr lang="en-US" b="0" dirty="0">
                <a:latin typeface="Times New Roman" charset="0"/>
                <a:ea typeface="ＭＳ Ｐゴシック" charset="0"/>
                <a:cs typeface="ＭＳ Ｐゴシック" charset="0"/>
              </a:rPr>
              <a:t>Section 2.1 .</a:t>
            </a:r>
          </a:p>
        </p:txBody>
      </p:sp>
    </p:spTree>
    <p:extLst>
      <p:ext uri="{BB962C8B-B14F-4D97-AF65-F5344CB8AC3E}">
        <p14:creationId xmlns:p14="http://schemas.microsoft.com/office/powerpoint/2010/main" val="7662580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dirty="0" smtClean="0">
              <a:latin typeface="Times New Roman" charset="0"/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• </a:t>
            </a:r>
            <a:r>
              <a:rPr lang="en-US" b="1" dirty="0" smtClean="0">
                <a:latin typeface="Times New Roman" charset="0"/>
                <a:ea typeface="ＭＳ Ｐゴシック" charset="0"/>
                <a:cs typeface="ＭＳ Ｐゴシック" charset="0"/>
              </a:rPr>
              <a:t>Block size: </a:t>
            </a:r>
            <a:r>
              <a:rPr lang="en-US" b="0" dirty="0" smtClean="0">
                <a:latin typeface="Times New Roman" charset="0"/>
                <a:ea typeface="ＭＳ Ｐゴシック" charset="0"/>
                <a:cs typeface="ＭＳ Ｐゴシック" charset="0"/>
              </a:rPr>
              <a:t>Larger block sizes mean greater security (all other things being</a:t>
            </a:r>
          </a:p>
          <a:p>
            <a:pPr eaLnBrk="1" hangingPunct="1"/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equal) but reduced encryption/decryption speed. A block size of 128 bits</a:t>
            </a:r>
          </a:p>
          <a:p>
            <a:pPr eaLnBrk="1" hangingPunct="1"/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is a reasonable tradeoff and is nearly universal among recent block cipher</a:t>
            </a:r>
          </a:p>
          <a:p>
            <a:pPr eaLnBrk="1" hangingPunct="1"/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designs.</a:t>
            </a:r>
          </a:p>
          <a:p>
            <a:pPr eaLnBrk="1" hangingPunct="1"/>
            <a:endParaRPr lang="en-US" dirty="0" smtClean="0">
              <a:latin typeface="Times New Roman" charset="0"/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• </a:t>
            </a:r>
            <a:r>
              <a:rPr lang="en-US" b="1" dirty="0" smtClean="0">
                <a:latin typeface="Times New Roman" charset="0"/>
                <a:ea typeface="ＭＳ Ｐゴシック" charset="0"/>
                <a:cs typeface="ＭＳ Ｐゴシック" charset="0"/>
              </a:rPr>
              <a:t>Key size: </a:t>
            </a:r>
            <a:r>
              <a:rPr lang="en-US" b="0" dirty="0" smtClean="0">
                <a:latin typeface="Times New Roman" charset="0"/>
                <a:ea typeface="ＭＳ Ｐゴシック" charset="0"/>
                <a:cs typeface="ＭＳ Ｐゴシック" charset="0"/>
              </a:rPr>
              <a:t>Larger key size means greater security but may decrease encryption/</a:t>
            </a:r>
          </a:p>
          <a:p>
            <a:pPr eaLnBrk="1" hangingPunct="1"/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decryption speed. The most common key length in modern algorithms is</a:t>
            </a:r>
          </a:p>
          <a:p>
            <a:pPr eaLnBrk="1" hangingPunct="1"/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128 bits.</a:t>
            </a:r>
          </a:p>
          <a:p>
            <a:pPr eaLnBrk="1" hangingPunct="1"/>
            <a:endParaRPr lang="en-US" dirty="0" smtClean="0">
              <a:latin typeface="Times New Roman" charset="0"/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• </a:t>
            </a:r>
            <a:r>
              <a:rPr lang="en-US" b="1" dirty="0" smtClean="0">
                <a:latin typeface="Times New Roman" charset="0"/>
                <a:ea typeface="ＭＳ Ｐゴシック" charset="0"/>
                <a:cs typeface="ＭＳ Ｐゴシック" charset="0"/>
              </a:rPr>
              <a:t>Number of rounds: </a:t>
            </a:r>
            <a:r>
              <a:rPr lang="en-US" b="0" dirty="0" smtClean="0">
                <a:latin typeface="Times New Roman" charset="0"/>
                <a:ea typeface="ＭＳ Ｐゴシック" charset="0"/>
                <a:cs typeface="ＭＳ Ｐゴシック" charset="0"/>
              </a:rPr>
              <a:t>The essence of a symmetric block cipher is that a single</a:t>
            </a:r>
          </a:p>
          <a:p>
            <a:pPr eaLnBrk="1" hangingPunct="1"/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round offers inadequate security but that multiple rounds offer increasing</a:t>
            </a:r>
          </a:p>
          <a:p>
            <a:pPr eaLnBrk="1" hangingPunct="1"/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security. A typical size is 16 rounds.</a:t>
            </a:r>
          </a:p>
          <a:p>
            <a:pPr eaLnBrk="1" hangingPunct="1"/>
            <a:endParaRPr lang="en-US" dirty="0" smtClean="0">
              <a:latin typeface="Times New Roman" charset="0"/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• </a:t>
            </a:r>
            <a:r>
              <a:rPr lang="en-US" b="1" dirty="0" smtClean="0">
                <a:latin typeface="Times New Roman" charset="0"/>
                <a:ea typeface="ＭＳ Ｐゴシック" charset="0"/>
                <a:cs typeface="ＭＳ Ｐゴシック" charset="0"/>
              </a:rPr>
              <a:t>Subkey generation algorithm : </a:t>
            </a:r>
            <a:r>
              <a:rPr lang="en-US" b="0" dirty="0" smtClean="0">
                <a:latin typeface="Times New Roman" charset="0"/>
                <a:ea typeface="ＭＳ Ｐゴシック" charset="0"/>
                <a:cs typeface="ＭＳ Ｐゴシック" charset="0"/>
              </a:rPr>
              <a:t>Greater complexity in this algorithm should</a:t>
            </a:r>
          </a:p>
          <a:p>
            <a:pPr eaLnBrk="1" hangingPunct="1"/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lead to greater difficulty of cryptanalysis.</a:t>
            </a:r>
          </a:p>
          <a:p>
            <a:pPr eaLnBrk="1" hangingPunct="1"/>
            <a:endParaRPr lang="en-US" dirty="0" smtClean="0">
              <a:latin typeface="Times New Roman" charset="0"/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• </a:t>
            </a:r>
            <a:r>
              <a:rPr lang="en-US" b="1" dirty="0" smtClean="0">
                <a:latin typeface="Times New Roman" charset="0"/>
                <a:ea typeface="ＭＳ Ｐゴシック" charset="0"/>
                <a:cs typeface="ＭＳ Ｐゴシック" charset="0"/>
              </a:rPr>
              <a:t>Round function: </a:t>
            </a:r>
            <a:r>
              <a:rPr lang="en-US" b="0" dirty="0" smtClean="0">
                <a:latin typeface="Times New Roman" charset="0"/>
                <a:ea typeface="ＭＳ Ｐゴシック" charset="0"/>
                <a:cs typeface="ＭＳ Ｐゴシック" charset="0"/>
              </a:rPr>
              <a:t>Again, greater complexity generally means greater resistance</a:t>
            </a:r>
          </a:p>
          <a:p>
            <a:pPr eaLnBrk="1" hangingPunct="1"/>
            <a:r>
              <a:rPr lang="en-US" b="0" dirty="0" smtClean="0">
                <a:latin typeface="Times New Roman" charset="0"/>
                <a:ea typeface="ＭＳ Ｐゴシック" charset="0"/>
                <a:cs typeface="ＭＳ Ｐゴシック" charset="0"/>
              </a:rPr>
              <a:t>to cryptanalysis.</a:t>
            </a:r>
          </a:p>
          <a:p>
            <a:pPr eaLnBrk="1" hangingPunct="1"/>
            <a:endParaRPr lang="en-US" dirty="0" smtClean="0">
              <a:latin typeface="Times New Roman" charset="0"/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There are two other considerations in the design of a symmetric block cipher:</a:t>
            </a:r>
          </a:p>
          <a:p>
            <a:pPr eaLnBrk="1" hangingPunct="1"/>
            <a:endParaRPr lang="en-US" dirty="0" smtClean="0">
              <a:latin typeface="Times New Roman" charset="0"/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• </a:t>
            </a:r>
            <a:r>
              <a:rPr lang="en-US" b="1" dirty="0" smtClean="0">
                <a:latin typeface="Times New Roman" charset="0"/>
                <a:ea typeface="ＭＳ Ｐゴシック" charset="0"/>
                <a:cs typeface="ＭＳ Ｐゴシック" charset="0"/>
              </a:rPr>
              <a:t>Fast software encryption/decryption</a:t>
            </a:r>
            <a:r>
              <a:rPr lang="en-US" b="0" dirty="0" smtClean="0">
                <a:latin typeface="Times New Roman" charset="0"/>
                <a:ea typeface="ＭＳ Ｐゴシック" charset="0"/>
                <a:cs typeface="ＭＳ Ｐゴシック" charset="0"/>
              </a:rPr>
              <a:t>: In many cases, encryption is embedded in</a:t>
            </a:r>
          </a:p>
          <a:p>
            <a:pPr eaLnBrk="1" hangingPunct="1"/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applications or utility functions in such a way as to preclude a hardware implementation.</a:t>
            </a:r>
          </a:p>
          <a:p>
            <a:pPr eaLnBrk="1" hangingPunct="1"/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Accordingly, the speed of execution of the algorithm becomes a</a:t>
            </a:r>
          </a:p>
          <a:p>
            <a:pPr eaLnBrk="1" hangingPunct="1"/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concern.</a:t>
            </a:r>
          </a:p>
          <a:p>
            <a:pPr eaLnBrk="1" hangingPunct="1"/>
            <a:endParaRPr lang="en-US" dirty="0" smtClean="0">
              <a:latin typeface="Times New Roman" charset="0"/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• </a:t>
            </a:r>
            <a:r>
              <a:rPr lang="en-US" b="1" dirty="0" smtClean="0">
                <a:latin typeface="Times New Roman" charset="0"/>
                <a:ea typeface="ＭＳ Ｐゴシック" charset="0"/>
                <a:cs typeface="ＭＳ Ｐゴシック" charset="0"/>
              </a:rPr>
              <a:t>Ease of analysis: </a:t>
            </a:r>
            <a:r>
              <a:rPr lang="en-US" b="0" dirty="0" smtClean="0">
                <a:latin typeface="Times New Roman" charset="0"/>
                <a:ea typeface="ＭＳ Ｐゴシック" charset="0"/>
                <a:cs typeface="ＭＳ Ｐゴシック" charset="0"/>
              </a:rPr>
              <a:t>Although we would like to make our algorithm as difficult as</a:t>
            </a:r>
          </a:p>
          <a:p>
            <a:pPr eaLnBrk="1" hangingPunct="1"/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possible to cryptanalyze, there is great benefit in making the algorithm easy to</a:t>
            </a:r>
          </a:p>
          <a:p>
            <a:pPr eaLnBrk="1" hangingPunct="1"/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analyze. That is, if the algorithm can be concisely and clearly explained, it is</a:t>
            </a:r>
          </a:p>
          <a:p>
            <a:pPr eaLnBrk="1" hangingPunct="1"/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easier to analyze that algorithm for cryptanalytic vulnerabilities and therefore</a:t>
            </a:r>
          </a:p>
          <a:p>
            <a:pPr eaLnBrk="1" hangingPunct="1"/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develop a higher level of assurance as to its strength. DES, for example, does</a:t>
            </a:r>
          </a:p>
          <a:p>
            <a:pPr eaLnBrk="1" hangingPunct="1"/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not have an easily analyzed functionality.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FA45A9E-7761-3846-9783-F10EE5B548CC}" type="slidenum">
              <a:rPr lang="en-AU" smtClean="0"/>
              <a:pPr>
                <a:defRPr/>
              </a:pPr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50504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FA45A9E-7761-3846-9783-F10EE5B548CC}" type="slidenum">
              <a:rPr lang="en-AU" smtClean="0"/>
              <a:pPr>
                <a:defRPr/>
              </a:pPr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02463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FA45A9E-7761-3846-9783-F10EE5B548CC}" type="slidenum">
              <a:rPr lang="en-AU" smtClean="0"/>
              <a:pPr>
                <a:defRPr/>
              </a:pPr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13468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FA45A9E-7761-3846-9783-F10EE5B548CC}" type="slidenum">
              <a:rPr lang="en-AU" smtClean="0"/>
              <a:pPr>
                <a:defRPr/>
              </a:pPr>
              <a:t>20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41218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FA45A9E-7761-3846-9783-F10EE5B548CC}" type="slidenum">
              <a:rPr lang="en-AU" smtClean="0"/>
              <a:pPr>
                <a:defRPr/>
              </a:pPr>
              <a:t>21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4798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FA45A9E-7761-3846-9783-F10EE5B548CC}" type="slidenum">
              <a:rPr lang="en-AU" smtClean="0"/>
              <a:pPr>
                <a:defRPr/>
              </a:pPr>
              <a:t>24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86648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FA45A9E-7761-3846-9783-F10EE5B548CC}" type="slidenum">
              <a:rPr lang="en-AU" smtClean="0"/>
              <a:pPr>
                <a:defRPr/>
              </a:pPr>
              <a:t>26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652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FA45A9E-7761-3846-9783-F10EE5B548CC}" type="slidenum">
              <a:rPr lang="en-AU" smtClean="0"/>
              <a:pPr>
                <a:defRPr/>
              </a:pPr>
              <a:t>28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07831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FA45A9E-7761-3846-9783-F10EE5B548CC}" type="slidenum">
              <a:rPr lang="en-AU" smtClean="0"/>
              <a:pPr>
                <a:defRPr/>
              </a:pPr>
              <a:t>30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12257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FA45A9E-7761-3846-9783-F10EE5B548CC}" type="slidenum">
              <a:rPr lang="en-AU" smtClean="0"/>
              <a:pPr>
                <a:defRPr/>
              </a:pPr>
              <a:t>31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37366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FA45A9E-7761-3846-9783-F10EE5B548CC}" type="slidenum">
              <a:rPr lang="en-AU" smtClean="0"/>
              <a:pPr>
                <a:defRPr/>
              </a:pPr>
              <a:t>34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1049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dirty="0" smtClean="0"/>
              <a:t>A </a:t>
            </a:r>
            <a:r>
              <a:rPr lang="en-US" i="1" dirty="0" smtClean="0"/>
              <a:t>block cipher </a:t>
            </a:r>
            <a:r>
              <a:rPr lang="en-US" i="0" dirty="0" smtClean="0"/>
              <a:t>processes the input one block of elements at a time, producing an</a:t>
            </a:r>
          </a:p>
          <a:p>
            <a:pPr>
              <a:defRPr/>
            </a:pPr>
            <a:r>
              <a:rPr lang="en-US" i="0" dirty="0" smtClean="0"/>
              <a:t>output block for </a:t>
            </a:r>
            <a:r>
              <a:rPr lang="en-US" dirty="0" smtClean="0"/>
              <a:t>each input block. A </a:t>
            </a:r>
            <a:r>
              <a:rPr lang="en-US" i="1" dirty="0" smtClean="0"/>
              <a:t>stream cipher </a:t>
            </a:r>
            <a:r>
              <a:rPr lang="en-US" i="0" dirty="0" smtClean="0"/>
              <a:t>processes the input elements</a:t>
            </a:r>
          </a:p>
          <a:p>
            <a:pPr>
              <a:defRPr/>
            </a:pPr>
            <a:r>
              <a:rPr lang="en-US" i="0" dirty="0" smtClean="0"/>
              <a:t>continuously, producing output one element at a time</a:t>
            </a:r>
            <a:r>
              <a:rPr lang="en-US" dirty="0" smtClean="0"/>
              <a:t>, as it goes along. Although</a:t>
            </a:r>
          </a:p>
          <a:p>
            <a:pPr>
              <a:defRPr/>
            </a:pPr>
            <a:r>
              <a:rPr lang="en-US" dirty="0" smtClean="0"/>
              <a:t>block ciphers are far more common, there are certain applications in which a stream</a:t>
            </a:r>
          </a:p>
          <a:p>
            <a:pPr>
              <a:defRPr/>
            </a:pPr>
            <a:r>
              <a:rPr lang="en-US" dirty="0" smtClean="0"/>
              <a:t>cipher is more appropriate. Examples are given subsequently in this book.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A typical stream cipher encrypts plaintext one byte at a time, although a stream</a:t>
            </a:r>
          </a:p>
          <a:p>
            <a:pPr>
              <a:defRPr/>
            </a:pPr>
            <a:r>
              <a:rPr lang="en-US" dirty="0" smtClean="0"/>
              <a:t>cipher may be designed to operate on one bit at a time or on units larger than a byte</a:t>
            </a:r>
          </a:p>
          <a:p>
            <a:pPr>
              <a:defRPr/>
            </a:pPr>
            <a:r>
              <a:rPr lang="en-US" dirty="0" smtClean="0"/>
              <a:t>at a time. 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With a properly designed pseudorandom number generator, a stream cipher</a:t>
            </a:r>
          </a:p>
          <a:p>
            <a:pPr>
              <a:defRPr/>
            </a:pPr>
            <a:r>
              <a:rPr lang="en-US" dirty="0" smtClean="0"/>
              <a:t>can be as secure as block cipher of comparable key length. The primary advantage</a:t>
            </a:r>
          </a:p>
          <a:p>
            <a:pPr>
              <a:defRPr/>
            </a:pPr>
            <a:r>
              <a:rPr lang="en-US" dirty="0" smtClean="0"/>
              <a:t>of a stream cipher is that stream ciphers are almost always faster and use far less</a:t>
            </a:r>
          </a:p>
          <a:p>
            <a:pPr>
              <a:defRPr/>
            </a:pPr>
            <a:r>
              <a:rPr lang="en-US" dirty="0" smtClean="0"/>
              <a:t>code than do block ciphers. The advantage of a block cipher is that you can reuse</a:t>
            </a:r>
          </a:p>
          <a:p>
            <a:pPr>
              <a:defRPr/>
            </a:pPr>
            <a:r>
              <a:rPr lang="en-US" dirty="0" smtClean="0"/>
              <a:t>keys. For applications that require encryption/decryption of a stream of data, such as</a:t>
            </a:r>
          </a:p>
          <a:p>
            <a:pPr>
              <a:defRPr/>
            </a:pPr>
            <a:r>
              <a:rPr lang="en-US" dirty="0" smtClean="0"/>
              <a:t>over a data communications channel or a browser/Web link, a stream cipher might</a:t>
            </a:r>
          </a:p>
          <a:p>
            <a:pPr>
              <a:defRPr/>
            </a:pPr>
            <a:r>
              <a:rPr lang="en-US" dirty="0" smtClean="0"/>
              <a:t>be the better alternative. For applications that deal with blocks of data, such as file</a:t>
            </a:r>
          </a:p>
          <a:p>
            <a:pPr>
              <a:defRPr/>
            </a:pPr>
            <a:r>
              <a:rPr lang="en-US" dirty="0" smtClean="0"/>
              <a:t>transfer, e-mail, and database, block ciphers may be more appropriate. However,</a:t>
            </a:r>
          </a:p>
          <a:p>
            <a:pPr>
              <a:defRPr/>
            </a:pPr>
            <a:r>
              <a:rPr lang="en-US" dirty="0" smtClean="0"/>
              <a:t>either type of cipher can be used in virtually any application.</a:t>
            </a:r>
            <a:endParaRPr lang="en-US" dirty="0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F9FE99-24B7-7F45-B59C-4161A610A12D}" type="slidenum">
              <a:rPr lang="en-AU" smtClean="0">
                <a:latin typeface="Arial" pitchFamily="-110" charset="0"/>
              </a:rPr>
              <a:pPr/>
              <a:t>37</a:t>
            </a:fld>
            <a:endParaRPr lang="en-AU" smtClean="0">
              <a:latin typeface="Arial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95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06B9344-A600-C44C-BFF3-F262E2EAB853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C9FC-DA22-1F47-8722-58727A1D436E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0927A-0526-144F-9580-37ABB5A1E7E2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Palatino Linotype"/>
            </a:endParaRPr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Palatino Linotype"/>
            </a:endParaRPr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Palatino Linotype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DF91A-7C92-3743-8A2E-356816C55239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29B3-313B-4E43-B940-6E980F955EE2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E093F-740F-2B40-9952-A828B8BE9ABC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1BA6F-B221-4442-B3E0-4DE91DDD2916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DB47-CF9E-3940-A66D-FFE81C46DA24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43092-C6C6-4F4E-AC3B-C3372C3BCD24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F7B68-3A81-2E4B-BA12-F5A493E24C50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B32E-5D81-2D4F-8CC9-49749ECC7299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A855AEC4-77F9-F44E-AF10-D517C4B655CE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Palatino Linotype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Palatino Linotype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hf hdr="0" ftr="0" dt="0"/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mp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jpg"/><Relationship Id="rId4" Type="http://schemas.openxmlformats.org/officeDocument/2006/relationships/image" Target="../media/image26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684584" y="1580"/>
            <a:ext cx="10319030" cy="3024336"/>
          </a:xfrm>
        </p:spPr>
        <p:txBody>
          <a:bodyPr/>
          <a:lstStyle/>
          <a:p>
            <a:r>
              <a:rPr lang="en-US" sz="4000" b="1" dirty="0" smtClean="0"/>
              <a:t>Information Security</a:t>
            </a:r>
            <a:br>
              <a:rPr lang="en-US" sz="4000" b="1" dirty="0" smtClean="0"/>
            </a:br>
            <a:r>
              <a:rPr lang="en-US" sz="4000" b="1" dirty="0" smtClean="0"/>
              <a:t>Fall 2022</a:t>
            </a:r>
            <a:endParaRPr lang="en-US" sz="4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3648" y="3356992"/>
            <a:ext cx="7098632" cy="1750156"/>
          </a:xfrm>
        </p:spPr>
        <p:txBody>
          <a:bodyPr>
            <a:normAutofit/>
          </a:bodyPr>
          <a:lstStyle/>
          <a:p>
            <a:endParaRPr lang="en-US" dirty="0" smtClean="0">
              <a:solidFill>
                <a:srgbClr val="0070C0"/>
              </a:solidFill>
            </a:endParaRPr>
          </a:p>
          <a:p>
            <a:r>
              <a:rPr lang="en-US" b="1" u="sng" dirty="0">
                <a:solidFill>
                  <a:schemeClr val="bg2">
                    <a:lumMod val="20000"/>
                    <a:lumOff val="80000"/>
                  </a:schemeClr>
                </a:solidFill>
              </a:rPr>
              <a:t>W</a:t>
            </a:r>
            <a:r>
              <a:rPr lang="en-US" b="1" u="sng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eek # 2</a:t>
            </a:r>
          </a:p>
          <a:p>
            <a:r>
              <a:rPr lang="en-US" b="1" u="sng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Lecture # 4, </a:t>
            </a:r>
            <a:r>
              <a:rPr lang="en-US" b="1" u="sng" dirty="0">
                <a:solidFill>
                  <a:schemeClr val="bg2">
                    <a:lumMod val="20000"/>
                    <a:lumOff val="80000"/>
                  </a:schemeClr>
                </a:solidFill>
              </a:rPr>
              <a:t>5</a:t>
            </a:r>
            <a:r>
              <a:rPr lang="en-US" b="1" u="sng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 and 6</a:t>
            </a:r>
          </a:p>
          <a:p>
            <a:r>
              <a:rPr lang="en-US" sz="2100" b="1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Dr</a:t>
            </a:r>
            <a:r>
              <a:rPr lang="en-US" sz="21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. Aqsa Aslam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06B9344-A600-C44C-BFF3-F262E2EAB853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1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7794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5778" t="1280"/>
          <a:stretch/>
        </p:blipFill>
        <p:spPr>
          <a:xfrm>
            <a:off x="-2" y="-8616"/>
            <a:ext cx="5298511" cy="6881929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298510" y="204647"/>
            <a:ext cx="3233179" cy="16081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spc="-45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Carlito"/>
                <a:cs typeface="Carlito"/>
              </a:rPr>
              <a:t>Topics </a:t>
            </a:r>
            <a:r>
              <a:rPr lang="en-US" sz="2400" spc="-1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Carlito"/>
                <a:cs typeface="Carlito"/>
              </a:rPr>
              <a:t>from text book:</a:t>
            </a:r>
          </a:p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1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Carlito"/>
                <a:cs typeface="Carlito"/>
              </a:rPr>
              <a:t> Chapter </a:t>
            </a:r>
            <a:r>
              <a:rPr lang="en-US" sz="240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Carlito"/>
                <a:cs typeface="Carlito"/>
              </a:rPr>
              <a:t># 2</a:t>
            </a:r>
          </a:p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Carlito"/>
                <a:cs typeface="Carlito"/>
              </a:rPr>
              <a:t> </a:t>
            </a:r>
            <a:r>
              <a:rPr lang="en-US" sz="2400" spc="-1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Carlito"/>
                <a:cs typeface="Carlito"/>
              </a:rPr>
              <a:t>Chapter </a:t>
            </a:r>
            <a:r>
              <a:rPr lang="en-US" sz="240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Carlito"/>
                <a:cs typeface="Carlito"/>
              </a:rPr>
              <a:t># 20 </a:t>
            </a:r>
          </a:p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1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Carlito"/>
                <a:cs typeface="Carlito"/>
              </a:rPr>
              <a:t>Chapter </a:t>
            </a:r>
            <a:r>
              <a:rPr lang="en-US" sz="240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Carlito"/>
                <a:cs typeface="Carlito"/>
              </a:rPr>
              <a:t>#</a:t>
            </a:r>
            <a:r>
              <a:rPr lang="en-US" sz="2400" spc="-4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Carlito"/>
                <a:cs typeface="Carlito"/>
              </a:rPr>
              <a:t>  </a:t>
            </a:r>
            <a:r>
              <a:rPr lang="en-US" sz="240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Carlito"/>
                <a:cs typeface="Carlito"/>
              </a:rPr>
              <a:t>21</a:t>
            </a:r>
            <a:endParaRPr lang="en-US" sz="2400" dirty="0">
              <a:solidFill>
                <a:schemeClr val="bg2">
                  <a:lumMod val="20000"/>
                  <a:lumOff val="80000"/>
                </a:schemeClr>
              </a:solidFill>
              <a:latin typeface="Carlito"/>
              <a:cs typeface="Carlito"/>
            </a:endParaRPr>
          </a:p>
        </p:txBody>
      </p:sp>
      <p:sp>
        <p:nvSpPr>
          <p:cNvPr id="8" name="object 4"/>
          <p:cNvSpPr/>
          <p:nvPr/>
        </p:nvSpPr>
        <p:spPr>
          <a:xfrm>
            <a:off x="5298509" y="2513163"/>
            <a:ext cx="3845491" cy="13478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5"/>
          <p:cNvSpPr/>
          <p:nvPr/>
        </p:nvSpPr>
        <p:spPr>
          <a:xfrm>
            <a:off x="5292080" y="3925470"/>
            <a:ext cx="3845491" cy="94369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43640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116632"/>
            <a:ext cx="8229600" cy="1052736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b="1" dirty="0" smtClean="0">
                <a:solidFill>
                  <a:srgbClr val="FFC07E"/>
                </a:solidFill>
                <a:ea typeface="+mj-ea"/>
                <a:cs typeface="+mj-cs"/>
              </a:rPr>
              <a:t>Symmetric Encryption</a:t>
            </a:r>
            <a:endParaRPr lang="en-AU" b="1" dirty="0">
              <a:solidFill>
                <a:srgbClr val="FFC07E"/>
              </a:solidFill>
              <a:ea typeface="+mj-ea"/>
              <a:cs typeface="+mj-cs"/>
            </a:endParaRPr>
          </a:p>
        </p:txBody>
      </p:sp>
      <p:sp>
        <p:nvSpPr>
          <p:cNvPr id="200707" name="Rectangle 3"/>
          <p:cNvSpPr>
            <a:spLocks noGrp="1" noChangeArrowheads="1"/>
          </p:cNvSpPr>
          <p:nvPr>
            <p:ph idx="1"/>
          </p:nvPr>
        </p:nvSpPr>
        <p:spPr>
          <a:xfrm>
            <a:off x="0" y="1484784"/>
            <a:ext cx="9144000" cy="511256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buClr>
                <a:schemeClr val="accent6">
                  <a:lumMod val="60000"/>
                  <a:lumOff val="40000"/>
                </a:schemeClr>
              </a:buClr>
              <a:buSzPct val="125000"/>
              <a:buFont typeface="Arial"/>
              <a:buChar char="•"/>
              <a:defRPr/>
            </a:pPr>
            <a:r>
              <a:rPr lang="en-US" dirty="0"/>
              <a:t>The universal technique for providing confidentiality for transmitted or stored </a:t>
            </a:r>
            <a:r>
              <a:rPr lang="en-US" dirty="0" smtClean="0"/>
              <a:t>data</a:t>
            </a:r>
            <a:endParaRPr lang="en-US" dirty="0"/>
          </a:p>
          <a:p>
            <a:pPr lvl="1">
              <a:lnSpc>
                <a:spcPct val="120000"/>
              </a:lnSpc>
              <a:spcBef>
                <a:spcPts val="0"/>
              </a:spcBef>
              <a:buClr>
                <a:schemeClr val="accent6">
                  <a:lumMod val="60000"/>
                  <a:lumOff val="40000"/>
                </a:schemeClr>
              </a:buClr>
              <a:buSzPct val="125000"/>
              <a:buFont typeface="Arial"/>
              <a:buChar char="•"/>
              <a:defRPr/>
            </a:pPr>
            <a:r>
              <a:rPr lang="en-US" dirty="0" smtClean="0"/>
              <a:t>Also referred to as conventional encryption or single-key encryption</a:t>
            </a:r>
          </a:p>
          <a:p>
            <a:pPr>
              <a:lnSpc>
                <a:spcPct val="150000"/>
              </a:lnSpc>
              <a:spcAft>
                <a:spcPts val="0"/>
              </a:spcAft>
              <a:buClr>
                <a:schemeClr val="accent6">
                  <a:lumMod val="60000"/>
                  <a:lumOff val="40000"/>
                </a:schemeClr>
              </a:buClr>
              <a:buSzPct val="125000"/>
              <a:buFont typeface="Arial"/>
              <a:buChar char="•"/>
              <a:defRPr/>
            </a:pPr>
            <a:r>
              <a:rPr lang="en-US" dirty="0"/>
              <a:t>Two requirements for secure </a:t>
            </a:r>
            <a:r>
              <a:rPr lang="en-US" dirty="0" smtClean="0"/>
              <a:t>use: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SzPct val="125000"/>
              <a:buFont typeface="Arial"/>
              <a:buChar char="•"/>
              <a:defRPr/>
            </a:pPr>
            <a:r>
              <a:rPr lang="en-US" sz="1800" dirty="0"/>
              <a:t>Need a strong encryption algorithm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25000"/>
              <a:buFont typeface="Arial"/>
              <a:buChar char="•"/>
              <a:defRPr/>
            </a:pPr>
            <a:r>
              <a:rPr lang="en-US" sz="1800" dirty="0" smtClean="0"/>
              <a:t>Sender and receiver must have obtained copies of the secret key in a secure fashion and must keep the key secure</a:t>
            </a:r>
          </a:p>
          <a:p>
            <a:pPr>
              <a:lnSpc>
                <a:spcPct val="80000"/>
              </a:lnSpc>
              <a:buFont typeface="Wingdings" pitchFamily="2" charset="2"/>
              <a:buChar char=""/>
              <a:defRPr/>
            </a:pPr>
            <a:r>
              <a:rPr lang="en-US" sz="2000" dirty="0" smtClean="0"/>
              <a:t>Types </a:t>
            </a:r>
            <a:r>
              <a:rPr lang="en-US" sz="2000" dirty="0"/>
              <a:t>of Symmetric Encryption</a:t>
            </a:r>
            <a:endParaRPr lang="en-US" sz="1900" dirty="0" smtClean="0">
              <a:ea typeface="+mn-ea"/>
              <a:cs typeface="+mn-cs"/>
            </a:endParaRPr>
          </a:p>
          <a:p>
            <a:pPr lvl="1"/>
            <a:r>
              <a:rPr lang="en-US" sz="1800" b="1" i="1" dirty="0" smtClean="0"/>
              <a:t>Block Ciphers</a:t>
            </a:r>
          </a:p>
          <a:p>
            <a:pPr lvl="1"/>
            <a:r>
              <a:rPr lang="en-US" sz="1800" b="1" i="1" dirty="0" smtClean="0"/>
              <a:t>Stream Ciphers</a:t>
            </a:r>
          </a:p>
          <a:p>
            <a:pPr lvl="1"/>
            <a:endParaRPr lang="en-US" sz="1800" b="1" i="1" dirty="0"/>
          </a:p>
          <a:p>
            <a:pPr>
              <a:lnSpc>
                <a:spcPct val="80000"/>
              </a:lnSpc>
              <a:buFont typeface="Wingdings" pitchFamily="2" charset="2"/>
              <a:buChar char=""/>
              <a:defRPr/>
            </a:pPr>
            <a:r>
              <a:rPr lang="en-US" sz="2000" dirty="0" smtClean="0"/>
              <a:t>Symmetric Algorithms</a:t>
            </a:r>
            <a:endParaRPr lang="en-US" sz="1900" dirty="0"/>
          </a:p>
          <a:p>
            <a:pPr lvl="1"/>
            <a:r>
              <a:rPr lang="en-US" sz="1800" b="1" i="1" dirty="0" smtClean="0"/>
              <a:t>DES and AES</a:t>
            </a:r>
            <a:endParaRPr lang="en-US" sz="1800" b="1" i="1" dirty="0"/>
          </a:p>
          <a:p>
            <a:pPr eaLnBrk="1" fontAlgn="auto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Font typeface="Wingdings" pitchFamily="2" charset="2"/>
              <a:buChar char=""/>
              <a:defRPr/>
            </a:pPr>
            <a:endParaRPr lang="en-AU" sz="1900" dirty="0">
              <a:ea typeface="+mn-ea"/>
              <a:cs typeface="+mn-cs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C9FC-DA22-1F47-8722-58727A1D436E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3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28" t="6951" r="8537" b="38450"/>
          <a:stretch/>
        </p:blipFill>
        <p:spPr>
          <a:xfrm>
            <a:off x="179512" y="1124744"/>
            <a:ext cx="8724047" cy="4536504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116632"/>
            <a:ext cx="8229600" cy="1052736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b="1" dirty="0" smtClean="0">
                <a:solidFill>
                  <a:srgbClr val="FFC07E"/>
                </a:solidFill>
                <a:ea typeface="+mj-ea"/>
                <a:cs typeface="+mj-cs"/>
              </a:rPr>
              <a:t>Symmetric Encryption</a:t>
            </a:r>
            <a:endParaRPr lang="en-AU" b="1" dirty="0">
              <a:solidFill>
                <a:srgbClr val="FFC07E"/>
              </a:solidFill>
              <a:ea typeface="+mj-ea"/>
              <a:cs typeface="+mj-cs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0927A-0526-144F-9580-37ABB5A1E7E2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4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116632"/>
            <a:ext cx="8229600" cy="1052736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sz="4000" b="1" dirty="0" smtClean="0">
                <a:solidFill>
                  <a:srgbClr val="FFC07E"/>
                </a:solidFill>
                <a:ea typeface="+mj-ea"/>
                <a:cs typeface="+mj-cs"/>
              </a:rPr>
              <a:t>Symmetric Encryption</a:t>
            </a:r>
            <a:endParaRPr lang="en-AU" sz="4000" b="1" dirty="0">
              <a:solidFill>
                <a:srgbClr val="FFC07E"/>
              </a:solidFill>
              <a:ea typeface="+mj-ea"/>
              <a:cs typeface="+mj-cs"/>
            </a:endParaRPr>
          </a:p>
        </p:txBody>
      </p:sp>
      <p:sp>
        <p:nvSpPr>
          <p:cNvPr id="200707" name="Rectangle 3"/>
          <p:cNvSpPr>
            <a:spLocks noGrp="1" noChangeArrowheads="1"/>
          </p:cNvSpPr>
          <p:nvPr>
            <p:ph idx="1"/>
          </p:nvPr>
        </p:nvSpPr>
        <p:spPr>
          <a:xfrm>
            <a:off x="204664" y="1484784"/>
            <a:ext cx="8939336" cy="4853136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buClr>
                <a:schemeClr val="accent6">
                  <a:lumMod val="60000"/>
                  <a:lumOff val="40000"/>
                </a:schemeClr>
              </a:buClr>
              <a:buSzPct val="125000"/>
              <a:buFont typeface="Arial"/>
              <a:buChar char="•"/>
              <a:defRPr/>
            </a:pPr>
            <a:r>
              <a:rPr lang="en-US" dirty="0"/>
              <a:t>A symmetric encryption scheme has five ingredients </a:t>
            </a:r>
          </a:p>
          <a:p>
            <a:pPr marL="800100" lvl="1" indent="-342900">
              <a:lnSpc>
                <a:spcPct val="120000"/>
              </a:lnSpc>
              <a:spcBef>
                <a:spcPts val="0"/>
              </a:spcBef>
              <a:buClr>
                <a:schemeClr val="accent6">
                  <a:lumMod val="60000"/>
                  <a:lumOff val="40000"/>
                </a:schemeClr>
              </a:buClr>
              <a:buSzPct val="125000"/>
              <a:buFont typeface="+mj-lt"/>
              <a:buAutoNum type="arabicPeriod"/>
              <a:defRPr/>
            </a:pPr>
            <a:r>
              <a:rPr lang="en-US" b="1" i="1" dirty="0" smtClean="0"/>
              <a:t>Plaintext</a:t>
            </a:r>
            <a:r>
              <a:rPr lang="en-US" b="1" i="1" dirty="0"/>
              <a:t>: </a:t>
            </a:r>
            <a:r>
              <a:rPr lang="en-US" dirty="0"/>
              <a:t>This is the original message or data that is fed into the algorithm as input. </a:t>
            </a:r>
          </a:p>
          <a:p>
            <a:pPr marL="800100" lvl="1" indent="-342900">
              <a:lnSpc>
                <a:spcPct val="120000"/>
              </a:lnSpc>
              <a:spcBef>
                <a:spcPts val="0"/>
              </a:spcBef>
              <a:buClr>
                <a:schemeClr val="accent6">
                  <a:lumMod val="60000"/>
                  <a:lumOff val="40000"/>
                </a:schemeClr>
              </a:buClr>
              <a:buSzPct val="125000"/>
              <a:buFont typeface="+mj-lt"/>
              <a:buAutoNum type="arabicPeriod"/>
              <a:defRPr/>
            </a:pPr>
            <a:r>
              <a:rPr lang="en-US" b="1" i="1" dirty="0" smtClean="0"/>
              <a:t>Encryption </a:t>
            </a:r>
            <a:r>
              <a:rPr lang="en-US" b="1" i="1" dirty="0"/>
              <a:t>algorithm: </a:t>
            </a:r>
            <a:r>
              <a:rPr lang="en-US" dirty="0"/>
              <a:t>The encryption algorithm performs various substitutions and transformations on the plaintext. </a:t>
            </a:r>
          </a:p>
          <a:p>
            <a:pPr marL="800100" lvl="1" indent="-342900">
              <a:lnSpc>
                <a:spcPct val="120000"/>
              </a:lnSpc>
              <a:spcBef>
                <a:spcPts val="0"/>
              </a:spcBef>
              <a:buClr>
                <a:schemeClr val="accent6">
                  <a:lumMod val="60000"/>
                  <a:lumOff val="40000"/>
                </a:schemeClr>
              </a:buClr>
              <a:buSzPct val="125000"/>
              <a:buFont typeface="+mj-lt"/>
              <a:buAutoNum type="arabicPeriod"/>
              <a:defRPr/>
            </a:pPr>
            <a:r>
              <a:rPr lang="en-US" b="1" i="1" dirty="0" smtClean="0"/>
              <a:t>Secret </a:t>
            </a:r>
            <a:r>
              <a:rPr lang="en-US" b="1" i="1" dirty="0"/>
              <a:t>key: </a:t>
            </a:r>
            <a:r>
              <a:rPr lang="en-US" dirty="0"/>
              <a:t>The secret key is also input to the encryption algorithm. The exact substitutions and transformations performed by the algorithm depend on the key. </a:t>
            </a:r>
          </a:p>
          <a:p>
            <a:pPr marL="800100" lvl="1" indent="-342900">
              <a:lnSpc>
                <a:spcPct val="120000"/>
              </a:lnSpc>
              <a:spcBef>
                <a:spcPts val="0"/>
              </a:spcBef>
              <a:buClr>
                <a:schemeClr val="accent6">
                  <a:lumMod val="60000"/>
                  <a:lumOff val="40000"/>
                </a:schemeClr>
              </a:buClr>
              <a:buSzPct val="125000"/>
              <a:buFont typeface="+mj-lt"/>
              <a:buAutoNum type="arabicPeriod"/>
              <a:defRPr/>
            </a:pPr>
            <a:r>
              <a:rPr lang="en-US" b="1" i="1" dirty="0" smtClean="0"/>
              <a:t>Ciphertext</a:t>
            </a:r>
            <a:r>
              <a:rPr lang="en-US" b="1" i="1" dirty="0"/>
              <a:t>: </a:t>
            </a:r>
            <a:r>
              <a:rPr lang="en-US" dirty="0"/>
              <a:t>This is the scrambled message produced as output. It depends on the plaintext and the secret key. For a given message, two different keys will produce two different </a:t>
            </a:r>
            <a:r>
              <a:rPr lang="en-US" dirty="0" err="1" smtClean="0"/>
              <a:t>ciphertexts</a:t>
            </a:r>
            <a:r>
              <a:rPr lang="en-US" dirty="0"/>
              <a:t>. </a:t>
            </a:r>
          </a:p>
          <a:p>
            <a:pPr marL="800100" lvl="1" indent="-342900">
              <a:lnSpc>
                <a:spcPct val="120000"/>
              </a:lnSpc>
              <a:spcBef>
                <a:spcPts val="0"/>
              </a:spcBef>
              <a:buClr>
                <a:schemeClr val="accent6">
                  <a:lumMod val="60000"/>
                  <a:lumOff val="40000"/>
                </a:schemeClr>
              </a:buClr>
              <a:buSzPct val="125000"/>
              <a:buFont typeface="+mj-lt"/>
              <a:buAutoNum type="arabicPeriod"/>
              <a:defRPr/>
            </a:pPr>
            <a:r>
              <a:rPr lang="en-US" b="1" i="1" dirty="0" smtClean="0"/>
              <a:t>Decryption </a:t>
            </a:r>
            <a:r>
              <a:rPr lang="en-US" b="1" i="1" dirty="0"/>
              <a:t>algorithm: </a:t>
            </a:r>
            <a:r>
              <a:rPr lang="en-US" dirty="0"/>
              <a:t>This is essentially the encryption algorithm run in reverse. It takes the ciphertext and the secret key and produces the original plaintext.</a:t>
            </a:r>
            <a:endParaRPr lang="en-US" sz="1100" dirty="0" smtClean="0">
              <a:ea typeface="+mn-ea"/>
              <a:cs typeface="+mn-cs"/>
            </a:endParaRPr>
          </a:p>
          <a:p>
            <a:pPr eaLnBrk="1" fontAlgn="auto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Font typeface="Wingdings" pitchFamily="2" charset="2"/>
              <a:buChar char=""/>
              <a:defRPr/>
            </a:pPr>
            <a:endParaRPr lang="en-AU" sz="1900" dirty="0">
              <a:ea typeface="+mn-ea"/>
              <a:cs typeface="+mn-cs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C9FC-DA22-1F47-8722-58727A1D436E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5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1163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Grp="1" noChangeArrowheads="1"/>
          </p:cNvSpPr>
          <p:nvPr>
            <p:ph type="title"/>
          </p:nvPr>
        </p:nvSpPr>
        <p:spPr>
          <a:xfrm>
            <a:off x="212974" y="404664"/>
            <a:ext cx="8229600" cy="615280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>
                <a:solidFill>
                  <a:srgbClr val="FFC07E"/>
                </a:solidFill>
                <a:ea typeface="+mj-ea"/>
                <a:cs typeface="+mj-cs"/>
              </a:rPr>
              <a:t>Attacking Symmetric Encryption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solidFill>
            <a:schemeClr val="tx2"/>
          </a:solidFill>
        </p:spPr>
        <p:txBody>
          <a:bodyPr/>
          <a:lstStyle/>
          <a:p>
            <a:pPr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b="1" dirty="0" smtClean="0">
                <a:solidFill>
                  <a:schemeClr val="accent1"/>
                </a:solidFill>
              </a:rPr>
              <a:t>Cryptanalytic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b="1" dirty="0" smtClean="0">
                <a:solidFill>
                  <a:schemeClr val="accent1"/>
                </a:solidFill>
              </a:rPr>
              <a:t>Attacks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>
          <a:solidFill>
            <a:schemeClr val="tx2"/>
          </a:solidFill>
        </p:spPr>
        <p:txBody>
          <a:bodyPr/>
          <a:lstStyle/>
          <a:p>
            <a:pPr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b="1" smtClean="0">
                <a:solidFill>
                  <a:schemeClr val="accent1"/>
                </a:solidFill>
                <a:ea typeface="+mn-ea"/>
                <a:cs typeface="+mn-cs"/>
              </a:rPr>
              <a:t>Brute-Force Attacks</a:t>
            </a:r>
            <a:endParaRPr lang="en-US" b="1" dirty="0">
              <a:solidFill>
                <a:schemeClr val="accent1"/>
              </a:solidFill>
              <a:ea typeface="+mn-ea"/>
              <a:cs typeface="+mn-cs"/>
            </a:endParaRPr>
          </a:p>
        </p:txBody>
      </p:sp>
      <p:sp>
        <p:nvSpPr>
          <p:cNvPr id="221187" name="Rectangle 3"/>
          <p:cNvSpPr>
            <a:spLocks noGrp="1" noChangeArrowheads="1"/>
          </p:cNvSpPr>
          <p:nvPr>
            <p:ph sz="quarter" idx="13"/>
          </p:nvPr>
        </p:nvSpPr>
        <p:spPr>
          <a:xfrm>
            <a:off x="395536" y="2348880"/>
            <a:ext cx="3932238" cy="4343400"/>
          </a:xfrm>
        </p:spPr>
        <p:txBody>
          <a:bodyPr wrap="square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marL="342900" lvl="1" indent="-342900" eaLnBrk="1" hangingPunct="1">
              <a:lnSpc>
                <a:spcPct val="120000"/>
              </a:lnSpc>
              <a:spcBef>
                <a:spcPts val="432"/>
              </a:spcBef>
              <a:buClr>
                <a:schemeClr val="accent6">
                  <a:lumMod val="60000"/>
                  <a:lumOff val="40000"/>
                </a:schemeClr>
              </a:buClr>
              <a:buFont typeface="Wingdings" pitchFamily="33" charset="2"/>
              <a:buChar char=""/>
              <a:defRPr/>
            </a:pPr>
            <a:r>
              <a:rPr lang="en-US" sz="1800" dirty="0" smtClean="0"/>
              <a:t>Rely </a:t>
            </a:r>
            <a:r>
              <a:rPr lang="en-US" sz="1800" dirty="0"/>
              <a:t>on:</a:t>
            </a:r>
          </a:p>
          <a:p>
            <a:pPr marL="692150" lvl="2" indent="-342900" eaLnBrk="1" hangingPunct="1">
              <a:lnSpc>
                <a:spcPct val="120000"/>
              </a:lnSpc>
              <a:spcBef>
                <a:spcPts val="432"/>
              </a:spcBef>
              <a:buClr>
                <a:schemeClr val="accent1"/>
              </a:buClr>
              <a:buSzPct val="80000"/>
              <a:buFont typeface="Wingdings" pitchFamily="33" charset="2"/>
              <a:buChar char=""/>
              <a:defRPr/>
            </a:pPr>
            <a:r>
              <a:rPr lang="en-US" dirty="0" smtClean="0"/>
              <a:t>Nature </a:t>
            </a:r>
            <a:r>
              <a:rPr lang="en-US" dirty="0"/>
              <a:t>of the algorithm</a:t>
            </a:r>
          </a:p>
          <a:p>
            <a:pPr marL="692150" lvl="2" indent="-342900" eaLnBrk="1" hangingPunct="1">
              <a:lnSpc>
                <a:spcPct val="120000"/>
              </a:lnSpc>
              <a:spcBef>
                <a:spcPts val="432"/>
              </a:spcBef>
              <a:buClr>
                <a:schemeClr val="accent1"/>
              </a:buClr>
              <a:buSzPct val="80000"/>
              <a:buFont typeface="Wingdings" pitchFamily="33" charset="2"/>
              <a:buChar char=""/>
              <a:defRPr/>
            </a:pPr>
            <a:r>
              <a:rPr lang="en-US" dirty="0" smtClean="0"/>
              <a:t>Some </a:t>
            </a:r>
            <a:r>
              <a:rPr lang="en-US" dirty="0"/>
              <a:t>knowledge of the general characteristics of the plaintext</a:t>
            </a:r>
          </a:p>
          <a:p>
            <a:pPr marL="692150" lvl="2" indent="-342900" eaLnBrk="1" hangingPunct="1">
              <a:lnSpc>
                <a:spcPct val="120000"/>
              </a:lnSpc>
              <a:spcBef>
                <a:spcPts val="432"/>
              </a:spcBef>
              <a:buClr>
                <a:schemeClr val="accent1"/>
              </a:buClr>
              <a:buSzPct val="80000"/>
              <a:buFont typeface="Wingdings" pitchFamily="33" charset="2"/>
              <a:buChar char=""/>
              <a:defRPr/>
            </a:pPr>
            <a:r>
              <a:rPr lang="en-US" dirty="0" smtClean="0"/>
              <a:t>Some </a:t>
            </a:r>
            <a:r>
              <a:rPr lang="en-US" dirty="0"/>
              <a:t>sample plaintext-</a:t>
            </a:r>
            <a:r>
              <a:rPr lang="en-US" dirty="0" err="1"/>
              <a:t>ciphertext</a:t>
            </a:r>
            <a:r>
              <a:rPr lang="en-US" dirty="0"/>
              <a:t> pairs</a:t>
            </a:r>
          </a:p>
          <a:p>
            <a:pPr marL="342900" lvl="1" indent="-342900" eaLnBrk="1" hangingPunct="1">
              <a:lnSpc>
                <a:spcPct val="120000"/>
              </a:lnSpc>
              <a:spcBef>
                <a:spcPts val="432"/>
              </a:spcBef>
              <a:buClr>
                <a:schemeClr val="accent6">
                  <a:lumMod val="60000"/>
                  <a:lumOff val="40000"/>
                </a:schemeClr>
              </a:buClr>
              <a:buFont typeface="Wingdings" pitchFamily="33" charset="2"/>
              <a:buChar char=""/>
              <a:defRPr/>
            </a:pPr>
            <a:r>
              <a:rPr lang="en-US" sz="1800" dirty="0" smtClean="0"/>
              <a:t>Exploits </a:t>
            </a:r>
            <a:r>
              <a:rPr lang="en-US" sz="1800" dirty="0"/>
              <a:t>the characteristics of the algorithm to attempt to deduce a specific plaintext or the key being used</a:t>
            </a:r>
          </a:p>
          <a:p>
            <a:pPr marL="692150" lvl="2" indent="-342900">
              <a:lnSpc>
                <a:spcPct val="120000"/>
              </a:lnSpc>
              <a:spcBef>
                <a:spcPts val="432"/>
              </a:spcBef>
              <a:buClr>
                <a:schemeClr val="accent1"/>
              </a:buClr>
              <a:buSzPct val="80000"/>
              <a:buFont typeface="Wingdings" pitchFamily="33" charset="2"/>
              <a:buChar char=""/>
              <a:defRPr/>
            </a:pPr>
            <a:r>
              <a:rPr lang="en-US" dirty="0"/>
              <a:t>If successful all future and past messages encrypted with that key are compromised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4754563" y="2514600"/>
            <a:ext cx="3932237" cy="4343400"/>
          </a:xfrm>
        </p:spPr>
        <p:txBody>
          <a:bodyPr>
            <a:normAutofit/>
          </a:bodyPr>
          <a:lstStyle/>
          <a:p>
            <a:pPr marL="342900" lvl="1" indent="-342900" fontAlgn="auto">
              <a:spcAft>
                <a:spcPts val="0"/>
              </a:spcAft>
              <a:buClr>
                <a:schemeClr val="accent6">
                  <a:lumMod val="60000"/>
                  <a:lumOff val="40000"/>
                </a:schemeClr>
              </a:buClr>
              <a:buFont typeface="Wingdings" pitchFamily="33" charset="2"/>
              <a:buChar char=""/>
              <a:defRPr/>
            </a:pPr>
            <a:r>
              <a:rPr lang="en-US" sz="1800" dirty="0" smtClean="0"/>
              <a:t>Try </a:t>
            </a:r>
            <a:r>
              <a:rPr lang="en-US" sz="1800" dirty="0"/>
              <a:t>all possible keys on some ciphertext until an intelligible translation into plaintext is obtained</a:t>
            </a:r>
          </a:p>
          <a:p>
            <a:pPr marL="692150" lvl="2" indent="-342900" fontAlgn="auto">
              <a:lnSpc>
                <a:spcPct val="90000"/>
              </a:lnSpc>
              <a:spcAft>
                <a:spcPts val="0"/>
              </a:spcAft>
              <a:buClr>
                <a:schemeClr val="accent1"/>
              </a:buClr>
              <a:buSzPct val="80000"/>
              <a:buFont typeface="Wingdings" pitchFamily="33" charset="2"/>
              <a:buChar char=""/>
              <a:defRPr/>
            </a:pPr>
            <a:r>
              <a:rPr lang="en-US" dirty="0"/>
              <a:t>On average half of all possible keys must be tried to achieve success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29B3-313B-4E43-B940-6E980F955EE2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6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80528" y="260648"/>
            <a:ext cx="9756576" cy="720080"/>
          </a:xfrm>
        </p:spPr>
        <p:txBody>
          <a:bodyPr/>
          <a:lstStyle/>
          <a:p>
            <a:r>
              <a:rPr lang="en-US" sz="3600" b="1" dirty="0">
                <a:solidFill>
                  <a:srgbClr val="FFC07E"/>
                </a:solidFill>
              </a:rPr>
              <a:t>Symmetric Block Encryption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124744"/>
            <a:ext cx="8363272" cy="4935037"/>
          </a:xfrm>
        </p:spPr>
        <p:txBody>
          <a:bodyPr>
            <a:normAutofit/>
          </a:bodyPr>
          <a:lstStyle/>
          <a:p>
            <a:r>
              <a:rPr lang="en-US" b="1" i="1" dirty="0" smtClean="0"/>
              <a:t>Block Ciphers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most commonly used symmetric encryption </a:t>
            </a:r>
            <a:r>
              <a:rPr lang="en-US" dirty="0" smtClean="0"/>
              <a:t>algorithms are </a:t>
            </a:r>
            <a:r>
              <a:rPr lang="en-US" dirty="0"/>
              <a:t>block ciphers. </a:t>
            </a:r>
          </a:p>
          <a:p>
            <a:pPr lvl="1"/>
            <a:r>
              <a:rPr lang="en-US" dirty="0" smtClean="0"/>
              <a:t>A</a:t>
            </a:r>
            <a:r>
              <a:rPr lang="en-US" dirty="0"/>
              <a:t> block cipher processes the plaintext input in fixed-size blocks and produces a block of ciphertext of equal size for each plaintext block. 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algorithm processes longer plaintext amounts as a series of fixed-size blocks. 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most important symmetric algorithms, all of which are block ciphers, are </a:t>
            </a:r>
            <a:r>
              <a:rPr lang="en-US" dirty="0" smtClean="0"/>
              <a:t>the:</a:t>
            </a:r>
          </a:p>
          <a:p>
            <a:pPr lvl="2"/>
            <a:r>
              <a:rPr lang="en-US" dirty="0" smtClean="0"/>
              <a:t>Data </a:t>
            </a:r>
            <a:r>
              <a:rPr lang="en-US" dirty="0"/>
              <a:t>Encryption Standard (DES), </a:t>
            </a:r>
            <a:endParaRPr lang="en-US" dirty="0" smtClean="0"/>
          </a:p>
          <a:p>
            <a:pPr lvl="2"/>
            <a:r>
              <a:rPr lang="en-US" dirty="0"/>
              <a:t>T</a:t>
            </a:r>
            <a:r>
              <a:rPr lang="en-US" dirty="0" smtClean="0"/>
              <a:t>riple DES (3DES)</a:t>
            </a:r>
          </a:p>
          <a:p>
            <a:pPr lvl="2"/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Advanced Encryption Standard (AES)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C9FC-DA22-1F47-8722-58727A1D436E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7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5861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>
          <a:xfrm>
            <a:off x="20198" y="340024"/>
            <a:ext cx="9219254" cy="939697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>
                <a:solidFill>
                  <a:srgbClr val="FFC07E"/>
                </a:solidFill>
                <a:ea typeface="+mj-ea"/>
                <a:cs typeface="+mj-cs"/>
              </a:rPr>
              <a:t>Data Encryption Standard (DES)</a:t>
            </a:r>
            <a:endParaRPr lang="en-US" sz="4000" b="1" dirty="0">
              <a:solidFill>
                <a:srgbClr val="FFC07E"/>
              </a:solidFill>
              <a:ea typeface="+mj-ea"/>
              <a:cs typeface="+mj-cs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4899634"/>
              </p:ext>
            </p:extLst>
          </p:nvPr>
        </p:nvGraphicFramePr>
        <p:xfrm>
          <a:off x="457200" y="1676400"/>
          <a:ext cx="8686800" cy="495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Oval 5"/>
          <p:cNvSpPr/>
          <p:nvPr/>
        </p:nvSpPr>
        <p:spPr>
          <a:xfrm>
            <a:off x="3491880" y="4221088"/>
            <a:ext cx="228600" cy="2286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275856" y="1844824"/>
            <a:ext cx="228600" cy="2286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707904" y="2564904"/>
            <a:ext cx="144016" cy="144016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707904" y="3501008"/>
            <a:ext cx="144016" cy="144016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3707904" y="2924944"/>
            <a:ext cx="144016" cy="144016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211960" y="4665403"/>
            <a:ext cx="144016" cy="144016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222102" y="5507548"/>
            <a:ext cx="144016" cy="141241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C9FC-DA22-1F47-8722-58727A1D436E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8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332656"/>
            <a:ext cx="8157592" cy="810344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>
                <a:solidFill>
                  <a:srgbClr val="FFC07E"/>
                </a:solidFill>
              </a:rPr>
              <a:t>Triple</a:t>
            </a:r>
            <a:r>
              <a:rPr lang="en-US" sz="4000" b="1" dirty="0" smtClean="0">
                <a:solidFill>
                  <a:srgbClr val="FFC07E"/>
                </a:solidFill>
              </a:rPr>
              <a:t> </a:t>
            </a:r>
            <a:r>
              <a:rPr lang="en-US" sz="4000" b="1" dirty="0">
                <a:solidFill>
                  <a:srgbClr val="FFC07E"/>
                </a:solidFill>
              </a:rPr>
              <a:t>DES (3DES)</a:t>
            </a:r>
          </a:p>
        </p:txBody>
      </p:sp>
      <p:sp>
        <p:nvSpPr>
          <p:cNvPr id="234499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1143000"/>
            <a:ext cx="8454008" cy="5210200"/>
          </a:xfrm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lnSpc>
                <a:spcPct val="110000"/>
              </a:lnSpc>
              <a:buClr>
                <a:schemeClr val="accent6"/>
              </a:buClr>
              <a:buSzPct val="85000"/>
              <a:buFont typeface="Wingdings" pitchFamily="33" charset="2"/>
              <a:buChar char=""/>
              <a:defRPr/>
            </a:pPr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64E2"/>
                  </a:outerShdw>
                </a:effectLst>
              </a:rPr>
              <a:t>R</a:t>
            </a:r>
            <a:r>
              <a:rPr lang="en-US" dirty="0" smtClean="0"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64E2"/>
                  </a:outerShdw>
                </a:effectLst>
              </a:rPr>
              <a:t>epeats basic DES algorithm three times using either two or three unique keys</a:t>
            </a:r>
          </a:p>
          <a:p>
            <a:pPr eaLnBrk="1" hangingPunct="1">
              <a:lnSpc>
                <a:spcPct val="110000"/>
              </a:lnSpc>
              <a:buClr>
                <a:schemeClr val="accent6"/>
              </a:buClr>
              <a:buSzPct val="85000"/>
              <a:buFont typeface="Wingdings" pitchFamily="33" charset="2"/>
              <a:buChar char=""/>
              <a:defRPr/>
            </a:pPr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64E2"/>
                  </a:outerShdw>
                </a:effectLst>
              </a:rPr>
              <a:t>F</a:t>
            </a:r>
            <a:r>
              <a:rPr lang="en-US" dirty="0" smtClean="0"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64E2"/>
                  </a:outerShdw>
                </a:effectLst>
              </a:rPr>
              <a:t>irst standardized for use in financial applications in ANSI standard X9.17 in 1985</a:t>
            </a:r>
          </a:p>
          <a:p>
            <a:pPr eaLnBrk="1" hangingPunct="1">
              <a:lnSpc>
                <a:spcPct val="110000"/>
              </a:lnSpc>
              <a:buClr>
                <a:schemeClr val="accent6"/>
              </a:buClr>
              <a:buSzPct val="85000"/>
              <a:buFont typeface="Wingdings" pitchFamily="33" charset="2"/>
              <a:buChar char=""/>
              <a:defRPr/>
            </a:pPr>
            <a:r>
              <a:rPr lang="en-US" b="1" i="1" dirty="0"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64E2"/>
                  </a:outerShdw>
                </a:effectLst>
              </a:rPr>
              <a:t>A</a:t>
            </a:r>
            <a:r>
              <a:rPr lang="en-US" b="1" i="1" dirty="0" smtClean="0"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64E2"/>
                  </a:outerShdw>
                </a:effectLst>
              </a:rPr>
              <a:t>ttractions:</a:t>
            </a:r>
          </a:p>
          <a:p>
            <a:pPr lvl="1" eaLnBrk="1" hangingPunct="1">
              <a:lnSpc>
                <a:spcPct val="110000"/>
              </a:lnSpc>
              <a:buSzPct val="75000"/>
              <a:buFont typeface="Wingdings" pitchFamily="33" charset="2"/>
              <a:buChar char=""/>
              <a:defRPr/>
            </a:pPr>
            <a:r>
              <a:rPr lang="en-US" sz="2000" dirty="0" smtClean="0"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64E2"/>
                  </a:outerShdw>
                </a:effectLst>
              </a:rPr>
              <a:t>168-bit key length overcomes the vulnerability to brute-force attack of DES</a:t>
            </a:r>
          </a:p>
          <a:p>
            <a:pPr lvl="1" eaLnBrk="1" hangingPunct="1">
              <a:lnSpc>
                <a:spcPct val="110000"/>
              </a:lnSpc>
              <a:buSzPct val="75000"/>
              <a:buFont typeface="Wingdings" pitchFamily="33" charset="2"/>
              <a:buChar char=""/>
              <a:defRPr/>
            </a:pPr>
            <a:r>
              <a:rPr lang="en-US" sz="2000" dirty="0"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64E2"/>
                  </a:outerShdw>
                </a:effectLst>
              </a:rPr>
              <a:t>U</a:t>
            </a:r>
            <a:r>
              <a:rPr lang="en-US" sz="2000" dirty="0" smtClean="0"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64E2"/>
                  </a:outerShdw>
                </a:effectLst>
              </a:rPr>
              <a:t>nderlying encryption algorithm is the same as in DES</a:t>
            </a:r>
          </a:p>
          <a:p>
            <a:pPr>
              <a:lnSpc>
                <a:spcPct val="110000"/>
              </a:lnSpc>
              <a:buClr>
                <a:schemeClr val="accent6"/>
              </a:buClr>
              <a:buSzPct val="85000"/>
              <a:buFont typeface="Wingdings" pitchFamily="33" charset="2"/>
              <a:buChar char=""/>
              <a:defRPr/>
            </a:pPr>
            <a:r>
              <a:rPr lang="en-US" b="1" i="1" dirty="0"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64E2"/>
                  </a:outerShdw>
                </a:effectLst>
              </a:rPr>
              <a:t>Drawbacks:</a:t>
            </a:r>
          </a:p>
          <a:p>
            <a:pPr lvl="1">
              <a:lnSpc>
                <a:spcPct val="90000"/>
              </a:lnSpc>
              <a:buSzPct val="75000"/>
              <a:buFont typeface="Wingdings" pitchFamily="33" charset="2"/>
              <a:buChar char=""/>
              <a:defRPr/>
            </a:pPr>
            <a:r>
              <a:rPr lang="en-US" sz="2000" dirty="0" smtClean="0"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64E2"/>
                  </a:outerShdw>
                </a:effectLst>
              </a:rPr>
              <a:t>Algorithm </a:t>
            </a:r>
            <a:r>
              <a:rPr lang="en-US" sz="2000" dirty="0"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64E2"/>
                  </a:outerShdw>
                </a:effectLst>
              </a:rPr>
              <a:t>is sluggish in software</a:t>
            </a:r>
          </a:p>
          <a:p>
            <a:pPr lvl="1">
              <a:lnSpc>
                <a:spcPct val="90000"/>
              </a:lnSpc>
              <a:buSzPct val="75000"/>
              <a:buFont typeface="Wingdings" pitchFamily="33" charset="2"/>
              <a:buChar char=""/>
              <a:defRPr/>
            </a:pPr>
            <a:r>
              <a:rPr lang="en-US" sz="2000" dirty="0" smtClean="0"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64E2"/>
                  </a:outerShdw>
                </a:effectLst>
              </a:rPr>
              <a:t>Uses </a:t>
            </a:r>
            <a:r>
              <a:rPr lang="en-US" sz="2000" dirty="0"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64E2"/>
                  </a:outerShdw>
                </a:effectLst>
              </a:rPr>
              <a:t>a 64-bit block size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C9FC-DA22-1F47-8722-58727A1D436E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9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ChangeArrowheads="1"/>
          </p:cNvSpPr>
          <p:nvPr>
            <p:ph type="title"/>
          </p:nvPr>
        </p:nvSpPr>
        <p:spPr>
          <a:xfrm>
            <a:off x="12395" y="332656"/>
            <a:ext cx="9036496" cy="720080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>
                <a:solidFill>
                  <a:srgbClr val="FFC07E"/>
                </a:solidFill>
                <a:ea typeface="+mj-ea"/>
                <a:cs typeface="+mj-cs"/>
              </a:rPr>
              <a:t>Advanced Encryption Standard (AES)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7165992"/>
              </p:ext>
            </p:extLst>
          </p:nvPr>
        </p:nvGraphicFramePr>
        <p:xfrm>
          <a:off x="457200" y="1828800"/>
          <a:ext cx="82296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C9FC-DA22-1F47-8722-58727A1D436E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10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13982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rgbClr val="FFC07E"/>
                </a:solidFill>
                <a:ea typeface="+mj-ea"/>
                <a:cs typeface="+mj-cs"/>
              </a:rPr>
              <a:t>Table 2.1</a:t>
            </a:r>
            <a:endParaRPr lang="en-US" b="1" dirty="0">
              <a:solidFill>
                <a:srgbClr val="FFC07E"/>
              </a:solidFill>
              <a:ea typeface="+mj-ea"/>
              <a:cs typeface="+mj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71600" y="5301208"/>
            <a:ext cx="71818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b="1" dirty="0">
                <a:solidFill>
                  <a:srgbClr val="FFC07E"/>
                </a:solidFill>
                <a:latin typeface="+mj-lt"/>
              </a:rPr>
              <a:t>Comparison of Three Popular Symmetric Encryption </a:t>
            </a:r>
            <a:r>
              <a:rPr lang="en-US" sz="2800" b="1" dirty="0" smtClean="0">
                <a:solidFill>
                  <a:srgbClr val="FFC07E"/>
                </a:solidFill>
                <a:latin typeface="+mj-lt"/>
              </a:rPr>
              <a:t>Algorithms</a:t>
            </a:r>
            <a:endParaRPr lang="en-US" sz="2800" b="1" dirty="0">
              <a:solidFill>
                <a:srgbClr val="FFC07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t="-19918" b="-15935"/>
          <a:stretch/>
        </p:blipFill>
        <p:spPr>
          <a:xfrm>
            <a:off x="112151" y="1819656"/>
            <a:ext cx="8884429" cy="311810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C9FC-DA22-1F47-8722-58727A1D436E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11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260648"/>
            <a:ext cx="8229600" cy="850304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rgbClr val="FFC07E"/>
                </a:solidFill>
              </a:rPr>
              <a:t/>
            </a:r>
            <a:br>
              <a:rPr lang="en-US" b="1" dirty="0" smtClean="0">
                <a:solidFill>
                  <a:srgbClr val="FFC07E"/>
                </a:solidFill>
              </a:rPr>
            </a:br>
            <a:r>
              <a:rPr lang="en-US" sz="5300" b="1" dirty="0">
                <a:solidFill>
                  <a:srgbClr val="FFC07E"/>
                </a:solidFill>
                <a:ea typeface="+mn-ea"/>
                <a:cs typeface="+mn-cs"/>
              </a:rPr>
              <a:t>Table 2.2</a:t>
            </a:r>
            <a:endParaRPr lang="en-US" sz="2700" b="1" dirty="0">
              <a:solidFill>
                <a:srgbClr val="FFC07E"/>
              </a:solidFill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5638800"/>
            <a:ext cx="9144000" cy="52322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b="1" dirty="0">
                <a:solidFill>
                  <a:srgbClr val="FFC07E"/>
                </a:solidFill>
                <a:latin typeface="+mn-lt"/>
              </a:rPr>
              <a:t>Average Time Required for Exhaustive Key Search </a:t>
            </a:r>
            <a:endParaRPr lang="en-US" sz="2800" b="1" dirty="0">
              <a:solidFill>
                <a:srgbClr val="FFC07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1" y="1340769"/>
            <a:ext cx="8812079" cy="4157682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C9FC-DA22-1F47-8722-58727A1D436E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12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b="1" dirty="0">
                <a:ln>
                  <a:solidFill>
                    <a:srgbClr val="CC9900"/>
                  </a:solidFill>
                </a:ln>
                <a:solidFill>
                  <a:srgbClr val="FFC07E"/>
                </a:solidFill>
              </a:rPr>
              <a:t>Practical Security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268760"/>
            <a:ext cx="9361040" cy="5589240"/>
          </a:xfrm>
        </p:spPr>
        <p:txBody>
          <a:bodyPr>
            <a:normAutofit lnSpcReduction="10000"/>
          </a:bodyPr>
          <a:lstStyle/>
          <a:p>
            <a:pPr eaLnBrk="1" hangingPunct="1">
              <a:buClr>
                <a:schemeClr val="accent6">
                  <a:lumMod val="60000"/>
                  <a:lumOff val="40000"/>
                </a:schemeClr>
              </a:buClr>
              <a:buSzPct val="85000"/>
              <a:buFont typeface="Wingdings" pitchFamily="33" charset="2"/>
              <a:buChar char="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ypically symmetric encryption is applied to a unit of data larger than a single 64-bit or 128-bit block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Different modes of operations on block cipher</a:t>
            </a:r>
          </a:p>
          <a:p>
            <a:pPr lvl="1"/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means how data can be 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encrypted and decrypted</a:t>
            </a:r>
            <a:endParaRPr lang="en-US" sz="19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1900" b="1" dirty="0">
                <a:solidFill>
                  <a:srgbClr val="FFC07E"/>
                </a:solidFill>
                <a:latin typeface="Times New Roman" pitchFamily="18" charset="0"/>
                <a:cs typeface="Times New Roman" pitchFamily="18" charset="0"/>
              </a:rPr>
              <a:t>ECB, </a:t>
            </a:r>
            <a:r>
              <a:rPr lang="en-US" sz="1900" dirty="0">
                <a:solidFill>
                  <a:srgbClr val="FFC07E"/>
                </a:solidFill>
                <a:latin typeface="Times New Roman" pitchFamily="18" charset="0"/>
                <a:cs typeface="Times New Roman" pitchFamily="18" charset="0"/>
              </a:rPr>
              <a:t>CBC, </a:t>
            </a:r>
            <a:r>
              <a:rPr lang="en-US" sz="1900" dirty="0" smtClean="0">
                <a:solidFill>
                  <a:srgbClr val="FFC07E"/>
                </a:solidFill>
                <a:latin typeface="Times New Roman" pitchFamily="18" charset="0"/>
                <a:cs typeface="Times New Roman" pitchFamily="18" charset="0"/>
              </a:rPr>
              <a:t>CTR</a:t>
            </a:r>
            <a:endParaRPr lang="en-US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simplest approach to multiple-block encryption is known as </a:t>
            </a:r>
            <a:r>
              <a:rPr lang="en-US" b="1" i="1" dirty="0">
                <a:solidFill>
                  <a:srgbClr val="FFC0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electronic codebook (ECB) mode</a:t>
            </a: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plaintext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handled </a:t>
            </a:r>
            <a:r>
              <a:rPr lang="en-US" b="1" dirty="0">
                <a:solidFill>
                  <a:srgbClr val="FFC0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bits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a time and each block of plaintext is encrypted using the same key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2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b=64 or b=128 </a:t>
            </a: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size encrypt and decrypt process is independently.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accent6">
                  <a:lumMod val="60000"/>
                  <a:lumOff val="40000"/>
                </a:schemeClr>
              </a:buClr>
              <a:buSzPct val="85000"/>
              <a:buFont typeface="Wingdings" pitchFamily="33" charset="2"/>
              <a:buChar char=""/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Cryptanalysts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be able to exploit regularities in the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plaintext</a:t>
            </a:r>
          </a:p>
          <a:p>
            <a:pPr eaLnBrk="1" hangingPunct="1">
              <a:buClr>
                <a:schemeClr val="accent6">
                  <a:lumMod val="60000"/>
                  <a:lumOff val="40000"/>
                </a:schemeClr>
              </a:buClr>
              <a:buSzPct val="85000"/>
              <a:buFont typeface="Wingdings" pitchFamily="33" charset="2"/>
              <a:buChar char=""/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Modes of operation</a:t>
            </a:r>
          </a:p>
          <a:p>
            <a:pPr lvl="2" eaLnBrk="1" hangingPunct="1">
              <a:buClr>
                <a:schemeClr val="accent1"/>
              </a:buClr>
              <a:buSzPct val="80000"/>
              <a:buFont typeface="Wingdings" pitchFamily="33" charset="2"/>
              <a:buChar char=""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lternative techniques developed to increase the security of symmetric block encryption for large sequences</a:t>
            </a:r>
          </a:p>
          <a:p>
            <a:pPr lvl="2" eaLnBrk="1" hangingPunct="1">
              <a:buClr>
                <a:schemeClr val="accent1"/>
              </a:buClr>
              <a:buSzPct val="80000"/>
              <a:buFont typeface="Wingdings" pitchFamily="33" charset="2"/>
              <a:buChar char=""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vercomes the weaknesses of ECB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C9FC-DA22-1F47-8722-58727A1D436E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13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229600" cy="907504"/>
          </a:xfrm>
        </p:spPr>
        <p:txBody>
          <a:bodyPr/>
          <a:lstStyle/>
          <a:p>
            <a:r>
              <a:rPr lang="en-US" sz="4000" b="1" dirty="0">
                <a:solidFill>
                  <a:srgbClr val="FFC07E"/>
                </a:solidFill>
              </a:rPr>
              <a:t>Electronic codebook (ECB)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196752"/>
            <a:ext cx="8568952" cy="4929411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Encryption and decryption in blocks (e.g., 64 or 128 bit)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6" name="Picture 5" descr="f2.pdf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50" b="52100"/>
          <a:stretch/>
        </p:blipFill>
        <p:spPr>
          <a:xfrm>
            <a:off x="1043608" y="2047166"/>
            <a:ext cx="6981164" cy="4078997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C9FC-DA22-1F47-8722-58727A1D436E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14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6217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>
          <a:xfrm>
            <a:off x="-288540" y="-2776"/>
            <a:ext cx="9721080" cy="2016224"/>
          </a:xfrm>
        </p:spPr>
        <p:txBody>
          <a:bodyPr wrap="square" numCol="1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FFC07E"/>
                </a:solidFill>
                <a:effectLst/>
              </a:rPr>
              <a:t>Computationally Secure Encryption Schemes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57200" y="2013448"/>
            <a:ext cx="8686800" cy="4539752"/>
          </a:xfrm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2800" dirty="0" smtClean="0">
                <a:latin typeface="+mn-lt"/>
                <a:ea typeface="ＭＳ Ｐゴシック" charset="0"/>
                <a:cs typeface="ＭＳ Ｐゴシック" charset="0"/>
              </a:rPr>
              <a:t>E</a:t>
            </a:r>
            <a:r>
              <a:rPr lang="en-US" sz="2800" dirty="0" smtClean="0">
                <a:effectLst/>
                <a:latin typeface="+mn-lt"/>
                <a:ea typeface="ＭＳ Ｐゴシック" charset="0"/>
                <a:cs typeface="ＭＳ Ｐゴシック" charset="0"/>
              </a:rPr>
              <a:t>ncryption </a:t>
            </a:r>
            <a:r>
              <a:rPr lang="en-US" sz="2800" dirty="0">
                <a:effectLst/>
                <a:latin typeface="+mn-lt"/>
                <a:ea typeface="ＭＳ Ｐゴシック" charset="0"/>
                <a:cs typeface="ＭＳ Ｐゴシック" charset="0"/>
              </a:rPr>
              <a:t>is computationally secure if:</a:t>
            </a:r>
          </a:p>
          <a:p>
            <a:pPr lvl="1" eaLnBrk="1" hangingPunct="1"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1800" dirty="0" smtClean="0">
                <a:latin typeface="+mn-lt"/>
                <a:ea typeface="ＭＳ Ｐゴシック" charset="0"/>
              </a:rPr>
              <a:t>C</a:t>
            </a:r>
            <a:r>
              <a:rPr lang="en-US" sz="1800" dirty="0" smtClean="0">
                <a:effectLst/>
                <a:latin typeface="+mn-lt"/>
                <a:ea typeface="ＭＳ Ｐゴシック" charset="0"/>
              </a:rPr>
              <a:t>ost </a:t>
            </a:r>
            <a:r>
              <a:rPr lang="en-US" sz="1800" dirty="0">
                <a:effectLst/>
                <a:latin typeface="+mn-lt"/>
                <a:ea typeface="ＭＳ Ｐゴシック" charset="0"/>
              </a:rPr>
              <a:t>of breaking cipher exceeds value of information</a:t>
            </a:r>
          </a:p>
          <a:p>
            <a:pPr lvl="1" eaLnBrk="1" hangingPunct="1"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1800" dirty="0" smtClean="0">
                <a:latin typeface="+mn-lt"/>
                <a:ea typeface="ＭＳ Ｐゴシック" charset="0"/>
              </a:rPr>
              <a:t>T</a:t>
            </a:r>
            <a:r>
              <a:rPr lang="en-US" sz="1800" dirty="0" smtClean="0">
                <a:effectLst/>
                <a:latin typeface="+mn-lt"/>
                <a:ea typeface="ＭＳ Ｐゴシック" charset="0"/>
              </a:rPr>
              <a:t>ime </a:t>
            </a:r>
            <a:r>
              <a:rPr lang="en-US" sz="1800" dirty="0">
                <a:effectLst/>
                <a:latin typeface="+mn-lt"/>
                <a:ea typeface="ＭＳ Ｐゴシック" charset="0"/>
              </a:rPr>
              <a:t>required to break cipher exceeds the useful lifetime of the information</a:t>
            </a:r>
          </a:p>
          <a:p>
            <a:pPr eaLnBrk="1" hangingPunct="1"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2800" dirty="0" smtClean="0">
                <a:latin typeface="+mn-lt"/>
                <a:ea typeface="ＭＳ Ｐゴシック" charset="0"/>
                <a:cs typeface="ＭＳ Ｐゴシック" charset="0"/>
              </a:rPr>
              <a:t>U</a:t>
            </a:r>
            <a:r>
              <a:rPr lang="en-US" sz="2800" dirty="0" smtClean="0">
                <a:effectLst/>
                <a:latin typeface="+mn-lt"/>
                <a:ea typeface="ＭＳ Ｐゴシック" charset="0"/>
                <a:cs typeface="ＭＳ Ｐゴシック" charset="0"/>
              </a:rPr>
              <a:t>sually </a:t>
            </a:r>
            <a:r>
              <a:rPr lang="en-US" sz="2800" dirty="0">
                <a:effectLst/>
                <a:latin typeface="+mn-lt"/>
                <a:ea typeface="ＭＳ Ｐゴシック" charset="0"/>
                <a:cs typeface="ＭＳ Ｐゴシック" charset="0"/>
              </a:rPr>
              <a:t>very difficult to estimate the amount of effort required to </a:t>
            </a:r>
            <a:r>
              <a:rPr lang="en-US" sz="2800" dirty="0" smtClean="0">
                <a:effectLst/>
                <a:latin typeface="+mn-lt"/>
                <a:ea typeface="ＭＳ Ｐゴシック" charset="0"/>
                <a:cs typeface="ＭＳ Ｐゴシック" charset="0"/>
              </a:rPr>
              <a:t>break</a:t>
            </a:r>
            <a:endParaRPr lang="en-US" sz="2800" dirty="0">
              <a:effectLst/>
              <a:latin typeface="+mn-lt"/>
              <a:ea typeface="ＭＳ Ｐゴシック" charset="0"/>
              <a:cs typeface="ＭＳ Ｐゴシック" charset="0"/>
            </a:endParaRPr>
          </a:p>
          <a:p>
            <a:pPr eaLnBrk="1" hangingPunct="1"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sz="2800" dirty="0" smtClean="0">
                <a:latin typeface="+mn-lt"/>
                <a:ea typeface="ＭＳ Ｐゴシック" charset="0"/>
                <a:cs typeface="ＭＳ Ｐゴシック" charset="0"/>
              </a:rPr>
              <a:t>C</a:t>
            </a:r>
            <a:r>
              <a:rPr lang="en-US" sz="2800" dirty="0" smtClean="0">
                <a:effectLst/>
                <a:latin typeface="+mn-lt"/>
                <a:ea typeface="ＭＳ Ｐゴシック" charset="0"/>
                <a:cs typeface="ＭＳ Ｐゴシック" charset="0"/>
              </a:rPr>
              <a:t>an </a:t>
            </a:r>
            <a:r>
              <a:rPr lang="en-US" sz="2800" dirty="0">
                <a:effectLst/>
                <a:latin typeface="+mn-lt"/>
                <a:ea typeface="ＭＳ Ｐゴシック" charset="0"/>
                <a:cs typeface="ＭＳ Ｐゴシック" charset="0"/>
              </a:rPr>
              <a:t>estimate time/cost of a brute-force attack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C9FC-DA22-1F47-8722-58727A1D436E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15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722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32656"/>
            <a:ext cx="8458200" cy="792088"/>
          </a:xfrm>
        </p:spPr>
        <p:txBody>
          <a:bodyPr/>
          <a:lstStyle/>
          <a:p>
            <a:r>
              <a:rPr lang="en-US" sz="4000" b="1" dirty="0">
                <a:solidFill>
                  <a:srgbClr val="FFC07E"/>
                </a:solidFill>
              </a:rPr>
              <a:t>Feistel Cipher Structure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68760"/>
            <a:ext cx="9144000" cy="5688632"/>
          </a:xfrm>
        </p:spPr>
        <p:txBody>
          <a:bodyPr/>
          <a:lstStyle/>
          <a:p>
            <a:r>
              <a:rPr lang="en-US" dirty="0" smtClean="0"/>
              <a:t>The </a:t>
            </a:r>
            <a:r>
              <a:rPr lang="en-US" dirty="0"/>
              <a:t>Feistel structure is a particular example of the more general structure used by all symmetric block </a:t>
            </a:r>
            <a:r>
              <a:rPr lang="en-US" dirty="0" smtClean="0"/>
              <a:t>ciphers</a:t>
            </a:r>
          </a:p>
          <a:p>
            <a:r>
              <a:rPr lang="en-US" sz="2600" dirty="0">
                <a:ea typeface="ＭＳ Ｐゴシック" charset="0"/>
                <a:cs typeface="ＭＳ Ｐゴシック" charset="0"/>
              </a:rPr>
              <a:t>Symmetric block cipher consists of:</a:t>
            </a:r>
          </a:p>
          <a:p>
            <a:pPr lvl="1">
              <a:lnSpc>
                <a:spcPct val="90000"/>
              </a:lnSpc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b="1" i="1" dirty="0">
                <a:solidFill>
                  <a:srgbClr val="FFC07E"/>
                </a:solidFill>
                <a:ea typeface="ＭＳ Ｐゴシック" charset="0"/>
              </a:rPr>
              <a:t>A sequence of rounds</a:t>
            </a:r>
          </a:p>
          <a:p>
            <a:pPr lvl="1">
              <a:lnSpc>
                <a:spcPct val="90000"/>
              </a:lnSpc>
              <a:buClr>
                <a:schemeClr val="accent6">
                  <a:lumMod val="60000"/>
                  <a:lumOff val="40000"/>
                </a:schemeClr>
              </a:buClr>
              <a:buSzPct val="140000"/>
              <a:buFont typeface="Arial" charset="0"/>
              <a:buChar char="•"/>
            </a:pPr>
            <a:r>
              <a:rPr lang="en-US" b="1" i="1" dirty="0">
                <a:solidFill>
                  <a:srgbClr val="FFC07E"/>
                </a:solidFill>
                <a:ea typeface="ＭＳ Ｐゴシック" charset="0"/>
              </a:rPr>
              <a:t>With substitutions and permutations controlled by </a:t>
            </a:r>
            <a:r>
              <a:rPr lang="en-US" b="1" i="1" dirty="0" smtClean="0">
                <a:solidFill>
                  <a:srgbClr val="FFC07E"/>
                </a:solidFill>
                <a:ea typeface="ＭＳ Ｐゴシック" charset="0"/>
              </a:rPr>
              <a:t>key</a:t>
            </a:r>
            <a:endParaRPr lang="en-US" b="1" i="1" dirty="0" smtClean="0">
              <a:solidFill>
                <a:srgbClr val="FFC07E"/>
              </a:solidFill>
            </a:endParaRPr>
          </a:p>
          <a:p>
            <a:r>
              <a:rPr lang="en-US" dirty="0" smtClean="0"/>
              <a:t>A </a:t>
            </a:r>
            <a:r>
              <a:rPr lang="en-US" dirty="0"/>
              <a:t>symmetric block cipher depends on the choice of the following parameters and design features</a:t>
            </a:r>
            <a:r>
              <a:rPr lang="en-US" dirty="0" smtClean="0"/>
              <a:t>:</a:t>
            </a:r>
          </a:p>
          <a:p>
            <a:pPr lvl="1"/>
            <a:r>
              <a:rPr lang="en-US" dirty="0"/>
              <a:t>Block </a:t>
            </a:r>
            <a:r>
              <a:rPr lang="en-US" dirty="0" smtClean="0"/>
              <a:t>size </a:t>
            </a:r>
          </a:p>
          <a:p>
            <a:pPr lvl="1"/>
            <a:r>
              <a:rPr lang="en-US" dirty="0"/>
              <a:t>Key </a:t>
            </a:r>
            <a:r>
              <a:rPr lang="en-US" dirty="0" smtClean="0"/>
              <a:t>size</a:t>
            </a:r>
          </a:p>
          <a:p>
            <a:pPr lvl="1"/>
            <a:r>
              <a:rPr lang="en-US" dirty="0" smtClean="0"/>
              <a:t>Number </a:t>
            </a:r>
            <a:r>
              <a:rPr lang="en-US" dirty="0"/>
              <a:t>of </a:t>
            </a:r>
            <a:r>
              <a:rPr lang="en-US" dirty="0" smtClean="0"/>
              <a:t>rounds</a:t>
            </a:r>
          </a:p>
          <a:p>
            <a:pPr lvl="1"/>
            <a:r>
              <a:rPr lang="en-US" dirty="0"/>
              <a:t>Subkey generation </a:t>
            </a:r>
            <a:r>
              <a:rPr lang="en-US" dirty="0" smtClean="0"/>
              <a:t>algorithm</a:t>
            </a:r>
          </a:p>
          <a:p>
            <a:pPr lvl="1"/>
            <a:r>
              <a:rPr lang="en-US" dirty="0"/>
              <a:t>Round </a:t>
            </a:r>
            <a:r>
              <a:rPr lang="en-US" dirty="0" smtClean="0"/>
              <a:t>function</a:t>
            </a:r>
          </a:p>
          <a:p>
            <a:pPr lvl="1"/>
            <a:r>
              <a:rPr lang="en-US" dirty="0"/>
              <a:t>Fast software </a:t>
            </a:r>
            <a:r>
              <a:rPr lang="en-US" dirty="0" smtClean="0"/>
              <a:t>encryption/decryption</a:t>
            </a:r>
          </a:p>
          <a:p>
            <a:pPr lvl="1"/>
            <a:r>
              <a:rPr lang="en-US" dirty="0"/>
              <a:t>Ease of </a:t>
            </a:r>
            <a:r>
              <a:rPr lang="en-US" dirty="0" smtClean="0"/>
              <a:t>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C9FC-DA22-1F47-8722-58727A1D436E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16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3529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388" y="1216"/>
            <a:ext cx="7931224" cy="736104"/>
          </a:xfrm>
        </p:spPr>
        <p:txBody>
          <a:bodyPr/>
          <a:lstStyle/>
          <a:p>
            <a:r>
              <a:rPr lang="en-US" sz="4000" b="1" dirty="0">
                <a:solidFill>
                  <a:srgbClr val="FFC07E"/>
                </a:solidFill>
              </a:rPr>
              <a:t>Feistel Cipher Structure</a:t>
            </a:r>
          </a:p>
        </p:txBody>
      </p:sp>
      <p:pic>
        <p:nvPicPr>
          <p:cNvPr id="5" name="Picture 4" descr="f1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30" t="1701" r="17979" b="5770"/>
          <a:stretch/>
        </p:blipFill>
        <p:spPr>
          <a:xfrm>
            <a:off x="6129151" y="620688"/>
            <a:ext cx="3051361" cy="6237312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-396552" y="591126"/>
            <a:ext cx="9937104" cy="6654298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smtClean="0"/>
              <a:t>Steps: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The inputs to the encryption algorithm </a:t>
            </a:r>
            <a:r>
              <a:rPr lang="en-US" dirty="0" smtClean="0"/>
              <a:t>are:</a:t>
            </a:r>
          </a:p>
          <a:p>
            <a:pPr lvl="2"/>
            <a:r>
              <a:rPr lang="en-US" sz="1400" dirty="0"/>
              <a:t>P</a:t>
            </a:r>
            <a:r>
              <a:rPr lang="en-US" sz="1400" dirty="0" smtClean="0"/>
              <a:t>laintext </a:t>
            </a:r>
            <a:r>
              <a:rPr lang="en-US" sz="1400" dirty="0"/>
              <a:t>block of length </a:t>
            </a:r>
            <a:r>
              <a:rPr lang="en-US" sz="1400" b="1" dirty="0"/>
              <a:t>2w</a:t>
            </a:r>
            <a:r>
              <a:rPr lang="en-US" sz="1400" dirty="0"/>
              <a:t> bits </a:t>
            </a:r>
          </a:p>
          <a:p>
            <a:pPr lvl="2"/>
            <a:r>
              <a:rPr lang="en-US" sz="1400" dirty="0"/>
              <a:t>A</a:t>
            </a:r>
            <a:r>
              <a:rPr lang="en-US" sz="1400" dirty="0" smtClean="0"/>
              <a:t> </a:t>
            </a:r>
            <a:r>
              <a:rPr lang="en-US" sz="1400" dirty="0"/>
              <a:t>key </a:t>
            </a:r>
            <a:r>
              <a:rPr lang="en-US" sz="1400" b="1" dirty="0" smtClean="0"/>
              <a:t>K</a:t>
            </a:r>
            <a:endParaRPr lang="en-US" sz="1400" dirty="0" smtClean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The plaintext block is divided into two halves, </a:t>
            </a:r>
            <a:r>
              <a:rPr lang="en-US" b="1" dirty="0">
                <a:solidFill>
                  <a:srgbClr val="FFC07E"/>
                </a:solidFill>
              </a:rPr>
              <a:t>L0</a:t>
            </a:r>
            <a:r>
              <a:rPr lang="en-US" dirty="0"/>
              <a:t> and </a:t>
            </a:r>
            <a:r>
              <a:rPr lang="en-US" b="1" dirty="0" smtClean="0">
                <a:solidFill>
                  <a:srgbClr val="FFC07E"/>
                </a:solidFill>
              </a:rPr>
              <a:t>R0</a:t>
            </a:r>
            <a:endParaRPr lang="en-US" b="1" dirty="0">
              <a:solidFill>
                <a:srgbClr val="FFC07E"/>
              </a:solidFill>
            </a:endParaRP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The two halves of the data pass </a:t>
            </a:r>
            <a:r>
              <a:rPr lang="en-US" dirty="0" smtClean="0"/>
              <a:t>through </a:t>
            </a:r>
            <a:r>
              <a:rPr lang="en-US" b="1" dirty="0">
                <a:solidFill>
                  <a:srgbClr val="FFC07E"/>
                </a:solidFill>
              </a:rPr>
              <a:t>n </a:t>
            </a:r>
            <a:r>
              <a:rPr lang="en-US" dirty="0"/>
              <a:t>rounds of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processing </a:t>
            </a:r>
            <a:r>
              <a:rPr lang="en-US" dirty="0"/>
              <a:t>and then combine to produce the  </a:t>
            </a:r>
            <a:r>
              <a:rPr lang="en-US" dirty="0" smtClean="0"/>
              <a:t>ciphertext </a:t>
            </a:r>
          </a:p>
          <a:p>
            <a:pPr marL="457200" lvl="1" indent="0">
              <a:buNone/>
            </a:pPr>
            <a:r>
              <a:rPr lang="en-US" dirty="0" smtClean="0"/>
              <a:t>block</a:t>
            </a:r>
            <a:r>
              <a:rPr lang="en-US" dirty="0"/>
              <a:t>. 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Each round</a:t>
            </a:r>
            <a:r>
              <a:rPr lang="en-US" b="1" dirty="0">
                <a:solidFill>
                  <a:srgbClr val="FFC07E"/>
                </a:solidFill>
              </a:rPr>
              <a:t> </a:t>
            </a:r>
            <a:r>
              <a:rPr lang="en-US" b="1" dirty="0" err="1">
                <a:solidFill>
                  <a:srgbClr val="FFC07E"/>
                </a:solidFill>
              </a:rPr>
              <a:t>i</a:t>
            </a:r>
            <a:r>
              <a:rPr lang="en-US" b="1" dirty="0">
                <a:solidFill>
                  <a:srgbClr val="FFC07E"/>
                </a:solidFill>
              </a:rPr>
              <a:t> </a:t>
            </a:r>
            <a:r>
              <a:rPr lang="en-US" dirty="0"/>
              <a:t>has as inputs </a:t>
            </a:r>
            <a:r>
              <a:rPr lang="en-US" b="1" dirty="0">
                <a:solidFill>
                  <a:srgbClr val="FFC07E"/>
                </a:solidFill>
              </a:rPr>
              <a:t>Li-1</a:t>
            </a:r>
            <a:r>
              <a:rPr lang="en-US" dirty="0"/>
              <a:t> and </a:t>
            </a:r>
            <a:r>
              <a:rPr lang="en-US" b="1" dirty="0">
                <a:solidFill>
                  <a:srgbClr val="FFC07E"/>
                </a:solidFill>
              </a:rPr>
              <a:t>Ri-1</a:t>
            </a:r>
            <a:r>
              <a:rPr lang="en-US" dirty="0"/>
              <a:t>, </a:t>
            </a:r>
            <a:r>
              <a:rPr lang="en-US" dirty="0" smtClean="0"/>
              <a:t>derived </a:t>
            </a:r>
            <a:r>
              <a:rPr lang="en-US" dirty="0"/>
              <a:t>from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the </a:t>
            </a:r>
            <a:r>
              <a:rPr lang="en-US" dirty="0"/>
              <a:t>previous round, </a:t>
            </a:r>
            <a:r>
              <a:rPr lang="en-US" dirty="0" smtClean="0"/>
              <a:t>as </a:t>
            </a:r>
            <a:r>
              <a:rPr lang="en-US" dirty="0"/>
              <a:t>well as a </a:t>
            </a:r>
            <a:r>
              <a:rPr lang="en-US" dirty="0" smtClean="0"/>
              <a:t>subkey</a:t>
            </a:r>
            <a:r>
              <a:rPr lang="en-US" b="1" dirty="0" smtClean="0">
                <a:solidFill>
                  <a:srgbClr val="FFC07E"/>
                </a:solidFill>
              </a:rPr>
              <a:t> </a:t>
            </a:r>
            <a:r>
              <a:rPr lang="en-US" b="1" dirty="0">
                <a:solidFill>
                  <a:srgbClr val="FFC07E"/>
                </a:solidFill>
              </a:rPr>
              <a:t>Ki </a:t>
            </a:r>
            <a:r>
              <a:rPr lang="en-US" dirty="0"/>
              <a:t>, derived from </a:t>
            </a:r>
            <a:r>
              <a:rPr lang="en-US" dirty="0" smtClean="0"/>
              <a:t>the</a:t>
            </a:r>
          </a:p>
          <a:p>
            <a:pPr marL="457200" lvl="1" indent="0">
              <a:buNone/>
            </a:pPr>
            <a:r>
              <a:rPr lang="en-US" dirty="0" smtClean="0"/>
              <a:t>overall </a:t>
            </a:r>
            <a:r>
              <a:rPr lang="en-US" b="1" dirty="0" smtClean="0">
                <a:solidFill>
                  <a:srgbClr val="FFC07E"/>
                </a:solidFill>
              </a:rPr>
              <a:t>K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In general, the </a:t>
            </a:r>
            <a:r>
              <a:rPr lang="en-US" dirty="0" err="1"/>
              <a:t>subkeys</a:t>
            </a:r>
            <a:r>
              <a:rPr lang="en-US" dirty="0"/>
              <a:t> </a:t>
            </a:r>
            <a:r>
              <a:rPr lang="en-US" b="1" dirty="0">
                <a:solidFill>
                  <a:srgbClr val="FFC07E"/>
                </a:solidFill>
              </a:rPr>
              <a:t>Ki </a:t>
            </a:r>
            <a:r>
              <a:rPr lang="en-US" dirty="0"/>
              <a:t>are different from </a:t>
            </a:r>
            <a:r>
              <a:rPr lang="en-US" b="1" dirty="0" smtClean="0">
                <a:solidFill>
                  <a:srgbClr val="FFC07E"/>
                </a:solidFill>
              </a:rPr>
              <a:t>K</a:t>
            </a:r>
            <a:r>
              <a:rPr lang="en-US" dirty="0" smtClean="0"/>
              <a:t> and from </a:t>
            </a:r>
          </a:p>
          <a:p>
            <a:pPr marL="457200" lvl="1" indent="0">
              <a:buNone/>
            </a:pPr>
            <a:r>
              <a:rPr lang="en-US" dirty="0" smtClean="0"/>
              <a:t>each </a:t>
            </a:r>
            <a:r>
              <a:rPr lang="en-US" dirty="0"/>
              <a:t>other, and are generated from </a:t>
            </a:r>
            <a:r>
              <a:rPr lang="en-US" dirty="0" smtClean="0"/>
              <a:t>the </a:t>
            </a:r>
            <a:r>
              <a:rPr lang="en-US" dirty="0"/>
              <a:t>key by </a:t>
            </a:r>
            <a:r>
              <a:rPr lang="en-US" dirty="0" smtClean="0"/>
              <a:t> a </a:t>
            </a:r>
            <a:r>
              <a:rPr lang="en-US" dirty="0"/>
              <a:t>subkey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generation algorithm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All rounds have the same </a:t>
            </a:r>
            <a:r>
              <a:rPr lang="en-US" dirty="0" smtClean="0"/>
              <a:t>structure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A substitution is performed on the left half of the </a:t>
            </a:r>
            <a:r>
              <a:rPr lang="en-US" dirty="0" smtClean="0"/>
              <a:t>data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This is done by applying a round function F to </a:t>
            </a:r>
            <a:r>
              <a:rPr lang="en-US" dirty="0" smtClean="0"/>
              <a:t>the</a:t>
            </a:r>
          </a:p>
          <a:p>
            <a:pPr marL="457200" lvl="1" indent="0">
              <a:buNone/>
            </a:pPr>
            <a:r>
              <a:rPr lang="en-US" dirty="0" smtClean="0"/>
              <a:t> </a:t>
            </a:r>
            <a:r>
              <a:rPr lang="en-US" dirty="0"/>
              <a:t>right half of the data and then taking the exclusive-OR (XOR) </a:t>
            </a:r>
            <a:r>
              <a:rPr lang="en-US" dirty="0" smtClean="0"/>
              <a:t>of</a:t>
            </a:r>
          </a:p>
          <a:p>
            <a:pPr marL="457200" lvl="1" indent="0">
              <a:buNone/>
            </a:pPr>
            <a:r>
              <a:rPr lang="en-US" dirty="0" smtClean="0"/>
              <a:t> </a:t>
            </a:r>
            <a:r>
              <a:rPr lang="en-US" dirty="0"/>
              <a:t>the output of that function and the left half of the data. 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 smtClean="0"/>
              <a:t>The </a:t>
            </a:r>
            <a:r>
              <a:rPr lang="en-US" dirty="0"/>
              <a:t>round function has the same general structure for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each </a:t>
            </a:r>
            <a:r>
              <a:rPr lang="en-US" dirty="0"/>
              <a:t>round but is parameterized by the round subkey Ki </a:t>
            </a:r>
            <a:r>
              <a:rPr lang="en-US" dirty="0" smtClean="0"/>
              <a:t>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 smtClean="0"/>
              <a:t> </a:t>
            </a:r>
            <a:r>
              <a:rPr lang="en-US" dirty="0"/>
              <a:t>Following this substitution, a permutation is performed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that </a:t>
            </a:r>
            <a:r>
              <a:rPr lang="en-US" dirty="0"/>
              <a:t>consists of the interchange of the two halves of </a:t>
            </a:r>
            <a:r>
              <a:rPr lang="en-US" dirty="0" smtClean="0"/>
              <a:t>the</a:t>
            </a:r>
          </a:p>
          <a:p>
            <a:pPr marL="457200" lvl="1" indent="0">
              <a:buNone/>
            </a:pPr>
            <a:r>
              <a:rPr lang="en-US" dirty="0" smtClean="0"/>
              <a:t> </a:t>
            </a:r>
            <a:r>
              <a:rPr lang="en-US" dirty="0"/>
              <a:t>data.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C9FC-DA22-1F47-8722-58727A1D436E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17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6484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388" y="1216"/>
            <a:ext cx="7931224" cy="736104"/>
          </a:xfrm>
        </p:spPr>
        <p:txBody>
          <a:bodyPr/>
          <a:lstStyle/>
          <a:p>
            <a:r>
              <a:rPr lang="en-US" sz="4000" b="1" dirty="0">
                <a:solidFill>
                  <a:srgbClr val="FFC07E"/>
                </a:solidFill>
              </a:rPr>
              <a:t>Data Encryption Standard (DES</a:t>
            </a:r>
            <a:r>
              <a:rPr lang="en-US" sz="4000" b="1" dirty="0" smtClean="0">
                <a:solidFill>
                  <a:srgbClr val="FFC07E"/>
                </a:solidFill>
              </a:rPr>
              <a:t>)</a:t>
            </a:r>
            <a:endParaRPr lang="en-US" sz="4000" b="1" dirty="0">
              <a:solidFill>
                <a:srgbClr val="FFC07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017595"/>
            <a:ext cx="8820472" cy="5840405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charset="0"/>
                <a:ea typeface="ＭＳ Ｐゴシック" charset="0"/>
                <a:cs typeface="ＭＳ Ｐゴシック" charset="0"/>
              </a:rPr>
              <a:t>The DES algorithm can be described as follows. </a:t>
            </a:r>
            <a:endParaRPr lang="en-US" dirty="0" smtClean="0">
              <a:latin typeface="Times New Roman" charset="0"/>
              <a:ea typeface="ＭＳ Ｐゴシック" charset="0"/>
              <a:cs typeface="ＭＳ Ｐゴシック" charset="0"/>
            </a:endParaRPr>
          </a:p>
          <a:p>
            <a:pPr lvl="1"/>
            <a:r>
              <a:rPr lang="en-US" sz="2000" dirty="0" smtClean="0">
                <a:solidFill>
                  <a:srgbClr val="FFC07E"/>
                </a:solidFill>
                <a:latin typeface="Times New Roman" charset="0"/>
                <a:ea typeface="ＭＳ Ｐゴシック" charset="0"/>
                <a:cs typeface="ＭＳ Ｐゴシック" charset="0"/>
              </a:rPr>
              <a:t>The </a:t>
            </a:r>
            <a:r>
              <a:rPr lang="en-US" sz="2000" dirty="0">
                <a:solidFill>
                  <a:srgbClr val="FFC07E"/>
                </a:solidFill>
                <a:latin typeface="Times New Roman" charset="0"/>
                <a:ea typeface="ＭＳ Ｐゴシック" charset="0"/>
                <a:cs typeface="ＭＳ Ｐゴシック" charset="0"/>
              </a:rPr>
              <a:t>plaintext is 64 bits </a:t>
            </a:r>
            <a:r>
              <a:rPr lang="en-US" sz="2000" dirty="0" smtClean="0">
                <a:solidFill>
                  <a:srgbClr val="FFC07E"/>
                </a:solidFill>
                <a:latin typeface="Times New Roman" charset="0"/>
                <a:ea typeface="ＭＳ Ｐゴシック" charset="0"/>
                <a:cs typeface="ＭＳ Ｐゴシック" charset="0"/>
              </a:rPr>
              <a:t>in length </a:t>
            </a:r>
            <a:endParaRPr lang="en-US" sz="2000" dirty="0">
              <a:solidFill>
                <a:srgbClr val="FFC07E"/>
              </a:solidFill>
              <a:latin typeface="Times New Roman" charset="0"/>
              <a:ea typeface="ＭＳ Ｐゴシック" charset="0"/>
              <a:cs typeface="ＭＳ Ｐゴシック" charset="0"/>
            </a:endParaRPr>
          </a:p>
          <a:p>
            <a:pPr lvl="1"/>
            <a:r>
              <a:rPr lang="en-US" sz="2000" dirty="0" smtClean="0">
                <a:solidFill>
                  <a:srgbClr val="FFC07E"/>
                </a:solidFill>
                <a:latin typeface="Times New Roman" charset="0"/>
                <a:ea typeface="ＭＳ Ｐゴシック" charset="0"/>
                <a:cs typeface="ＭＳ Ｐゴシック" charset="0"/>
              </a:rPr>
              <a:t>The </a:t>
            </a:r>
            <a:r>
              <a:rPr lang="en-US" sz="2000" dirty="0">
                <a:solidFill>
                  <a:srgbClr val="FFC07E"/>
                </a:solidFill>
                <a:latin typeface="Times New Roman" charset="0"/>
                <a:ea typeface="ＭＳ Ｐゴシック" charset="0"/>
                <a:cs typeface="ＭＳ Ｐゴシック" charset="0"/>
              </a:rPr>
              <a:t>key is 56 bits in </a:t>
            </a:r>
            <a:r>
              <a:rPr lang="en-US" sz="2000" dirty="0" smtClean="0">
                <a:solidFill>
                  <a:srgbClr val="FFC07E"/>
                </a:solidFill>
                <a:latin typeface="Times New Roman" charset="0"/>
                <a:ea typeface="ＭＳ Ｐゴシック" charset="0"/>
                <a:cs typeface="ＭＳ Ｐゴシック" charset="0"/>
              </a:rPr>
              <a:t>length</a:t>
            </a:r>
          </a:p>
          <a:p>
            <a:pPr lvl="1"/>
            <a:r>
              <a:rPr lang="en-US" sz="2000" dirty="0" smtClean="0">
                <a:solidFill>
                  <a:srgbClr val="FFC07E"/>
                </a:solidFill>
                <a:latin typeface="Times New Roman" charset="0"/>
                <a:ea typeface="ＭＳ Ｐゴシック" charset="0"/>
                <a:cs typeface="ＭＳ Ｐゴシック" charset="0"/>
              </a:rPr>
              <a:t>There </a:t>
            </a:r>
            <a:r>
              <a:rPr lang="en-US" sz="2000" dirty="0">
                <a:solidFill>
                  <a:srgbClr val="FFC07E"/>
                </a:solidFill>
                <a:latin typeface="Times New Roman" charset="0"/>
                <a:ea typeface="ＭＳ Ｐゴシック" charset="0"/>
                <a:cs typeface="ＭＳ Ｐゴシック" charset="0"/>
              </a:rPr>
              <a:t>are 16 rounds of processing. </a:t>
            </a:r>
            <a:endParaRPr lang="en-US" sz="2000" dirty="0" smtClean="0">
              <a:solidFill>
                <a:srgbClr val="FFC07E"/>
              </a:solidFill>
              <a:latin typeface="Times New Roman" charset="0"/>
              <a:ea typeface="ＭＳ Ｐゴシック" charset="0"/>
              <a:cs typeface="ＭＳ Ｐゴシック" charset="0"/>
            </a:endParaRPr>
          </a:p>
          <a:p>
            <a:pPr lvl="1"/>
            <a:r>
              <a:rPr lang="en-US" sz="2000" dirty="0" smtClean="0">
                <a:solidFill>
                  <a:srgbClr val="FFC07E"/>
                </a:solidFill>
                <a:latin typeface="Times New Roman" charset="0"/>
                <a:ea typeface="ＭＳ Ｐゴシック" charset="0"/>
                <a:cs typeface="ＭＳ Ｐゴシック" charset="0"/>
              </a:rPr>
              <a:t>From </a:t>
            </a:r>
            <a:r>
              <a:rPr lang="en-US" sz="2000" dirty="0">
                <a:solidFill>
                  <a:srgbClr val="FFC07E"/>
                </a:solidFill>
                <a:latin typeface="Times New Roman" charset="0"/>
                <a:ea typeface="ＭＳ Ｐゴシック" charset="0"/>
                <a:cs typeface="ＭＳ Ｐゴシック" charset="0"/>
              </a:rPr>
              <a:t>the original 56-bit key, </a:t>
            </a:r>
            <a:r>
              <a:rPr lang="en-US" sz="2000" dirty="0" smtClean="0">
                <a:solidFill>
                  <a:srgbClr val="FFC07E"/>
                </a:solidFill>
                <a:latin typeface="Times New Roman" charset="0"/>
                <a:ea typeface="ＭＳ Ｐゴシック" charset="0"/>
                <a:cs typeface="ＭＳ Ｐゴシック" charset="0"/>
              </a:rPr>
              <a:t>16subkeys </a:t>
            </a:r>
            <a:r>
              <a:rPr lang="en-US" sz="2000" dirty="0">
                <a:solidFill>
                  <a:srgbClr val="FFC07E"/>
                </a:solidFill>
                <a:latin typeface="Times New Roman" charset="0"/>
                <a:ea typeface="ＭＳ Ｐゴシック" charset="0"/>
                <a:cs typeface="ＭＳ Ｐゴシック" charset="0"/>
              </a:rPr>
              <a:t>are </a:t>
            </a:r>
            <a:r>
              <a:rPr lang="en-US" sz="2000" dirty="0" smtClean="0">
                <a:solidFill>
                  <a:srgbClr val="FFC07E"/>
                </a:solidFill>
                <a:latin typeface="Times New Roman" charset="0"/>
                <a:ea typeface="ＭＳ Ｐゴシック" charset="0"/>
                <a:cs typeface="ＭＳ Ｐゴシック" charset="0"/>
              </a:rPr>
              <a:t>generated (</a:t>
            </a:r>
            <a:r>
              <a:rPr lang="en-US" sz="2000" dirty="0" err="1" smtClean="0">
                <a:solidFill>
                  <a:srgbClr val="FFC07E"/>
                </a:solidFill>
                <a:latin typeface="Times New Roman" charset="0"/>
                <a:ea typeface="ＭＳ Ｐゴシック" charset="0"/>
                <a:cs typeface="ＭＳ Ｐゴシック" charset="0"/>
              </a:rPr>
              <a:t>ki</a:t>
            </a:r>
            <a:r>
              <a:rPr lang="en-US" sz="2000" dirty="0" smtClean="0">
                <a:solidFill>
                  <a:srgbClr val="FFC07E"/>
                </a:solidFill>
                <a:latin typeface="Times New Roman" charset="0"/>
                <a:ea typeface="ＭＳ Ｐゴシック" charset="0"/>
                <a:cs typeface="ＭＳ Ｐゴシック" charset="0"/>
              </a:rPr>
              <a:t>= 48 bit)</a:t>
            </a:r>
          </a:p>
          <a:p>
            <a:pPr lvl="2"/>
            <a:r>
              <a:rPr lang="en-US" sz="2000" dirty="0" smtClean="0">
                <a:solidFill>
                  <a:srgbClr val="FFC07E"/>
                </a:solidFill>
                <a:latin typeface="Times New Roman" charset="0"/>
                <a:ea typeface="ＭＳ Ｐゴシック" charset="0"/>
                <a:cs typeface="ＭＳ Ｐゴシック" charset="0"/>
              </a:rPr>
              <a:t>one </a:t>
            </a:r>
            <a:r>
              <a:rPr lang="en-US" sz="2000" dirty="0">
                <a:solidFill>
                  <a:srgbClr val="FFC07E"/>
                </a:solidFill>
                <a:latin typeface="Times New Roman" charset="0"/>
                <a:ea typeface="ＭＳ Ｐゴシック" charset="0"/>
                <a:cs typeface="ＭＳ Ｐゴシック" charset="0"/>
              </a:rPr>
              <a:t>of which is used for each round</a:t>
            </a:r>
            <a:r>
              <a:rPr lang="en-US" sz="2000" dirty="0" smtClean="0">
                <a:solidFill>
                  <a:srgbClr val="FFC07E"/>
                </a:solidFill>
                <a:latin typeface="Times New Roman" charset="0"/>
                <a:ea typeface="ＭＳ Ｐゴシック" charset="0"/>
                <a:cs typeface="ＭＳ Ｐゴシック" charset="0"/>
              </a:rPr>
              <a:t>.</a:t>
            </a:r>
          </a:p>
          <a:p>
            <a:pPr lvl="1"/>
            <a:endParaRPr lang="en-US" sz="800" dirty="0" smtClean="0"/>
          </a:p>
          <a:p>
            <a:r>
              <a:rPr lang="en-US" b="1" dirty="0">
                <a:latin typeface="Times New Roman" charset="0"/>
                <a:ea typeface="ＭＳ Ｐゴシック" charset="0"/>
                <a:cs typeface="ＭＳ Ｐゴシック" charset="0"/>
              </a:rPr>
              <a:t>Encryption process</a:t>
            </a:r>
            <a:r>
              <a:rPr lang="en-US" b="1" dirty="0" smtClean="0">
                <a:latin typeface="Times New Roman" charset="0"/>
                <a:ea typeface="ＭＳ Ｐゴシック" charset="0"/>
                <a:cs typeface="ＭＳ Ｐゴシック" charset="0"/>
              </a:rPr>
              <a:t>: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ermutation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performed on the input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block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eneration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of round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keys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erforming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16 identical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rounds</a:t>
            </a:r>
          </a:p>
          <a:p>
            <a:pPr marL="1257300" lvl="2" indent="-457200">
              <a:buFont typeface="+mj-lt"/>
              <a:buAutoNum type="alphaLcPeriod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Substitution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1257300" lvl="2" indent="-457200">
              <a:buFont typeface="+mj-lt"/>
              <a:buAutoNum type="alphaLcPeriod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Permutation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nverse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permutation to step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 marL="400050" lvl="1" indent="0">
              <a:buNone/>
            </a:pPr>
            <a:endParaRPr lang="en-US" sz="800" dirty="0" smtClean="0">
              <a:latin typeface="Times New Roman" charset="0"/>
              <a:ea typeface="ＭＳ Ｐゴシック" charset="0"/>
              <a:cs typeface="ＭＳ Ｐゴシック" charset="0"/>
            </a:endParaRP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Decryption</a:t>
            </a:r>
            <a:r>
              <a:rPr lang="en-US" b="1" dirty="0" smtClean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 process:</a:t>
            </a:r>
          </a:p>
          <a:p>
            <a:pPr lvl="1"/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ciphertext as input to the DES algorithm, but use the </a:t>
            </a: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sub-keys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 in reverse order. </a:t>
            </a:r>
            <a:endParaRPr lang="en-US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is, use K16 on the first iteration, K15 on the second iteration, and so on until K1 is used on the sixteenth and last iteration.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C9FC-DA22-1F47-8722-58727A1D436E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18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5292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80028" y="1622306"/>
            <a:ext cx="6503424" cy="367428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06388" y="1216"/>
            <a:ext cx="7931224" cy="736104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ts val="5800"/>
              </a:lnSpc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4000" b="1" dirty="0" smtClean="0">
                <a:solidFill>
                  <a:srgbClr val="FFC07E"/>
                </a:solidFill>
                <a:latin typeface="Times New Roman" pitchFamily="18" charset="0"/>
                <a:cs typeface="Times New Roman" pitchFamily="18" charset="0"/>
              </a:rPr>
              <a:t>DES block cipher</a:t>
            </a:r>
            <a:endParaRPr lang="en-US" sz="4000" b="1" dirty="0">
              <a:solidFill>
                <a:srgbClr val="FFC07E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1BA6F-B221-4442-B3E0-4DE91DDD2916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19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5816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026" y="1436425"/>
            <a:ext cx="5328592" cy="530869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051720" y="476673"/>
            <a:ext cx="6552728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8915" algn="l"/>
              </a:tabLst>
            </a:pPr>
            <a:r>
              <a:rPr sz="3200" b="1" spc="-10" dirty="0">
                <a:solidFill>
                  <a:srgbClr val="FFC000"/>
                </a:solidFill>
                <a:latin typeface="Times New Roman"/>
                <a:cs typeface="Times New Roman"/>
              </a:rPr>
              <a:t>Figure</a:t>
            </a:r>
            <a:r>
              <a:rPr sz="3200" b="1" spc="-5" dirty="0">
                <a:solidFill>
                  <a:srgbClr val="FFC000"/>
                </a:solidFill>
                <a:latin typeface="Times New Roman"/>
                <a:cs typeface="Times New Roman"/>
              </a:rPr>
              <a:t> 6.2	</a:t>
            </a:r>
            <a:r>
              <a:rPr sz="3200" b="1" i="1" dirty="0">
                <a:solidFill>
                  <a:srgbClr val="FFC000"/>
                </a:solidFill>
                <a:latin typeface="Times New Roman"/>
                <a:cs typeface="Times New Roman"/>
              </a:rPr>
              <a:t>General</a:t>
            </a:r>
            <a:r>
              <a:rPr sz="3200" b="1" i="1" spc="-4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3200" b="1" i="1" dirty="0">
                <a:solidFill>
                  <a:srgbClr val="FFC000"/>
                </a:solidFill>
                <a:latin typeface="Times New Roman"/>
                <a:cs typeface="Times New Roman"/>
              </a:rPr>
              <a:t>structure</a:t>
            </a:r>
            <a:r>
              <a:rPr sz="3200" b="1" i="1" spc="-5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3200" b="1" i="1" dirty="0">
                <a:solidFill>
                  <a:srgbClr val="FFC000"/>
                </a:solidFill>
                <a:latin typeface="Times New Roman"/>
                <a:cs typeface="Times New Roman"/>
              </a:rPr>
              <a:t>of</a:t>
            </a:r>
            <a:r>
              <a:rPr sz="3200" b="1" i="1" spc="-2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3200" b="1" i="1" dirty="0">
                <a:solidFill>
                  <a:srgbClr val="FFC000"/>
                </a:solidFill>
                <a:latin typeface="Times New Roman"/>
                <a:cs typeface="Times New Roman"/>
              </a:rPr>
              <a:t>DES</a:t>
            </a:r>
            <a:endParaRPr sz="3200" dirty="0">
              <a:solidFill>
                <a:srgbClr val="FFC000"/>
              </a:solidFill>
              <a:latin typeface="Times New Roman"/>
              <a:cs typeface="Times New Roman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06B9344-A600-C44C-BFF3-F262E2EAB853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20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object 11"/>
          <p:cNvSpPr txBox="1"/>
          <p:nvPr/>
        </p:nvSpPr>
        <p:spPr>
          <a:xfrm>
            <a:off x="5479504" y="4581128"/>
            <a:ext cx="3625749" cy="1515800"/>
          </a:xfrm>
          <a:prstGeom prst="rect">
            <a:avLst/>
          </a:prstGeom>
        </p:spPr>
        <p:txBody>
          <a:bodyPr vert="horz" wrap="square" lIns="0" tIns="25146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980"/>
              </a:spcBef>
            </a:pPr>
            <a:r>
              <a:rPr b="1" i="1" spc="-5" dirty="0" smtClean="0">
                <a:solidFill>
                  <a:srgbClr val="FF0000"/>
                </a:solidFill>
                <a:latin typeface="Times New Roman"/>
                <a:cs typeface="Times New Roman"/>
              </a:rPr>
              <a:t>Not</a:t>
            </a:r>
            <a:r>
              <a:rPr lang="en-US" b="1" i="1" spc="-5" dirty="0" smtClean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lang="en-US" sz="1600" b="1" i="1" spc="-5" dirty="0" smtClean="0">
                <a:solidFill>
                  <a:srgbClr val="FF0000"/>
                </a:solidFill>
                <a:latin typeface="Times New Roman"/>
                <a:cs typeface="Times New Roman"/>
              </a:rPr>
              <a:t>: </a:t>
            </a:r>
            <a:r>
              <a:rPr sz="1600" dirty="0" smtClean="0">
                <a:solidFill>
                  <a:srgbClr val="FFC000"/>
                </a:solidFill>
                <a:latin typeface="Times New Roman"/>
                <a:cs typeface="Times New Roman"/>
              </a:rPr>
              <a:t>The</a:t>
            </a:r>
            <a:r>
              <a:rPr lang="en-US" sz="1600" spc="-15" dirty="0" smtClean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1600" spc="-5" dirty="0" smtClean="0">
                <a:solidFill>
                  <a:srgbClr val="FFC000"/>
                </a:solidFill>
                <a:latin typeface="Times New Roman"/>
                <a:cs typeface="Times New Roman"/>
              </a:rPr>
              <a:t>initial</a:t>
            </a:r>
            <a:r>
              <a:rPr sz="1600" dirty="0" smtClean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C000"/>
                </a:solidFill>
                <a:latin typeface="Times New Roman"/>
                <a:cs typeface="Times New Roman"/>
              </a:rPr>
              <a:t>and</a:t>
            </a:r>
            <a:r>
              <a:rPr sz="1600" spc="-2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FFC000"/>
                </a:solidFill>
                <a:latin typeface="Times New Roman"/>
                <a:cs typeface="Times New Roman"/>
              </a:rPr>
              <a:t>final</a:t>
            </a:r>
            <a:r>
              <a:rPr sz="1600" spc="-2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C000"/>
                </a:solidFill>
                <a:latin typeface="Times New Roman"/>
                <a:cs typeface="Times New Roman"/>
              </a:rPr>
              <a:t>permutations</a:t>
            </a:r>
            <a:r>
              <a:rPr sz="1600" spc="-3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1600" spc="-15" dirty="0">
                <a:solidFill>
                  <a:srgbClr val="FFC000"/>
                </a:solidFill>
                <a:latin typeface="Times New Roman"/>
                <a:cs typeface="Times New Roman"/>
              </a:rPr>
              <a:t>are </a:t>
            </a:r>
            <a:r>
              <a:rPr sz="1600" spc="-78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1600" i="1" dirty="0">
                <a:solidFill>
                  <a:srgbClr val="FF0000"/>
                </a:solidFill>
                <a:latin typeface="Times New Roman"/>
                <a:cs typeface="Times New Roman"/>
              </a:rPr>
              <a:t>straight</a:t>
            </a:r>
            <a:r>
              <a:rPr sz="1600" i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i="1" dirty="0">
                <a:solidFill>
                  <a:srgbClr val="FF0000"/>
                </a:solidFill>
                <a:latin typeface="Times New Roman"/>
                <a:cs typeface="Times New Roman"/>
              </a:rPr>
              <a:t>P-boxes</a:t>
            </a:r>
            <a:r>
              <a:rPr sz="1600" i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C000"/>
                </a:solidFill>
                <a:latin typeface="Times New Roman"/>
                <a:cs typeface="Times New Roman"/>
              </a:rPr>
              <a:t>that</a:t>
            </a:r>
            <a:r>
              <a:rPr sz="1600" spc="-2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1600" spc="-15" dirty="0">
                <a:solidFill>
                  <a:srgbClr val="FFC000"/>
                </a:solidFill>
                <a:latin typeface="Times New Roman"/>
                <a:cs typeface="Times New Roman"/>
              </a:rPr>
              <a:t>are</a:t>
            </a:r>
            <a:r>
              <a:rPr sz="1600" spc="-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1600" dirty="0" smtClean="0">
                <a:solidFill>
                  <a:srgbClr val="FFC000"/>
                </a:solidFill>
                <a:latin typeface="Times New Roman"/>
                <a:cs typeface="Times New Roman"/>
              </a:rPr>
              <a:t>inverses</a:t>
            </a:r>
            <a:r>
              <a:rPr lang="en-US" sz="160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1600" dirty="0" smtClean="0">
                <a:solidFill>
                  <a:srgbClr val="FFC000"/>
                </a:solidFill>
                <a:latin typeface="Times New Roman"/>
                <a:cs typeface="Times New Roman"/>
              </a:rPr>
              <a:t>of</a:t>
            </a:r>
            <a:r>
              <a:rPr sz="1600" spc="-25" dirty="0" smtClean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C000"/>
                </a:solidFill>
                <a:latin typeface="Times New Roman"/>
                <a:cs typeface="Times New Roman"/>
              </a:rPr>
              <a:t>each</a:t>
            </a:r>
            <a:r>
              <a:rPr sz="1600" spc="-4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1600" spc="-45" dirty="0" smtClean="0">
                <a:solidFill>
                  <a:srgbClr val="FFC000"/>
                </a:solidFill>
                <a:latin typeface="Times New Roman"/>
                <a:cs typeface="Times New Roman"/>
              </a:rPr>
              <a:t>other.</a:t>
            </a:r>
            <a:r>
              <a:rPr lang="en-US" sz="160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1600" dirty="0" smtClean="0">
                <a:solidFill>
                  <a:srgbClr val="FFC000"/>
                </a:solidFill>
                <a:latin typeface="Times New Roman"/>
                <a:cs typeface="Times New Roman"/>
              </a:rPr>
              <a:t>They</a:t>
            </a:r>
            <a:r>
              <a:rPr sz="1600" spc="-10" dirty="0" smtClean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C000"/>
                </a:solidFill>
                <a:latin typeface="Times New Roman"/>
                <a:cs typeface="Times New Roman"/>
              </a:rPr>
              <a:t>have</a:t>
            </a:r>
            <a:r>
              <a:rPr sz="1600" spc="-2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C000"/>
                </a:solidFill>
                <a:latin typeface="Times New Roman"/>
                <a:cs typeface="Times New Roman"/>
              </a:rPr>
              <a:t>no</a:t>
            </a:r>
            <a:r>
              <a:rPr sz="1600" spc="-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C000"/>
                </a:solidFill>
                <a:latin typeface="Times New Roman"/>
                <a:cs typeface="Times New Roman"/>
              </a:rPr>
              <a:t>cryptography</a:t>
            </a:r>
            <a:r>
              <a:rPr sz="1600" spc="-5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C000"/>
                </a:solidFill>
                <a:latin typeface="Times New Roman"/>
                <a:cs typeface="Times New Roman"/>
              </a:rPr>
              <a:t>significance</a:t>
            </a:r>
            <a:r>
              <a:rPr sz="1600" spc="-3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C000"/>
                </a:solidFill>
                <a:latin typeface="Times New Roman"/>
                <a:cs typeface="Times New Roman"/>
              </a:rPr>
              <a:t>in </a:t>
            </a:r>
            <a:r>
              <a:rPr sz="1600" spc="-78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C000"/>
                </a:solidFill>
                <a:latin typeface="Times New Roman"/>
                <a:cs typeface="Times New Roman"/>
              </a:rPr>
              <a:t>DES</a:t>
            </a:r>
            <a:r>
              <a:rPr sz="1600" dirty="0" smtClean="0">
                <a:solidFill>
                  <a:srgbClr val="FFC000"/>
                </a:solidFill>
                <a:latin typeface="Times New Roman"/>
                <a:cs typeface="Times New Roman"/>
              </a:rPr>
              <a:t>.</a:t>
            </a:r>
            <a:r>
              <a:rPr lang="en-US" sz="1600" dirty="0" smtClean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lang="en-US" sz="16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Both permutations are keyless and predetermined.</a:t>
            </a:r>
            <a:endParaRPr sz="16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129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268" y="1652532"/>
            <a:ext cx="4803947" cy="4440764"/>
          </a:xfrm>
          <a:prstGeom prst="rect">
            <a:avLst/>
          </a:prstGeom>
        </p:spPr>
      </p:pic>
      <p:sp>
        <p:nvSpPr>
          <p:cNvPr id="13" name="object 8"/>
          <p:cNvSpPr txBox="1"/>
          <p:nvPr/>
        </p:nvSpPr>
        <p:spPr>
          <a:xfrm>
            <a:off x="532049" y="260648"/>
            <a:ext cx="828092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1478280" algn="l"/>
              </a:tabLst>
            </a:pPr>
            <a:r>
              <a:rPr sz="2800" b="1" spc="-10" dirty="0">
                <a:solidFill>
                  <a:srgbClr val="FFC000"/>
                </a:solidFill>
                <a:latin typeface="Times New Roman"/>
                <a:cs typeface="Times New Roman"/>
              </a:rPr>
              <a:t>Figure</a:t>
            </a:r>
            <a:r>
              <a:rPr sz="2800" b="1" spc="-5" dirty="0">
                <a:solidFill>
                  <a:srgbClr val="FFC000"/>
                </a:solidFill>
                <a:latin typeface="Times New Roman"/>
                <a:cs typeface="Times New Roman"/>
              </a:rPr>
              <a:t> 6.3	</a:t>
            </a:r>
            <a:r>
              <a:rPr sz="2800" b="1" i="1" dirty="0">
                <a:solidFill>
                  <a:srgbClr val="FFC000"/>
                </a:solidFill>
                <a:latin typeface="Times New Roman"/>
                <a:cs typeface="Times New Roman"/>
              </a:rPr>
              <a:t>Initial</a:t>
            </a:r>
            <a:r>
              <a:rPr sz="2800" b="1" i="1" spc="-2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FFC000"/>
                </a:solidFill>
                <a:latin typeface="Times New Roman"/>
                <a:cs typeface="Times New Roman"/>
              </a:rPr>
              <a:t>and</a:t>
            </a:r>
            <a:r>
              <a:rPr sz="2800" b="1" i="1" spc="-1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FFC000"/>
                </a:solidFill>
                <a:latin typeface="Times New Roman"/>
                <a:cs typeface="Times New Roman"/>
              </a:rPr>
              <a:t>final</a:t>
            </a:r>
            <a:r>
              <a:rPr sz="2800" b="1" i="1" spc="-4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FFC000"/>
                </a:solidFill>
                <a:latin typeface="Times New Roman"/>
                <a:cs typeface="Times New Roman"/>
              </a:rPr>
              <a:t>permutation</a:t>
            </a:r>
            <a:r>
              <a:rPr sz="2800" b="1" i="1" spc="-3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FFC000"/>
                </a:solidFill>
                <a:latin typeface="Times New Roman"/>
                <a:cs typeface="Times New Roman"/>
              </a:rPr>
              <a:t>steps</a:t>
            </a:r>
            <a:r>
              <a:rPr sz="2800" b="1" i="1" spc="-2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FFC000"/>
                </a:solidFill>
                <a:latin typeface="Times New Roman"/>
                <a:cs typeface="Times New Roman"/>
              </a:rPr>
              <a:t>in</a:t>
            </a:r>
            <a:r>
              <a:rPr sz="2800" b="1" i="1" spc="-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FFC000"/>
                </a:solidFill>
                <a:latin typeface="Times New Roman"/>
                <a:cs typeface="Times New Roman"/>
              </a:rPr>
              <a:t>DES</a:t>
            </a:r>
            <a:endParaRPr sz="2800" dirty="0">
              <a:solidFill>
                <a:srgbClr val="FFC000"/>
              </a:solidFill>
              <a:latin typeface="Times New Roman"/>
              <a:cs typeface="Times New Roman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06B9344-A600-C44C-BFF3-F262E2EAB853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21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pic>
        <p:nvPicPr>
          <p:cNvPr id="5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41214" y="1628799"/>
            <a:ext cx="4302785" cy="288032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911032" y="5140930"/>
            <a:ext cx="419747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 smtClean="0">
                <a:solidFill>
                  <a:srgbClr val="FF0000"/>
                </a:solidFill>
              </a:rPr>
              <a:t>Rule: </a:t>
            </a:r>
          </a:p>
          <a:p>
            <a:pPr algn="just"/>
            <a:r>
              <a:rPr lang="en-US" sz="1600" dirty="0">
                <a:solidFill>
                  <a:srgbClr val="FFC000"/>
                </a:solidFill>
              </a:rPr>
              <a:t>I</a:t>
            </a:r>
            <a:r>
              <a:rPr lang="en-US" sz="1600" dirty="0" smtClean="0">
                <a:solidFill>
                  <a:srgbClr val="FFC000"/>
                </a:solidFill>
              </a:rPr>
              <a:t>n </a:t>
            </a:r>
            <a:r>
              <a:rPr lang="en-US" sz="1600" dirty="0">
                <a:solidFill>
                  <a:srgbClr val="FFC000"/>
                </a:solidFill>
              </a:rPr>
              <a:t>the initial permutation, the 58th bit in the input becomes the </a:t>
            </a:r>
            <a:r>
              <a:rPr lang="en-US" sz="1600" dirty="0" smtClean="0">
                <a:solidFill>
                  <a:srgbClr val="FFC000"/>
                </a:solidFill>
              </a:rPr>
              <a:t>first </a:t>
            </a:r>
            <a:r>
              <a:rPr lang="en-US" sz="1600" dirty="0">
                <a:solidFill>
                  <a:srgbClr val="FFC000"/>
                </a:solidFill>
              </a:rPr>
              <a:t>bit in the output. Similarly, in the </a:t>
            </a:r>
            <a:r>
              <a:rPr lang="en-US" sz="1600" dirty="0" smtClean="0">
                <a:solidFill>
                  <a:srgbClr val="FFC000"/>
                </a:solidFill>
              </a:rPr>
              <a:t>final permutation</a:t>
            </a:r>
            <a:r>
              <a:rPr lang="en-US" sz="1600" dirty="0">
                <a:solidFill>
                  <a:srgbClr val="FFC000"/>
                </a:solidFill>
              </a:rPr>
              <a:t>, the </a:t>
            </a:r>
            <a:r>
              <a:rPr lang="en-US" sz="1600" dirty="0" smtClean="0">
                <a:solidFill>
                  <a:srgbClr val="FFC000"/>
                </a:solidFill>
              </a:rPr>
              <a:t>first </a:t>
            </a:r>
            <a:r>
              <a:rPr lang="en-US" sz="1600" dirty="0">
                <a:solidFill>
                  <a:srgbClr val="FFC000"/>
                </a:solidFill>
              </a:rPr>
              <a:t>bit in the input becomes the 58th bit in the output.</a:t>
            </a:r>
            <a:endParaRPr lang="en-US" sz="16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7141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6"/>
          <p:cNvSpPr txBox="1"/>
          <p:nvPr/>
        </p:nvSpPr>
        <p:spPr>
          <a:xfrm>
            <a:off x="121731" y="456974"/>
            <a:ext cx="853059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869315" algn="l"/>
                <a:tab pos="1666239" algn="l"/>
                <a:tab pos="2187575" algn="l"/>
                <a:tab pos="3472179" algn="l"/>
                <a:tab pos="4408170" algn="l"/>
                <a:tab pos="5464810" algn="l"/>
                <a:tab pos="5927725" algn="l"/>
                <a:tab pos="6784975" algn="l"/>
                <a:tab pos="7186930" algn="l"/>
                <a:tab pos="7531734" algn="l"/>
              </a:tabLst>
            </a:pPr>
            <a:r>
              <a:rPr sz="2800" b="1" i="1" spc="-5" dirty="0">
                <a:solidFill>
                  <a:srgbClr val="FFC000"/>
                </a:solidFill>
                <a:latin typeface="Times New Roman"/>
                <a:cs typeface="Times New Roman"/>
              </a:rPr>
              <a:t>DES	u</a:t>
            </a:r>
            <a:r>
              <a:rPr sz="2800" b="1" i="1" dirty="0">
                <a:solidFill>
                  <a:srgbClr val="FFC000"/>
                </a:solidFill>
                <a:latin typeface="Times New Roman"/>
                <a:cs typeface="Times New Roman"/>
              </a:rPr>
              <a:t>s</a:t>
            </a:r>
            <a:r>
              <a:rPr sz="2800" b="1" i="1" spc="-5" dirty="0">
                <a:solidFill>
                  <a:srgbClr val="FFC000"/>
                </a:solidFill>
                <a:latin typeface="Times New Roman"/>
                <a:cs typeface="Times New Roman"/>
              </a:rPr>
              <a:t>es</a:t>
            </a:r>
            <a:r>
              <a:rPr sz="2800" b="1" i="1" dirty="0">
                <a:solidFill>
                  <a:srgbClr val="FFC000"/>
                </a:solidFill>
                <a:latin typeface="Times New Roman"/>
                <a:cs typeface="Times New Roman"/>
              </a:rPr>
              <a:t>	1</a:t>
            </a:r>
            <a:r>
              <a:rPr sz="2800" b="1" i="1" spc="-5" dirty="0">
                <a:solidFill>
                  <a:srgbClr val="FFC000"/>
                </a:solidFill>
                <a:latin typeface="Times New Roman"/>
                <a:cs typeface="Times New Roman"/>
              </a:rPr>
              <a:t>6</a:t>
            </a:r>
            <a:r>
              <a:rPr sz="2800" b="1" i="1" dirty="0">
                <a:solidFill>
                  <a:srgbClr val="FFC000"/>
                </a:solidFill>
                <a:latin typeface="Times New Roman"/>
                <a:cs typeface="Times New Roman"/>
              </a:rPr>
              <a:t>	</a:t>
            </a:r>
            <a:r>
              <a:rPr sz="2800" b="1" i="1" spc="-5" dirty="0">
                <a:solidFill>
                  <a:srgbClr val="FFC000"/>
                </a:solidFill>
                <a:latin typeface="Times New Roman"/>
                <a:cs typeface="Times New Roman"/>
              </a:rPr>
              <a:t>r</a:t>
            </a:r>
            <a:r>
              <a:rPr sz="2800" b="1" i="1" dirty="0">
                <a:solidFill>
                  <a:srgbClr val="FFC000"/>
                </a:solidFill>
                <a:latin typeface="Times New Roman"/>
                <a:cs typeface="Times New Roman"/>
              </a:rPr>
              <a:t>o</a:t>
            </a:r>
            <a:r>
              <a:rPr sz="2800" b="1" i="1" spc="-5" dirty="0">
                <a:solidFill>
                  <a:srgbClr val="FFC000"/>
                </a:solidFill>
                <a:latin typeface="Times New Roman"/>
                <a:cs typeface="Times New Roman"/>
              </a:rPr>
              <a:t>u</a:t>
            </a:r>
            <a:r>
              <a:rPr sz="2800" b="1" i="1" spc="10" dirty="0">
                <a:solidFill>
                  <a:srgbClr val="FFC000"/>
                </a:solidFill>
                <a:latin typeface="Times New Roman"/>
                <a:cs typeface="Times New Roman"/>
              </a:rPr>
              <a:t>n</a:t>
            </a:r>
            <a:r>
              <a:rPr sz="2800" b="1" i="1" spc="-5" dirty="0">
                <a:solidFill>
                  <a:srgbClr val="FFC000"/>
                </a:solidFill>
                <a:latin typeface="Times New Roman"/>
                <a:cs typeface="Times New Roman"/>
              </a:rPr>
              <a:t>d</a:t>
            </a:r>
            <a:r>
              <a:rPr sz="2800" b="1" i="1" spc="10" dirty="0">
                <a:solidFill>
                  <a:srgbClr val="FFC000"/>
                </a:solidFill>
                <a:latin typeface="Times New Roman"/>
                <a:cs typeface="Times New Roman"/>
              </a:rPr>
              <a:t>s</a:t>
            </a:r>
            <a:r>
              <a:rPr sz="2800" b="1" i="1" spc="-5" dirty="0">
                <a:solidFill>
                  <a:srgbClr val="FFC000"/>
                </a:solidFill>
                <a:latin typeface="Times New Roman"/>
                <a:cs typeface="Times New Roman"/>
              </a:rPr>
              <a:t>.</a:t>
            </a:r>
            <a:r>
              <a:rPr sz="2800" b="1" i="1" dirty="0">
                <a:solidFill>
                  <a:srgbClr val="FFC000"/>
                </a:solidFill>
                <a:latin typeface="Times New Roman"/>
                <a:cs typeface="Times New Roman"/>
              </a:rPr>
              <a:t>	</a:t>
            </a:r>
            <a:r>
              <a:rPr sz="2800" b="1" i="1" spc="-5" dirty="0">
                <a:solidFill>
                  <a:srgbClr val="FFC000"/>
                </a:solidFill>
                <a:latin typeface="Times New Roman"/>
                <a:cs typeface="Times New Roman"/>
              </a:rPr>
              <a:t>Each</a:t>
            </a:r>
            <a:r>
              <a:rPr sz="2800" b="1" i="1" dirty="0">
                <a:solidFill>
                  <a:srgbClr val="FFC000"/>
                </a:solidFill>
                <a:latin typeface="Times New Roman"/>
                <a:cs typeface="Times New Roman"/>
              </a:rPr>
              <a:t>	</a:t>
            </a:r>
            <a:r>
              <a:rPr sz="2800" b="1" i="1" spc="-5" dirty="0">
                <a:solidFill>
                  <a:srgbClr val="FFC000"/>
                </a:solidFill>
                <a:latin typeface="Times New Roman"/>
                <a:cs typeface="Times New Roman"/>
              </a:rPr>
              <a:t>r</a:t>
            </a:r>
            <a:r>
              <a:rPr sz="2800" b="1" i="1" spc="5" dirty="0">
                <a:solidFill>
                  <a:srgbClr val="FFC000"/>
                </a:solidFill>
                <a:latin typeface="Times New Roman"/>
                <a:cs typeface="Times New Roman"/>
              </a:rPr>
              <a:t>o</a:t>
            </a:r>
            <a:r>
              <a:rPr sz="2800" b="1" i="1" spc="-5" dirty="0">
                <a:solidFill>
                  <a:srgbClr val="FFC000"/>
                </a:solidFill>
                <a:latin typeface="Times New Roman"/>
                <a:cs typeface="Times New Roman"/>
              </a:rPr>
              <a:t>u</a:t>
            </a:r>
            <a:r>
              <a:rPr sz="2800" b="1" i="1" spc="5" dirty="0">
                <a:solidFill>
                  <a:srgbClr val="FFC000"/>
                </a:solidFill>
                <a:latin typeface="Times New Roman"/>
                <a:cs typeface="Times New Roman"/>
              </a:rPr>
              <a:t>n</a:t>
            </a:r>
            <a:r>
              <a:rPr sz="2800" b="1" i="1" spc="-5" dirty="0">
                <a:solidFill>
                  <a:srgbClr val="FFC000"/>
                </a:solidFill>
                <a:latin typeface="Times New Roman"/>
                <a:cs typeface="Times New Roman"/>
              </a:rPr>
              <a:t>d</a:t>
            </a:r>
            <a:r>
              <a:rPr sz="2800" b="1" i="1" dirty="0">
                <a:solidFill>
                  <a:srgbClr val="FFC000"/>
                </a:solidFill>
                <a:latin typeface="Times New Roman"/>
                <a:cs typeface="Times New Roman"/>
              </a:rPr>
              <a:t>	o</a:t>
            </a:r>
            <a:r>
              <a:rPr sz="2800" b="1" i="1" spc="-5" dirty="0">
                <a:solidFill>
                  <a:srgbClr val="FFC000"/>
                </a:solidFill>
                <a:latin typeface="Times New Roman"/>
                <a:cs typeface="Times New Roman"/>
              </a:rPr>
              <a:t>f</a:t>
            </a:r>
            <a:r>
              <a:rPr sz="2800" b="1" i="1" dirty="0">
                <a:solidFill>
                  <a:srgbClr val="FFC000"/>
                </a:solidFill>
                <a:latin typeface="Times New Roman"/>
                <a:cs typeface="Times New Roman"/>
              </a:rPr>
              <a:t>	</a:t>
            </a:r>
            <a:r>
              <a:rPr sz="2800" b="1" i="1" spc="-5" dirty="0">
                <a:solidFill>
                  <a:srgbClr val="FFC000"/>
                </a:solidFill>
                <a:latin typeface="Times New Roman"/>
                <a:cs typeface="Times New Roman"/>
              </a:rPr>
              <a:t>DES</a:t>
            </a:r>
            <a:r>
              <a:rPr sz="2800" b="1" i="1" dirty="0">
                <a:solidFill>
                  <a:srgbClr val="FFC000"/>
                </a:solidFill>
                <a:latin typeface="Times New Roman"/>
                <a:cs typeface="Times New Roman"/>
              </a:rPr>
              <a:t>	</a:t>
            </a:r>
            <a:r>
              <a:rPr sz="2800" b="1" i="1" spc="-5" dirty="0">
                <a:solidFill>
                  <a:srgbClr val="FFC000"/>
                </a:solidFill>
                <a:latin typeface="Times New Roman"/>
                <a:cs typeface="Times New Roman"/>
              </a:rPr>
              <a:t>is</a:t>
            </a:r>
            <a:r>
              <a:rPr sz="2800" b="1" i="1" dirty="0">
                <a:solidFill>
                  <a:srgbClr val="FFC000"/>
                </a:solidFill>
                <a:latin typeface="Times New Roman"/>
                <a:cs typeface="Times New Roman"/>
              </a:rPr>
              <a:t>	</a:t>
            </a:r>
            <a:r>
              <a:rPr sz="2800" b="1" i="1" spc="-5" dirty="0">
                <a:solidFill>
                  <a:srgbClr val="FFC000"/>
                </a:solidFill>
                <a:latin typeface="Times New Roman"/>
                <a:cs typeface="Times New Roman"/>
              </a:rPr>
              <a:t>a</a:t>
            </a:r>
            <a:r>
              <a:rPr sz="2800" b="1" i="1" dirty="0">
                <a:solidFill>
                  <a:srgbClr val="FFC000"/>
                </a:solidFill>
                <a:latin typeface="Times New Roman"/>
                <a:cs typeface="Times New Roman"/>
              </a:rPr>
              <a:t>	</a:t>
            </a:r>
            <a:r>
              <a:rPr sz="2800" b="1" i="1" spc="-5" dirty="0">
                <a:solidFill>
                  <a:srgbClr val="FFC000"/>
                </a:solidFill>
                <a:latin typeface="Times New Roman"/>
                <a:cs typeface="Times New Roman"/>
              </a:rPr>
              <a:t>F</a:t>
            </a:r>
            <a:r>
              <a:rPr sz="2800" b="1" i="1" spc="-20" dirty="0">
                <a:solidFill>
                  <a:srgbClr val="FFC000"/>
                </a:solidFill>
                <a:latin typeface="Times New Roman"/>
                <a:cs typeface="Times New Roman"/>
              </a:rPr>
              <a:t>e</a:t>
            </a:r>
            <a:r>
              <a:rPr sz="2800" b="1" i="1" spc="-5" dirty="0">
                <a:solidFill>
                  <a:srgbClr val="FFC000"/>
                </a:solidFill>
                <a:latin typeface="Times New Roman"/>
                <a:cs typeface="Times New Roman"/>
              </a:rPr>
              <a:t>is</a:t>
            </a:r>
            <a:r>
              <a:rPr sz="2800" b="1" i="1" dirty="0">
                <a:solidFill>
                  <a:srgbClr val="FFC000"/>
                </a:solidFill>
                <a:latin typeface="Times New Roman"/>
                <a:cs typeface="Times New Roman"/>
              </a:rPr>
              <a:t>t</a:t>
            </a:r>
            <a:r>
              <a:rPr sz="2800" b="1" i="1" spc="-5" dirty="0">
                <a:solidFill>
                  <a:srgbClr val="FFC000"/>
                </a:solidFill>
                <a:latin typeface="Times New Roman"/>
                <a:cs typeface="Times New Roman"/>
              </a:rPr>
              <a:t>el  </a:t>
            </a:r>
            <a:r>
              <a:rPr sz="2800" b="1" i="1" spc="-25" dirty="0">
                <a:solidFill>
                  <a:srgbClr val="FFC000"/>
                </a:solidFill>
                <a:latin typeface="Times New Roman"/>
                <a:cs typeface="Times New Roman"/>
              </a:rPr>
              <a:t>cipher.</a:t>
            </a:r>
            <a:endParaRPr sz="2800" dirty="0">
              <a:solidFill>
                <a:srgbClr val="FFC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object 8"/>
          <p:cNvSpPr txBox="1"/>
          <p:nvPr/>
        </p:nvSpPr>
        <p:spPr>
          <a:xfrm>
            <a:off x="107504" y="3909495"/>
            <a:ext cx="324036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C000"/>
                </a:solidFill>
                <a:latin typeface="Times New Roman"/>
                <a:cs typeface="Times New Roman"/>
              </a:rPr>
              <a:t>Figure</a:t>
            </a:r>
            <a:r>
              <a:rPr sz="2400" b="1" spc="-4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 smtClean="0">
                <a:solidFill>
                  <a:srgbClr val="FFC000"/>
                </a:solidFill>
                <a:latin typeface="Times New Roman"/>
                <a:cs typeface="Times New Roman"/>
              </a:rPr>
              <a:t>6.4</a:t>
            </a:r>
            <a:r>
              <a:rPr lang="en-US" sz="240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 smtClean="0">
                <a:solidFill>
                  <a:srgbClr val="FFC000"/>
                </a:solidFill>
                <a:latin typeface="Times New Roman"/>
                <a:cs typeface="Times New Roman"/>
              </a:rPr>
              <a:t>A</a:t>
            </a:r>
            <a:r>
              <a:rPr sz="2000" b="1" i="1" spc="-114" dirty="0" smtClean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FFC000"/>
                </a:solidFill>
                <a:latin typeface="Times New Roman"/>
                <a:cs typeface="Times New Roman"/>
              </a:rPr>
              <a:t>round</a:t>
            </a:r>
            <a:r>
              <a:rPr sz="2000" b="1" i="1" spc="-3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FFC000"/>
                </a:solidFill>
                <a:latin typeface="Times New Roman"/>
                <a:cs typeface="Times New Roman"/>
              </a:rPr>
              <a:t>in</a:t>
            </a:r>
            <a:r>
              <a:rPr sz="2000" b="1" i="1" spc="-1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FFC000"/>
                </a:solidFill>
                <a:latin typeface="Times New Roman"/>
                <a:cs typeface="Times New Roman"/>
              </a:rPr>
              <a:t>DES</a:t>
            </a:r>
            <a:endParaRPr sz="2000" dirty="0">
              <a:solidFill>
                <a:srgbClr val="FFC000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i="1" dirty="0">
                <a:solidFill>
                  <a:srgbClr val="FFC000"/>
                </a:solidFill>
                <a:latin typeface="Times New Roman"/>
                <a:cs typeface="Times New Roman"/>
              </a:rPr>
              <a:t>(encryption</a:t>
            </a:r>
            <a:r>
              <a:rPr sz="2000" b="1" i="1" spc="-11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000" b="1" i="1" spc="-5" dirty="0">
                <a:solidFill>
                  <a:srgbClr val="FFC000"/>
                </a:solidFill>
                <a:latin typeface="Times New Roman"/>
                <a:cs typeface="Times New Roman"/>
              </a:rPr>
              <a:t>site)</a:t>
            </a:r>
            <a:endParaRPr sz="2000" dirty="0">
              <a:solidFill>
                <a:srgbClr val="FFC000"/>
              </a:solidFill>
              <a:latin typeface="Times New Roman"/>
              <a:cs typeface="Times New Roman"/>
            </a:endParaRPr>
          </a:p>
        </p:txBody>
      </p:sp>
      <p:pic>
        <p:nvPicPr>
          <p:cNvPr id="6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3888" y="1340768"/>
            <a:ext cx="4824536" cy="5517232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C9FC-DA22-1F47-8722-58727A1D436E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22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9956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67944" y="1988840"/>
            <a:ext cx="4358416" cy="4751931"/>
          </a:xfrm>
          <a:prstGeom prst="rect">
            <a:avLst/>
          </a:prstGeom>
        </p:spPr>
      </p:pic>
      <p:sp>
        <p:nvSpPr>
          <p:cNvPr id="5" name="object 7"/>
          <p:cNvSpPr txBox="1"/>
          <p:nvPr/>
        </p:nvSpPr>
        <p:spPr>
          <a:xfrm>
            <a:off x="179512" y="188641"/>
            <a:ext cx="8784976" cy="4058803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295"/>
              </a:spcBef>
            </a:pPr>
            <a:r>
              <a:rPr sz="2800" b="1" i="1" spc="-5" dirty="0" smtClean="0">
                <a:solidFill>
                  <a:schemeClr val="tx1">
                    <a:lumMod val="85000"/>
                  </a:schemeClr>
                </a:solidFill>
                <a:latin typeface="Times New Roman"/>
                <a:cs typeface="Times New Roman"/>
              </a:rPr>
              <a:t>The </a:t>
            </a:r>
            <a:r>
              <a:rPr sz="2800" b="1" i="1" spc="-5" dirty="0">
                <a:solidFill>
                  <a:schemeClr val="tx1">
                    <a:lumMod val="85000"/>
                  </a:schemeClr>
                </a:solidFill>
                <a:latin typeface="Times New Roman"/>
                <a:cs typeface="Times New Roman"/>
              </a:rPr>
              <a:t>heart </a:t>
            </a:r>
            <a:r>
              <a:rPr sz="2800" b="1" i="1" dirty="0">
                <a:solidFill>
                  <a:schemeClr val="tx1">
                    <a:lumMod val="85000"/>
                  </a:schemeClr>
                </a:solidFill>
                <a:latin typeface="Times New Roman"/>
                <a:cs typeface="Times New Roman"/>
              </a:rPr>
              <a:t>of </a:t>
            </a:r>
            <a:r>
              <a:rPr sz="2800" b="1" i="1" spc="-5" dirty="0">
                <a:solidFill>
                  <a:schemeClr val="tx1">
                    <a:lumMod val="85000"/>
                  </a:schemeClr>
                </a:solidFill>
                <a:latin typeface="Times New Roman"/>
                <a:cs typeface="Times New Roman"/>
              </a:rPr>
              <a:t>DES is the DES </a:t>
            </a:r>
            <a:r>
              <a:rPr sz="2800" b="1" i="1" dirty="0">
                <a:solidFill>
                  <a:schemeClr val="tx1">
                    <a:lumMod val="85000"/>
                  </a:schemeClr>
                </a:solidFill>
                <a:latin typeface="Times New Roman"/>
                <a:cs typeface="Times New Roman"/>
              </a:rPr>
              <a:t>function. The </a:t>
            </a:r>
            <a:r>
              <a:rPr sz="2800" b="1" i="1" spc="-5" dirty="0">
                <a:solidFill>
                  <a:schemeClr val="tx1">
                    <a:lumMod val="85000"/>
                  </a:schemeClr>
                </a:solidFill>
                <a:latin typeface="Times New Roman"/>
                <a:cs typeface="Times New Roman"/>
              </a:rPr>
              <a:t>DES </a:t>
            </a:r>
            <a:r>
              <a:rPr sz="2800" b="1" i="1" dirty="0">
                <a:solidFill>
                  <a:schemeClr val="tx1">
                    <a:lumMod val="85000"/>
                  </a:schemeClr>
                </a:solidFill>
                <a:latin typeface="Times New Roman"/>
                <a:cs typeface="Times New Roman"/>
              </a:rPr>
              <a:t>function </a:t>
            </a:r>
            <a:r>
              <a:rPr sz="2800" b="1" i="1" spc="-685" dirty="0">
                <a:solidFill>
                  <a:schemeClr val="tx1">
                    <a:lumMod val="8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800" b="1" i="1" spc="-5" dirty="0">
                <a:solidFill>
                  <a:schemeClr val="tx1">
                    <a:lumMod val="85000"/>
                  </a:schemeClr>
                </a:solidFill>
                <a:latin typeface="Times New Roman"/>
                <a:cs typeface="Times New Roman"/>
              </a:rPr>
              <a:t>applies a </a:t>
            </a:r>
            <a:r>
              <a:rPr sz="2800" b="1" i="1" dirty="0">
                <a:solidFill>
                  <a:schemeClr val="tx1">
                    <a:lumMod val="85000"/>
                  </a:schemeClr>
                </a:solidFill>
                <a:latin typeface="Times New Roman"/>
                <a:cs typeface="Times New Roman"/>
              </a:rPr>
              <a:t>48-bit </a:t>
            </a:r>
            <a:r>
              <a:rPr sz="2800" b="1" i="1" spc="-5" dirty="0">
                <a:solidFill>
                  <a:schemeClr val="tx1">
                    <a:lumMod val="85000"/>
                  </a:schemeClr>
                </a:solidFill>
                <a:latin typeface="Times New Roman"/>
                <a:cs typeface="Times New Roman"/>
              </a:rPr>
              <a:t>key to the rightmost </a:t>
            </a:r>
            <a:r>
              <a:rPr sz="2800" b="1" i="1" dirty="0">
                <a:solidFill>
                  <a:schemeClr val="tx1">
                    <a:lumMod val="85000"/>
                  </a:schemeClr>
                </a:solidFill>
                <a:latin typeface="Times New Roman"/>
                <a:cs typeface="Times New Roman"/>
              </a:rPr>
              <a:t>32 </a:t>
            </a:r>
            <a:r>
              <a:rPr sz="2800" b="1" i="1" spc="-5" dirty="0">
                <a:solidFill>
                  <a:schemeClr val="tx1">
                    <a:lumMod val="85000"/>
                  </a:schemeClr>
                </a:solidFill>
                <a:latin typeface="Times New Roman"/>
                <a:cs typeface="Times New Roman"/>
              </a:rPr>
              <a:t>bits to produce a </a:t>
            </a:r>
            <a:r>
              <a:rPr sz="2800" b="1" i="1" dirty="0">
                <a:solidFill>
                  <a:schemeClr val="tx1">
                    <a:lumMod val="85000"/>
                  </a:schemeClr>
                </a:solidFill>
                <a:latin typeface="Times New Roman"/>
                <a:cs typeface="Times New Roman"/>
              </a:rPr>
              <a:t> 32-bit</a:t>
            </a:r>
            <a:r>
              <a:rPr sz="2800" b="1" i="1" spc="-15" dirty="0">
                <a:solidFill>
                  <a:schemeClr val="tx1">
                    <a:lumMod val="8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chemeClr val="tx1">
                    <a:lumMod val="85000"/>
                  </a:schemeClr>
                </a:solidFill>
                <a:latin typeface="Times New Roman"/>
                <a:cs typeface="Times New Roman"/>
              </a:rPr>
              <a:t>output.</a:t>
            </a:r>
            <a:endParaRPr sz="2800" b="1" dirty="0">
              <a:solidFill>
                <a:schemeClr val="tx1">
                  <a:lumMod val="85000"/>
                </a:schemeClr>
              </a:solidFill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n-US" sz="3100" dirty="0" smtClean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n-US" sz="3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n-US" sz="3100" dirty="0" smtClean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100" dirty="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2585"/>
              </a:spcBef>
            </a:pPr>
            <a:r>
              <a:rPr sz="2400" b="1" spc="-10" dirty="0" smtClean="0">
                <a:solidFill>
                  <a:srgbClr val="FFC000"/>
                </a:solidFill>
                <a:latin typeface="Times New Roman"/>
                <a:cs typeface="Times New Roman"/>
              </a:rPr>
              <a:t>Figure</a:t>
            </a:r>
            <a:r>
              <a:rPr sz="2400" b="1" spc="-45" dirty="0" smtClean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 smtClean="0">
                <a:solidFill>
                  <a:srgbClr val="FFC000"/>
                </a:solidFill>
                <a:latin typeface="Times New Roman"/>
                <a:cs typeface="Times New Roman"/>
              </a:rPr>
              <a:t>6.5</a:t>
            </a:r>
            <a:r>
              <a:rPr lang="en-US" sz="2400" b="1" dirty="0" smtClean="0">
                <a:solidFill>
                  <a:srgbClr val="FFC000"/>
                </a:solidFill>
                <a:latin typeface="Times New Roman"/>
                <a:cs typeface="Times New Roman"/>
              </a:rPr>
              <a:t>: </a:t>
            </a:r>
            <a:r>
              <a:rPr sz="2000" b="1" i="1" dirty="0" smtClean="0">
                <a:solidFill>
                  <a:srgbClr val="FFC000"/>
                </a:solidFill>
                <a:latin typeface="Times New Roman"/>
                <a:cs typeface="Times New Roman"/>
              </a:rPr>
              <a:t>DES</a:t>
            </a:r>
            <a:r>
              <a:rPr sz="2000" b="1" i="1" spc="-40" dirty="0" smtClean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FFC000"/>
                </a:solidFill>
                <a:latin typeface="Times New Roman"/>
                <a:cs typeface="Times New Roman"/>
              </a:rPr>
              <a:t>function</a:t>
            </a:r>
            <a:endParaRPr sz="2000" b="1" dirty="0">
              <a:solidFill>
                <a:srgbClr val="FFC000"/>
              </a:solidFill>
              <a:latin typeface="Times New Roman"/>
              <a:cs typeface="Times New Roman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C9FC-DA22-1F47-8722-58727A1D436E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23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8064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-36513" y="188641"/>
            <a:ext cx="9141765" cy="1704313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770"/>
              </a:spcBef>
            </a:pPr>
            <a:r>
              <a:rPr sz="3600" b="1" i="1" dirty="0">
                <a:solidFill>
                  <a:srgbClr val="FFC000"/>
                </a:solidFill>
                <a:latin typeface="Times New Roman"/>
                <a:cs typeface="Times New Roman"/>
              </a:rPr>
              <a:t>Expansion</a:t>
            </a:r>
            <a:r>
              <a:rPr sz="3600" b="1" i="1" spc="-4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3600" b="1" i="1" dirty="0">
                <a:solidFill>
                  <a:srgbClr val="FFC000"/>
                </a:solidFill>
                <a:latin typeface="Times New Roman"/>
                <a:cs typeface="Times New Roman"/>
              </a:rPr>
              <a:t>P-box</a:t>
            </a:r>
            <a:endParaRPr sz="3600" b="1" dirty="0">
              <a:solidFill>
                <a:srgbClr val="FFC000"/>
              </a:solidFill>
              <a:latin typeface="Times New Roman"/>
              <a:cs typeface="Times New Roman"/>
            </a:endParaRPr>
          </a:p>
          <a:p>
            <a:pPr marL="50800" marR="43180">
              <a:lnSpc>
                <a:spcPts val="4040"/>
              </a:lnSpc>
              <a:spcBef>
                <a:spcPts val="85"/>
              </a:spcBef>
            </a:pPr>
            <a:r>
              <a:rPr sz="2000" b="1" dirty="0">
                <a:latin typeface="Times New Roman"/>
                <a:cs typeface="Times New Roman"/>
              </a:rPr>
              <a:t>Since</a:t>
            </a:r>
            <a:r>
              <a:rPr sz="2000" b="1" spc="120" dirty="0">
                <a:latin typeface="Times New Roman"/>
                <a:cs typeface="Times New Roman"/>
              </a:rPr>
              <a:t> </a:t>
            </a:r>
            <a:r>
              <a:rPr sz="2000" b="1" spc="5" dirty="0">
                <a:latin typeface="Times New Roman"/>
                <a:cs typeface="Times New Roman"/>
              </a:rPr>
              <a:t>R</a:t>
            </a:r>
            <a:r>
              <a:rPr sz="2000" b="1" spc="7" baseline="-21021" dirty="0">
                <a:latin typeface="Times New Roman"/>
                <a:cs typeface="Times New Roman"/>
              </a:rPr>
              <a:t>I−1</a:t>
            </a:r>
            <a:r>
              <a:rPr sz="2000" b="1" spc="525" baseline="-21021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is</a:t>
            </a:r>
            <a:r>
              <a:rPr sz="2000" b="1" spc="135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a</a:t>
            </a:r>
            <a:r>
              <a:rPr sz="2000" b="1" spc="13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32-bit</a:t>
            </a:r>
            <a:r>
              <a:rPr sz="2000" b="1" spc="1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input</a:t>
            </a:r>
            <a:r>
              <a:rPr sz="2000" b="1" spc="12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and</a:t>
            </a:r>
            <a:r>
              <a:rPr sz="2000" b="1" spc="135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K</a:t>
            </a:r>
            <a:r>
              <a:rPr sz="2000" b="1" spc="-7" baseline="-21021" dirty="0">
                <a:latin typeface="Times New Roman"/>
                <a:cs typeface="Times New Roman"/>
              </a:rPr>
              <a:t>I</a:t>
            </a:r>
            <a:r>
              <a:rPr sz="2000" b="1" spc="555" baseline="-21021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is</a:t>
            </a:r>
            <a:r>
              <a:rPr sz="2000" b="1" spc="135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a</a:t>
            </a:r>
            <a:r>
              <a:rPr sz="2000" b="1" spc="13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48-bit</a:t>
            </a:r>
            <a:r>
              <a:rPr sz="2000" b="1" spc="125" dirty="0">
                <a:latin typeface="Times New Roman"/>
                <a:cs typeface="Times New Roman"/>
              </a:rPr>
              <a:t> </a:t>
            </a:r>
            <a:r>
              <a:rPr sz="2000" b="1" spc="-35" dirty="0">
                <a:latin typeface="Times New Roman"/>
                <a:cs typeface="Times New Roman"/>
              </a:rPr>
              <a:t>key,</a:t>
            </a:r>
            <a:r>
              <a:rPr sz="2000" b="1" spc="12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we</a:t>
            </a:r>
            <a:r>
              <a:rPr sz="2000" b="1" spc="125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first </a:t>
            </a:r>
            <a:r>
              <a:rPr sz="2000" b="1" spc="-685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need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to</a:t>
            </a:r>
            <a:r>
              <a:rPr sz="2000" b="1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expand </a:t>
            </a:r>
            <a:r>
              <a:rPr sz="2000" b="1" spc="5" dirty="0">
                <a:latin typeface="Times New Roman"/>
                <a:cs typeface="Times New Roman"/>
              </a:rPr>
              <a:t>R</a:t>
            </a:r>
            <a:r>
              <a:rPr sz="2000" b="1" spc="7" baseline="-21021" dirty="0">
                <a:latin typeface="Times New Roman"/>
                <a:cs typeface="Times New Roman"/>
              </a:rPr>
              <a:t>I−1</a:t>
            </a:r>
            <a:r>
              <a:rPr sz="2000" b="1" spc="330" baseline="-21021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to</a:t>
            </a:r>
            <a:r>
              <a:rPr sz="2000" b="1" dirty="0">
                <a:latin typeface="Times New Roman"/>
                <a:cs typeface="Times New Roman"/>
              </a:rPr>
              <a:t> </a:t>
            </a:r>
            <a:endParaRPr lang="en-US" sz="2000" b="1" dirty="0" smtClean="0">
              <a:latin typeface="Times New Roman"/>
              <a:cs typeface="Times New Roman"/>
            </a:endParaRPr>
          </a:p>
          <a:p>
            <a:pPr marL="50800" marR="43180">
              <a:lnSpc>
                <a:spcPts val="4040"/>
              </a:lnSpc>
              <a:spcBef>
                <a:spcPts val="85"/>
              </a:spcBef>
            </a:pPr>
            <a:r>
              <a:rPr sz="2000" b="1" dirty="0" smtClean="0">
                <a:latin typeface="Times New Roman"/>
                <a:cs typeface="Times New Roman"/>
              </a:rPr>
              <a:t>48</a:t>
            </a:r>
            <a:r>
              <a:rPr sz="2000" b="1" spc="-10" dirty="0" smtClean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bits</a:t>
            </a:r>
            <a:r>
              <a:rPr sz="2000" dirty="0">
                <a:latin typeface="Times New Roman"/>
                <a:cs typeface="Times New Roman"/>
              </a:rPr>
              <a:t>.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755576" y="1849486"/>
            <a:ext cx="6768752" cy="1983310"/>
            <a:chOff x="0" y="1652781"/>
            <a:chExt cx="6768752" cy="2399805"/>
          </a:xfrm>
        </p:grpSpPr>
        <p:pic>
          <p:nvPicPr>
            <p:cNvPr id="7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252386"/>
              <a:ext cx="6768752" cy="1800200"/>
            </a:xfrm>
            <a:prstGeom prst="rect">
              <a:avLst/>
            </a:prstGeom>
          </p:spPr>
        </p:pic>
        <p:sp>
          <p:nvSpPr>
            <p:cNvPr id="8" name="object 9"/>
            <p:cNvSpPr txBox="1"/>
            <p:nvPr/>
          </p:nvSpPr>
          <p:spPr>
            <a:xfrm>
              <a:off x="1399366" y="1652781"/>
              <a:ext cx="3970020" cy="3911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  <a:tabLst>
                  <a:tab pos="1478915" algn="l"/>
                </a:tabLst>
              </a:pPr>
              <a:r>
                <a:rPr sz="2400" b="1" spc="-10" dirty="0">
                  <a:solidFill>
                    <a:srgbClr val="FFC000"/>
                  </a:solidFill>
                  <a:latin typeface="Times New Roman"/>
                  <a:cs typeface="Times New Roman"/>
                </a:rPr>
                <a:t>Figure</a:t>
              </a:r>
              <a:r>
                <a:rPr sz="2400" b="1" spc="-5" dirty="0">
                  <a:solidFill>
                    <a:srgbClr val="FFC000"/>
                  </a:solidFill>
                  <a:latin typeface="Times New Roman"/>
                  <a:cs typeface="Times New Roman"/>
                </a:rPr>
                <a:t> 6.6	</a:t>
              </a:r>
              <a:r>
                <a:rPr sz="2000" b="1" i="1" dirty="0">
                  <a:solidFill>
                    <a:srgbClr val="FFC000"/>
                  </a:solidFill>
                  <a:latin typeface="Times New Roman"/>
                  <a:cs typeface="Times New Roman"/>
                </a:rPr>
                <a:t>Expansion</a:t>
              </a:r>
              <a:r>
                <a:rPr sz="2000" b="1" i="1" spc="-90" dirty="0">
                  <a:solidFill>
                    <a:srgbClr val="FFC000"/>
                  </a:solidFill>
                  <a:latin typeface="Times New Roman"/>
                  <a:cs typeface="Times New Roman"/>
                </a:rPr>
                <a:t> </a:t>
              </a:r>
              <a:r>
                <a:rPr sz="2000" b="1" i="1" dirty="0">
                  <a:solidFill>
                    <a:srgbClr val="FFC000"/>
                  </a:solidFill>
                  <a:latin typeface="Times New Roman"/>
                  <a:cs typeface="Times New Roman"/>
                </a:rPr>
                <a:t>permutation</a:t>
              </a:r>
              <a:endParaRPr sz="2000" dirty="0">
                <a:solidFill>
                  <a:srgbClr val="FFC000"/>
                </a:solidFill>
                <a:latin typeface="Times New Roman"/>
                <a:cs typeface="Times New Roman"/>
              </a:endParaRP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C9FC-DA22-1F47-8722-58727A1D436E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24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756821" y="4001798"/>
            <a:ext cx="4824536" cy="2808312"/>
            <a:chOff x="2051720" y="4001798"/>
            <a:chExt cx="4824536" cy="2808312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 rotWithShape="1">
            <a:blip r:embed="rId4"/>
            <a:srcRect l="3625" t="4573" r="2219" b="2198"/>
            <a:stretch/>
          </p:blipFill>
          <p:spPr>
            <a:xfrm>
              <a:off x="2051720" y="4001798"/>
              <a:ext cx="4824536" cy="2808312"/>
            </a:xfrm>
            <a:prstGeom prst="rect">
              <a:avLst/>
            </a:prstGeom>
          </p:spPr>
        </p:pic>
        <p:sp>
          <p:nvSpPr>
            <p:cNvPr id="10" name="Rectangle 9"/>
            <p:cNvSpPr/>
            <p:nvPr/>
          </p:nvSpPr>
          <p:spPr>
            <a:xfrm>
              <a:off x="2896018" y="4461230"/>
              <a:ext cx="3116142" cy="23488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067926" y="4461230"/>
              <a:ext cx="828092" cy="2348880"/>
            </a:xfrm>
            <a:prstGeom prst="rect">
              <a:avLst/>
            </a:prstGeom>
            <a:noFill/>
            <a:ln>
              <a:solidFill>
                <a:srgbClr val="92D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030162" y="4461230"/>
              <a:ext cx="828092" cy="2348880"/>
            </a:xfrm>
            <a:prstGeom prst="rect">
              <a:avLst/>
            </a:prstGeom>
            <a:noFill/>
            <a:ln>
              <a:solidFill>
                <a:srgbClr val="92D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5545353" y="4001798"/>
            <a:ext cx="35598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 smtClean="0">
                <a:solidFill>
                  <a:srgbClr val="FFC000"/>
                </a:solidFill>
              </a:rPr>
              <a:t>Note: </a:t>
            </a:r>
            <a:r>
              <a:rPr lang="en-US" dirty="0" smtClean="0"/>
              <a:t>The </a:t>
            </a:r>
            <a:r>
              <a:rPr lang="en-US" dirty="0"/>
              <a:t>number of output ports is 48, but the value range is only 1 to 32. Some of the inputs go to more than one output.</a:t>
            </a:r>
          </a:p>
        </p:txBody>
      </p:sp>
    </p:spTree>
    <p:extLst>
      <p:ext uri="{BB962C8B-B14F-4D97-AF65-F5344CB8AC3E}">
        <p14:creationId xmlns:p14="http://schemas.microsoft.com/office/powerpoint/2010/main" val="2398282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059832" y="2276872"/>
            <a:ext cx="4176464" cy="45811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79512" y="188640"/>
            <a:ext cx="896448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70"/>
              </a:spcBef>
            </a:pPr>
            <a:r>
              <a:rPr lang="en-US" sz="3600" b="1" i="1" spc="-5" dirty="0">
                <a:solidFill>
                  <a:srgbClr val="FFC000"/>
                </a:solidFill>
                <a:latin typeface="Times New Roman"/>
                <a:cs typeface="Times New Roman"/>
              </a:rPr>
              <a:t>Whitener</a:t>
            </a:r>
            <a:r>
              <a:rPr lang="en-US" sz="3600" b="1" i="1" spc="-2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lang="en-US" sz="3600" b="1" i="1" spc="-5" dirty="0">
                <a:solidFill>
                  <a:srgbClr val="FFC000"/>
                </a:solidFill>
                <a:latin typeface="Times New Roman"/>
                <a:cs typeface="Times New Roman"/>
              </a:rPr>
              <a:t>(XOR)</a:t>
            </a:r>
            <a:endParaRPr lang="en-US" sz="3600" dirty="0">
              <a:solidFill>
                <a:srgbClr val="FFC000"/>
              </a:solidFill>
              <a:latin typeface="Times New Roman"/>
              <a:cs typeface="Times New Roman"/>
            </a:endParaRPr>
          </a:p>
          <a:p>
            <a:pPr marL="12700" marR="5080" algn="just">
              <a:lnSpc>
                <a:spcPct val="120000"/>
              </a:lnSpc>
            </a:pPr>
            <a:r>
              <a:rPr lang="en-US" sz="2000" b="1" i="1" spc="-5" dirty="0">
                <a:latin typeface="Times New Roman"/>
                <a:cs typeface="Times New Roman"/>
              </a:rPr>
              <a:t>After</a:t>
            </a:r>
            <a:r>
              <a:rPr lang="en-US" sz="2000" b="1" i="1" dirty="0">
                <a:latin typeface="Times New Roman"/>
                <a:cs typeface="Times New Roman"/>
              </a:rPr>
              <a:t> </a:t>
            </a:r>
            <a:r>
              <a:rPr lang="en-US" sz="2000" b="1" i="1" spc="-5" dirty="0">
                <a:latin typeface="Times New Roman"/>
                <a:cs typeface="Times New Roman"/>
              </a:rPr>
              <a:t>the</a:t>
            </a:r>
            <a:r>
              <a:rPr lang="en-US" sz="2000" b="1" i="1" dirty="0">
                <a:latin typeface="Times New Roman"/>
                <a:cs typeface="Times New Roman"/>
              </a:rPr>
              <a:t> </a:t>
            </a:r>
            <a:r>
              <a:rPr lang="en-US" sz="2000" b="1" i="1" spc="-5" dirty="0">
                <a:latin typeface="Times New Roman"/>
                <a:cs typeface="Times New Roman"/>
              </a:rPr>
              <a:t>expansion</a:t>
            </a:r>
            <a:r>
              <a:rPr lang="en-US" sz="2000" b="1" i="1" dirty="0">
                <a:latin typeface="Times New Roman"/>
                <a:cs typeface="Times New Roman"/>
              </a:rPr>
              <a:t> </a:t>
            </a:r>
            <a:r>
              <a:rPr lang="en-US" sz="2000" b="1" i="1" spc="-5" dirty="0">
                <a:latin typeface="Times New Roman"/>
                <a:cs typeface="Times New Roman"/>
              </a:rPr>
              <a:t>permutation,</a:t>
            </a:r>
            <a:r>
              <a:rPr lang="en-US" sz="2000" b="1" i="1" dirty="0">
                <a:latin typeface="Times New Roman"/>
                <a:cs typeface="Times New Roman"/>
              </a:rPr>
              <a:t> DES</a:t>
            </a:r>
            <a:r>
              <a:rPr lang="en-US" sz="2000" b="1" i="1" spc="5" dirty="0">
                <a:latin typeface="Times New Roman"/>
                <a:cs typeface="Times New Roman"/>
              </a:rPr>
              <a:t> </a:t>
            </a:r>
            <a:r>
              <a:rPr lang="en-US" sz="2000" b="1" i="1" dirty="0">
                <a:latin typeface="Times New Roman"/>
                <a:cs typeface="Times New Roman"/>
              </a:rPr>
              <a:t>uses</a:t>
            </a:r>
            <a:r>
              <a:rPr lang="en-US" sz="2000" b="1" i="1" spc="5" dirty="0">
                <a:latin typeface="Times New Roman"/>
                <a:cs typeface="Times New Roman"/>
              </a:rPr>
              <a:t> </a:t>
            </a:r>
            <a:r>
              <a:rPr lang="en-US" sz="2000" b="1" i="1" dirty="0">
                <a:latin typeface="Times New Roman"/>
                <a:cs typeface="Times New Roman"/>
              </a:rPr>
              <a:t>the</a:t>
            </a:r>
            <a:r>
              <a:rPr lang="en-US" sz="2000" b="1" i="1" spc="5" dirty="0">
                <a:latin typeface="Times New Roman"/>
                <a:cs typeface="Times New Roman"/>
              </a:rPr>
              <a:t> </a:t>
            </a:r>
            <a:r>
              <a:rPr lang="en-US" sz="2000" b="1" i="1" spc="-5" dirty="0">
                <a:latin typeface="Times New Roman"/>
                <a:cs typeface="Times New Roman"/>
              </a:rPr>
              <a:t>XOR </a:t>
            </a:r>
            <a:r>
              <a:rPr lang="en-US" sz="2000" b="1" i="1" dirty="0">
                <a:latin typeface="Times New Roman"/>
                <a:cs typeface="Times New Roman"/>
              </a:rPr>
              <a:t> </a:t>
            </a:r>
            <a:r>
              <a:rPr lang="en-US" sz="2000" b="1" i="1" spc="-5" dirty="0">
                <a:latin typeface="Times New Roman"/>
                <a:cs typeface="Times New Roman"/>
              </a:rPr>
              <a:t>operation </a:t>
            </a:r>
            <a:r>
              <a:rPr lang="en-US" sz="2000" b="1" i="1" dirty="0">
                <a:latin typeface="Times New Roman"/>
                <a:cs typeface="Times New Roman"/>
              </a:rPr>
              <a:t>on </a:t>
            </a:r>
            <a:r>
              <a:rPr lang="en-US" sz="2000" b="1" i="1" spc="-5" dirty="0">
                <a:latin typeface="Times New Roman"/>
                <a:cs typeface="Times New Roman"/>
              </a:rPr>
              <a:t>the expanded right section </a:t>
            </a:r>
            <a:r>
              <a:rPr lang="en-US" sz="2000" b="1" i="1" dirty="0">
                <a:latin typeface="Times New Roman"/>
                <a:cs typeface="Times New Roman"/>
              </a:rPr>
              <a:t>and </a:t>
            </a:r>
            <a:r>
              <a:rPr lang="en-US" sz="2000" b="1" i="1" spc="-5" dirty="0">
                <a:latin typeface="Times New Roman"/>
                <a:cs typeface="Times New Roman"/>
              </a:rPr>
              <a:t>the round </a:t>
            </a:r>
            <a:r>
              <a:rPr lang="en-US" sz="2000" b="1" i="1" dirty="0">
                <a:latin typeface="Times New Roman"/>
                <a:cs typeface="Times New Roman"/>
              </a:rPr>
              <a:t> </a:t>
            </a:r>
            <a:r>
              <a:rPr lang="en-US" sz="2000" b="1" i="1" spc="-35" dirty="0">
                <a:latin typeface="Times New Roman"/>
                <a:cs typeface="Times New Roman"/>
              </a:rPr>
              <a:t>key. </a:t>
            </a:r>
            <a:r>
              <a:rPr lang="en-US" sz="2000" b="1" i="1" spc="-5" dirty="0">
                <a:latin typeface="Times New Roman"/>
                <a:cs typeface="Times New Roman"/>
              </a:rPr>
              <a:t>Note </a:t>
            </a:r>
            <a:r>
              <a:rPr lang="en-US" sz="2000" b="1" i="1" dirty="0">
                <a:latin typeface="Times New Roman"/>
                <a:cs typeface="Times New Roman"/>
              </a:rPr>
              <a:t>that </a:t>
            </a:r>
            <a:r>
              <a:rPr lang="en-US" sz="2000" b="1" i="1" spc="-5" dirty="0">
                <a:latin typeface="Times New Roman"/>
                <a:cs typeface="Times New Roman"/>
              </a:rPr>
              <a:t>both the </a:t>
            </a:r>
            <a:r>
              <a:rPr lang="en-US" sz="2000" b="1" i="1" dirty="0">
                <a:latin typeface="Times New Roman"/>
                <a:cs typeface="Times New Roman"/>
              </a:rPr>
              <a:t>right </a:t>
            </a:r>
            <a:r>
              <a:rPr lang="en-US" sz="2000" b="1" i="1" spc="-5" dirty="0">
                <a:latin typeface="Times New Roman"/>
                <a:cs typeface="Times New Roman"/>
              </a:rPr>
              <a:t>section and </a:t>
            </a:r>
            <a:r>
              <a:rPr lang="en-US" sz="2000" b="1" i="1" dirty="0">
                <a:latin typeface="Times New Roman"/>
                <a:cs typeface="Times New Roman"/>
              </a:rPr>
              <a:t>the </a:t>
            </a:r>
            <a:r>
              <a:rPr lang="en-US" sz="2000" b="1" i="1" spc="-5" dirty="0">
                <a:latin typeface="Times New Roman"/>
                <a:cs typeface="Times New Roman"/>
              </a:rPr>
              <a:t>key are </a:t>
            </a:r>
            <a:r>
              <a:rPr lang="en-US" sz="2000" b="1" i="1" dirty="0">
                <a:latin typeface="Times New Roman"/>
                <a:cs typeface="Times New Roman"/>
              </a:rPr>
              <a:t>48- </a:t>
            </a:r>
            <a:r>
              <a:rPr lang="en-US" sz="2000" b="1" i="1" spc="5" dirty="0">
                <a:latin typeface="Times New Roman"/>
                <a:cs typeface="Times New Roman"/>
              </a:rPr>
              <a:t> </a:t>
            </a:r>
            <a:r>
              <a:rPr lang="en-US" sz="2000" b="1" i="1" spc="-5" dirty="0">
                <a:latin typeface="Times New Roman"/>
                <a:cs typeface="Times New Roman"/>
              </a:rPr>
              <a:t>bits in </a:t>
            </a:r>
            <a:r>
              <a:rPr lang="en-US" sz="2000" b="1" i="1" dirty="0">
                <a:latin typeface="Times New Roman"/>
                <a:cs typeface="Times New Roman"/>
              </a:rPr>
              <a:t>length. </a:t>
            </a:r>
            <a:r>
              <a:rPr lang="en-US" sz="2000" b="1" i="1" spc="-5" dirty="0">
                <a:latin typeface="Times New Roman"/>
                <a:cs typeface="Times New Roman"/>
              </a:rPr>
              <a:t>Also note </a:t>
            </a:r>
            <a:r>
              <a:rPr lang="en-US" sz="2000" b="1" i="1" dirty="0">
                <a:latin typeface="Times New Roman"/>
                <a:cs typeface="Times New Roman"/>
              </a:rPr>
              <a:t>that </a:t>
            </a:r>
            <a:r>
              <a:rPr lang="en-US" sz="2000" b="1" i="1" spc="-5" dirty="0">
                <a:latin typeface="Times New Roman"/>
                <a:cs typeface="Times New Roman"/>
              </a:rPr>
              <a:t>the round key is used only </a:t>
            </a:r>
            <a:r>
              <a:rPr lang="en-US" sz="2000" b="1" i="1" dirty="0">
                <a:latin typeface="Times New Roman"/>
                <a:cs typeface="Times New Roman"/>
              </a:rPr>
              <a:t>in </a:t>
            </a:r>
            <a:r>
              <a:rPr lang="en-US" sz="2000" b="1" i="1" spc="5" dirty="0">
                <a:latin typeface="Times New Roman"/>
                <a:cs typeface="Times New Roman"/>
              </a:rPr>
              <a:t> </a:t>
            </a:r>
            <a:r>
              <a:rPr lang="en-US" sz="2000" b="1" i="1" spc="-5" dirty="0">
                <a:latin typeface="Times New Roman"/>
                <a:cs typeface="Times New Roman"/>
              </a:rPr>
              <a:t>this</a:t>
            </a:r>
            <a:r>
              <a:rPr lang="en-US" sz="2000" b="1" i="1" spc="-15" dirty="0">
                <a:latin typeface="Times New Roman"/>
                <a:cs typeface="Times New Roman"/>
              </a:rPr>
              <a:t> </a:t>
            </a:r>
            <a:r>
              <a:rPr lang="en-US" sz="2000" b="1" i="1" dirty="0">
                <a:latin typeface="Times New Roman"/>
                <a:cs typeface="Times New Roman"/>
              </a:rPr>
              <a:t>operation.</a:t>
            </a:r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1BA6F-B221-4442-B3E0-4DE91DDD2916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25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6133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5622" y="2996952"/>
            <a:ext cx="7931718" cy="20162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363747" y="2607034"/>
            <a:ext cx="2016224" cy="30736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79512" y="0"/>
            <a:ext cx="7981905" cy="13111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lang="en-US" sz="3600" b="1" i="1" spc="-5" dirty="0" smtClean="0">
                <a:solidFill>
                  <a:srgbClr val="FFC000"/>
                </a:solidFill>
                <a:latin typeface="Times New Roman"/>
                <a:cs typeface="Times New Roman"/>
              </a:rPr>
              <a:t>S-Boxes (Substitution boxes)</a:t>
            </a:r>
            <a:endParaRPr lang="en-US" sz="3600" b="1" dirty="0">
              <a:solidFill>
                <a:srgbClr val="FFC000"/>
              </a:solidFill>
              <a:latin typeface="Times New Roman"/>
              <a:cs typeface="Times New Roman"/>
            </a:endParaRPr>
          </a:p>
          <a:p>
            <a:pPr marL="12700" marR="5080" algn="just">
              <a:lnSpc>
                <a:spcPct val="120000"/>
              </a:lnSpc>
            </a:pPr>
            <a:r>
              <a:rPr lang="en-US" b="1" i="1" spc="-5" dirty="0">
                <a:latin typeface="Times New Roman"/>
                <a:cs typeface="Times New Roman"/>
              </a:rPr>
              <a:t>The S-boxes do </a:t>
            </a:r>
            <a:r>
              <a:rPr lang="en-US" b="1" i="1" dirty="0">
                <a:latin typeface="Times New Roman"/>
                <a:cs typeface="Times New Roman"/>
              </a:rPr>
              <a:t>the </a:t>
            </a:r>
            <a:r>
              <a:rPr lang="en-US" b="1" i="1" spc="-5" dirty="0">
                <a:latin typeface="Times New Roman"/>
                <a:cs typeface="Times New Roman"/>
              </a:rPr>
              <a:t>real mixing </a:t>
            </a:r>
            <a:r>
              <a:rPr lang="en-US" b="1" i="1" dirty="0">
                <a:latin typeface="Times New Roman"/>
                <a:cs typeface="Times New Roman"/>
              </a:rPr>
              <a:t>(confusion). </a:t>
            </a:r>
            <a:r>
              <a:rPr lang="en-US" b="1" i="1" spc="-10" dirty="0">
                <a:latin typeface="Times New Roman"/>
                <a:cs typeface="Times New Roman"/>
              </a:rPr>
              <a:t>DES </a:t>
            </a:r>
            <a:r>
              <a:rPr lang="en-US" b="1" i="1" spc="-5" dirty="0">
                <a:latin typeface="Times New Roman"/>
                <a:cs typeface="Times New Roman"/>
              </a:rPr>
              <a:t>uses 8 </a:t>
            </a:r>
            <a:r>
              <a:rPr lang="en-US" b="1" i="1" dirty="0">
                <a:latin typeface="Times New Roman"/>
                <a:cs typeface="Times New Roman"/>
              </a:rPr>
              <a:t> </a:t>
            </a:r>
            <a:r>
              <a:rPr lang="en-US" b="1" i="1" spc="-5" dirty="0">
                <a:latin typeface="Times New Roman"/>
                <a:cs typeface="Times New Roman"/>
              </a:rPr>
              <a:t>S-boxes, </a:t>
            </a:r>
            <a:r>
              <a:rPr lang="en-US" b="1" i="1" spc="-10" dirty="0">
                <a:latin typeface="Times New Roman"/>
                <a:cs typeface="Times New Roman"/>
              </a:rPr>
              <a:t>each </a:t>
            </a:r>
            <a:r>
              <a:rPr lang="en-US" b="1" i="1" spc="-5" dirty="0">
                <a:latin typeface="Times New Roman"/>
                <a:cs typeface="Times New Roman"/>
              </a:rPr>
              <a:t>with a 6-bit input </a:t>
            </a:r>
            <a:r>
              <a:rPr lang="en-US" b="1" i="1" dirty="0">
                <a:latin typeface="Times New Roman"/>
                <a:cs typeface="Times New Roman"/>
              </a:rPr>
              <a:t>and </a:t>
            </a:r>
            <a:r>
              <a:rPr lang="en-US" b="1" i="1" spc="-5" dirty="0">
                <a:latin typeface="Times New Roman"/>
                <a:cs typeface="Times New Roman"/>
              </a:rPr>
              <a:t>a </a:t>
            </a:r>
            <a:r>
              <a:rPr lang="en-US" b="1" i="1" dirty="0">
                <a:latin typeface="Times New Roman"/>
                <a:cs typeface="Times New Roman"/>
              </a:rPr>
              <a:t>4-bit </a:t>
            </a:r>
            <a:r>
              <a:rPr lang="en-US" b="1" i="1" spc="-5" dirty="0">
                <a:latin typeface="Times New Roman"/>
                <a:cs typeface="Times New Roman"/>
              </a:rPr>
              <a:t>output. 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1BA6F-B221-4442-B3E0-4DE91DDD2916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26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4284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8582" y="1985961"/>
            <a:ext cx="4573016" cy="24875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1BA6F-B221-4442-B3E0-4DE91DDD2916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27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object 6"/>
          <p:cNvSpPr txBox="1"/>
          <p:nvPr/>
        </p:nvSpPr>
        <p:spPr>
          <a:xfrm>
            <a:off x="41310" y="27779"/>
            <a:ext cx="9102690" cy="104631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95"/>
              </a:spcBef>
            </a:pPr>
            <a:r>
              <a:rPr sz="2800" b="1" i="1" spc="-55" dirty="0">
                <a:solidFill>
                  <a:srgbClr val="FFC000"/>
                </a:solidFill>
                <a:latin typeface="Times New Roman"/>
                <a:cs typeface="Times New Roman"/>
              </a:rPr>
              <a:t>Table</a:t>
            </a:r>
            <a:r>
              <a:rPr sz="2800" b="1" i="1" spc="10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800" b="1" i="1" spc="-5" dirty="0">
                <a:solidFill>
                  <a:srgbClr val="FFC000"/>
                </a:solidFill>
                <a:latin typeface="Times New Roman"/>
                <a:cs typeface="Times New Roman"/>
              </a:rPr>
              <a:t>6.3</a:t>
            </a:r>
            <a:r>
              <a:rPr sz="2800" b="1" i="1" spc="11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shows</a:t>
            </a:r>
            <a:r>
              <a:rPr sz="2800" b="1" i="1" spc="114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1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permutation</a:t>
            </a:r>
            <a:r>
              <a:rPr sz="2800" b="1" i="1" spc="1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for</a:t>
            </a:r>
            <a:r>
              <a:rPr sz="2800" b="1" i="1" spc="114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S-box</a:t>
            </a:r>
            <a:r>
              <a:rPr sz="2800" b="1" i="1" spc="1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</a:t>
            </a:r>
            <a:r>
              <a:rPr sz="2800" b="1" i="1" dirty="0" smtClean="0">
                <a:latin typeface="Times New Roman"/>
                <a:cs typeface="Times New Roman"/>
              </a:rPr>
              <a:t>.</a:t>
            </a:r>
            <a:r>
              <a:rPr lang="en-US" sz="2800" b="1" i="1" dirty="0" smtClean="0">
                <a:latin typeface="Times New Roman"/>
                <a:cs typeface="Times New Roman"/>
              </a:rPr>
              <a:t> Each s-box has its own table</a:t>
            </a:r>
            <a:r>
              <a:rPr sz="2800" b="1" i="1" spc="105" dirty="0" smtClean="0">
                <a:latin typeface="Times New Roman"/>
                <a:cs typeface="Times New Roman"/>
              </a:rPr>
              <a:t> 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6" name="object 8"/>
          <p:cNvSpPr txBox="1"/>
          <p:nvPr/>
        </p:nvSpPr>
        <p:spPr>
          <a:xfrm>
            <a:off x="2859520" y="4733568"/>
            <a:ext cx="229887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38580" algn="l"/>
              </a:tabLst>
            </a:pPr>
            <a:r>
              <a:rPr sz="2400" b="1" spc="-45" dirty="0">
                <a:solidFill>
                  <a:srgbClr val="FFC000"/>
                </a:solidFill>
                <a:latin typeface="Times New Roman"/>
                <a:cs typeface="Times New Roman"/>
              </a:rPr>
              <a:t>Table</a:t>
            </a:r>
            <a:r>
              <a:rPr sz="2400" b="1" spc="-1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dirty="0" smtClean="0">
                <a:solidFill>
                  <a:srgbClr val="FFC000"/>
                </a:solidFill>
                <a:latin typeface="Times New Roman"/>
                <a:cs typeface="Times New Roman"/>
              </a:rPr>
              <a:t>6.3</a:t>
            </a:r>
            <a:r>
              <a:rPr lang="en-US" sz="2400" b="1" dirty="0" smtClean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 smtClean="0">
                <a:solidFill>
                  <a:srgbClr val="FFC000"/>
                </a:solidFill>
                <a:latin typeface="Times New Roman"/>
                <a:cs typeface="Times New Roman"/>
              </a:rPr>
              <a:t>S-box</a:t>
            </a:r>
            <a:r>
              <a:rPr sz="2400" b="1" i="1" spc="-95" dirty="0" smtClean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C000"/>
                </a:solidFill>
                <a:latin typeface="Times New Roman"/>
                <a:cs typeface="Times New Roman"/>
              </a:rPr>
              <a:t>1</a:t>
            </a:r>
            <a:endParaRPr sz="2400" dirty="0">
              <a:solidFill>
                <a:srgbClr val="FFC000"/>
              </a:solidFill>
              <a:latin typeface="Times New Roman"/>
              <a:cs typeface="Times New Roman"/>
            </a:endParaRPr>
          </a:p>
        </p:txBody>
      </p:sp>
      <p:pic>
        <p:nvPicPr>
          <p:cNvPr id="7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458" y="5132364"/>
            <a:ext cx="8290958" cy="16810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20738" y="1009730"/>
            <a:ext cx="4523262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Each 8-S-boxes has a 6-bit input and a 4-bit output</a:t>
            </a:r>
            <a:r>
              <a:rPr lang="en-US" sz="16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values of the inputs (row number and column number</a:t>
            </a:r>
            <a:r>
              <a:rPr lang="en-US" sz="1600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Each 6-bit piece uses as an address in the </a:t>
            </a:r>
            <a:r>
              <a:rPr lang="en-GB" sz="1600" b="1" dirty="0">
                <a:solidFill>
                  <a:srgbClr val="0000FF"/>
                </a:solidFill>
              </a:rPr>
              <a:t>S-boxes</a:t>
            </a:r>
            <a:r>
              <a:rPr lang="en-GB" sz="1600" b="1" dirty="0"/>
              <a:t> where the </a:t>
            </a:r>
            <a:r>
              <a:rPr lang="en-GB" sz="1600" b="1" dirty="0">
                <a:solidFill>
                  <a:srgbClr val="FFC000"/>
                </a:solidFill>
              </a:rPr>
              <a:t>first and last bits are used to address the </a:t>
            </a:r>
            <a:r>
              <a:rPr lang="en-GB" sz="1600" b="1" dirty="0" err="1">
                <a:solidFill>
                  <a:srgbClr val="FFC000"/>
                </a:solidFill>
              </a:rPr>
              <a:t>i</a:t>
            </a:r>
            <a:r>
              <a:rPr lang="en-GB" sz="1600" b="1" baseline="30000" dirty="0" err="1">
                <a:solidFill>
                  <a:srgbClr val="FFC000"/>
                </a:solidFill>
              </a:rPr>
              <a:t>th</a:t>
            </a:r>
            <a:r>
              <a:rPr lang="en-GB" sz="1600" b="1" dirty="0">
                <a:solidFill>
                  <a:srgbClr val="FFC000"/>
                </a:solidFill>
              </a:rPr>
              <a:t> row</a:t>
            </a:r>
            <a:r>
              <a:rPr lang="en-GB" sz="1600" b="1" dirty="0"/>
              <a:t> and </a:t>
            </a:r>
            <a:r>
              <a:rPr lang="en-GB" sz="1600" b="1" dirty="0">
                <a:solidFill>
                  <a:srgbClr val="FFC000"/>
                </a:solidFill>
              </a:rPr>
              <a:t>the middle four bits to address the </a:t>
            </a:r>
            <a:r>
              <a:rPr lang="en-GB" sz="1600" b="1" dirty="0" err="1">
                <a:solidFill>
                  <a:srgbClr val="FFC000"/>
                </a:solidFill>
              </a:rPr>
              <a:t>j</a:t>
            </a:r>
            <a:r>
              <a:rPr lang="en-GB" sz="1600" b="1" baseline="30000" dirty="0" err="1">
                <a:solidFill>
                  <a:srgbClr val="FFC000"/>
                </a:solidFill>
              </a:rPr>
              <a:t>th</a:t>
            </a:r>
            <a:r>
              <a:rPr lang="en-GB" sz="1600" b="1" dirty="0">
                <a:solidFill>
                  <a:srgbClr val="FFC000"/>
                </a:solidFill>
              </a:rPr>
              <a:t> column in the S-boxes.</a:t>
            </a:r>
            <a:r>
              <a:rPr lang="en-GB" sz="1600" b="1" dirty="0"/>
              <a:t> </a:t>
            </a:r>
            <a:endParaRPr lang="en-GB" sz="16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 smtClean="0"/>
              <a:t>The </a:t>
            </a:r>
            <a:r>
              <a:rPr lang="en-GB" sz="1600" b="1" dirty="0"/>
              <a:t>output of each </a:t>
            </a:r>
            <a:r>
              <a:rPr lang="en-GB" sz="1600" b="1" dirty="0">
                <a:solidFill>
                  <a:srgbClr val="0000FF"/>
                </a:solidFill>
              </a:rPr>
              <a:t>S-box is 4-bit length </a:t>
            </a:r>
            <a:r>
              <a:rPr lang="en-GB" sz="1600" b="1" dirty="0"/>
              <a:t>piece. The output of all </a:t>
            </a:r>
            <a:r>
              <a:rPr lang="en-GB" sz="1600" b="1" dirty="0">
                <a:solidFill>
                  <a:srgbClr val="0000FF"/>
                </a:solidFill>
              </a:rPr>
              <a:t>eight S-boxes </a:t>
            </a:r>
            <a:r>
              <a:rPr lang="en-GB" sz="1600" b="1" dirty="0"/>
              <a:t>is then combined into </a:t>
            </a:r>
            <a:r>
              <a:rPr lang="en-GB" sz="1600" b="1" dirty="0">
                <a:solidFill>
                  <a:srgbClr val="0000FF"/>
                </a:solidFill>
              </a:rPr>
              <a:t>32</a:t>
            </a:r>
            <a:r>
              <a:rPr lang="en-GB" sz="1600" b="1" dirty="0"/>
              <a:t> bit </a:t>
            </a:r>
            <a:r>
              <a:rPr lang="en-GB" sz="1600" b="1" dirty="0" smtClean="0"/>
              <a:t>section</a:t>
            </a:r>
          </a:p>
          <a:p>
            <a:r>
              <a:rPr lang="en-US" sz="1600" dirty="0"/>
              <a:t/>
            </a:r>
            <a:br>
              <a:rPr lang="en-US" sz="1600" dirty="0"/>
            </a:br>
            <a:endParaRPr lang="en-US" sz="1600" dirty="0" smtClean="0"/>
          </a:p>
        </p:txBody>
      </p:sp>
    </p:spTree>
    <p:extLst>
      <p:ext uri="{BB962C8B-B14F-4D97-AF65-F5344CB8AC3E}">
        <p14:creationId xmlns:p14="http://schemas.microsoft.com/office/powerpoint/2010/main" val="472146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1BA6F-B221-4442-B3E0-4DE91DDD2916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28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33A2016-B3F1-481E-863D-F3E5BBA38A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412776"/>
            <a:ext cx="6733335" cy="4189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076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solidFill>
                  <a:srgbClr val="FFC000"/>
                </a:solidFill>
                <a:latin typeface="Times New Roman"/>
                <a:cs typeface="Times New Roman"/>
              </a:rPr>
              <a:t>Straight</a:t>
            </a:r>
            <a:r>
              <a:rPr lang="en-US" b="1" i="1" spc="-4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lang="en-US" b="1" i="1" spc="-5" dirty="0">
                <a:solidFill>
                  <a:srgbClr val="FFC000"/>
                </a:solidFill>
                <a:latin typeface="Times New Roman"/>
                <a:cs typeface="Times New Roman"/>
              </a:rPr>
              <a:t>Permutation</a:t>
            </a:r>
            <a:r>
              <a:rPr lang="en-US" dirty="0">
                <a:solidFill>
                  <a:srgbClr val="FFC000"/>
                </a:solidFill>
                <a:latin typeface="Times New Roman"/>
                <a:cs typeface="Times New Roman"/>
              </a:rPr>
              <a:t/>
            </a:r>
            <a:br>
              <a:rPr lang="en-US" dirty="0">
                <a:solidFill>
                  <a:srgbClr val="FFC000"/>
                </a:solidFill>
                <a:latin typeface="Times New Roman"/>
                <a:cs typeface="Times New Roman"/>
              </a:rPr>
            </a:b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C9FC-DA22-1F47-8722-58727A1D436E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29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2529" y="1650092"/>
            <a:ext cx="8104271" cy="99706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r>
              <a:rPr lang="en-US" sz="1600" dirty="0" smtClean="0"/>
              <a:t>The </a:t>
            </a:r>
            <a:r>
              <a:rPr lang="en-US" sz="1600" dirty="0"/>
              <a:t>last operation in the DES function is a permutation with a 32-bit input and a 32-bit output. The input/output relationship for this operation is shown in Table </a:t>
            </a:r>
            <a:r>
              <a:rPr lang="en-US" sz="1600" dirty="0" smtClean="0"/>
              <a:t>6.11. Follows </a:t>
            </a:r>
            <a:r>
              <a:rPr lang="en-US" sz="1600" dirty="0"/>
              <a:t>the same general rule as previous tables. </a:t>
            </a:r>
            <a:endParaRPr lang="en-US" sz="1600" dirty="0" smtClean="0"/>
          </a:p>
          <a:p>
            <a:pPr>
              <a:lnSpc>
                <a:spcPct val="100000"/>
              </a:lnSpc>
              <a:spcBef>
                <a:spcPts val="45"/>
              </a:spcBef>
            </a:pPr>
            <a:r>
              <a:rPr lang="en-US" sz="1600" dirty="0" smtClean="0"/>
              <a:t>For </a:t>
            </a:r>
            <a:r>
              <a:rPr lang="en-US" sz="1600" dirty="0"/>
              <a:t>example, the seventh bit of the input becomes the second bit of the output.</a:t>
            </a:r>
            <a:endParaRPr sz="1600" dirty="0">
              <a:solidFill>
                <a:srgbClr val="FFC000"/>
              </a:solidFill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1045" y="4077072"/>
            <a:ext cx="7541909" cy="2054083"/>
          </a:xfrm>
          <a:prstGeom prst="rect">
            <a:avLst/>
          </a:prstGeom>
        </p:spPr>
      </p:pic>
      <p:sp>
        <p:nvSpPr>
          <p:cNvPr id="6" name="object 9"/>
          <p:cNvSpPr txBox="1"/>
          <p:nvPr/>
        </p:nvSpPr>
        <p:spPr>
          <a:xfrm>
            <a:off x="2586988" y="3645024"/>
            <a:ext cx="4649307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8915" algn="l"/>
              </a:tabLst>
            </a:pPr>
            <a:r>
              <a:rPr sz="2400" b="1" spc="-10" dirty="0">
                <a:solidFill>
                  <a:srgbClr val="FFC000"/>
                </a:solidFill>
                <a:latin typeface="Times New Roman"/>
                <a:cs typeface="Times New Roman"/>
              </a:rPr>
              <a:t>Figure</a:t>
            </a:r>
            <a:r>
              <a:rPr sz="2400" b="1" spc="-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 smtClean="0">
                <a:solidFill>
                  <a:srgbClr val="FFC000"/>
                </a:solidFill>
                <a:latin typeface="Times New Roman"/>
                <a:cs typeface="Times New Roman"/>
              </a:rPr>
              <a:t>6.</a:t>
            </a:r>
            <a:r>
              <a:rPr lang="en-US" sz="2400" b="1" spc="-5" dirty="0" smtClean="0">
                <a:solidFill>
                  <a:srgbClr val="FFC000"/>
                </a:solidFill>
                <a:latin typeface="Times New Roman"/>
                <a:cs typeface="Times New Roman"/>
              </a:rPr>
              <a:t>11 </a:t>
            </a:r>
            <a:r>
              <a:rPr sz="2400" b="1" spc="-5" dirty="0">
                <a:solidFill>
                  <a:srgbClr val="FFC000"/>
                </a:solidFill>
                <a:latin typeface="Times New Roman"/>
                <a:cs typeface="Times New Roman"/>
              </a:rPr>
              <a:t>	</a:t>
            </a:r>
            <a:r>
              <a:rPr lang="en-US" sz="2000" b="1" i="1" dirty="0" smtClean="0">
                <a:solidFill>
                  <a:srgbClr val="FFC000"/>
                </a:solidFill>
                <a:latin typeface="Times New Roman"/>
                <a:cs typeface="Times New Roman"/>
              </a:rPr>
              <a:t>Straight Permutation table</a:t>
            </a:r>
            <a:endParaRPr sz="2000" dirty="0">
              <a:solidFill>
                <a:srgbClr val="FFC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16053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251520" y="188640"/>
            <a:ext cx="8223920" cy="13681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01609" y="5705760"/>
            <a:ext cx="173831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930"/>
              </a:lnSpc>
            </a:pPr>
            <a:fld id="{81D60167-4931-47E6-BA6A-407CBD079E47}" type="slidenum">
              <a:rPr dirty="0"/>
              <a:pPr marL="28575">
                <a:lnSpc>
                  <a:spcPts val="930"/>
                </a:lnSpc>
              </a:pPr>
              <a:t>30</a:t>
            </a:fld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3275856" y="1536150"/>
            <a:ext cx="5868144" cy="53218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030060" y="1844824"/>
            <a:ext cx="2491591" cy="14275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93905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at Is Key Generation Algorithm - spiret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87849"/>
            <a:ext cx="4320480" cy="5646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4284984" y="1196752"/>
            <a:ext cx="482352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FFC000"/>
                </a:solidFill>
              </a:rPr>
              <a:t>Steps</a:t>
            </a:r>
            <a:r>
              <a:rPr lang="en-US" b="1" dirty="0" smtClean="0">
                <a:solidFill>
                  <a:srgbClr val="FFC000"/>
                </a:solidFill>
              </a:rPr>
              <a:t>:-</a:t>
            </a:r>
            <a:endParaRPr lang="en-US" dirty="0" smtClean="0"/>
          </a:p>
          <a:p>
            <a:pPr marL="342900" indent="-342900" algn="just">
              <a:buFont typeface="+mj-lt"/>
              <a:buAutoNum type="arabicPeriod"/>
            </a:pPr>
            <a:r>
              <a:rPr lang="en-US" dirty="0" smtClean="0"/>
              <a:t>It </a:t>
            </a:r>
            <a:r>
              <a:rPr lang="en-US" dirty="0"/>
              <a:t>drops the parity bits (bits 8, 16, 24, 32, </a:t>
            </a:r>
            <a:r>
              <a:rPr lang="en-US" dirty="0" smtClean="0"/>
              <a:t>40,48,56, &amp; 64</a:t>
            </a:r>
            <a:r>
              <a:rPr lang="en-US" dirty="0"/>
              <a:t>) from the 64-bit key and permutes the rest of the bits according to Table </a:t>
            </a:r>
            <a:r>
              <a:rPr lang="en-US" dirty="0" smtClean="0"/>
              <a:t>6.12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From this 56-bit key, a different 48-bit Sub Key is generated during each round using a process called key </a:t>
            </a:r>
            <a:r>
              <a:rPr lang="en-US" dirty="0" smtClean="0"/>
              <a:t>transformation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For this, the 56-bit key is divided into two halves, each of 28 bits. </a:t>
            </a:r>
            <a:endParaRPr lang="en-US" dirty="0" smtClean="0"/>
          </a:p>
          <a:p>
            <a:pPr marL="342900" indent="-342900" algn="just">
              <a:buFont typeface="+mj-lt"/>
              <a:buAutoNum type="arabicPeriod"/>
            </a:pPr>
            <a:r>
              <a:rPr lang="en-US" dirty="0" smtClean="0"/>
              <a:t>These </a:t>
            </a:r>
            <a:r>
              <a:rPr lang="en-US" dirty="0"/>
              <a:t>halves are circularly shifted left by one or two positions, depending on the round</a:t>
            </a:r>
            <a:r>
              <a:rPr lang="en-US" dirty="0" smtClean="0"/>
              <a:t>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For example, if the round numbers 1, 2, 9, or 16 the shift is done by </a:t>
            </a:r>
            <a:r>
              <a:rPr lang="en-US" b="1" dirty="0">
                <a:solidFill>
                  <a:srgbClr val="FF0000"/>
                </a:solidFill>
              </a:rPr>
              <a:t>only one position </a:t>
            </a:r>
            <a:r>
              <a:rPr lang="en-US" dirty="0"/>
              <a:t>for other rounds, </a:t>
            </a:r>
            <a:r>
              <a:rPr lang="en-US" b="1" dirty="0">
                <a:solidFill>
                  <a:srgbClr val="FF0000"/>
                </a:solidFill>
              </a:rPr>
              <a:t>the circular shift is done by two positions. </a:t>
            </a:r>
            <a:endParaRPr lang="en-US" b="1" dirty="0" smtClean="0"/>
          </a:p>
          <a:p>
            <a:pPr marL="342900" indent="-342900" algn="just">
              <a:buFont typeface="+mj-lt"/>
              <a:buAutoNum type="arabicPeriod"/>
            </a:pPr>
            <a:endParaRPr lang="en-US" b="1" dirty="0" smtClean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ts val="5800"/>
              </a:lnSpc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b="1" i="1" dirty="0" smtClean="0">
                <a:solidFill>
                  <a:srgbClr val="FFC000"/>
                </a:solidFill>
                <a:latin typeface="Times New Roman"/>
                <a:cs typeface="Times New Roman"/>
              </a:rPr>
              <a:t>Key Generation</a:t>
            </a:r>
            <a:r>
              <a:rPr lang="en-US" dirty="0" smtClean="0">
                <a:solidFill>
                  <a:srgbClr val="FFC000"/>
                </a:solidFill>
                <a:latin typeface="Times New Roman"/>
                <a:cs typeface="Times New Roman"/>
              </a:rPr>
              <a:t/>
            </a:r>
            <a:br>
              <a:rPr lang="en-US" dirty="0" smtClean="0">
                <a:solidFill>
                  <a:srgbClr val="FFC000"/>
                </a:solidFill>
                <a:latin typeface="Times New Roman"/>
                <a:cs typeface="Times New Roman"/>
              </a:rPr>
            </a:br>
            <a:endParaRPr 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681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23514"/>
            <a:ext cx="4150678" cy="1912316"/>
          </a:xfrm>
          <a:prstGeom prst="rect">
            <a:avLst/>
          </a:prstGeom>
        </p:spPr>
      </p:pic>
      <p:sp>
        <p:nvSpPr>
          <p:cNvPr id="10" name="object 7"/>
          <p:cNvSpPr txBox="1"/>
          <p:nvPr/>
        </p:nvSpPr>
        <p:spPr>
          <a:xfrm>
            <a:off x="251520" y="121072"/>
            <a:ext cx="3604260" cy="355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90980" algn="l"/>
              </a:tabLst>
            </a:pPr>
            <a:r>
              <a:rPr sz="2400" b="1" spc="-45" dirty="0">
                <a:solidFill>
                  <a:srgbClr val="FFC000"/>
                </a:solidFill>
                <a:latin typeface="Times New Roman"/>
                <a:cs typeface="Times New Roman"/>
              </a:rPr>
              <a:t>Table</a:t>
            </a:r>
            <a:r>
              <a:rPr sz="2400" b="1" spc="-1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6.12	</a:t>
            </a:r>
            <a:r>
              <a:rPr sz="2000" b="1" i="1" dirty="0">
                <a:solidFill>
                  <a:srgbClr val="FFC000"/>
                </a:solidFill>
                <a:latin typeface="Times New Roman"/>
                <a:cs typeface="Times New Roman"/>
              </a:rPr>
              <a:t>Parity-bit</a:t>
            </a:r>
            <a:r>
              <a:rPr sz="2000" b="1" i="1" spc="-7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FFC000"/>
                </a:solidFill>
                <a:latin typeface="Times New Roman"/>
                <a:cs typeface="Times New Roman"/>
              </a:rPr>
              <a:t>drop</a:t>
            </a:r>
            <a:r>
              <a:rPr sz="2000" b="1" i="1" spc="-6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FFC000"/>
                </a:solidFill>
                <a:latin typeface="Times New Roman"/>
                <a:cs typeface="Times New Roman"/>
              </a:rPr>
              <a:t>table</a:t>
            </a:r>
            <a:endParaRPr sz="2000" dirty="0">
              <a:solidFill>
                <a:srgbClr val="FFC000"/>
              </a:solidFill>
              <a:latin typeface="Times New Roman"/>
              <a:cs typeface="Times New Roman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1BA6F-B221-4442-B3E0-4DE91DDD2916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32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object 6"/>
          <p:cNvSpPr txBox="1"/>
          <p:nvPr/>
        </p:nvSpPr>
        <p:spPr>
          <a:xfrm>
            <a:off x="2843808" y="4270980"/>
            <a:ext cx="46275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90980" algn="l"/>
              </a:tabLst>
            </a:pPr>
            <a:r>
              <a:rPr sz="2400" b="1" spc="-45" dirty="0">
                <a:solidFill>
                  <a:srgbClr val="FFC000"/>
                </a:solidFill>
                <a:latin typeface="Times New Roman"/>
                <a:cs typeface="Times New Roman"/>
              </a:rPr>
              <a:t>Table</a:t>
            </a:r>
            <a:r>
              <a:rPr sz="2400" b="1" spc="-1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6.14	</a:t>
            </a:r>
            <a:r>
              <a:rPr sz="2000" b="1" i="1" spc="-5" dirty="0">
                <a:solidFill>
                  <a:srgbClr val="FFC000"/>
                </a:solidFill>
                <a:latin typeface="Times New Roman"/>
                <a:cs typeface="Times New Roman"/>
              </a:rPr>
              <a:t>Key-compression</a:t>
            </a:r>
            <a:r>
              <a:rPr sz="2000" b="1" i="1" spc="-4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FFC000"/>
                </a:solidFill>
                <a:latin typeface="Times New Roman"/>
                <a:cs typeface="Times New Roman"/>
              </a:rPr>
              <a:t>table</a:t>
            </a:r>
            <a:endParaRPr sz="2000" dirty="0">
              <a:solidFill>
                <a:srgbClr val="FFC000"/>
              </a:solidFill>
              <a:latin typeface="Times New Roman"/>
              <a:cs typeface="Times New Roman"/>
            </a:endParaRPr>
          </a:p>
        </p:txBody>
      </p:sp>
      <p:pic>
        <p:nvPicPr>
          <p:cNvPr id="8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91680" y="4653136"/>
            <a:ext cx="6670958" cy="1959532"/>
          </a:xfrm>
          <a:prstGeom prst="rect">
            <a:avLst/>
          </a:prstGeom>
        </p:spPr>
      </p:pic>
      <p:pic>
        <p:nvPicPr>
          <p:cNvPr id="2050" name="Picture 2" descr="Lightbox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4423" y="1168430"/>
            <a:ext cx="4884345" cy="964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object 8"/>
          <p:cNvSpPr txBox="1"/>
          <p:nvPr/>
        </p:nvSpPr>
        <p:spPr>
          <a:xfrm>
            <a:off x="2579829" y="2821181"/>
            <a:ext cx="36969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90980" algn="l"/>
              </a:tabLst>
            </a:pPr>
            <a:r>
              <a:rPr sz="2400" b="1" spc="-45" dirty="0">
                <a:solidFill>
                  <a:srgbClr val="FFC000"/>
                </a:solidFill>
                <a:latin typeface="Times New Roman"/>
                <a:cs typeface="Times New Roman"/>
              </a:rPr>
              <a:t>Table</a:t>
            </a:r>
            <a:r>
              <a:rPr sz="2400" b="1" spc="-1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C000"/>
                </a:solidFill>
                <a:latin typeface="Times New Roman"/>
                <a:cs typeface="Times New Roman"/>
              </a:rPr>
              <a:t>6.13	</a:t>
            </a:r>
            <a:r>
              <a:rPr sz="2000" b="1" i="1" dirty="0">
                <a:solidFill>
                  <a:srgbClr val="FFC000"/>
                </a:solidFill>
                <a:latin typeface="Times New Roman"/>
                <a:cs typeface="Times New Roman"/>
              </a:rPr>
              <a:t>Number</a:t>
            </a:r>
            <a:r>
              <a:rPr sz="2000" b="1" i="1" spc="-5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FFC000"/>
                </a:solidFill>
                <a:latin typeface="Times New Roman"/>
                <a:cs typeface="Times New Roman"/>
              </a:rPr>
              <a:t>of</a:t>
            </a:r>
            <a:r>
              <a:rPr sz="2000" b="1" i="1" spc="-2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000" b="1" i="1" spc="-5" dirty="0">
                <a:solidFill>
                  <a:srgbClr val="FFC000"/>
                </a:solidFill>
                <a:latin typeface="Times New Roman"/>
                <a:cs typeface="Times New Roman"/>
              </a:rPr>
              <a:t>bits</a:t>
            </a:r>
            <a:r>
              <a:rPr sz="2000" b="1" i="1" spc="-3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FFC000"/>
                </a:solidFill>
                <a:latin typeface="Times New Roman"/>
                <a:cs typeface="Times New Roman"/>
              </a:rPr>
              <a:t>shifts</a:t>
            </a:r>
            <a:endParaRPr sz="2000" dirty="0">
              <a:solidFill>
                <a:srgbClr val="FFC000"/>
              </a:solidFill>
              <a:latin typeface="Times New Roman"/>
              <a:cs typeface="Times New Roman"/>
            </a:endParaRPr>
          </a:p>
        </p:txBody>
      </p:sp>
      <p:pic>
        <p:nvPicPr>
          <p:cNvPr id="12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15616" y="3205205"/>
            <a:ext cx="7247022" cy="742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435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1BA6F-B221-4442-B3E0-4DE91DDD2916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33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pic>
        <p:nvPicPr>
          <p:cNvPr id="3074" name="Picture 2" descr="What is Data Encryption Standard (DES)? Definition, Working, Advantages and  Disadvantages - Binary Term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182653"/>
            <a:ext cx="6459896" cy="5523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1"/>
          <p:cNvSpPr txBox="1">
            <a:spLocks/>
          </p:cNvSpPr>
          <p:nvPr/>
        </p:nvSpPr>
        <p:spPr>
          <a:xfrm>
            <a:off x="-337455" y="332656"/>
            <a:ext cx="9515400" cy="1484784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ts val="5800"/>
              </a:lnSpc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b="1" dirty="0" smtClean="0">
                <a:solidFill>
                  <a:srgbClr val="FFC000"/>
                </a:solidFill>
                <a:latin typeface="Times New Roman"/>
                <a:cs typeface="Times New Roman"/>
              </a:rPr>
              <a:t>Complete DES Algorithm </a:t>
            </a:r>
            <a:r>
              <a:rPr lang="en-US" dirty="0" smtClean="0">
                <a:solidFill>
                  <a:srgbClr val="FFC000"/>
                </a:solidFill>
                <a:latin typeface="Times New Roman"/>
                <a:cs typeface="Times New Roman"/>
              </a:rPr>
              <a:t/>
            </a:r>
            <a:br>
              <a:rPr lang="en-US" dirty="0" smtClean="0">
                <a:solidFill>
                  <a:srgbClr val="FFC000"/>
                </a:solidFill>
                <a:latin typeface="Times New Roman"/>
                <a:cs typeface="Times New Roman"/>
              </a:rPr>
            </a:br>
            <a:endParaRPr 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3539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388" y="1216"/>
            <a:ext cx="7931224" cy="736104"/>
          </a:xfrm>
        </p:spPr>
        <p:txBody>
          <a:bodyPr/>
          <a:lstStyle/>
          <a:p>
            <a:r>
              <a:rPr lang="en-US" sz="4000" b="1" dirty="0">
                <a:solidFill>
                  <a:srgbClr val="FFC07E"/>
                </a:solidFill>
                <a:latin typeface="Times New Roman" charset="0"/>
                <a:ea typeface="ＭＳ Ｐゴシック" charset="0"/>
                <a:cs typeface="ＭＳ Ｐゴシック" charset="0"/>
              </a:rPr>
              <a:t>Triple DES (3DES) </a:t>
            </a:r>
            <a:endParaRPr lang="en-US" sz="4000" b="1" dirty="0">
              <a:solidFill>
                <a:srgbClr val="FFC07E"/>
              </a:solidFill>
            </a:endParaRPr>
          </a:p>
        </p:txBody>
      </p:sp>
      <p:pic>
        <p:nvPicPr>
          <p:cNvPr id="4" name="Content Placeholder 3" descr="f2.pdf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1" t="24799" r="8942" b="22770"/>
          <a:stretch/>
        </p:blipFill>
        <p:spPr>
          <a:xfrm>
            <a:off x="5768177" y="4149080"/>
            <a:ext cx="3337076" cy="270892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323528" y="739480"/>
            <a:ext cx="8820472" cy="6118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dirty="0"/>
              <a:t>3DES uses three keys and three executions of the DES algorithm. The function follows an encrypt-decrypt-encrypt (EDE) sequence </a:t>
            </a:r>
            <a:endParaRPr lang="en-US" i="1" dirty="0" smtClean="0">
              <a:latin typeface="Times New Roman" charset="0"/>
              <a:ea typeface="ＭＳ Ｐゴシック" charset="0"/>
              <a:cs typeface="ＭＳ Ｐゴシック" charset="0"/>
            </a:endParaRPr>
          </a:p>
          <a:p>
            <a:pPr marL="0" indent="0" fontAlgn="auto">
              <a:spcAft>
                <a:spcPts val="0"/>
              </a:spcAft>
              <a:buNone/>
            </a:pPr>
            <a:r>
              <a:rPr lang="en-US" i="1" dirty="0" smtClean="0">
                <a:latin typeface="Times New Roman" charset="0"/>
                <a:ea typeface="ＭＳ Ｐゴシック" charset="0"/>
                <a:cs typeface="ＭＳ Ｐゴシック" charset="0"/>
              </a:rPr>
              <a:t>                               C</a:t>
            </a:r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 = E(</a:t>
            </a:r>
            <a:r>
              <a:rPr lang="en-US" i="1" dirty="0" smtClean="0">
                <a:latin typeface="Times New Roman" charset="0"/>
                <a:ea typeface="ＭＳ Ｐゴシック" charset="0"/>
                <a:cs typeface="ＭＳ Ｐゴシック" charset="0"/>
              </a:rPr>
              <a:t>K</a:t>
            </a:r>
            <a:r>
              <a:rPr lang="en-US" baseline="-25000" dirty="0" smtClean="0">
                <a:latin typeface="Times New Roman" charset="0"/>
                <a:ea typeface="ＭＳ Ｐゴシック" charset="0"/>
                <a:cs typeface="ＭＳ Ｐゴシック" charset="0"/>
              </a:rPr>
              <a:t>3</a:t>
            </a:r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, D(</a:t>
            </a:r>
            <a:r>
              <a:rPr lang="en-US" i="1" dirty="0" smtClean="0">
                <a:latin typeface="Times New Roman" charset="0"/>
                <a:ea typeface="ＭＳ Ｐゴシック" charset="0"/>
                <a:cs typeface="ＭＳ Ｐゴシック" charset="0"/>
              </a:rPr>
              <a:t>K</a:t>
            </a:r>
            <a:r>
              <a:rPr lang="en-US" baseline="-25000" dirty="0" smtClean="0">
                <a:latin typeface="Times New Roman" charset="0"/>
                <a:ea typeface="ＭＳ Ｐゴシック" charset="0"/>
                <a:cs typeface="ＭＳ Ｐゴシック" charset="0"/>
              </a:rPr>
              <a:t>2</a:t>
            </a:r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, E(</a:t>
            </a:r>
            <a:r>
              <a:rPr lang="en-US" i="1" dirty="0" smtClean="0">
                <a:latin typeface="Times New Roman" charset="0"/>
                <a:ea typeface="ＭＳ Ｐゴシック" charset="0"/>
                <a:cs typeface="ＭＳ Ｐゴシック" charset="0"/>
              </a:rPr>
              <a:t>K</a:t>
            </a:r>
            <a:r>
              <a:rPr lang="en-US" baseline="-25000" dirty="0" smtClean="0">
                <a:latin typeface="Times New Roman" charset="0"/>
                <a:ea typeface="ＭＳ Ｐゴシック" charset="0"/>
                <a:cs typeface="ＭＳ Ｐゴシック" charset="0"/>
              </a:rPr>
              <a:t>1</a:t>
            </a:r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, </a:t>
            </a:r>
            <a:r>
              <a:rPr lang="en-US" i="1" dirty="0" smtClean="0">
                <a:latin typeface="Times New Roman" charset="0"/>
                <a:ea typeface="ＭＳ Ｐゴシック" charset="0"/>
                <a:cs typeface="ＭＳ Ｐゴシック" charset="0"/>
              </a:rPr>
              <a:t>P</a:t>
            </a:r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)))</a:t>
            </a:r>
          </a:p>
          <a:p>
            <a:pPr fontAlgn="auto">
              <a:spcAft>
                <a:spcPts val="0"/>
              </a:spcAft>
            </a:pPr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where</a:t>
            </a:r>
            <a:r>
              <a:rPr lang="en-US" dirty="0">
                <a:latin typeface="Times New Roman" charset="0"/>
                <a:ea typeface="ＭＳ Ｐゴシック" charset="0"/>
                <a:cs typeface="ＭＳ Ｐゴシック" charset="0"/>
              </a:rPr>
              <a:t>: </a:t>
            </a:r>
            <a:endParaRPr lang="en-US" dirty="0" smtClean="0">
              <a:latin typeface="Times New Roman" charset="0"/>
              <a:ea typeface="ＭＳ Ｐゴシック" charset="0"/>
              <a:cs typeface="ＭＳ Ｐゴシック" charset="0"/>
            </a:endParaRPr>
          </a:p>
          <a:p>
            <a:pPr lvl="1" fontAlgn="auto">
              <a:spcAft>
                <a:spcPts val="0"/>
              </a:spcAft>
            </a:pPr>
            <a:r>
              <a:rPr lang="en-US" i="1" dirty="0" smtClean="0">
                <a:latin typeface="Times New Roman" charset="0"/>
                <a:ea typeface="ＭＳ Ｐゴシック" charset="0"/>
                <a:cs typeface="ＭＳ Ｐゴシック" charset="0"/>
              </a:rPr>
              <a:t>C</a:t>
            </a:r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>
                <a:latin typeface="Times New Roman" charset="0"/>
                <a:ea typeface="ＭＳ Ｐゴシック" charset="0"/>
                <a:cs typeface="ＭＳ Ｐゴシック" charset="0"/>
              </a:rPr>
              <a:t>= ciphertext</a:t>
            </a:r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;</a:t>
            </a:r>
          </a:p>
          <a:p>
            <a:pPr lvl="1" fontAlgn="auto">
              <a:spcAft>
                <a:spcPts val="0"/>
              </a:spcAft>
            </a:pPr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 </a:t>
            </a:r>
            <a:r>
              <a:rPr lang="en-US" i="1" dirty="0">
                <a:latin typeface="Times New Roman" charset="0"/>
                <a:ea typeface="ＭＳ Ｐゴシック" charset="0"/>
                <a:cs typeface="ＭＳ Ｐゴシック" charset="0"/>
              </a:rPr>
              <a:t>P</a:t>
            </a:r>
            <a:r>
              <a:rPr lang="en-US" dirty="0">
                <a:latin typeface="Times New Roman" charset="0"/>
                <a:ea typeface="ＭＳ Ｐゴシック" charset="0"/>
                <a:cs typeface="ＭＳ Ｐゴシック" charset="0"/>
              </a:rPr>
              <a:t> = plaintext; E[</a:t>
            </a:r>
            <a:r>
              <a:rPr lang="en-US" i="1" dirty="0">
                <a:latin typeface="Times New Roman" charset="0"/>
                <a:ea typeface="ＭＳ Ｐゴシック" charset="0"/>
                <a:cs typeface="ＭＳ Ｐゴシック" charset="0"/>
              </a:rPr>
              <a:t>K</a:t>
            </a:r>
            <a:r>
              <a:rPr lang="en-US" dirty="0">
                <a:latin typeface="Times New Roman" charset="0"/>
                <a:ea typeface="ＭＳ Ｐゴシック" charset="0"/>
                <a:cs typeface="ＭＳ Ｐゴシック" charset="0"/>
              </a:rPr>
              <a:t>, </a:t>
            </a:r>
            <a:r>
              <a:rPr lang="en-US" i="1" dirty="0">
                <a:latin typeface="Times New Roman" charset="0"/>
                <a:ea typeface="ＭＳ Ｐゴシック" charset="0"/>
                <a:cs typeface="ＭＳ Ｐゴシック" charset="0"/>
              </a:rPr>
              <a:t>X</a:t>
            </a:r>
            <a:r>
              <a:rPr lang="en-US" dirty="0">
                <a:latin typeface="Times New Roman" charset="0"/>
                <a:ea typeface="ＭＳ Ｐゴシック" charset="0"/>
                <a:cs typeface="ＭＳ Ｐゴシック" charset="0"/>
              </a:rPr>
              <a:t>] = encryption of </a:t>
            </a:r>
            <a:r>
              <a:rPr lang="en-US" i="1" dirty="0">
                <a:latin typeface="Times New Roman" charset="0"/>
                <a:ea typeface="ＭＳ Ｐゴシック" charset="0"/>
                <a:cs typeface="ＭＳ Ｐゴシック" charset="0"/>
              </a:rPr>
              <a:t>X</a:t>
            </a:r>
            <a:r>
              <a:rPr lang="en-US" dirty="0">
                <a:latin typeface="Times New Roman" charset="0"/>
                <a:ea typeface="ＭＳ Ｐゴシック" charset="0"/>
                <a:cs typeface="ＭＳ Ｐゴシック" charset="0"/>
              </a:rPr>
              <a:t> using key </a:t>
            </a:r>
            <a:r>
              <a:rPr lang="en-US" i="1" dirty="0" smtClean="0">
                <a:latin typeface="Times New Roman" charset="0"/>
                <a:ea typeface="ＭＳ Ｐゴシック" charset="0"/>
                <a:cs typeface="ＭＳ Ｐゴシック" charset="0"/>
              </a:rPr>
              <a:t>K</a:t>
            </a:r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  <a:p>
            <a:pPr marL="457200" lvl="1" indent="0" fontAlgn="auto">
              <a:spcAft>
                <a:spcPts val="0"/>
              </a:spcAft>
              <a:buNone/>
            </a:pPr>
            <a:endParaRPr lang="en-US" dirty="0" smtClean="0">
              <a:latin typeface="Times New Roman" charset="0"/>
              <a:ea typeface="ＭＳ Ｐゴシック" charset="0"/>
              <a:cs typeface="ＭＳ Ｐゴシック" charset="0"/>
            </a:endParaRPr>
          </a:p>
          <a:p>
            <a:pPr fontAlgn="auto">
              <a:spcAft>
                <a:spcPts val="0"/>
              </a:spcAft>
            </a:pPr>
            <a:r>
              <a:rPr lang="en-US" dirty="0">
                <a:latin typeface="Times New Roman" charset="0"/>
                <a:ea typeface="ＭＳ Ｐゴシック" charset="0"/>
                <a:cs typeface="ＭＳ Ｐゴシック" charset="0"/>
              </a:rPr>
              <a:t>Decryption is simply the same operation with the keys </a:t>
            </a:r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reversed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lang="en-US" i="1" dirty="0" smtClean="0">
                <a:latin typeface="Times New Roman" charset="0"/>
                <a:ea typeface="ＭＳ Ｐゴシック" charset="0"/>
                <a:cs typeface="ＭＳ Ｐゴシック" charset="0"/>
              </a:rPr>
              <a:t>                 P</a:t>
            </a:r>
            <a:r>
              <a:rPr lang="en-US" dirty="0" smtClean="0">
                <a:latin typeface="Times New Roman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>
                <a:latin typeface="Times New Roman" charset="0"/>
                <a:ea typeface="ＭＳ Ｐゴシック" charset="0"/>
                <a:cs typeface="ＭＳ Ｐゴシック" charset="0"/>
              </a:rPr>
              <a:t>= D(</a:t>
            </a:r>
            <a:r>
              <a:rPr lang="en-US" i="1" dirty="0">
                <a:latin typeface="Times New Roman" charset="0"/>
                <a:ea typeface="ＭＳ Ｐゴシック" charset="0"/>
                <a:cs typeface="ＭＳ Ｐゴシック" charset="0"/>
              </a:rPr>
              <a:t>K</a:t>
            </a:r>
            <a:r>
              <a:rPr lang="en-US" baseline="-25000" dirty="0">
                <a:latin typeface="Times New Roman" charset="0"/>
                <a:ea typeface="ＭＳ Ｐゴシック" charset="0"/>
                <a:cs typeface="ＭＳ Ｐゴシック" charset="0"/>
              </a:rPr>
              <a:t>1</a:t>
            </a:r>
            <a:r>
              <a:rPr lang="en-US" dirty="0">
                <a:latin typeface="Times New Roman" charset="0"/>
                <a:ea typeface="ＭＳ Ｐゴシック" charset="0"/>
                <a:cs typeface="ＭＳ Ｐゴシック" charset="0"/>
              </a:rPr>
              <a:t>, E(</a:t>
            </a:r>
            <a:r>
              <a:rPr lang="en-US" i="1" dirty="0">
                <a:latin typeface="Times New Roman" charset="0"/>
                <a:ea typeface="ＭＳ Ｐゴシック" charset="0"/>
                <a:cs typeface="ＭＳ Ｐゴシック" charset="0"/>
              </a:rPr>
              <a:t>K</a:t>
            </a:r>
            <a:r>
              <a:rPr lang="en-US" baseline="-25000" dirty="0">
                <a:latin typeface="Times New Roman" charset="0"/>
                <a:ea typeface="ＭＳ Ｐゴシック" charset="0"/>
                <a:cs typeface="ＭＳ Ｐゴシック" charset="0"/>
              </a:rPr>
              <a:t>2</a:t>
            </a:r>
            <a:r>
              <a:rPr lang="en-US" dirty="0">
                <a:latin typeface="Times New Roman" charset="0"/>
                <a:ea typeface="ＭＳ Ｐゴシック" charset="0"/>
                <a:cs typeface="ＭＳ Ｐゴシック" charset="0"/>
              </a:rPr>
              <a:t>, D(</a:t>
            </a:r>
            <a:r>
              <a:rPr lang="en-US" i="1" dirty="0">
                <a:latin typeface="Times New Roman" charset="0"/>
                <a:ea typeface="ＭＳ Ｐゴシック" charset="0"/>
                <a:cs typeface="ＭＳ Ｐゴシック" charset="0"/>
              </a:rPr>
              <a:t>K</a:t>
            </a:r>
            <a:r>
              <a:rPr lang="en-US" baseline="-25000" dirty="0">
                <a:latin typeface="Times New Roman" charset="0"/>
                <a:ea typeface="ＭＳ Ｐゴシック" charset="0"/>
                <a:cs typeface="ＭＳ Ｐゴシック" charset="0"/>
              </a:rPr>
              <a:t>3</a:t>
            </a:r>
            <a:r>
              <a:rPr lang="en-US" dirty="0">
                <a:latin typeface="Times New Roman" charset="0"/>
                <a:ea typeface="ＭＳ Ｐゴシック" charset="0"/>
                <a:cs typeface="ＭＳ Ｐゴシック" charset="0"/>
              </a:rPr>
              <a:t>, </a:t>
            </a:r>
            <a:r>
              <a:rPr lang="en-US" i="1" dirty="0">
                <a:latin typeface="Times New Roman" charset="0"/>
                <a:ea typeface="ＭＳ Ｐゴシック" charset="0"/>
                <a:cs typeface="ＭＳ Ｐゴシック" charset="0"/>
              </a:rPr>
              <a:t>C</a:t>
            </a:r>
            <a:r>
              <a:rPr lang="en-US" dirty="0">
                <a:latin typeface="Times New Roman" charset="0"/>
                <a:ea typeface="ＭＳ Ｐゴシック" charset="0"/>
                <a:cs typeface="ＭＳ Ｐゴシック" charset="0"/>
              </a:rPr>
              <a:t>)))</a:t>
            </a:r>
          </a:p>
          <a:p>
            <a:pPr marL="0" indent="0" fontAlgn="auto">
              <a:spcAft>
                <a:spcPts val="0"/>
              </a:spcAft>
              <a:buNone/>
            </a:pPr>
            <a:endParaRPr lang="en-US" dirty="0" smtClean="0">
              <a:latin typeface="Times New Roman" charset="0"/>
              <a:ea typeface="ＭＳ Ｐゴシック" charset="0"/>
              <a:cs typeface="ＭＳ Ｐゴシック" charset="0"/>
            </a:endParaRPr>
          </a:p>
          <a:p>
            <a:pPr marL="457200" lvl="1" indent="0" fontAlgn="auto">
              <a:spcAft>
                <a:spcPts val="0"/>
              </a:spcAft>
              <a:buFont typeface="Courier New" pitchFamily="49" charset="0"/>
              <a:buNone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C9FC-DA22-1F47-8722-58727A1D436E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34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531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04664"/>
            <a:ext cx="8229600" cy="763488"/>
          </a:xfrm>
        </p:spPr>
        <p:txBody>
          <a:bodyPr/>
          <a:lstStyle/>
          <a:p>
            <a:r>
              <a:rPr lang="en-US" sz="4000" b="1" dirty="0">
                <a:solidFill>
                  <a:srgbClr val="FFC07E"/>
                </a:solidFill>
              </a:rPr>
              <a:t>Stream Ciphers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799528"/>
            <a:ext cx="8820472" cy="630188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en-US" sz="800" dirty="0" smtClean="0"/>
          </a:p>
          <a:p>
            <a:pPr algn="just"/>
            <a:r>
              <a:rPr lang="en-US" sz="2000" dirty="0" smtClean="0"/>
              <a:t>A </a:t>
            </a:r>
            <a:r>
              <a:rPr lang="en-US" sz="2000" dirty="0"/>
              <a:t>stream cipher processes the input elements continuously, producing output one element at a time, as it goes along. </a:t>
            </a:r>
            <a:endParaRPr lang="en-US" sz="2000" dirty="0" smtClean="0"/>
          </a:p>
          <a:p>
            <a:pPr lvl="1" algn="just"/>
            <a:r>
              <a:rPr lang="en-US" dirty="0" smtClean="0"/>
              <a:t>A </a:t>
            </a:r>
            <a:r>
              <a:rPr lang="en-US" dirty="0"/>
              <a:t>block cipher processes the input one block of elements at a time, producing an output block for each input block. </a:t>
            </a:r>
            <a:endParaRPr lang="en-US" dirty="0" smtClean="0"/>
          </a:p>
          <a:p>
            <a:pPr lvl="2" algn="just"/>
            <a:r>
              <a:rPr lang="en-US" dirty="0"/>
              <a:t>Although block ciphers are far more common, there are certain applications in which a stream cipher is more appropriate. </a:t>
            </a:r>
            <a:endParaRPr lang="en-US" dirty="0" smtClean="0"/>
          </a:p>
          <a:p>
            <a:pPr lvl="1" algn="just"/>
            <a:endParaRPr lang="en-US" sz="800" dirty="0" smtClean="0"/>
          </a:p>
          <a:p>
            <a:pPr algn="just"/>
            <a:r>
              <a:rPr lang="en-US" sz="2000" dirty="0" smtClean="0"/>
              <a:t>A </a:t>
            </a:r>
            <a:r>
              <a:rPr lang="en-US" sz="2000" dirty="0"/>
              <a:t>typical stream cipher encrypts plaintext one byte at a time, although a stream cipher may be designed to operate on one bit at a time or on units larger than a byte at a time. </a:t>
            </a:r>
            <a:endParaRPr lang="en-US" sz="2000" dirty="0" smtClean="0"/>
          </a:p>
          <a:p>
            <a:pPr lvl="1" algn="just"/>
            <a:r>
              <a:rPr lang="en-US" dirty="0" smtClean="0"/>
              <a:t>In </a:t>
            </a:r>
            <a:r>
              <a:rPr lang="en-US" dirty="0"/>
              <a:t>this structure, a key is input to a pseudorandom bit generator that produces a stream of 8-bit numbers that are apparently random. </a:t>
            </a:r>
            <a:endParaRPr lang="en-US" dirty="0" smtClean="0"/>
          </a:p>
          <a:p>
            <a:pPr lvl="1" algn="just"/>
            <a:endParaRPr lang="en-US" sz="800" dirty="0" smtClean="0"/>
          </a:p>
          <a:p>
            <a:pPr algn="just"/>
            <a:r>
              <a:rPr lang="en-US" sz="2000" dirty="0" smtClean="0"/>
              <a:t>A </a:t>
            </a:r>
            <a:r>
              <a:rPr lang="en-US" sz="2000" dirty="0"/>
              <a:t>pseudorandom stream is one that is unpredictable without knowledge of the input key and which has an apparently random </a:t>
            </a:r>
            <a:r>
              <a:rPr lang="en-US" sz="2000" dirty="0" smtClean="0"/>
              <a:t>character. </a:t>
            </a:r>
          </a:p>
          <a:p>
            <a:pPr marL="0" indent="0" algn="just">
              <a:buNone/>
            </a:pPr>
            <a:endParaRPr lang="en-US" sz="800" dirty="0" smtClean="0"/>
          </a:p>
          <a:p>
            <a:pPr algn="just"/>
            <a:r>
              <a:rPr lang="en-US" sz="2000" dirty="0" smtClean="0"/>
              <a:t>The </a:t>
            </a:r>
            <a:r>
              <a:rPr lang="en-US" sz="2000" dirty="0"/>
              <a:t>output of the generator, called a </a:t>
            </a:r>
            <a:r>
              <a:rPr lang="en-US" sz="2000" b="1" i="1" dirty="0" smtClean="0"/>
              <a:t>keystream</a:t>
            </a:r>
            <a:r>
              <a:rPr lang="en-US" sz="2000" dirty="0" smtClean="0"/>
              <a:t>,  </a:t>
            </a:r>
          </a:p>
          <a:p>
            <a:pPr lvl="1" algn="just"/>
            <a:r>
              <a:rPr lang="en-US" dirty="0" smtClean="0"/>
              <a:t>is </a:t>
            </a:r>
            <a:r>
              <a:rPr lang="en-US" dirty="0"/>
              <a:t>combined one byte at a time with the plaintext stream using the bitwise </a:t>
            </a:r>
            <a:r>
              <a:rPr lang="en-US" dirty="0" smtClean="0"/>
              <a:t>exclusive OR </a:t>
            </a:r>
            <a:r>
              <a:rPr lang="en-US" dirty="0"/>
              <a:t>(XOR) operation</a:t>
            </a:r>
            <a:r>
              <a:rPr lang="en-US" dirty="0" smtClean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C9FC-DA22-1F47-8722-58727A1D436E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35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9705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04664"/>
            <a:ext cx="8229600" cy="763488"/>
          </a:xfrm>
        </p:spPr>
        <p:txBody>
          <a:bodyPr/>
          <a:lstStyle/>
          <a:p>
            <a:r>
              <a:rPr lang="en-US" sz="4000" b="1" dirty="0">
                <a:solidFill>
                  <a:srgbClr val="FFC07E"/>
                </a:solidFill>
              </a:rPr>
              <a:t>Stream Ciphers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412776"/>
            <a:ext cx="8496944" cy="5689848"/>
          </a:xfrm>
        </p:spPr>
        <p:txBody>
          <a:bodyPr>
            <a:noAutofit/>
          </a:bodyPr>
          <a:lstStyle/>
          <a:p>
            <a:pPr algn="just"/>
            <a:r>
              <a:rPr lang="en-US" dirty="0" smtClean="0"/>
              <a:t>For </a:t>
            </a:r>
            <a:r>
              <a:rPr lang="en-US" dirty="0"/>
              <a:t>applications that require encryption/decryption of a stream of data, such as </a:t>
            </a:r>
            <a:endParaRPr lang="en-US" dirty="0" smtClean="0"/>
          </a:p>
          <a:p>
            <a:pPr lvl="1" algn="just"/>
            <a:r>
              <a:rPr lang="en-US" sz="1400" dirty="0" smtClean="0"/>
              <a:t>over </a:t>
            </a:r>
            <a:r>
              <a:rPr lang="en-US" sz="1400" dirty="0"/>
              <a:t>a data communications channel or a browser/Web link,  </a:t>
            </a:r>
            <a:r>
              <a:rPr lang="en-US" sz="1400" dirty="0" smtClean="0"/>
              <a:t>a </a:t>
            </a:r>
            <a:r>
              <a:rPr lang="en-US" sz="1400" dirty="0"/>
              <a:t>stream cipher might be the better alternative</a:t>
            </a:r>
            <a:r>
              <a:rPr lang="en-US" sz="1400" dirty="0" smtClean="0"/>
              <a:t>.</a:t>
            </a:r>
          </a:p>
          <a:p>
            <a:pPr lvl="1" algn="just"/>
            <a:r>
              <a:rPr lang="en-US" sz="1400" dirty="0" smtClean="0"/>
              <a:t> </a:t>
            </a:r>
            <a:r>
              <a:rPr lang="en-US" sz="1400" dirty="0"/>
              <a:t>For applications that deal with blocks of data, such as file transfer, e-mail, and database, block ciphers may be more appropriate. However, either type of cipher can be used in virtually any application</a:t>
            </a:r>
          </a:p>
        </p:txBody>
      </p:sp>
      <p:pic>
        <p:nvPicPr>
          <p:cNvPr id="4" name="Picture 3" descr="f2.pdf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 b="14300"/>
          <a:stretch/>
        </p:blipFill>
        <p:spPr>
          <a:xfrm>
            <a:off x="1619672" y="3573016"/>
            <a:ext cx="6390410" cy="2952328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C9FC-DA22-1F47-8722-58727A1D436E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36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61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0" y="332656"/>
            <a:ext cx="91440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 smtClean="0">
                <a:solidFill>
                  <a:srgbClr val="FFC000"/>
                </a:solidFill>
              </a:rPr>
              <a:t>Block &amp; Stream Ciphers</a:t>
            </a:r>
            <a:endParaRPr lang="en-US" b="1" dirty="0">
              <a:solidFill>
                <a:srgbClr val="FFC000"/>
              </a:solidFill>
            </a:endParaRPr>
          </a:p>
        </p:txBody>
      </p:sp>
      <p:graphicFrame>
        <p:nvGraphicFramePr>
          <p:cNvPr id="12" name="Diagram 11"/>
          <p:cNvGraphicFramePr/>
          <p:nvPr>
            <p:extLst>
              <p:ext uri="{D42A27DB-BD31-4B8C-83A1-F6EECF244321}">
                <p14:modId xmlns:p14="http://schemas.microsoft.com/office/powerpoint/2010/main" val="2109363092"/>
              </p:ext>
            </p:extLst>
          </p:nvPr>
        </p:nvGraphicFramePr>
        <p:xfrm>
          <a:off x="990600" y="1981200"/>
          <a:ext cx="7162800" cy="441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29B3-313B-4E43-B940-6E980F955EE2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37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Executive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Metropolitan</Template>
  <TotalTime>40798</TotalTime>
  <Words>4360</Words>
  <Application>Microsoft Office PowerPoint</Application>
  <PresentationFormat>On-screen Show (4:3)</PresentationFormat>
  <Paragraphs>545</Paragraphs>
  <Slides>37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ＭＳ Ｐゴシック</vt:lpstr>
      <vt:lpstr>Arial</vt:lpstr>
      <vt:lpstr>Carlito</vt:lpstr>
      <vt:lpstr>Century Gothic</vt:lpstr>
      <vt:lpstr>Courier New</vt:lpstr>
      <vt:lpstr>Palatino Linotype</vt:lpstr>
      <vt:lpstr>Times New Roman</vt:lpstr>
      <vt:lpstr>Wingdings</vt:lpstr>
      <vt:lpstr>Executive</vt:lpstr>
      <vt:lpstr>Information Security Fall 2022</vt:lpstr>
      <vt:lpstr>PowerPoint Presentation</vt:lpstr>
      <vt:lpstr>Symmetric Encryption</vt:lpstr>
      <vt:lpstr>Symmetric Encryption</vt:lpstr>
      <vt:lpstr>Symmetric Encryption</vt:lpstr>
      <vt:lpstr>Attacking Symmetric Encryption</vt:lpstr>
      <vt:lpstr>Symmetric Block Encryption Algorithms</vt:lpstr>
      <vt:lpstr>Data Encryption Standard (DES)</vt:lpstr>
      <vt:lpstr>Triple DES (3DES)</vt:lpstr>
      <vt:lpstr>Advanced Encryption Standard (AES)</vt:lpstr>
      <vt:lpstr>Table 2.1</vt:lpstr>
      <vt:lpstr> Table 2.2</vt:lpstr>
      <vt:lpstr>Practical Security Issues</vt:lpstr>
      <vt:lpstr>Electronic codebook (ECB)</vt:lpstr>
      <vt:lpstr>Computationally Secure Encryption Schemes</vt:lpstr>
      <vt:lpstr>Feistel Cipher Structure</vt:lpstr>
      <vt:lpstr>Feistel Cipher Structure</vt:lpstr>
      <vt:lpstr>Data Encryption Standard (DES)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Straight Permutation </vt:lpstr>
      <vt:lpstr>PowerPoint Presentation</vt:lpstr>
      <vt:lpstr>PowerPoint Presentation</vt:lpstr>
      <vt:lpstr>PowerPoint Presentation</vt:lpstr>
      <vt:lpstr>PowerPoint Presentation</vt:lpstr>
      <vt:lpstr>Triple DES (3DES) </vt:lpstr>
      <vt:lpstr>Stream Ciphers</vt:lpstr>
      <vt:lpstr>Stream Ciphers</vt:lpstr>
      <vt:lpstr>Block &amp; Stream Ciphers</vt:lpstr>
    </vt:vector>
  </TitlesOfParts>
  <Manager/>
  <Company>Computer Science, UNSW@ADFA</Company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Security: Principles and Practice, 1/e</dc:title>
  <dc:subject>Chapter 2 Lecture Overheads</dc:subject>
  <dc:creator>Dr Lawrie Brown</dc:creator>
  <cp:keywords/>
  <dc:description/>
  <cp:lastModifiedBy>Microsoft account</cp:lastModifiedBy>
  <cp:revision>332</cp:revision>
  <dcterms:created xsi:type="dcterms:W3CDTF">2012-03-04T03:14:23Z</dcterms:created>
  <dcterms:modified xsi:type="dcterms:W3CDTF">2022-09-07T06:15:47Z</dcterms:modified>
  <cp:category/>
</cp:coreProperties>
</file>