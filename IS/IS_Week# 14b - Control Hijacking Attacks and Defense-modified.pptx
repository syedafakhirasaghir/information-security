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7"/>
  </p:notesMasterIdLst>
  <p:sldIdLst>
    <p:sldId id="256" r:id="rId2"/>
    <p:sldId id="257" r:id="rId3"/>
    <p:sldId id="258" r:id="rId4"/>
    <p:sldId id="259" r:id="rId5"/>
    <p:sldId id="261" r:id="rId6"/>
    <p:sldId id="325" r:id="rId7"/>
    <p:sldId id="262" r:id="rId8"/>
    <p:sldId id="263" r:id="rId9"/>
    <p:sldId id="264" r:id="rId10"/>
    <p:sldId id="265" r:id="rId11"/>
    <p:sldId id="266" r:id="rId12"/>
    <p:sldId id="267" r:id="rId13"/>
    <p:sldId id="268" r:id="rId14"/>
    <p:sldId id="269" r:id="rId15"/>
    <p:sldId id="272" r:id="rId16"/>
    <p:sldId id="273" r:id="rId17"/>
    <p:sldId id="274" r:id="rId18"/>
    <p:sldId id="320" r:id="rId19"/>
    <p:sldId id="327" r:id="rId20"/>
    <p:sldId id="321" r:id="rId21"/>
    <p:sldId id="322" r:id="rId22"/>
    <p:sldId id="323" r:id="rId23"/>
    <p:sldId id="275" r:id="rId24"/>
    <p:sldId id="276" r:id="rId25"/>
    <p:sldId id="278" r:id="rId26"/>
    <p:sldId id="316" r:id="rId27"/>
    <p:sldId id="318" r:id="rId28"/>
    <p:sldId id="319" r:id="rId29"/>
    <p:sldId id="279" r:id="rId30"/>
    <p:sldId id="328" r:id="rId31"/>
    <p:sldId id="281" r:id="rId32"/>
    <p:sldId id="282" r:id="rId33"/>
    <p:sldId id="329" r:id="rId34"/>
    <p:sldId id="283" r:id="rId35"/>
    <p:sldId id="284" r:id="rId36"/>
    <p:sldId id="285" r:id="rId37"/>
    <p:sldId id="286" r:id="rId38"/>
    <p:sldId id="287" r:id="rId39"/>
    <p:sldId id="288" r:id="rId40"/>
    <p:sldId id="289" r:id="rId41"/>
    <p:sldId id="291" r:id="rId42"/>
    <p:sldId id="292" r:id="rId43"/>
    <p:sldId id="324" r:id="rId44"/>
    <p:sldId id="293" r:id="rId45"/>
    <p:sldId id="315" r:id="rId46"/>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73" autoAdjust="0"/>
    <p:restoredTop sz="86145" autoAdjust="0"/>
  </p:normalViewPr>
  <p:slideViewPr>
    <p:cSldViewPr>
      <p:cViewPr varScale="1">
        <p:scale>
          <a:sx n="108" d="100"/>
          <a:sy n="108" d="100"/>
        </p:scale>
        <p:origin x="1680" y="20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14F8FD23-4DBD-46F7-BBC6-4915AC0CD8AA}" type="datetimeFigureOut">
              <a:rPr lang="en-PK" smtClean="0"/>
              <a:t>12/21/25</a:t>
            </a:fld>
            <a:endParaRPr lang="en-PK"/>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383B4D1D-35A2-4DB4-A9BD-90CAD0CE88FF}" type="slidenum">
              <a:rPr lang="en-PK" smtClean="0"/>
              <a:t>‹#›</a:t>
            </a:fld>
            <a:endParaRPr lang="en-PK"/>
          </a:p>
        </p:txBody>
      </p:sp>
    </p:spTree>
    <p:extLst>
      <p:ext uri="{BB962C8B-B14F-4D97-AF65-F5344CB8AC3E}">
        <p14:creationId xmlns:p14="http://schemas.microsoft.com/office/powerpoint/2010/main" val="31028029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383B4D1D-35A2-4DB4-A9BD-90CAD0CE88FF}" type="slidenum">
              <a:rPr lang="en-PK" smtClean="0"/>
              <a:t>4</a:t>
            </a:fld>
            <a:endParaRPr lang="en-PK"/>
          </a:p>
        </p:txBody>
      </p:sp>
    </p:spTree>
    <p:extLst>
      <p:ext uri="{BB962C8B-B14F-4D97-AF65-F5344CB8AC3E}">
        <p14:creationId xmlns:p14="http://schemas.microsoft.com/office/powerpoint/2010/main" val="19481816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383B4D1D-35A2-4DB4-A9BD-90CAD0CE88FF}" type="slidenum">
              <a:rPr lang="en-PK" smtClean="0"/>
              <a:t>5</a:t>
            </a:fld>
            <a:endParaRPr lang="en-PK"/>
          </a:p>
        </p:txBody>
      </p:sp>
    </p:spTree>
    <p:extLst>
      <p:ext uri="{BB962C8B-B14F-4D97-AF65-F5344CB8AC3E}">
        <p14:creationId xmlns:p14="http://schemas.microsoft.com/office/powerpoint/2010/main" val="25522300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A9A4D-1188-F508-8131-E30D013897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6EC84A-9241-DA7F-5C0D-C3D4ED7463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6D44BD-D473-3356-C3C5-8C018ABBF459}"/>
              </a:ext>
            </a:extLst>
          </p:cNvPr>
          <p:cNvSpPr>
            <a:spLocks noGrp="1"/>
          </p:cNvSpPr>
          <p:nvPr>
            <p:ph type="body" idx="1"/>
          </p:nvPr>
        </p:nvSpPr>
        <p:spPr/>
        <p:txBody>
          <a:bodyPr/>
          <a:lstStyle/>
          <a:p>
            <a:endParaRPr lang="en-PK" dirty="0"/>
          </a:p>
        </p:txBody>
      </p:sp>
      <p:sp>
        <p:nvSpPr>
          <p:cNvPr id="4" name="Slide Number Placeholder 3">
            <a:extLst>
              <a:ext uri="{FF2B5EF4-FFF2-40B4-BE49-F238E27FC236}">
                <a16:creationId xmlns:a16="http://schemas.microsoft.com/office/drawing/2014/main" id="{B05B6359-B72D-605F-1A8A-0D4E6CCDA97B}"/>
              </a:ext>
            </a:extLst>
          </p:cNvPr>
          <p:cNvSpPr>
            <a:spLocks noGrp="1"/>
          </p:cNvSpPr>
          <p:nvPr>
            <p:ph type="sldNum" sz="quarter" idx="5"/>
          </p:nvPr>
        </p:nvSpPr>
        <p:spPr/>
        <p:txBody>
          <a:bodyPr/>
          <a:lstStyle/>
          <a:p>
            <a:fld id="{383B4D1D-35A2-4DB4-A9BD-90CAD0CE88FF}" type="slidenum">
              <a:rPr lang="en-PK" smtClean="0"/>
              <a:t>6</a:t>
            </a:fld>
            <a:endParaRPr lang="en-PK"/>
          </a:p>
        </p:txBody>
      </p:sp>
    </p:spTree>
    <p:extLst>
      <p:ext uri="{BB962C8B-B14F-4D97-AF65-F5344CB8AC3E}">
        <p14:creationId xmlns:p14="http://schemas.microsoft.com/office/powerpoint/2010/main" val="27655422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383B4D1D-35A2-4DB4-A9BD-90CAD0CE88FF}" type="slidenum">
              <a:rPr lang="en-PK" smtClean="0"/>
              <a:t>7</a:t>
            </a:fld>
            <a:endParaRPr lang="en-PK"/>
          </a:p>
        </p:txBody>
      </p:sp>
    </p:spTree>
    <p:extLst>
      <p:ext uri="{BB962C8B-B14F-4D97-AF65-F5344CB8AC3E}">
        <p14:creationId xmlns:p14="http://schemas.microsoft.com/office/powerpoint/2010/main" val="26362990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Vulnerability:</a:t>
            </a:r>
            <a:r>
              <a:rPr lang="en-US" dirty="0"/>
              <a:t> Using </a:t>
            </a:r>
            <a:r>
              <a:rPr lang="en-US" sz="1200" kern="1200" dirty="0" err="1">
                <a:solidFill>
                  <a:schemeClr val="tx1"/>
                </a:solidFill>
                <a:latin typeface="+mn-lt"/>
                <a:ea typeface="+mn-ea"/>
                <a:cs typeface="+mn-cs"/>
              </a:rPr>
              <a:t>strcpy</a:t>
            </a:r>
            <a:r>
              <a:rPr lang="en-US" dirty="0"/>
              <a:t> to copy </a:t>
            </a:r>
            <a:r>
              <a:rPr lang="en-US" sz="1200" kern="1200" dirty="0">
                <a:solidFill>
                  <a:schemeClr val="tx1"/>
                </a:solidFill>
                <a:latin typeface="+mn-lt"/>
                <a:ea typeface="+mn-ea"/>
                <a:cs typeface="+mn-cs"/>
              </a:rPr>
              <a:t>*str</a:t>
            </a:r>
            <a:r>
              <a:rPr lang="en-US" dirty="0"/>
              <a:t> into </a:t>
            </a:r>
            <a:r>
              <a:rPr lang="en-US" sz="1200" kern="1200" dirty="0">
                <a:solidFill>
                  <a:schemeClr val="tx1"/>
                </a:solidFill>
                <a:latin typeface="+mn-lt"/>
                <a:ea typeface="+mn-ea"/>
                <a:cs typeface="+mn-cs"/>
              </a:rPr>
              <a:t>char </a:t>
            </a:r>
            <a:r>
              <a:rPr lang="en-US" sz="1200" kern="1200" dirty="0" err="1">
                <a:solidFill>
                  <a:schemeClr val="tx1"/>
                </a:solidFill>
                <a:latin typeface="+mn-lt"/>
                <a:ea typeface="+mn-ea"/>
                <a:cs typeface="+mn-cs"/>
              </a:rPr>
              <a:t>buf</a:t>
            </a:r>
            <a:r>
              <a:rPr lang="en-US" sz="1200" kern="1200" dirty="0">
                <a:solidFill>
                  <a:schemeClr val="tx1"/>
                </a:solidFill>
                <a:latin typeface="+mn-lt"/>
                <a:ea typeface="+mn-ea"/>
                <a:cs typeface="+mn-cs"/>
              </a:rPr>
              <a:t>[128]</a:t>
            </a:r>
            <a:r>
              <a:rPr lang="en-US" dirty="0"/>
              <a:t> without length checks can overflow the buffer.</a:t>
            </a:r>
          </a:p>
          <a:p>
            <a:r>
              <a:rPr lang="en-US" b="1" dirty="0"/>
              <a:t>Target:</a:t>
            </a:r>
            <a:r>
              <a:rPr lang="en-US" dirty="0"/>
              <a:t> The stack stores local variables and function call info, growing from high to low memory addresses.</a:t>
            </a:r>
          </a:p>
        </p:txBody>
      </p:sp>
      <p:sp>
        <p:nvSpPr>
          <p:cNvPr id="4" name="Slide Number Placeholder 3"/>
          <p:cNvSpPr>
            <a:spLocks noGrp="1"/>
          </p:cNvSpPr>
          <p:nvPr>
            <p:ph type="sldNum" sz="quarter" idx="5"/>
          </p:nvPr>
        </p:nvSpPr>
        <p:spPr/>
        <p:txBody>
          <a:bodyPr/>
          <a:lstStyle/>
          <a:p>
            <a:fld id="{383B4D1D-35A2-4DB4-A9BD-90CAD0CE88FF}" type="slidenum">
              <a:rPr lang="en-PK" smtClean="0"/>
              <a:t>10</a:t>
            </a:fld>
            <a:endParaRPr lang="en-PK"/>
          </a:p>
        </p:txBody>
      </p:sp>
    </p:spTree>
    <p:extLst>
      <p:ext uri="{BB962C8B-B14F-4D97-AF65-F5344CB8AC3E}">
        <p14:creationId xmlns:p14="http://schemas.microsoft.com/office/powerpoint/2010/main" val="34309839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383B4D1D-35A2-4DB4-A9BD-90CAD0CE88FF}" type="slidenum">
              <a:rPr lang="en-PK" smtClean="0"/>
              <a:t>45</a:t>
            </a:fld>
            <a:endParaRPr lang="en-PK"/>
          </a:p>
        </p:txBody>
      </p:sp>
    </p:spTree>
    <p:extLst>
      <p:ext uri="{BB962C8B-B14F-4D97-AF65-F5344CB8AC3E}">
        <p14:creationId xmlns:p14="http://schemas.microsoft.com/office/powerpoint/2010/main" val="321357130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71437" y="71501"/>
            <a:ext cx="9010713" cy="6696012"/>
          </a:xfrm>
          <a:prstGeom prst="rect">
            <a:avLst/>
          </a:prstGeom>
        </p:spPr>
      </p:pic>
      <p:sp>
        <p:nvSpPr>
          <p:cNvPr id="17" name="bg object 17"/>
          <p:cNvSpPr/>
          <p:nvPr/>
        </p:nvSpPr>
        <p:spPr>
          <a:xfrm>
            <a:off x="71437" y="71501"/>
            <a:ext cx="9011285" cy="6696075"/>
          </a:xfrm>
          <a:custGeom>
            <a:avLst/>
            <a:gdLst/>
            <a:ahLst/>
            <a:cxnLst/>
            <a:rect l="l" t="t" r="r" b="b"/>
            <a:pathLst>
              <a:path w="9011285" h="6696075">
                <a:moveTo>
                  <a:pt x="0" y="329946"/>
                </a:moveTo>
                <a:lnTo>
                  <a:pt x="3578" y="281184"/>
                </a:lnTo>
                <a:lnTo>
                  <a:pt x="13973" y="234645"/>
                </a:lnTo>
                <a:lnTo>
                  <a:pt x="30674" y="190840"/>
                </a:lnTo>
                <a:lnTo>
                  <a:pt x="53171" y="150277"/>
                </a:lnTo>
                <a:lnTo>
                  <a:pt x="80954" y="113468"/>
                </a:lnTo>
                <a:lnTo>
                  <a:pt x="113510" y="80923"/>
                </a:lnTo>
                <a:lnTo>
                  <a:pt x="150331" y="53151"/>
                </a:lnTo>
                <a:lnTo>
                  <a:pt x="190906" y="30662"/>
                </a:lnTo>
                <a:lnTo>
                  <a:pt x="234724" y="13967"/>
                </a:lnTo>
                <a:lnTo>
                  <a:pt x="281274" y="3576"/>
                </a:lnTo>
                <a:lnTo>
                  <a:pt x="330047" y="0"/>
                </a:lnTo>
                <a:lnTo>
                  <a:pt x="8680640" y="0"/>
                </a:lnTo>
                <a:lnTo>
                  <a:pt x="8729405" y="3576"/>
                </a:lnTo>
                <a:lnTo>
                  <a:pt x="8775951" y="13967"/>
                </a:lnTo>
                <a:lnTo>
                  <a:pt x="8819769" y="30662"/>
                </a:lnTo>
                <a:lnTo>
                  <a:pt x="8860346" y="53151"/>
                </a:lnTo>
                <a:lnTo>
                  <a:pt x="8897172" y="80923"/>
                </a:lnTo>
                <a:lnTo>
                  <a:pt x="8929735" y="113468"/>
                </a:lnTo>
                <a:lnTo>
                  <a:pt x="8957524" y="150277"/>
                </a:lnTo>
                <a:lnTo>
                  <a:pt x="8980027" y="190840"/>
                </a:lnTo>
                <a:lnTo>
                  <a:pt x="8996734" y="234645"/>
                </a:lnTo>
                <a:lnTo>
                  <a:pt x="9007133" y="281184"/>
                </a:lnTo>
                <a:lnTo>
                  <a:pt x="9010713" y="329946"/>
                </a:lnTo>
                <a:lnTo>
                  <a:pt x="9010713" y="6365963"/>
                </a:lnTo>
                <a:lnTo>
                  <a:pt x="9007133" y="6414736"/>
                </a:lnTo>
                <a:lnTo>
                  <a:pt x="8996734" y="6461287"/>
                </a:lnTo>
                <a:lnTo>
                  <a:pt x="8980027" y="6505105"/>
                </a:lnTo>
                <a:lnTo>
                  <a:pt x="8957524" y="6545679"/>
                </a:lnTo>
                <a:lnTo>
                  <a:pt x="8929735" y="6582501"/>
                </a:lnTo>
                <a:lnTo>
                  <a:pt x="8897172" y="6615058"/>
                </a:lnTo>
                <a:lnTo>
                  <a:pt x="8860346" y="6642840"/>
                </a:lnTo>
                <a:lnTo>
                  <a:pt x="8819769" y="6665337"/>
                </a:lnTo>
                <a:lnTo>
                  <a:pt x="8775951" y="6682038"/>
                </a:lnTo>
                <a:lnTo>
                  <a:pt x="8729405" y="6692434"/>
                </a:lnTo>
                <a:lnTo>
                  <a:pt x="8680640" y="6696012"/>
                </a:lnTo>
                <a:lnTo>
                  <a:pt x="330047" y="6696012"/>
                </a:lnTo>
                <a:lnTo>
                  <a:pt x="281274" y="6692434"/>
                </a:lnTo>
                <a:lnTo>
                  <a:pt x="234724" y="6682038"/>
                </a:lnTo>
                <a:lnTo>
                  <a:pt x="190906" y="6665337"/>
                </a:lnTo>
                <a:lnTo>
                  <a:pt x="150331" y="6642840"/>
                </a:lnTo>
                <a:lnTo>
                  <a:pt x="113510" y="6615058"/>
                </a:lnTo>
                <a:lnTo>
                  <a:pt x="80954" y="6582501"/>
                </a:lnTo>
                <a:lnTo>
                  <a:pt x="53171" y="6545679"/>
                </a:lnTo>
                <a:lnTo>
                  <a:pt x="30674" y="6505105"/>
                </a:lnTo>
                <a:lnTo>
                  <a:pt x="13973" y="6461287"/>
                </a:lnTo>
                <a:lnTo>
                  <a:pt x="3578" y="6414736"/>
                </a:lnTo>
                <a:lnTo>
                  <a:pt x="0" y="6365963"/>
                </a:lnTo>
                <a:lnTo>
                  <a:pt x="0" y="329946"/>
                </a:lnTo>
                <a:close/>
              </a:path>
            </a:pathLst>
          </a:custGeom>
          <a:ln w="6350">
            <a:solidFill>
              <a:srgbClr val="000000"/>
            </a:solidFill>
          </a:ln>
        </p:spPr>
        <p:txBody>
          <a:bodyPr wrap="square" lIns="0" tIns="0" rIns="0" bIns="0" rtlCol="0"/>
          <a:lstStyle/>
          <a:p>
            <a:endParaRPr/>
          </a:p>
        </p:txBody>
      </p:sp>
      <p:sp>
        <p:nvSpPr>
          <p:cNvPr id="18" name="bg object 18"/>
          <p:cNvSpPr/>
          <p:nvPr/>
        </p:nvSpPr>
        <p:spPr>
          <a:xfrm>
            <a:off x="66675" y="1400175"/>
            <a:ext cx="9020175" cy="114300"/>
          </a:xfrm>
          <a:custGeom>
            <a:avLst/>
            <a:gdLst/>
            <a:ahLst/>
            <a:cxnLst/>
            <a:rect l="l" t="t" r="r" b="b"/>
            <a:pathLst>
              <a:path w="9020175" h="114300">
                <a:moveTo>
                  <a:pt x="9020175" y="0"/>
                </a:moveTo>
                <a:lnTo>
                  <a:pt x="0" y="0"/>
                </a:lnTo>
                <a:lnTo>
                  <a:pt x="0" y="114300"/>
                </a:lnTo>
                <a:lnTo>
                  <a:pt x="9020175" y="114300"/>
                </a:lnTo>
                <a:lnTo>
                  <a:pt x="9020175" y="0"/>
                </a:lnTo>
                <a:close/>
              </a:path>
            </a:pathLst>
          </a:custGeom>
          <a:solidFill>
            <a:srgbClr val="E6B0AB"/>
          </a:solidFill>
        </p:spPr>
        <p:txBody>
          <a:bodyPr wrap="square" lIns="0" tIns="0" rIns="0" bIns="0" rtlCol="0"/>
          <a:lstStyle/>
          <a:p>
            <a:endParaRPr/>
          </a:p>
        </p:txBody>
      </p:sp>
      <p:sp>
        <p:nvSpPr>
          <p:cNvPr id="19" name="bg object 19"/>
          <p:cNvSpPr/>
          <p:nvPr/>
        </p:nvSpPr>
        <p:spPr>
          <a:xfrm>
            <a:off x="66675" y="2981324"/>
            <a:ext cx="9020175" cy="104775"/>
          </a:xfrm>
          <a:custGeom>
            <a:avLst/>
            <a:gdLst/>
            <a:ahLst/>
            <a:cxnLst/>
            <a:rect l="l" t="t" r="r" b="b"/>
            <a:pathLst>
              <a:path w="9020175" h="104775">
                <a:moveTo>
                  <a:pt x="9020175" y="0"/>
                </a:moveTo>
                <a:lnTo>
                  <a:pt x="0" y="0"/>
                </a:lnTo>
                <a:lnTo>
                  <a:pt x="0" y="104775"/>
                </a:lnTo>
                <a:lnTo>
                  <a:pt x="9020175" y="104775"/>
                </a:lnTo>
                <a:lnTo>
                  <a:pt x="9020175" y="0"/>
                </a:lnTo>
                <a:close/>
              </a:path>
            </a:pathLst>
          </a:custGeom>
          <a:solidFill>
            <a:srgbClr val="918485"/>
          </a:solidFill>
        </p:spPr>
        <p:txBody>
          <a:bodyPr wrap="square" lIns="0" tIns="0" rIns="0" bIns="0" rtlCol="0"/>
          <a:lstStyle/>
          <a:p>
            <a:endParaRPr/>
          </a:p>
        </p:txBody>
      </p:sp>
      <p:sp>
        <p:nvSpPr>
          <p:cNvPr id="2" name="Holder 2"/>
          <p:cNvSpPr>
            <a:spLocks noGrp="1"/>
          </p:cNvSpPr>
          <p:nvPr>
            <p:ph type="ctrTitle"/>
          </p:nvPr>
        </p:nvSpPr>
        <p:spPr>
          <a:xfrm>
            <a:off x="57150" y="1514475"/>
            <a:ext cx="9029700" cy="1466850"/>
          </a:xfrm>
          <a:prstGeom prst="rect">
            <a:avLst/>
          </a:prstGeom>
        </p:spPr>
        <p:txBody>
          <a:bodyPr wrap="square" lIns="0" tIns="0" rIns="0" bIns="0">
            <a:spAutoFit/>
          </a:bodyPr>
          <a:lstStyle>
            <a:lvl1pPr>
              <a:defRPr sz="3600" b="0"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400" b="0" i="0">
                <a:solidFill>
                  <a:srgbClr val="696363"/>
                </a:solidFill>
                <a:latin typeface="Times New Roman"/>
                <a:cs typeface="Times New Roman"/>
              </a:defRPr>
            </a:lvl1pPr>
          </a:lstStyle>
          <a:p>
            <a:pPr marL="165100">
              <a:lnSpc>
                <a:spcPts val="1550"/>
              </a:lnSpc>
            </a:pPr>
            <a:r>
              <a:rPr spc="-180" dirty="0"/>
              <a:t>FAST-</a:t>
            </a:r>
            <a:r>
              <a:rPr spc="-100" dirty="0"/>
              <a:t>NUCES</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12/21/25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400" b="0" i="0">
                <a:solidFill>
                  <a:srgbClr val="696363"/>
                </a:solidFill>
                <a:latin typeface="Times New Roman"/>
                <a:cs typeface="Times New Roman"/>
              </a:defRPr>
            </a:lvl1pPr>
          </a:lstStyle>
          <a:p>
            <a:pPr marL="165100">
              <a:lnSpc>
                <a:spcPts val="1550"/>
              </a:lnSpc>
            </a:pPr>
            <a:r>
              <a:rPr spc="-180" dirty="0"/>
              <a:t>FAST-</a:t>
            </a:r>
            <a:r>
              <a:rPr spc="-100" dirty="0"/>
              <a:t>NUCES</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12/21/25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400" b="0" i="0">
                <a:solidFill>
                  <a:srgbClr val="696363"/>
                </a:solidFill>
                <a:latin typeface="Times New Roman"/>
                <a:cs typeface="Times New Roman"/>
              </a:defRPr>
            </a:lvl1pPr>
          </a:lstStyle>
          <a:p>
            <a:pPr marL="165100">
              <a:lnSpc>
                <a:spcPts val="1550"/>
              </a:lnSpc>
            </a:pPr>
            <a:r>
              <a:rPr spc="-180" dirty="0"/>
              <a:t>FAST-</a:t>
            </a:r>
            <a:r>
              <a:rPr spc="-100" dirty="0"/>
              <a:t>NUCES</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12/21/25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400" b="0" i="0">
                <a:solidFill>
                  <a:srgbClr val="696363"/>
                </a:solidFill>
                <a:latin typeface="Times New Roman"/>
                <a:cs typeface="Times New Roman"/>
              </a:defRPr>
            </a:lvl1pPr>
          </a:lstStyle>
          <a:p>
            <a:pPr marL="165100">
              <a:lnSpc>
                <a:spcPts val="1550"/>
              </a:lnSpc>
            </a:pPr>
            <a:r>
              <a:rPr spc="-180" dirty="0"/>
              <a:t>FAST-</a:t>
            </a:r>
            <a:r>
              <a:rPr spc="-100" dirty="0"/>
              <a:t>NUCES</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12/21/25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400" b="0" i="0">
                <a:solidFill>
                  <a:srgbClr val="696363"/>
                </a:solidFill>
                <a:latin typeface="Times New Roman"/>
                <a:cs typeface="Times New Roman"/>
              </a:defRPr>
            </a:lvl1pPr>
          </a:lstStyle>
          <a:p>
            <a:pPr marL="165100">
              <a:lnSpc>
                <a:spcPts val="1550"/>
              </a:lnSpc>
            </a:pPr>
            <a:r>
              <a:rPr spc="-180" dirty="0"/>
              <a:t>FAST-</a:t>
            </a:r>
            <a:r>
              <a:rPr spc="-100" dirty="0"/>
              <a:t>NUCES</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12/21/25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71437" y="71501"/>
            <a:ext cx="9011285" cy="6696075"/>
          </a:xfrm>
          <a:custGeom>
            <a:avLst/>
            <a:gdLst/>
            <a:ahLst/>
            <a:cxnLst/>
            <a:rect l="l" t="t" r="r" b="b"/>
            <a:pathLst>
              <a:path w="9011285" h="6696075">
                <a:moveTo>
                  <a:pt x="0" y="329946"/>
                </a:moveTo>
                <a:lnTo>
                  <a:pt x="3578" y="281184"/>
                </a:lnTo>
                <a:lnTo>
                  <a:pt x="13973" y="234645"/>
                </a:lnTo>
                <a:lnTo>
                  <a:pt x="30674" y="190840"/>
                </a:lnTo>
                <a:lnTo>
                  <a:pt x="53171" y="150277"/>
                </a:lnTo>
                <a:lnTo>
                  <a:pt x="80954" y="113468"/>
                </a:lnTo>
                <a:lnTo>
                  <a:pt x="113510" y="80923"/>
                </a:lnTo>
                <a:lnTo>
                  <a:pt x="150331" y="53151"/>
                </a:lnTo>
                <a:lnTo>
                  <a:pt x="190906" y="30662"/>
                </a:lnTo>
                <a:lnTo>
                  <a:pt x="234724" y="13967"/>
                </a:lnTo>
                <a:lnTo>
                  <a:pt x="281274" y="3576"/>
                </a:lnTo>
                <a:lnTo>
                  <a:pt x="330047" y="0"/>
                </a:lnTo>
                <a:lnTo>
                  <a:pt x="8680640" y="0"/>
                </a:lnTo>
                <a:lnTo>
                  <a:pt x="8729405" y="3576"/>
                </a:lnTo>
                <a:lnTo>
                  <a:pt x="8775951" y="13967"/>
                </a:lnTo>
                <a:lnTo>
                  <a:pt x="8819769" y="30662"/>
                </a:lnTo>
                <a:lnTo>
                  <a:pt x="8860346" y="53151"/>
                </a:lnTo>
                <a:lnTo>
                  <a:pt x="8897172" y="80923"/>
                </a:lnTo>
                <a:lnTo>
                  <a:pt x="8929735" y="113468"/>
                </a:lnTo>
                <a:lnTo>
                  <a:pt x="8957524" y="150277"/>
                </a:lnTo>
                <a:lnTo>
                  <a:pt x="8980027" y="190840"/>
                </a:lnTo>
                <a:lnTo>
                  <a:pt x="8996734" y="234645"/>
                </a:lnTo>
                <a:lnTo>
                  <a:pt x="9007133" y="281184"/>
                </a:lnTo>
                <a:lnTo>
                  <a:pt x="9010713" y="329946"/>
                </a:lnTo>
                <a:lnTo>
                  <a:pt x="9010713" y="6365963"/>
                </a:lnTo>
                <a:lnTo>
                  <a:pt x="9007133" y="6414736"/>
                </a:lnTo>
                <a:lnTo>
                  <a:pt x="8996734" y="6461287"/>
                </a:lnTo>
                <a:lnTo>
                  <a:pt x="8980027" y="6505105"/>
                </a:lnTo>
                <a:lnTo>
                  <a:pt x="8957524" y="6545679"/>
                </a:lnTo>
                <a:lnTo>
                  <a:pt x="8929735" y="6582501"/>
                </a:lnTo>
                <a:lnTo>
                  <a:pt x="8897172" y="6615058"/>
                </a:lnTo>
                <a:lnTo>
                  <a:pt x="8860346" y="6642840"/>
                </a:lnTo>
                <a:lnTo>
                  <a:pt x="8819769" y="6665337"/>
                </a:lnTo>
                <a:lnTo>
                  <a:pt x="8775951" y="6682038"/>
                </a:lnTo>
                <a:lnTo>
                  <a:pt x="8729405" y="6692434"/>
                </a:lnTo>
                <a:lnTo>
                  <a:pt x="8680640" y="6696012"/>
                </a:lnTo>
                <a:lnTo>
                  <a:pt x="330047" y="6696012"/>
                </a:lnTo>
                <a:lnTo>
                  <a:pt x="281274" y="6692434"/>
                </a:lnTo>
                <a:lnTo>
                  <a:pt x="234724" y="6682038"/>
                </a:lnTo>
                <a:lnTo>
                  <a:pt x="190906" y="6665337"/>
                </a:lnTo>
                <a:lnTo>
                  <a:pt x="150331" y="6642840"/>
                </a:lnTo>
                <a:lnTo>
                  <a:pt x="113510" y="6615058"/>
                </a:lnTo>
                <a:lnTo>
                  <a:pt x="80954" y="6582501"/>
                </a:lnTo>
                <a:lnTo>
                  <a:pt x="53171" y="6545679"/>
                </a:lnTo>
                <a:lnTo>
                  <a:pt x="30674" y="6505105"/>
                </a:lnTo>
                <a:lnTo>
                  <a:pt x="13973" y="6461287"/>
                </a:lnTo>
                <a:lnTo>
                  <a:pt x="3578" y="6414736"/>
                </a:lnTo>
                <a:lnTo>
                  <a:pt x="0" y="6365963"/>
                </a:lnTo>
                <a:lnTo>
                  <a:pt x="0" y="329946"/>
                </a:lnTo>
                <a:close/>
              </a:path>
            </a:pathLst>
          </a:custGeom>
          <a:ln w="6350">
            <a:solidFill>
              <a:srgbClr val="000000"/>
            </a:solidFill>
          </a:ln>
        </p:spPr>
        <p:txBody>
          <a:bodyPr wrap="square" lIns="0" tIns="0" rIns="0" bIns="0" rtlCol="0"/>
          <a:lstStyle/>
          <a:p>
            <a:endParaRPr/>
          </a:p>
        </p:txBody>
      </p:sp>
      <p:sp>
        <p:nvSpPr>
          <p:cNvPr id="2" name="Holder 2"/>
          <p:cNvSpPr>
            <a:spLocks noGrp="1"/>
          </p:cNvSpPr>
          <p:nvPr>
            <p:ph type="title"/>
          </p:nvPr>
        </p:nvSpPr>
        <p:spPr>
          <a:xfrm>
            <a:off x="231457" y="90169"/>
            <a:ext cx="7790180" cy="855345"/>
          </a:xfrm>
          <a:prstGeom prst="rect">
            <a:avLst/>
          </a:prstGeom>
        </p:spPr>
        <p:txBody>
          <a:bodyPr wrap="square" lIns="0" tIns="0" rIns="0" bIns="0">
            <a:spAutoFit/>
          </a:bodyPr>
          <a:lstStyle>
            <a:lvl1pPr>
              <a:defRPr sz="3600" b="0"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1318641" y="2845320"/>
            <a:ext cx="6076950" cy="14351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841692" y="6217882"/>
            <a:ext cx="1155382" cy="309879"/>
          </a:xfrm>
          <a:prstGeom prst="rect">
            <a:avLst/>
          </a:prstGeom>
        </p:spPr>
        <p:txBody>
          <a:bodyPr wrap="square" lIns="0" tIns="0" rIns="0" bIns="0">
            <a:spAutoFit/>
          </a:bodyPr>
          <a:lstStyle>
            <a:lvl1pPr>
              <a:defRPr sz="1400" b="0" i="0">
                <a:solidFill>
                  <a:srgbClr val="696363"/>
                </a:solidFill>
                <a:latin typeface="Times New Roman"/>
                <a:cs typeface="Times New Roman"/>
              </a:defRPr>
            </a:lvl1pPr>
          </a:lstStyle>
          <a:p>
            <a:pPr marL="165100">
              <a:lnSpc>
                <a:spcPts val="1550"/>
              </a:lnSpc>
            </a:pPr>
            <a:r>
              <a:rPr spc="-180" dirty="0"/>
              <a:t>FAST-</a:t>
            </a:r>
            <a:r>
              <a:rPr spc="-100" dirty="0"/>
              <a:t>NUCES</a:t>
            </a: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12/21/25</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66675" y="68326"/>
            <a:ext cx="9020175" cy="6702425"/>
            <a:chOff x="66675" y="68326"/>
            <a:chExt cx="9020175" cy="6702425"/>
          </a:xfrm>
        </p:grpSpPr>
        <p:pic>
          <p:nvPicPr>
            <p:cNvPr id="3" name="object 3"/>
            <p:cNvPicPr/>
            <p:nvPr/>
          </p:nvPicPr>
          <p:blipFill>
            <a:blip r:embed="rId2" cstate="print"/>
            <a:stretch>
              <a:fillRect/>
            </a:stretch>
          </p:blipFill>
          <p:spPr>
            <a:xfrm>
              <a:off x="71437" y="71501"/>
              <a:ext cx="9010713" cy="6696012"/>
            </a:xfrm>
            <a:prstGeom prst="rect">
              <a:avLst/>
            </a:prstGeom>
          </p:spPr>
        </p:pic>
        <p:sp>
          <p:nvSpPr>
            <p:cNvPr id="4" name="object 4"/>
            <p:cNvSpPr/>
            <p:nvPr/>
          </p:nvSpPr>
          <p:spPr>
            <a:xfrm>
              <a:off x="71437" y="71501"/>
              <a:ext cx="9011285" cy="6696075"/>
            </a:xfrm>
            <a:custGeom>
              <a:avLst/>
              <a:gdLst/>
              <a:ahLst/>
              <a:cxnLst/>
              <a:rect l="l" t="t" r="r" b="b"/>
              <a:pathLst>
                <a:path w="9011285" h="6696075">
                  <a:moveTo>
                    <a:pt x="0" y="329946"/>
                  </a:moveTo>
                  <a:lnTo>
                    <a:pt x="3578" y="281184"/>
                  </a:lnTo>
                  <a:lnTo>
                    <a:pt x="13973" y="234645"/>
                  </a:lnTo>
                  <a:lnTo>
                    <a:pt x="30674" y="190840"/>
                  </a:lnTo>
                  <a:lnTo>
                    <a:pt x="53171" y="150277"/>
                  </a:lnTo>
                  <a:lnTo>
                    <a:pt x="80954" y="113468"/>
                  </a:lnTo>
                  <a:lnTo>
                    <a:pt x="113510" y="80923"/>
                  </a:lnTo>
                  <a:lnTo>
                    <a:pt x="150331" y="53151"/>
                  </a:lnTo>
                  <a:lnTo>
                    <a:pt x="190906" y="30662"/>
                  </a:lnTo>
                  <a:lnTo>
                    <a:pt x="234724" y="13967"/>
                  </a:lnTo>
                  <a:lnTo>
                    <a:pt x="281274" y="3576"/>
                  </a:lnTo>
                  <a:lnTo>
                    <a:pt x="330047" y="0"/>
                  </a:lnTo>
                  <a:lnTo>
                    <a:pt x="8680640" y="0"/>
                  </a:lnTo>
                  <a:lnTo>
                    <a:pt x="8729405" y="3576"/>
                  </a:lnTo>
                  <a:lnTo>
                    <a:pt x="8775951" y="13967"/>
                  </a:lnTo>
                  <a:lnTo>
                    <a:pt x="8819769" y="30662"/>
                  </a:lnTo>
                  <a:lnTo>
                    <a:pt x="8860346" y="53151"/>
                  </a:lnTo>
                  <a:lnTo>
                    <a:pt x="8897172" y="80923"/>
                  </a:lnTo>
                  <a:lnTo>
                    <a:pt x="8929735" y="113468"/>
                  </a:lnTo>
                  <a:lnTo>
                    <a:pt x="8957524" y="150277"/>
                  </a:lnTo>
                  <a:lnTo>
                    <a:pt x="8980027" y="190840"/>
                  </a:lnTo>
                  <a:lnTo>
                    <a:pt x="8996734" y="234645"/>
                  </a:lnTo>
                  <a:lnTo>
                    <a:pt x="9007133" y="281184"/>
                  </a:lnTo>
                  <a:lnTo>
                    <a:pt x="9010713" y="329946"/>
                  </a:lnTo>
                  <a:lnTo>
                    <a:pt x="9010713" y="6365963"/>
                  </a:lnTo>
                  <a:lnTo>
                    <a:pt x="9007133" y="6414736"/>
                  </a:lnTo>
                  <a:lnTo>
                    <a:pt x="8996734" y="6461287"/>
                  </a:lnTo>
                  <a:lnTo>
                    <a:pt x="8980027" y="6505105"/>
                  </a:lnTo>
                  <a:lnTo>
                    <a:pt x="8957524" y="6545679"/>
                  </a:lnTo>
                  <a:lnTo>
                    <a:pt x="8929735" y="6582501"/>
                  </a:lnTo>
                  <a:lnTo>
                    <a:pt x="8897172" y="6615058"/>
                  </a:lnTo>
                  <a:lnTo>
                    <a:pt x="8860346" y="6642840"/>
                  </a:lnTo>
                  <a:lnTo>
                    <a:pt x="8819769" y="6665337"/>
                  </a:lnTo>
                  <a:lnTo>
                    <a:pt x="8775951" y="6682038"/>
                  </a:lnTo>
                  <a:lnTo>
                    <a:pt x="8729405" y="6692434"/>
                  </a:lnTo>
                  <a:lnTo>
                    <a:pt x="8680640" y="6696012"/>
                  </a:lnTo>
                  <a:lnTo>
                    <a:pt x="330047" y="6696012"/>
                  </a:lnTo>
                  <a:lnTo>
                    <a:pt x="281274" y="6692434"/>
                  </a:lnTo>
                  <a:lnTo>
                    <a:pt x="234724" y="6682038"/>
                  </a:lnTo>
                  <a:lnTo>
                    <a:pt x="190906" y="6665337"/>
                  </a:lnTo>
                  <a:lnTo>
                    <a:pt x="150331" y="6642840"/>
                  </a:lnTo>
                  <a:lnTo>
                    <a:pt x="113510" y="6615058"/>
                  </a:lnTo>
                  <a:lnTo>
                    <a:pt x="80954" y="6582501"/>
                  </a:lnTo>
                  <a:lnTo>
                    <a:pt x="53171" y="6545679"/>
                  </a:lnTo>
                  <a:lnTo>
                    <a:pt x="30674" y="6505105"/>
                  </a:lnTo>
                  <a:lnTo>
                    <a:pt x="13973" y="6461287"/>
                  </a:lnTo>
                  <a:lnTo>
                    <a:pt x="3578" y="6414736"/>
                  </a:lnTo>
                  <a:lnTo>
                    <a:pt x="0" y="6365963"/>
                  </a:lnTo>
                  <a:lnTo>
                    <a:pt x="0" y="329946"/>
                  </a:lnTo>
                  <a:close/>
                </a:path>
              </a:pathLst>
            </a:custGeom>
            <a:ln w="6350">
              <a:solidFill>
                <a:srgbClr val="000000"/>
              </a:solidFill>
            </a:ln>
          </p:spPr>
          <p:txBody>
            <a:bodyPr wrap="square" lIns="0" tIns="0" rIns="0" bIns="0" rtlCol="0"/>
            <a:lstStyle/>
            <a:p>
              <a:endParaRPr/>
            </a:p>
          </p:txBody>
        </p:sp>
        <p:sp>
          <p:nvSpPr>
            <p:cNvPr id="5" name="object 5"/>
            <p:cNvSpPr/>
            <p:nvPr/>
          </p:nvSpPr>
          <p:spPr>
            <a:xfrm>
              <a:off x="66675" y="1400175"/>
              <a:ext cx="9020175" cy="114300"/>
            </a:xfrm>
            <a:custGeom>
              <a:avLst/>
              <a:gdLst/>
              <a:ahLst/>
              <a:cxnLst/>
              <a:rect l="l" t="t" r="r" b="b"/>
              <a:pathLst>
                <a:path w="9020175" h="114300">
                  <a:moveTo>
                    <a:pt x="9020175" y="0"/>
                  </a:moveTo>
                  <a:lnTo>
                    <a:pt x="0" y="0"/>
                  </a:lnTo>
                  <a:lnTo>
                    <a:pt x="0" y="114300"/>
                  </a:lnTo>
                  <a:lnTo>
                    <a:pt x="9020175" y="114300"/>
                  </a:lnTo>
                  <a:lnTo>
                    <a:pt x="9020175" y="0"/>
                  </a:lnTo>
                  <a:close/>
                </a:path>
              </a:pathLst>
            </a:custGeom>
            <a:solidFill>
              <a:srgbClr val="E6B0AB"/>
            </a:solidFill>
          </p:spPr>
          <p:txBody>
            <a:bodyPr wrap="square" lIns="0" tIns="0" rIns="0" bIns="0" rtlCol="0"/>
            <a:lstStyle/>
            <a:p>
              <a:endParaRPr/>
            </a:p>
          </p:txBody>
        </p:sp>
        <p:sp>
          <p:nvSpPr>
            <p:cNvPr id="6" name="object 6"/>
            <p:cNvSpPr/>
            <p:nvPr/>
          </p:nvSpPr>
          <p:spPr>
            <a:xfrm>
              <a:off x="66675" y="2981324"/>
              <a:ext cx="9020175" cy="104775"/>
            </a:xfrm>
            <a:custGeom>
              <a:avLst/>
              <a:gdLst/>
              <a:ahLst/>
              <a:cxnLst/>
              <a:rect l="l" t="t" r="r" b="b"/>
              <a:pathLst>
                <a:path w="9020175" h="104775">
                  <a:moveTo>
                    <a:pt x="9020175" y="0"/>
                  </a:moveTo>
                  <a:lnTo>
                    <a:pt x="0" y="0"/>
                  </a:lnTo>
                  <a:lnTo>
                    <a:pt x="0" y="104775"/>
                  </a:lnTo>
                  <a:lnTo>
                    <a:pt x="9020175" y="104775"/>
                  </a:lnTo>
                  <a:lnTo>
                    <a:pt x="9020175" y="0"/>
                  </a:lnTo>
                  <a:close/>
                </a:path>
              </a:pathLst>
            </a:custGeom>
            <a:solidFill>
              <a:srgbClr val="918485"/>
            </a:solidFill>
          </p:spPr>
          <p:txBody>
            <a:bodyPr wrap="square" lIns="0" tIns="0" rIns="0" bIns="0" rtlCol="0"/>
            <a:lstStyle/>
            <a:p>
              <a:endParaRPr/>
            </a:p>
          </p:txBody>
        </p:sp>
      </p:grpSp>
      <p:sp>
        <p:nvSpPr>
          <p:cNvPr id="7" name="object 7"/>
          <p:cNvSpPr txBox="1"/>
          <p:nvPr/>
        </p:nvSpPr>
        <p:spPr>
          <a:xfrm>
            <a:off x="1230947" y="3120962"/>
            <a:ext cx="6765290" cy="1930400"/>
          </a:xfrm>
          <a:prstGeom prst="rect">
            <a:avLst/>
          </a:prstGeom>
        </p:spPr>
        <p:txBody>
          <a:bodyPr vert="horz" wrap="square" lIns="0" tIns="123825" rIns="0" bIns="0" rtlCol="0">
            <a:spAutoFit/>
          </a:bodyPr>
          <a:lstStyle/>
          <a:p>
            <a:pPr algn="ctr">
              <a:lnSpc>
                <a:spcPct val="100000"/>
              </a:lnSpc>
              <a:spcBef>
                <a:spcPts val="975"/>
              </a:spcBef>
            </a:pPr>
            <a:r>
              <a:rPr sz="3050" b="1" dirty="0">
                <a:latin typeface="Times New Roman"/>
                <a:cs typeface="Times New Roman"/>
              </a:rPr>
              <a:t>Control</a:t>
            </a:r>
            <a:r>
              <a:rPr sz="3050" b="1" spc="50" dirty="0">
                <a:latin typeface="Times New Roman"/>
                <a:cs typeface="Times New Roman"/>
              </a:rPr>
              <a:t> </a:t>
            </a:r>
            <a:r>
              <a:rPr sz="3050" b="1" dirty="0">
                <a:latin typeface="Times New Roman"/>
                <a:cs typeface="Times New Roman"/>
              </a:rPr>
              <a:t>Hijacking</a:t>
            </a:r>
            <a:r>
              <a:rPr sz="3050" b="1" spc="-80" dirty="0">
                <a:latin typeface="Times New Roman"/>
                <a:cs typeface="Times New Roman"/>
              </a:rPr>
              <a:t> </a:t>
            </a:r>
            <a:r>
              <a:rPr sz="3050" b="1" dirty="0">
                <a:latin typeface="Times New Roman"/>
                <a:cs typeface="Times New Roman"/>
              </a:rPr>
              <a:t>Attacks</a:t>
            </a:r>
            <a:r>
              <a:rPr sz="3050" b="1" spc="120" dirty="0">
                <a:latin typeface="Times New Roman"/>
                <a:cs typeface="Times New Roman"/>
              </a:rPr>
              <a:t> </a:t>
            </a:r>
            <a:r>
              <a:rPr sz="3050" b="1" dirty="0">
                <a:latin typeface="Times New Roman"/>
                <a:cs typeface="Times New Roman"/>
              </a:rPr>
              <a:t>and</a:t>
            </a:r>
            <a:r>
              <a:rPr sz="3050" b="1" spc="135" dirty="0">
                <a:latin typeface="Times New Roman"/>
                <a:cs typeface="Times New Roman"/>
              </a:rPr>
              <a:t> </a:t>
            </a:r>
            <a:r>
              <a:rPr sz="3050" b="1" spc="-10" dirty="0">
                <a:latin typeface="Times New Roman"/>
                <a:cs typeface="Times New Roman"/>
              </a:rPr>
              <a:t>Defenses</a:t>
            </a:r>
            <a:endParaRPr sz="3050">
              <a:latin typeface="Times New Roman"/>
              <a:cs typeface="Times New Roman"/>
            </a:endParaRPr>
          </a:p>
          <a:p>
            <a:pPr marL="1339850" marR="1322070" indent="-2540" algn="ctr">
              <a:lnSpc>
                <a:spcPct val="120000"/>
              </a:lnSpc>
              <a:spcBef>
                <a:spcPts val="95"/>
              </a:spcBef>
            </a:pPr>
            <a:r>
              <a:rPr sz="2400" dirty="0">
                <a:latin typeface="Times New Roman"/>
                <a:cs typeface="Times New Roman"/>
              </a:rPr>
              <a:t>Prof.</a:t>
            </a:r>
            <a:r>
              <a:rPr sz="2400" spc="-65" dirty="0">
                <a:latin typeface="Times New Roman"/>
                <a:cs typeface="Times New Roman"/>
              </a:rPr>
              <a:t> </a:t>
            </a:r>
            <a:r>
              <a:rPr sz="2400" dirty="0">
                <a:latin typeface="Times New Roman"/>
                <a:cs typeface="Times New Roman"/>
              </a:rPr>
              <a:t>Dr.</a:t>
            </a:r>
            <a:r>
              <a:rPr sz="2400" spc="-35" dirty="0">
                <a:latin typeface="Times New Roman"/>
                <a:cs typeface="Times New Roman"/>
              </a:rPr>
              <a:t> </a:t>
            </a:r>
            <a:r>
              <a:rPr sz="2400" dirty="0">
                <a:latin typeface="Times New Roman"/>
                <a:cs typeface="Times New Roman"/>
              </a:rPr>
              <a:t>Sufian</a:t>
            </a:r>
            <a:r>
              <a:rPr sz="2400" spc="-95" dirty="0">
                <a:latin typeface="Times New Roman"/>
                <a:cs typeface="Times New Roman"/>
              </a:rPr>
              <a:t> </a:t>
            </a:r>
            <a:r>
              <a:rPr sz="2400" spc="-10" dirty="0">
                <a:latin typeface="Times New Roman"/>
                <a:cs typeface="Times New Roman"/>
              </a:rPr>
              <a:t>Hameed </a:t>
            </a:r>
            <a:r>
              <a:rPr sz="2400" dirty="0">
                <a:latin typeface="Times New Roman"/>
                <a:cs typeface="Times New Roman"/>
              </a:rPr>
              <a:t>Department</a:t>
            </a:r>
            <a:r>
              <a:rPr sz="2400" spc="-20" dirty="0">
                <a:latin typeface="Times New Roman"/>
                <a:cs typeface="Times New Roman"/>
              </a:rPr>
              <a:t> </a:t>
            </a:r>
            <a:r>
              <a:rPr sz="2400" dirty="0">
                <a:latin typeface="Times New Roman"/>
                <a:cs typeface="Times New Roman"/>
              </a:rPr>
              <a:t>of</a:t>
            </a:r>
            <a:r>
              <a:rPr sz="2400" spc="10" dirty="0">
                <a:latin typeface="Times New Roman"/>
                <a:cs typeface="Times New Roman"/>
              </a:rPr>
              <a:t> </a:t>
            </a:r>
            <a:r>
              <a:rPr sz="2400" dirty="0">
                <a:latin typeface="Times New Roman"/>
                <a:cs typeface="Times New Roman"/>
              </a:rPr>
              <a:t>Computer</a:t>
            </a:r>
            <a:r>
              <a:rPr sz="2400" spc="-60" dirty="0">
                <a:latin typeface="Times New Roman"/>
                <a:cs typeface="Times New Roman"/>
              </a:rPr>
              <a:t> </a:t>
            </a:r>
            <a:r>
              <a:rPr sz="2400" spc="-10" dirty="0">
                <a:latin typeface="Times New Roman"/>
                <a:cs typeface="Times New Roman"/>
              </a:rPr>
              <a:t>Science </a:t>
            </a:r>
            <a:r>
              <a:rPr sz="2400" spc="-100" dirty="0">
                <a:latin typeface="Times New Roman"/>
                <a:cs typeface="Times New Roman"/>
              </a:rPr>
              <a:t>FAST-</a:t>
            </a:r>
            <a:r>
              <a:rPr sz="2400" spc="-20" dirty="0">
                <a:latin typeface="Times New Roman"/>
                <a:cs typeface="Times New Roman"/>
              </a:rPr>
              <a:t>NUCES</a:t>
            </a:r>
            <a:endParaRPr sz="2400">
              <a:latin typeface="Times New Roman"/>
              <a:cs typeface="Times New Roman"/>
            </a:endParaRPr>
          </a:p>
        </p:txBody>
      </p:sp>
      <p:sp>
        <p:nvSpPr>
          <p:cNvPr id="8" name="object 8"/>
          <p:cNvSpPr txBox="1">
            <a:spLocks noGrp="1"/>
          </p:cNvSpPr>
          <p:nvPr>
            <p:ph type="title"/>
          </p:nvPr>
        </p:nvSpPr>
        <p:spPr>
          <a:xfrm>
            <a:off x="66675" y="1514475"/>
            <a:ext cx="9020175" cy="1466850"/>
          </a:xfrm>
          <a:prstGeom prst="rect">
            <a:avLst/>
          </a:prstGeom>
          <a:solidFill>
            <a:srgbClr val="D24717"/>
          </a:solidFill>
        </p:spPr>
        <p:txBody>
          <a:bodyPr vert="horz" wrap="square" lIns="0" tIns="490220" rIns="0" bIns="0" rtlCol="0">
            <a:spAutoFit/>
          </a:bodyPr>
          <a:lstStyle/>
          <a:p>
            <a:pPr algn="ctr">
              <a:lnSpc>
                <a:spcPct val="100000"/>
              </a:lnSpc>
              <a:spcBef>
                <a:spcPts val="3860"/>
              </a:spcBef>
            </a:pPr>
            <a:r>
              <a:rPr sz="3950" dirty="0">
                <a:solidFill>
                  <a:srgbClr val="FFFFFF"/>
                </a:solidFill>
              </a:rPr>
              <a:t>CS-3002:</a:t>
            </a:r>
            <a:r>
              <a:rPr sz="3950" spc="65" dirty="0">
                <a:solidFill>
                  <a:srgbClr val="FFFFFF"/>
                </a:solidFill>
              </a:rPr>
              <a:t> </a:t>
            </a:r>
            <a:r>
              <a:rPr sz="3950" dirty="0">
                <a:solidFill>
                  <a:srgbClr val="FFFFFF"/>
                </a:solidFill>
              </a:rPr>
              <a:t>Information</a:t>
            </a:r>
            <a:r>
              <a:rPr sz="3950" spc="85" dirty="0">
                <a:solidFill>
                  <a:srgbClr val="FFFFFF"/>
                </a:solidFill>
              </a:rPr>
              <a:t> </a:t>
            </a:r>
            <a:r>
              <a:rPr sz="3950" spc="-10" dirty="0">
                <a:solidFill>
                  <a:srgbClr val="FFFFFF"/>
                </a:solidFill>
              </a:rPr>
              <a:t>Security</a:t>
            </a:r>
            <a:endParaRPr sz="3950"/>
          </a:p>
        </p:txBody>
      </p:sp>
      <p:grpSp>
        <p:nvGrpSpPr>
          <p:cNvPr id="9" name="object 9"/>
          <p:cNvGrpSpPr/>
          <p:nvPr/>
        </p:nvGrpSpPr>
        <p:grpSpPr>
          <a:xfrm>
            <a:off x="304800" y="152400"/>
            <a:ext cx="1162050" cy="6477000"/>
            <a:chOff x="304800" y="152400"/>
            <a:chExt cx="1162050" cy="6477000"/>
          </a:xfrm>
        </p:grpSpPr>
        <p:pic>
          <p:nvPicPr>
            <p:cNvPr id="10" name="object 10"/>
            <p:cNvPicPr/>
            <p:nvPr/>
          </p:nvPicPr>
          <p:blipFill>
            <a:blip r:embed="rId3" cstate="print"/>
            <a:stretch>
              <a:fillRect/>
            </a:stretch>
          </p:blipFill>
          <p:spPr>
            <a:xfrm>
              <a:off x="304800" y="152400"/>
              <a:ext cx="1162050" cy="1219200"/>
            </a:xfrm>
            <a:prstGeom prst="rect">
              <a:avLst/>
            </a:prstGeom>
          </p:spPr>
        </p:pic>
        <p:pic>
          <p:nvPicPr>
            <p:cNvPr id="11" name="object 11"/>
            <p:cNvPicPr/>
            <p:nvPr/>
          </p:nvPicPr>
          <p:blipFill>
            <a:blip r:embed="rId4" cstate="print"/>
            <a:stretch>
              <a:fillRect/>
            </a:stretch>
          </p:blipFill>
          <p:spPr>
            <a:xfrm>
              <a:off x="457200" y="6248400"/>
              <a:ext cx="476250" cy="381000"/>
            </a:xfrm>
            <a:prstGeom prst="rect">
              <a:avLst/>
            </a:prstGeom>
          </p:spPr>
        </p:pic>
      </p:grpSp>
      <p:sp>
        <p:nvSpPr>
          <p:cNvPr id="12" name="object 12"/>
          <p:cNvSpPr txBox="1">
            <a:spLocks noGrp="1"/>
          </p:cNvSpPr>
          <p:nvPr>
            <p:ph type="ftr" sz="quarter" idx="5"/>
          </p:nvPr>
        </p:nvSpPr>
        <p:spPr>
          <a:prstGeom prst="rect">
            <a:avLst/>
          </a:prstGeom>
        </p:spPr>
        <p:txBody>
          <a:bodyPr vert="horz" wrap="square" lIns="0" tIns="76200" rIns="0" bIns="0" rtlCol="0">
            <a:spAutoFit/>
          </a:bodyPr>
          <a:lstStyle/>
          <a:p>
            <a:pPr marL="165100">
              <a:lnSpc>
                <a:spcPts val="1550"/>
              </a:lnSpc>
            </a:pPr>
            <a:r>
              <a:rPr spc="-180" dirty="0"/>
              <a:t>FAST-</a:t>
            </a:r>
            <a:r>
              <a:rPr spc="-100" dirty="0"/>
              <a:t>NUCES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12089" rIns="0" bIns="0" rtlCol="0">
            <a:spAutoFit/>
          </a:bodyPr>
          <a:lstStyle/>
          <a:p>
            <a:pPr marL="241300">
              <a:lnSpc>
                <a:spcPct val="100000"/>
              </a:lnSpc>
              <a:spcBef>
                <a:spcPts val="105"/>
              </a:spcBef>
            </a:pPr>
            <a:r>
              <a:rPr dirty="0"/>
              <a:t>This</a:t>
            </a:r>
            <a:r>
              <a:rPr spc="-55" dirty="0"/>
              <a:t> </a:t>
            </a:r>
            <a:r>
              <a:rPr spc="-10" dirty="0"/>
              <a:t>Lecture</a:t>
            </a:r>
          </a:p>
        </p:txBody>
      </p:sp>
      <p:sp>
        <p:nvSpPr>
          <p:cNvPr id="3" name="object 3"/>
          <p:cNvSpPr txBox="1"/>
          <p:nvPr/>
        </p:nvSpPr>
        <p:spPr>
          <a:xfrm>
            <a:off x="994092" y="1387538"/>
            <a:ext cx="4585970" cy="2868295"/>
          </a:xfrm>
          <a:prstGeom prst="rect">
            <a:avLst/>
          </a:prstGeom>
        </p:spPr>
        <p:txBody>
          <a:bodyPr vert="horz" wrap="square" lIns="0" tIns="92710" rIns="0" bIns="0" rtlCol="0">
            <a:spAutoFit/>
          </a:bodyPr>
          <a:lstStyle/>
          <a:p>
            <a:pPr marL="286385" indent="-273685">
              <a:lnSpc>
                <a:spcPct val="100000"/>
              </a:lnSpc>
              <a:spcBef>
                <a:spcPts val="730"/>
              </a:spcBef>
              <a:buClr>
                <a:srgbClr val="D24717"/>
              </a:buClr>
              <a:buSzPct val="82692"/>
              <a:buFont typeface="Segoe UI Symbol"/>
              <a:buChar char="⚫"/>
              <a:tabLst>
                <a:tab pos="286385" algn="l"/>
              </a:tabLst>
            </a:pPr>
            <a:r>
              <a:rPr sz="2600" dirty="0">
                <a:latin typeface="Times New Roman"/>
                <a:cs typeface="Times New Roman"/>
              </a:rPr>
              <a:t>Basic</a:t>
            </a:r>
            <a:r>
              <a:rPr sz="2600" spc="-55" dirty="0">
                <a:latin typeface="Times New Roman"/>
                <a:cs typeface="Times New Roman"/>
              </a:rPr>
              <a:t> </a:t>
            </a:r>
            <a:r>
              <a:rPr sz="2600" dirty="0">
                <a:latin typeface="Times New Roman"/>
                <a:cs typeface="Times New Roman"/>
              </a:rPr>
              <a:t>Control</a:t>
            </a:r>
            <a:r>
              <a:rPr sz="2600" spc="-50" dirty="0">
                <a:latin typeface="Times New Roman"/>
                <a:cs typeface="Times New Roman"/>
              </a:rPr>
              <a:t> </a:t>
            </a:r>
            <a:r>
              <a:rPr sz="2600" dirty="0">
                <a:latin typeface="Times New Roman"/>
                <a:cs typeface="Times New Roman"/>
              </a:rPr>
              <a:t>Hijacking</a:t>
            </a:r>
            <a:r>
              <a:rPr sz="2600" spc="-165" dirty="0">
                <a:latin typeface="Times New Roman"/>
                <a:cs typeface="Times New Roman"/>
              </a:rPr>
              <a:t> </a:t>
            </a:r>
            <a:r>
              <a:rPr sz="2600" spc="-10" dirty="0">
                <a:latin typeface="Times New Roman"/>
                <a:cs typeface="Times New Roman"/>
              </a:rPr>
              <a:t>Attacks</a:t>
            </a:r>
            <a:endParaRPr sz="2600" dirty="0">
              <a:latin typeface="Times New Roman"/>
              <a:cs typeface="Times New Roman"/>
            </a:endParaRPr>
          </a:p>
          <a:p>
            <a:pPr marL="286385" indent="-273685">
              <a:lnSpc>
                <a:spcPct val="100000"/>
              </a:lnSpc>
              <a:spcBef>
                <a:spcPts val="635"/>
              </a:spcBef>
              <a:buClr>
                <a:srgbClr val="D24717"/>
              </a:buClr>
              <a:buSzPct val="82692"/>
              <a:buFont typeface="Segoe UI Symbol"/>
              <a:buChar char="⚫"/>
              <a:tabLst>
                <a:tab pos="286385" algn="l"/>
              </a:tabLst>
            </a:pPr>
            <a:r>
              <a:rPr sz="2600" dirty="0">
                <a:latin typeface="Times New Roman"/>
                <a:cs typeface="Times New Roman"/>
              </a:rPr>
              <a:t>More</a:t>
            </a:r>
            <a:r>
              <a:rPr sz="2600" spc="-30" dirty="0">
                <a:latin typeface="Times New Roman"/>
                <a:cs typeface="Times New Roman"/>
              </a:rPr>
              <a:t> </a:t>
            </a:r>
            <a:r>
              <a:rPr sz="2600" dirty="0">
                <a:latin typeface="Times New Roman"/>
                <a:cs typeface="Times New Roman"/>
              </a:rPr>
              <a:t>Control</a:t>
            </a:r>
            <a:r>
              <a:rPr sz="2600" spc="-40" dirty="0">
                <a:latin typeface="Times New Roman"/>
                <a:cs typeface="Times New Roman"/>
              </a:rPr>
              <a:t> </a:t>
            </a:r>
            <a:r>
              <a:rPr sz="2600" dirty="0">
                <a:latin typeface="Times New Roman"/>
                <a:cs typeface="Times New Roman"/>
              </a:rPr>
              <a:t>Hijacking</a:t>
            </a:r>
            <a:r>
              <a:rPr sz="2600" spc="-165" dirty="0">
                <a:latin typeface="Times New Roman"/>
                <a:cs typeface="Times New Roman"/>
              </a:rPr>
              <a:t> </a:t>
            </a:r>
            <a:r>
              <a:rPr sz="2600" spc="-10" dirty="0">
                <a:latin typeface="Times New Roman"/>
                <a:cs typeface="Times New Roman"/>
              </a:rPr>
              <a:t>Attacks</a:t>
            </a:r>
            <a:endParaRPr sz="2600" dirty="0">
              <a:latin typeface="Times New Roman"/>
              <a:cs typeface="Times New Roman"/>
            </a:endParaRPr>
          </a:p>
          <a:p>
            <a:pPr marL="286385" indent="-273685">
              <a:lnSpc>
                <a:spcPct val="100000"/>
              </a:lnSpc>
              <a:spcBef>
                <a:spcPts val="635"/>
              </a:spcBef>
              <a:buClr>
                <a:srgbClr val="D24717"/>
              </a:buClr>
              <a:buSzPct val="82692"/>
              <a:buFont typeface="Segoe UI Symbol"/>
              <a:buChar char="⚫"/>
              <a:tabLst>
                <a:tab pos="286385" algn="l"/>
              </a:tabLst>
            </a:pPr>
            <a:r>
              <a:rPr sz="2600" dirty="0">
                <a:latin typeface="Times New Roman"/>
                <a:cs typeface="Times New Roman"/>
              </a:rPr>
              <a:t>Format</a:t>
            </a:r>
            <a:r>
              <a:rPr sz="2600" spc="-70" dirty="0">
                <a:latin typeface="Times New Roman"/>
                <a:cs typeface="Times New Roman"/>
              </a:rPr>
              <a:t> </a:t>
            </a:r>
            <a:r>
              <a:rPr sz="2600" dirty="0">
                <a:latin typeface="Times New Roman"/>
                <a:cs typeface="Times New Roman"/>
              </a:rPr>
              <a:t>String</a:t>
            </a:r>
            <a:r>
              <a:rPr sz="2600" spc="-50" dirty="0">
                <a:latin typeface="Times New Roman"/>
                <a:cs typeface="Times New Roman"/>
              </a:rPr>
              <a:t> </a:t>
            </a:r>
            <a:r>
              <a:rPr sz="2600" spc="-20" dirty="0">
                <a:latin typeface="Times New Roman"/>
                <a:cs typeface="Times New Roman"/>
              </a:rPr>
              <a:t>Bugs</a:t>
            </a:r>
            <a:endParaRPr sz="2600" dirty="0">
              <a:latin typeface="Times New Roman"/>
              <a:cs typeface="Times New Roman"/>
            </a:endParaRPr>
          </a:p>
          <a:p>
            <a:pPr marL="286385" indent="-273685">
              <a:lnSpc>
                <a:spcPct val="100000"/>
              </a:lnSpc>
              <a:spcBef>
                <a:spcPts val="560"/>
              </a:spcBef>
              <a:buClr>
                <a:srgbClr val="D24717"/>
              </a:buClr>
              <a:buSzPct val="82692"/>
              <a:buFont typeface="Segoe UI Symbol"/>
              <a:buChar char="⚫"/>
              <a:tabLst>
                <a:tab pos="286385" algn="l"/>
              </a:tabLst>
            </a:pPr>
            <a:r>
              <a:rPr sz="2600" dirty="0">
                <a:latin typeface="Times New Roman"/>
                <a:cs typeface="Times New Roman"/>
              </a:rPr>
              <a:t>Platform</a:t>
            </a:r>
            <a:r>
              <a:rPr sz="2600" spc="-50" dirty="0">
                <a:latin typeface="Times New Roman"/>
                <a:cs typeface="Times New Roman"/>
              </a:rPr>
              <a:t> </a:t>
            </a:r>
            <a:r>
              <a:rPr sz="2600" spc="-10" dirty="0">
                <a:latin typeface="Times New Roman"/>
                <a:cs typeface="Times New Roman"/>
              </a:rPr>
              <a:t>Defenses</a:t>
            </a:r>
            <a:endParaRPr sz="2600" dirty="0">
              <a:latin typeface="Times New Roman"/>
              <a:cs typeface="Times New Roman"/>
            </a:endParaRPr>
          </a:p>
          <a:p>
            <a:pPr marL="286385" indent="-273685">
              <a:lnSpc>
                <a:spcPct val="100000"/>
              </a:lnSpc>
              <a:spcBef>
                <a:spcPts val="635"/>
              </a:spcBef>
              <a:buClr>
                <a:srgbClr val="D24717"/>
              </a:buClr>
              <a:buSzPct val="82692"/>
              <a:buFont typeface="Segoe UI Symbol"/>
              <a:buChar char="⚫"/>
              <a:tabLst>
                <a:tab pos="286385" algn="l"/>
              </a:tabLst>
            </a:pPr>
            <a:r>
              <a:rPr sz="2600" spc="-10" dirty="0">
                <a:latin typeface="Times New Roman"/>
                <a:cs typeface="Times New Roman"/>
              </a:rPr>
              <a:t>Run-</a:t>
            </a:r>
            <a:r>
              <a:rPr sz="2600" dirty="0">
                <a:latin typeface="Times New Roman"/>
                <a:cs typeface="Times New Roman"/>
              </a:rPr>
              <a:t>Time</a:t>
            </a:r>
            <a:r>
              <a:rPr sz="2600" spc="-70" dirty="0">
                <a:latin typeface="Times New Roman"/>
                <a:cs typeface="Times New Roman"/>
              </a:rPr>
              <a:t> </a:t>
            </a:r>
            <a:r>
              <a:rPr sz="2600" spc="-10" dirty="0">
                <a:latin typeface="Times New Roman"/>
                <a:cs typeface="Times New Roman"/>
              </a:rPr>
              <a:t>Defenses</a:t>
            </a:r>
            <a:endParaRPr sz="2600" dirty="0">
              <a:latin typeface="Times New Roman"/>
              <a:cs typeface="Times New Roman"/>
            </a:endParaRPr>
          </a:p>
          <a:p>
            <a:pPr marL="286385" indent="-273685">
              <a:lnSpc>
                <a:spcPct val="100000"/>
              </a:lnSpc>
              <a:spcBef>
                <a:spcPts val="560"/>
              </a:spcBef>
              <a:buClr>
                <a:srgbClr val="D24717"/>
              </a:buClr>
              <a:buSzPct val="82692"/>
              <a:buFont typeface="Segoe UI Symbol"/>
              <a:buChar char="⚫"/>
              <a:tabLst>
                <a:tab pos="286385" algn="l"/>
              </a:tabLst>
            </a:pPr>
            <a:r>
              <a:rPr sz="2600" dirty="0">
                <a:latin typeface="Times New Roman"/>
                <a:cs typeface="Times New Roman"/>
              </a:rPr>
              <a:t>Advance </a:t>
            </a:r>
            <a:r>
              <a:rPr sz="2600" spc="-10" dirty="0">
                <a:latin typeface="Times New Roman"/>
                <a:cs typeface="Times New Roman"/>
              </a:rPr>
              <a:t>Hijacking</a:t>
            </a:r>
            <a:r>
              <a:rPr sz="2600" spc="-150" dirty="0">
                <a:latin typeface="Times New Roman"/>
                <a:cs typeface="Times New Roman"/>
              </a:rPr>
              <a:t> </a:t>
            </a:r>
            <a:r>
              <a:rPr sz="2600" spc="-10" dirty="0">
                <a:latin typeface="Times New Roman"/>
                <a:cs typeface="Times New Roman"/>
              </a:rPr>
              <a:t>Attacks</a:t>
            </a:r>
            <a:endParaRPr sz="2600" dirty="0">
              <a:latin typeface="Times New Roman"/>
              <a:cs typeface="Times New Roman"/>
            </a:endParaRPr>
          </a:p>
        </p:txBody>
      </p:sp>
      <p:pic>
        <p:nvPicPr>
          <p:cNvPr id="4" name="object 4"/>
          <p:cNvPicPr/>
          <p:nvPr/>
        </p:nvPicPr>
        <p:blipFill>
          <a:blip r:embed="rId2" cstate="print"/>
          <a:stretch>
            <a:fillRect/>
          </a:stretch>
        </p:blipFill>
        <p:spPr>
          <a:xfrm>
            <a:off x="457200" y="6248400"/>
            <a:ext cx="476250" cy="381000"/>
          </a:xfrm>
          <a:prstGeom prst="rect">
            <a:avLst/>
          </a:prstGeom>
        </p:spPr>
      </p:pic>
      <p:sp>
        <p:nvSpPr>
          <p:cNvPr id="5" name="object 5"/>
          <p:cNvSpPr txBox="1">
            <a:spLocks noGrp="1"/>
          </p:cNvSpPr>
          <p:nvPr>
            <p:ph type="ftr" sz="quarter" idx="5"/>
          </p:nvPr>
        </p:nvSpPr>
        <p:spPr>
          <a:prstGeom prst="rect">
            <a:avLst/>
          </a:prstGeom>
        </p:spPr>
        <p:txBody>
          <a:bodyPr vert="horz" wrap="square" lIns="0" tIns="76200" rIns="0" bIns="0" rtlCol="0">
            <a:spAutoFit/>
          </a:bodyPr>
          <a:lstStyle/>
          <a:p>
            <a:pPr marL="165100">
              <a:lnSpc>
                <a:spcPts val="1550"/>
              </a:lnSpc>
            </a:pPr>
            <a:r>
              <a:rPr spc="-180" dirty="0"/>
              <a:t>FAST-</a:t>
            </a:r>
            <a:r>
              <a:rPr spc="-100" dirty="0"/>
              <a:t>NUCES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71701" y="3295015"/>
            <a:ext cx="5963285" cy="575310"/>
          </a:xfrm>
          <a:prstGeom prst="rect">
            <a:avLst/>
          </a:prstGeom>
        </p:spPr>
        <p:txBody>
          <a:bodyPr vert="horz" wrap="square" lIns="0" tIns="13335" rIns="0" bIns="0" rtlCol="0">
            <a:spAutoFit/>
          </a:bodyPr>
          <a:lstStyle/>
          <a:p>
            <a:pPr marL="12700">
              <a:lnSpc>
                <a:spcPct val="100000"/>
              </a:lnSpc>
              <a:spcBef>
                <a:spcPts val="105"/>
              </a:spcBef>
            </a:pPr>
            <a:r>
              <a:rPr u="sng" dirty="0">
                <a:solidFill>
                  <a:srgbClr val="D24717"/>
                </a:solidFill>
                <a:uFill>
                  <a:solidFill>
                    <a:srgbClr val="D24717"/>
                  </a:solidFill>
                </a:uFill>
              </a:rPr>
              <a:t>Basic</a:t>
            </a:r>
            <a:r>
              <a:rPr u="sng" spc="20" dirty="0">
                <a:solidFill>
                  <a:srgbClr val="D24717"/>
                </a:solidFill>
                <a:uFill>
                  <a:solidFill>
                    <a:srgbClr val="D24717"/>
                  </a:solidFill>
                </a:uFill>
              </a:rPr>
              <a:t> </a:t>
            </a:r>
            <a:r>
              <a:rPr u="sng" dirty="0">
                <a:solidFill>
                  <a:srgbClr val="D24717"/>
                </a:solidFill>
                <a:uFill>
                  <a:solidFill>
                    <a:srgbClr val="D24717"/>
                  </a:solidFill>
                </a:uFill>
              </a:rPr>
              <a:t>Control</a:t>
            </a:r>
            <a:r>
              <a:rPr u="sng" spc="-25" dirty="0">
                <a:solidFill>
                  <a:srgbClr val="D24717"/>
                </a:solidFill>
                <a:uFill>
                  <a:solidFill>
                    <a:srgbClr val="D24717"/>
                  </a:solidFill>
                </a:uFill>
              </a:rPr>
              <a:t> </a:t>
            </a:r>
            <a:r>
              <a:rPr u="sng" dirty="0">
                <a:solidFill>
                  <a:srgbClr val="D24717"/>
                </a:solidFill>
                <a:uFill>
                  <a:solidFill>
                    <a:srgbClr val="D24717"/>
                  </a:solidFill>
                </a:uFill>
              </a:rPr>
              <a:t>Hijacking</a:t>
            </a:r>
            <a:r>
              <a:rPr u="sng" spc="-229" dirty="0">
                <a:solidFill>
                  <a:srgbClr val="D24717"/>
                </a:solidFill>
                <a:uFill>
                  <a:solidFill>
                    <a:srgbClr val="D24717"/>
                  </a:solidFill>
                </a:uFill>
              </a:rPr>
              <a:t> </a:t>
            </a:r>
            <a:r>
              <a:rPr u="sng" spc="-10" dirty="0">
                <a:solidFill>
                  <a:srgbClr val="D24717"/>
                </a:solidFill>
                <a:uFill>
                  <a:solidFill>
                    <a:srgbClr val="D24717"/>
                  </a:solidFill>
                </a:uFill>
              </a:rPr>
              <a:t>Attacks</a:t>
            </a:r>
          </a:p>
        </p:txBody>
      </p:sp>
      <p:pic>
        <p:nvPicPr>
          <p:cNvPr id="3" name="object 3"/>
          <p:cNvPicPr/>
          <p:nvPr/>
        </p:nvPicPr>
        <p:blipFill>
          <a:blip r:embed="rId2" cstate="print"/>
          <a:stretch>
            <a:fillRect/>
          </a:stretch>
        </p:blipFill>
        <p:spPr>
          <a:xfrm>
            <a:off x="457200" y="6248400"/>
            <a:ext cx="476250" cy="381000"/>
          </a:xfrm>
          <a:prstGeom prst="rect">
            <a:avLst/>
          </a:prstGeom>
        </p:spPr>
      </p:pic>
      <p:sp>
        <p:nvSpPr>
          <p:cNvPr id="4" name="object 4"/>
          <p:cNvSpPr txBox="1">
            <a:spLocks noGrp="1"/>
          </p:cNvSpPr>
          <p:nvPr>
            <p:ph type="ftr" sz="quarter" idx="5"/>
          </p:nvPr>
        </p:nvSpPr>
        <p:spPr>
          <a:prstGeom prst="rect">
            <a:avLst/>
          </a:prstGeom>
        </p:spPr>
        <p:txBody>
          <a:bodyPr vert="horz" wrap="square" lIns="0" tIns="76200" rIns="0" bIns="0" rtlCol="0">
            <a:spAutoFit/>
          </a:bodyPr>
          <a:lstStyle/>
          <a:p>
            <a:pPr marL="165100">
              <a:lnSpc>
                <a:spcPts val="1550"/>
              </a:lnSpc>
            </a:pPr>
            <a:r>
              <a:rPr spc="-180" dirty="0"/>
              <a:t>FAST-</a:t>
            </a:r>
            <a:r>
              <a:rPr spc="-100" dirty="0"/>
              <a:t>NUCES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9689" rIns="0" bIns="0" rtlCol="0">
            <a:spAutoFit/>
          </a:bodyPr>
          <a:lstStyle/>
          <a:p>
            <a:pPr marL="165100">
              <a:lnSpc>
                <a:spcPct val="100000"/>
              </a:lnSpc>
              <a:spcBef>
                <a:spcPts val="105"/>
              </a:spcBef>
            </a:pPr>
            <a:r>
              <a:rPr dirty="0"/>
              <a:t>Control</a:t>
            </a:r>
            <a:r>
              <a:rPr spc="-5" dirty="0"/>
              <a:t> </a:t>
            </a:r>
            <a:r>
              <a:rPr dirty="0"/>
              <a:t>hijacking</a:t>
            </a:r>
            <a:r>
              <a:rPr spc="-35" dirty="0"/>
              <a:t> </a:t>
            </a:r>
            <a:r>
              <a:rPr spc="-10" dirty="0"/>
              <a:t>attacks</a:t>
            </a:r>
          </a:p>
        </p:txBody>
      </p:sp>
      <p:sp>
        <p:nvSpPr>
          <p:cNvPr id="3" name="object 3"/>
          <p:cNvSpPr txBox="1"/>
          <p:nvPr/>
        </p:nvSpPr>
        <p:spPr>
          <a:xfrm>
            <a:off x="536575" y="962088"/>
            <a:ext cx="7866380" cy="3201517"/>
          </a:xfrm>
          <a:prstGeom prst="rect">
            <a:avLst/>
          </a:prstGeom>
        </p:spPr>
        <p:txBody>
          <a:bodyPr vert="horz" wrap="square" lIns="0" tIns="66675" rIns="0" bIns="0" rtlCol="0">
            <a:spAutoFit/>
          </a:bodyPr>
          <a:lstStyle/>
          <a:p>
            <a:pPr marL="346075" indent="-333375">
              <a:lnSpc>
                <a:spcPct val="100000"/>
              </a:lnSpc>
              <a:spcBef>
                <a:spcPts val="525"/>
              </a:spcBef>
              <a:buClr>
                <a:srgbClr val="D24717"/>
              </a:buClr>
              <a:buSzPct val="83333"/>
              <a:buFont typeface="Segoe UI Symbol"/>
              <a:buChar char="⚫"/>
              <a:tabLst>
                <a:tab pos="346075" algn="l"/>
              </a:tabLst>
            </a:pPr>
            <a:r>
              <a:rPr sz="2400" u="heavy" dirty="0">
                <a:uFill>
                  <a:solidFill>
                    <a:srgbClr val="000000"/>
                  </a:solidFill>
                </a:uFill>
                <a:latin typeface="Times New Roman"/>
                <a:cs typeface="Times New Roman"/>
              </a:rPr>
              <a:t>Attacker’s</a:t>
            </a:r>
            <a:r>
              <a:rPr sz="2400" u="heavy" spc="-55" dirty="0">
                <a:uFill>
                  <a:solidFill>
                    <a:srgbClr val="000000"/>
                  </a:solidFill>
                </a:uFill>
                <a:latin typeface="Times New Roman"/>
                <a:cs typeface="Times New Roman"/>
              </a:rPr>
              <a:t> </a:t>
            </a:r>
            <a:r>
              <a:rPr sz="2400" u="heavy" spc="-20" dirty="0">
                <a:uFill>
                  <a:solidFill>
                    <a:srgbClr val="000000"/>
                  </a:solidFill>
                </a:uFill>
                <a:latin typeface="Times New Roman"/>
                <a:cs typeface="Times New Roman"/>
              </a:rPr>
              <a:t>goal</a:t>
            </a:r>
            <a:r>
              <a:rPr sz="2400" spc="-20" dirty="0">
                <a:latin typeface="Times New Roman"/>
                <a:cs typeface="Times New Roman"/>
              </a:rPr>
              <a:t>:</a:t>
            </a:r>
            <a:endParaRPr sz="2400" dirty="0">
              <a:latin typeface="Times New Roman"/>
              <a:cs typeface="Times New Roman"/>
            </a:endParaRPr>
          </a:p>
          <a:p>
            <a:pPr marL="332740" lvl="1">
              <a:lnSpc>
                <a:spcPct val="100000"/>
              </a:lnSpc>
              <a:spcBef>
                <a:spcPts val="425"/>
              </a:spcBef>
              <a:buClr>
                <a:srgbClr val="9B2C1F"/>
              </a:buClr>
              <a:buSzPct val="83333"/>
              <a:tabLst>
                <a:tab pos="561340" algn="l"/>
                <a:tab pos="4409440" algn="l"/>
              </a:tabLst>
            </a:pPr>
            <a:r>
              <a:rPr sz="2400" spc="-10" dirty="0">
                <a:latin typeface="Times New Roman"/>
                <a:cs typeface="Times New Roman"/>
              </a:rPr>
              <a:t>Take </a:t>
            </a:r>
            <a:r>
              <a:rPr sz="2400" dirty="0">
                <a:latin typeface="Times New Roman"/>
                <a:cs typeface="Times New Roman"/>
              </a:rPr>
              <a:t>over</a:t>
            </a:r>
            <a:r>
              <a:rPr sz="2400" spc="-105" dirty="0">
                <a:latin typeface="Times New Roman"/>
                <a:cs typeface="Times New Roman"/>
              </a:rPr>
              <a:t> </a:t>
            </a:r>
            <a:r>
              <a:rPr sz="2400" dirty="0">
                <a:latin typeface="Times New Roman"/>
                <a:cs typeface="Times New Roman"/>
              </a:rPr>
              <a:t>target</a:t>
            </a:r>
            <a:r>
              <a:rPr sz="2400" spc="-60" dirty="0">
                <a:latin typeface="Times New Roman"/>
                <a:cs typeface="Times New Roman"/>
              </a:rPr>
              <a:t> </a:t>
            </a:r>
            <a:r>
              <a:rPr sz="2400" dirty="0">
                <a:latin typeface="Times New Roman"/>
                <a:cs typeface="Times New Roman"/>
              </a:rPr>
              <a:t>machine</a:t>
            </a:r>
            <a:r>
              <a:rPr sz="2400" spc="-70" dirty="0">
                <a:latin typeface="Times New Roman"/>
                <a:cs typeface="Times New Roman"/>
              </a:rPr>
              <a:t> </a:t>
            </a:r>
            <a:r>
              <a:rPr sz="2400" spc="-10" dirty="0">
                <a:latin typeface="Times New Roman"/>
                <a:cs typeface="Times New Roman"/>
              </a:rPr>
              <a:t>(e.g.</a:t>
            </a:r>
            <a:r>
              <a:rPr sz="2400" dirty="0">
                <a:latin typeface="Times New Roman"/>
                <a:cs typeface="Times New Roman"/>
              </a:rPr>
              <a:t>	web</a:t>
            </a:r>
            <a:r>
              <a:rPr sz="2400" spc="-70" dirty="0">
                <a:latin typeface="Times New Roman"/>
                <a:cs typeface="Times New Roman"/>
              </a:rPr>
              <a:t> </a:t>
            </a:r>
            <a:r>
              <a:rPr sz="2400" dirty="0">
                <a:latin typeface="Times New Roman"/>
                <a:cs typeface="Times New Roman"/>
              </a:rPr>
              <a:t>server,</a:t>
            </a:r>
            <a:r>
              <a:rPr sz="2400" spc="-70" dirty="0">
                <a:latin typeface="Times New Roman"/>
                <a:cs typeface="Times New Roman"/>
              </a:rPr>
              <a:t> </a:t>
            </a:r>
            <a:r>
              <a:rPr sz="2400" dirty="0">
                <a:latin typeface="Times New Roman"/>
                <a:cs typeface="Times New Roman"/>
              </a:rPr>
              <a:t>email</a:t>
            </a:r>
            <a:r>
              <a:rPr sz="2400" spc="-60" dirty="0">
                <a:latin typeface="Times New Roman"/>
                <a:cs typeface="Times New Roman"/>
              </a:rPr>
              <a:t> </a:t>
            </a:r>
            <a:r>
              <a:rPr sz="2400" dirty="0">
                <a:latin typeface="Times New Roman"/>
                <a:cs typeface="Times New Roman"/>
              </a:rPr>
              <a:t>server</a:t>
            </a:r>
            <a:r>
              <a:rPr sz="2400" spc="-55" dirty="0">
                <a:latin typeface="Times New Roman"/>
                <a:cs typeface="Times New Roman"/>
              </a:rPr>
              <a:t> </a:t>
            </a:r>
            <a:r>
              <a:rPr sz="2400" spc="-25" dirty="0">
                <a:latin typeface="Times New Roman"/>
                <a:cs typeface="Times New Roman"/>
              </a:rPr>
              <a:t>…)</a:t>
            </a:r>
            <a:endParaRPr sz="2400" dirty="0">
              <a:latin typeface="Times New Roman"/>
              <a:cs typeface="Times New Roman"/>
            </a:endParaRPr>
          </a:p>
          <a:p>
            <a:pPr marL="835660" lvl="2" indent="-228600">
              <a:lnSpc>
                <a:spcPct val="100000"/>
              </a:lnSpc>
              <a:spcBef>
                <a:spcPts val="445"/>
              </a:spcBef>
              <a:buClr>
                <a:srgbClr val="E6B0AB"/>
              </a:buClr>
              <a:buSzPct val="86046"/>
              <a:buFont typeface="Segoe UI Symbol"/>
              <a:buChar char="⚫"/>
              <a:tabLst>
                <a:tab pos="835660" algn="l"/>
              </a:tabLst>
            </a:pPr>
            <a:r>
              <a:rPr sz="2150" dirty="0">
                <a:latin typeface="Times New Roman"/>
                <a:cs typeface="Times New Roman"/>
              </a:rPr>
              <a:t>Execute</a:t>
            </a:r>
            <a:r>
              <a:rPr sz="2150" spc="75" dirty="0">
                <a:latin typeface="Times New Roman"/>
                <a:cs typeface="Times New Roman"/>
              </a:rPr>
              <a:t> </a:t>
            </a:r>
            <a:r>
              <a:rPr sz="2150" dirty="0">
                <a:latin typeface="Times New Roman"/>
                <a:cs typeface="Times New Roman"/>
              </a:rPr>
              <a:t>arbitrary</a:t>
            </a:r>
            <a:r>
              <a:rPr sz="2150" spc="105" dirty="0">
                <a:latin typeface="Times New Roman"/>
                <a:cs typeface="Times New Roman"/>
              </a:rPr>
              <a:t> </a:t>
            </a:r>
            <a:r>
              <a:rPr sz="2150" dirty="0">
                <a:latin typeface="Times New Roman"/>
                <a:cs typeface="Times New Roman"/>
              </a:rPr>
              <a:t>code</a:t>
            </a:r>
            <a:r>
              <a:rPr sz="2150" spc="70" dirty="0">
                <a:latin typeface="Times New Roman"/>
                <a:cs typeface="Times New Roman"/>
              </a:rPr>
              <a:t> </a:t>
            </a:r>
            <a:r>
              <a:rPr sz="2150" dirty="0">
                <a:latin typeface="Times New Roman"/>
                <a:cs typeface="Times New Roman"/>
              </a:rPr>
              <a:t>on</a:t>
            </a:r>
            <a:r>
              <a:rPr sz="2150" spc="105" dirty="0">
                <a:latin typeface="Times New Roman"/>
                <a:cs typeface="Times New Roman"/>
              </a:rPr>
              <a:t> </a:t>
            </a:r>
            <a:r>
              <a:rPr sz="2150" dirty="0">
                <a:latin typeface="Times New Roman"/>
                <a:cs typeface="Times New Roman"/>
              </a:rPr>
              <a:t>target</a:t>
            </a:r>
            <a:r>
              <a:rPr sz="2150" spc="65" dirty="0">
                <a:latin typeface="Times New Roman"/>
                <a:cs typeface="Times New Roman"/>
              </a:rPr>
              <a:t> </a:t>
            </a:r>
            <a:r>
              <a:rPr sz="2150" dirty="0">
                <a:latin typeface="Times New Roman"/>
                <a:cs typeface="Times New Roman"/>
              </a:rPr>
              <a:t>by</a:t>
            </a:r>
            <a:r>
              <a:rPr sz="2150" spc="100" dirty="0">
                <a:latin typeface="Times New Roman"/>
                <a:cs typeface="Times New Roman"/>
              </a:rPr>
              <a:t> </a:t>
            </a:r>
            <a:r>
              <a:rPr sz="2150" dirty="0">
                <a:latin typeface="Times New Roman"/>
                <a:cs typeface="Times New Roman"/>
              </a:rPr>
              <a:t>hijacking</a:t>
            </a:r>
            <a:r>
              <a:rPr sz="2150" spc="105" dirty="0">
                <a:latin typeface="Times New Roman"/>
                <a:cs typeface="Times New Roman"/>
              </a:rPr>
              <a:t> </a:t>
            </a:r>
            <a:r>
              <a:rPr sz="2150" spc="-10" dirty="0">
                <a:latin typeface="Times New Roman"/>
                <a:cs typeface="Times New Roman"/>
              </a:rPr>
              <a:t>application</a:t>
            </a:r>
            <a:endParaRPr sz="2150" dirty="0">
              <a:latin typeface="Times New Roman"/>
              <a:cs typeface="Times New Roman"/>
            </a:endParaRPr>
          </a:p>
          <a:p>
            <a:pPr marL="836294">
              <a:lnSpc>
                <a:spcPct val="100000"/>
              </a:lnSpc>
              <a:spcBef>
                <a:spcPts val="50"/>
              </a:spcBef>
            </a:pPr>
            <a:r>
              <a:rPr sz="2150" dirty="0">
                <a:latin typeface="Times New Roman"/>
                <a:cs typeface="Times New Roman"/>
              </a:rPr>
              <a:t>control</a:t>
            </a:r>
            <a:r>
              <a:rPr sz="2150" spc="150" dirty="0">
                <a:latin typeface="Times New Roman"/>
                <a:cs typeface="Times New Roman"/>
              </a:rPr>
              <a:t> </a:t>
            </a:r>
            <a:r>
              <a:rPr sz="2150" spc="-20" dirty="0">
                <a:latin typeface="Times New Roman"/>
                <a:cs typeface="Times New Roman"/>
              </a:rPr>
              <a:t>flow</a:t>
            </a:r>
            <a:endParaRPr sz="2150" dirty="0">
              <a:latin typeface="Times New Roman"/>
              <a:cs typeface="Times New Roman"/>
            </a:endParaRPr>
          </a:p>
          <a:p>
            <a:pPr marL="287020" indent="-274320">
              <a:lnSpc>
                <a:spcPct val="100000"/>
              </a:lnSpc>
              <a:buClr>
                <a:srgbClr val="D24717"/>
              </a:buClr>
              <a:buSzPct val="83333"/>
              <a:buFont typeface="Segoe UI Symbol"/>
              <a:buChar char="⚫"/>
              <a:tabLst>
                <a:tab pos="287020" algn="l"/>
              </a:tabLst>
            </a:pPr>
            <a:r>
              <a:rPr sz="2400" spc="-10" dirty="0">
                <a:latin typeface="Times New Roman"/>
                <a:cs typeface="Times New Roman"/>
              </a:rPr>
              <a:t>Examples.</a:t>
            </a:r>
            <a:endParaRPr sz="2400" dirty="0">
              <a:latin typeface="Times New Roman"/>
              <a:cs typeface="Times New Roman"/>
            </a:endParaRPr>
          </a:p>
          <a:p>
            <a:pPr marL="561340" lvl="1" indent="-228600">
              <a:lnSpc>
                <a:spcPct val="100000"/>
              </a:lnSpc>
              <a:spcBef>
                <a:spcPts val="345"/>
              </a:spcBef>
              <a:buClr>
                <a:srgbClr val="9B2C1F"/>
              </a:buClr>
              <a:buSzPct val="83333"/>
              <a:buFont typeface="Segoe UI Symbol"/>
              <a:buChar char="⚫"/>
              <a:tabLst>
                <a:tab pos="561340" algn="l"/>
              </a:tabLst>
            </a:pPr>
            <a:r>
              <a:rPr sz="2400" dirty="0">
                <a:latin typeface="Times New Roman"/>
                <a:cs typeface="Times New Roman"/>
              </a:rPr>
              <a:t>Buffer</a:t>
            </a:r>
            <a:r>
              <a:rPr sz="2400" spc="-60" dirty="0">
                <a:latin typeface="Times New Roman"/>
                <a:cs typeface="Times New Roman"/>
              </a:rPr>
              <a:t> </a:t>
            </a:r>
            <a:r>
              <a:rPr sz="2400" dirty="0">
                <a:latin typeface="Times New Roman"/>
                <a:cs typeface="Times New Roman"/>
              </a:rPr>
              <a:t>overflow</a:t>
            </a:r>
            <a:r>
              <a:rPr sz="2400" spc="-85" dirty="0">
                <a:latin typeface="Times New Roman"/>
                <a:cs typeface="Times New Roman"/>
              </a:rPr>
              <a:t> </a:t>
            </a:r>
            <a:r>
              <a:rPr sz="2400" spc="-10" dirty="0">
                <a:latin typeface="Times New Roman"/>
                <a:cs typeface="Times New Roman"/>
              </a:rPr>
              <a:t>attacks</a:t>
            </a:r>
            <a:endParaRPr sz="2400" dirty="0">
              <a:latin typeface="Times New Roman"/>
              <a:cs typeface="Times New Roman"/>
            </a:endParaRPr>
          </a:p>
          <a:p>
            <a:pPr marL="561340" lvl="1" indent="-228600">
              <a:lnSpc>
                <a:spcPct val="100000"/>
              </a:lnSpc>
              <a:spcBef>
                <a:spcPts val="425"/>
              </a:spcBef>
              <a:buClr>
                <a:srgbClr val="9B2C1F"/>
              </a:buClr>
              <a:buSzPct val="83333"/>
              <a:buFont typeface="Segoe UI Symbol"/>
              <a:buChar char="⚫"/>
              <a:tabLst>
                <a:tab pos="561340" algn="l"/>
              </a:tabLst>
            </a:pPr>
            <a:r>
              <a:rPr sz="2400" dirty="0">
                <a:latin typeface="Times New Roman"/>
                <a:cs typeface="Times New Roman"/>
              </a:rPr>
              <a:t>Integer</a:t>
            </a:r>
            <a:r>
              <a:rPr sz="2400" spc="-25" dirty="0">
                <a:latin typeface="Times New Roman"/>
                <a:cs typeface="Times New Roman"/>
              </a:rPr>
              <a:t> </a:t>
            </a:r>
            <a:r>
              <a:rPr sz="2400" dirty="0">
                <a:latin typeface="Times New Roman"/>
                <a:cs typeface="Times New Roman"/>
              </a:rPr>
              <a:t>overflow</a:t>
            </a:r>
            <a:r>
              <a:rPr sz="2400" spc="-35" dirty="0">
                <a:latin typeface="Times New Roman"/>
                <a:cs typeface="Times New Roman"/>
              </a:rPr>
              <a:t> </a:t>
            </a:r>
            <a:r>
              <a:rPr sz="2400" spc="-10" dirty="0">
                <a:latin typeface="Times New Roman"/>
                <a:cs typeface="Times New Roman"/>
              </a:rPr>
              <a:t>attacks</a:t>
            </a:r>
            <a:endParaRPr sz="2400" dirty="0">
              <a:latin typeface="Times New Roman"/>
              <a:cs typeface="Times New Roman"/>
            </a:endParaRPr>
          </a:p>
          <a:p>
            <a:pPr marL="561340" lvl="1" indent="-228600">
              <a:lnSpc>
                <a:spcPct val="100000"/>
              </a:lnSpc>
              <a:spcBef>
                <a:spcPts val="425"/>
              </a:spcBef>
              <a:buClr>
                <a:srgbClr val="9B2C1F"/>
              </a:buClr>
              <a:buSzPct val="83333"/>
              <a:buFont typeface="Segoe UI Symbol"/>
              <a:buChar char="⚫"/>
              <a:tabLst>
                <a:tab pos="561340" algn="l"/>
              </a:tabLst>
            </a:pPr>
            <a:r>
              <a:rPr sz="2400" dirty="0">
                <a:latin typeface="Times New Roman"/>
                <a:cs typeface="Times New Roman"/>
              </a:rPr>
              <a:t>Format</a:t>
            </a:r>
            <a:r>
              <a:rPr sz="2400" spc="-80" dirty="0">
                <a:latin typeface="Times New Roman"/>
                <a:cs typeface="Times New Roman"/>
              </a:rPr>
              <a:t> </a:t>
            </a:r>
            <a:r>
              <a:rPr sz="2400" dirty="0">
                <a:latin typeface="Times New Roman"/>
                <a:cs typeface="Times New Roman"/>
              </a:rPr>
              <a:t>string</a:t>
            </a:r>
            <a:r>
              <a:rPr sz="2400" spc="-10" dirty="0">
                <a:latin typeface="Times New Roman"/>
                <a:cs typeface="Times New Roman"/>
              </a:rPr>
              <a:t> vulnerabilities</a:t>
            </a:r>
            <a:endParaRPr sz="2400" dirty="0">
              <a:latin typeface="Times New Roman"/>
              <a:cs typeface="Times New Roman"/>
            </a:endParaRPr>
          </a:p>
        </p:txBody>
      </p:sp>
      <p:pic>
        <p:nvPicPr>
          <p:cNvPr id="4" name="object 4"/>
          <p:cNvPicPr/>
          <p:nvPr/>
        </p:nvPicPr>
        <p:blipFill>
          <a:blip r:embed="rId3" cstate="print"/>
          <a:stretch>
            <a:fillRect/>
          </a:stretch>
        </p:blipFill>
        <p:spPr>
          <a:xfrm>
            <a:off x="457200" y="6248400"/>
            <a:ext cx="476250" cy="381000"/>
          </a:xfrm>
          <a:prstGeom prst="rect">
            <a:avLst/>
          </a:prstGeom>
        </p:spPr>
      </p:pic>
      <p:sp>
        <p:nvSpPr>
          <p:cNvPr id="5" name="object 5"/>
          <p:cNvSpPr txBox="1">
            <a:spLocks noGrp="1"/>
          </p:cNvSpPr>
          <p:nvPr>
            <p:ph type="ftr" sz="quarter" idx="5"/>
          </p:nvPr>
        </p:nvSpPr>
        <p:spPr>
          <a:prstGeom prst="rect">
            <a:avLst/>
          </a:prstGeom>
        </p:spPr>
        <p:txBody>
          <a:bodyPr vert="horz" wrap="square" lIns="0" tIns="76200" rIns="0" bIns="0" rtlCol="0">
            <a:spAutoFit/>
          </a:bodyPr>
          <a:lstStyle/>
          <a:p>
            <a:pPr marL="165100">
              <a:lnSpc>
                <a:spcPts val="1550"/>
              </a:lnSpc>
            </a:pPr>
            <a:r>
              <a:rPr spc="-180" dirty="0"/>
              <a:t>FAST-</a:t>
            </a:r>
            <a:r>
              <a:rPr spc="-100" dirty="0"/>
              <a:t>NUCES</a:t>
            </a:r>
          </a:p>
        </p:txBody>
      </p:sp>
      <p:sp>
        <p:nvSpPr>
          <p:cNvPr id="7" name="TextBox 6">
            <a:extLst>
              <a:ext uri="{FF2B5EF4-FFF2-40B4-BE49-F238E27FC236}">
                <a16:creationId xmlns:a16="http://schemas.microsoft.com/office/drawing/2014/main" id="{48C530E0-A85A-2427-E49B-614E3288A60F}"/>
              </a:ext>
            </a:extLst>
          </p:cNvPr>
          <p:cNvSpPr txBox="1"/>
          <p:nvPr/>
        </p:nvSpPr>
        <p:spPr>
          <a:xfrm>
            <a:off x="100267" y="4411080"/>
            <a:ext cx="9064943" cy="1569660"/>
          </a:xfrm>
          <a:prstGeom prst="rect">
            <a:avLst/>
          </a:prstGeom>
          <a:noFill/>
        </p:spPr>
        <p:txBody>
          <a:bodyPr wrap="square">
            <a:spAutoFit/>
          </a:bodyPr>
          <a:lstStyle/>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Normal programs follow a predefined control flow: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function calls → returns → branches. </a:t>
            </a:r>
          </a:p>
          <a:p>
            <a:pPr marL="285750" indent="-285750">
              <a:buFont typeface="Arial" panose="020B0604020202020204" pitchFamily="34" charset="0"/>
              <a:buChar char="•"/>
            </a:pPr>
            <a:r>
              <a:rPr lang="en-US" sz="2400" dirty="0">
                <a:highlight>
                  <a:srgbClr val="FFFF00"/>
                </a:highlight>
                <a:latin typeface="Times New Roman" panose="02020603050405020304" pitchFamily="18" charset="0"/>
                <a:cs typeface="Times New Roman" panose="02020603050405020304" pitchFamily="18" charset="0"/>
              </a:rPr>
              <a:t>In control hijacking, the attacker </a:t>
            </a:r>
            <a:r>
              <a:rPr lang="en-US" sz="2400" b="1" dirty="0">
                <a:highlight>
                  <a:srgbClr val="FFFF00"/>
                </a:highlight>
                <a:latin typeface="Times New Roman" panose="02020603050405020304" pitchFamily="18" charset="0"/>
                <a:cs typeface="Times New Roman" panose="02020603050405020304" pitchFamily="18" charset="0"/>
              </a:rPr>
              <a:t>changes the flow</a:t>
            </a:r>
            <a:r>
              <a:rPr lang="en-US" sz="2400" dirty="0">
                <a:highlight>
                  <a:srgbClr val="FFFF00"/>
                </a:highlight>
                <a:latin typeface="Times New Roman" panose="02020603050405020304" pitchFamily="18" charset="0"/>
                <a:cs typeface="Times New Roman" panose="02020603050405020304" pitchFamily="18" charset="0"/>
              </a:rPr>
              <a:t> to execute their malware instead.</a:t>
            </a:r>
            <a:endParaRPr lang="en-PK" sz="2400" dirty="0">
              <a:highlight>
                <a:srgbClr val="FFFF00"/>
              </a:highlight>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88670" rIns="0" bIns="0" rtlCol="0">
            <a:spAutoFit/>
          </a:bodyPr>
          <a:lstStyle/>
          <a:p>
            <a:pPr marL="88900">
              <a:lnSpc>
                <a:spcPct val="100000"/>
              </a:lnSpc>
              <a:spcBef>
                <a:spcPts val="105"/>
              </a:spcBef>
            </a:pPr>
            <a:r>
              <a:rPr dirty="0"/>
              <a:t>What</a:t>
            </a:r>
            <a:r>
              <a:rPr spc="-35" dirty="0"/>
              <a:t> </a:t>
            </a:r>
            <a:r>
              <a:rPr dirty="0"/>
              <a:t>is</a:t>
            </a:r>
            <a:r>
              <a:rPr spc="15" dirty="0"/>
              <a:t> </a:t>
            </a:r>
            <a:r>
              <a:rPr spc="-10" dirty="0"/>
              <a:t>needed</a:t>
            </a:r>
          </a:p>
        </p:txBody>
      </p:sp>
      <p:sp>
        <p:nvSpPr>
          <p:cNvPr id="3" name="object 3"/>
          <p:cNvSpPr txBox="1"/>
          <p:nvPr/>
        </p:nvSpPr>
        <p:spPr>
          <a:xfrm>
            <a:off x="307657" y="1350719"/>
            <a:ext cx="7882255" cy="3468370"/>
          </a:xfrm>
          <a:prstGeom prst="rect">
            <a:avLst/>
          </a:prstGeom>
        </p:spPr>
        <p:txBody>
          <a:bodyPr vert="horz" wrap="square" lIns="0" tIns="85090" rIns="0" bIns="0" rtlCol="0">
            <a:spAutoFit/>
          </a:bodyPr>
          <a:lstStyle/>
          <a:p>
            <a:pPr marL="287020" indent="-274320">
              <a:lnSpc>
                <a:spcPct val="100000"/>
              </a:lnSpc>
              <a:spcBef>
                <a:spcPts val="670"/>
              </a:spcBef>
              <a:buClr>
                <a:srgbClr val="D24717"/>
              </a:buClr>
              <a:buSzPct val="83333"/>
              <a:buFont typeface="Segoe UI Symbol"/>
              <a:buChar char="⚫"/>
              <a:tabLst>
                <a:tab pos="287020" algn="l"/>
              </a:tabLst>
            </a:pPr>
            <a:r>
              <a:rPr sz="2400" dirty="0">
                <a:latin typeface="Times New Roman"/>
                <a:cs typeface="Times New Roman"/>
              </a:rPr>
              <a:t>Understanding</a:t>
            </a:r>
            <a:r>
              <a:rPr sz="2400" spc="-40" dirty="0">
                <a:latin typeface="Times New Roman"/>
                <a:cs typeface="Times New Roman"/>
              </a:rPr>
              <a:t> </a:t>
            </a:r>
            <a:r>
              <a:rPr sz="2400" dirty="0">
                <a:latin typeface="Times New Roman"/>
                <a:cs typeface="Times New Roman"/>
              </a:rPr>
              <a:t>C</a:t>
            </a:r>
            <a:r>
              <a:rPr sz="2400" spc="10" dirty="0">
                <a:latin typeface="Times New Roman"/>
                <a:cs typeface="Times New Roman"/>
              </a:rPr>
              <a:t> </a:t>
            </a:r>
            <a:r>
              <a:rPr sz="2400" dirty="0">
                <a:latin typeface="Times New Roman"/>
                <a:cs typeface="Times New Roman"/>
              </a:rPr>
              <a:t>functions,</a:t>
            </a:r>
            <a:r>
              <a:rPr sz="2400" spc="-35" dirty="0">
                <a:latin typeface="Times New Roman"/>
                <a:cs typeface="Times New Roman"/>
              </a:rPr>
              <a:t> </a:t>
            </a:r>
            <a:r>
              <a:rPr sz="2400" dirty="0">
                <a:latin typeface="Times New Roman"/>
                <a:cs typeface="Times New Roman"/>
              </a:rPr>
              <a:t>the</a:t>
            </a:r>
            <a:r>
              <a:rPr sz="2400" spc="-50" dirty="0">
                <a:latin typeface="Times New Roman"/>
                <a:cs typeface="Times New Roman"/>
              </a:rPr>
              <a:t> </a:t>
            </a:r>
            <a:r>
              <a:rPr sz="2400" dirty="0">
                <a:latin typeface="Times New Roman"/>
                <a:cs typeface="Times New Roman"/>
              </a:rPr>
              <a:t>stack,</a:t>
            </a:r>
            <a:r>
              <a:rPr sz="2400" spc="-35" dirty="0">
                <a:latin typeface="Times New Roman"/>
                <a:cs typeface="Times New Roman"/>
              </a:rPr>
              <a:t> </a:t>
            </a:r>
            <a:r>
              <a:rPr sz="2400" dirty="0">
                <a:latin typeface="Times New Roman"/>
                <a:cs typeface="Times New Roman"/>
              </a:rPr>
              <a:t>and</a:t>
            </a:r>
            <a:r>
              <a:rPr sz="2400" spc="-35" dirty="0">
                <a:latin typeface="Times New Roman"/>
                <a:cs typeface="Times New Roman"/>
              </a:rPr>
              <a:t> </a:t>
            </a:r>
            <a:r>
              <a:rPr sz="2400" dirty="0">
                <a:latin typeface="Times New Roman"/>
                <a:cs typeface="Times New Roman"/>
              </a:rPr>
              <a:t>the</a:t>
            </a:r>
            <a:r>
              <a:rPr sz="2400" spc="15" dirty="0">
                <a:latin typeface="Times New Roman"/>
                <a:cs typeface="Times New Roman"/>
              </a:rPr>
              <a:t> </a:t>
            </a:r>
            <a:r>
              <a:rPr sz="2400" spc="-10" dirty="0">
                <a:latin typeface="Times New Roman"/>
                <a:cs typeface="Times New Roman"/>
              </a:rPr>
              <a:t>heap.</a:t>
            </a:r>
            <a:endParaRPr sz="2400" dirty="0">
              <a:latin typeface="Times New Roman"/>
              <a:cs typeface="Times New Roman"/>
            </a:endParaRPr>
          </a:p>
          <a:p>
            <a:pPr marL="287020" indent="-274320">
              <a:lnSpc>
                <a:spcPct val="100000"/>
              </a:lnSpc>
              <a:spcBef>
                <a:spcPts val="570"/>
              </a:spcBef>
              <a:buClr>
                <a:srgbClr val="D24717"/>
              </a:buClr>
              <a:buSzPct val="83333"/>
              <a:buFont typeface="Segoe UI Symbol"/>
              <a:buChar char="⚫"/>
              <a:tabLst>
                <a:tab pos="287020" algn="l"/>
              </a:tabLst>
            </a:pPr>
            <a:r>
              <a:rPr sz="2400" dirty="0">
                <a:latin typeface="Times New Roman"/>
                <a:cs typeface="Times New Roman"/>
              </a:rPr>
              <a:t>Know</a:t>
            </a:r>
            <a:r>
              <a:rPr sz="2400" spc="-45" dirty="0">
                <a:latin typeface="Times New Roman"/>
                <a:cs typeface="Times New Roman"/>
              </a:rPr>
              <a:t> </a:t>
            </a:r>
            <a:r>
              <a:rPr sz="2400" dirty="0">
                <a:latin typeface="Times New Roman"/>
                <a:cs typeface="Times New Roman"/>
              </a:rPr>
              <a:t>how</a:t>
            </a:r>
            <a:r>
              <a:rPr sz="2400" spc="30" dirty="0">
                <a:latin typeface="Times New Roman"/>
                <a:cs typeface="Times New Roman"/>
              </a:rPr>
              <a:t> </a:t>
            </a:r>
            <a:r>
              <a:rPr sz="2400" dirty="0">
                <a:latin typeface="Times New Roman"/>
                <a:cs typeface="Times New Roman"/>
              </a:rPr>
              <a:t>system</a:t>
            </a:r>
            <a:r>
              <a:rPr sz="2400" spc="-95" dirty="0">
                <a:latin typeface="Times New Roman"/>
                <a:cs typeface="Times New Roman"/>
              </a:rPr>
              <a:t> </a:t>
            </a:r>
            <a:r>
              <a:rPr sz="2400" dirty="0">
                <a:latin typeface="Times New Roman"/>
                <a:cs typeface="Times New Roman"/>
              </a:rPr>
              <a:t>calls</a:t>
            </a:r>
            <a:r>
              <a:rPr sz="2400" spc="5" dirty="0">
                <a:latin typeface="Times New Roman"/>
                <a:cs typeface="Times New Roman"/>
              </a:rPr>
              <a:t> </a:t>
            </a:r>
            <a:r>
              <a:rPr sz="2400" dirty="0">
                <a:latin typeface="Times New Roman"/>
                <a:cs typeface="Times New Roman"/>
              </a:rPr>
              <a:t>are</a:t>
            </a:r>
            <a:r>
              <a:rPr sz="2400" spc="-45" dirty="0">
                <a:latin typeface="Times New Roman"/>
                <a:cs typeface="Times New Roman"/>
              </a:rPr>
              <a:t> </a:t>
            </a:r>
            <a:r>
              <a:rPr sz="2400" spc="-20" dirty="0">
                <a:latin typeface="Times New Roman"/>
                <a:cs typeface="Times New Roman"/>
              </a:rPr>
              <a:t>made</a:t>
            </a:r>
            <a:endParaRPr sz="2400" dirty="0">
              <a:latin typeface="Times New Roman"/>
              <a:cs typeface="Times New Roman"/>
            </a:endParaRPr>
          </a:p>
          <a:p>
            <a:pPr marL="287020" indent="-274320">
              <a:lnSpc>
                <a:spcPct val="100000"/>
              </a:lnSpc>
              <a:spcBef>
                <a:spcPts val="650"/>
              </a:spcBef>
              <a:buClr>
                <a:srgbClr val="D24717"/>
              </a:buClr>
              <a:buSzPct val="83333"/>
              <a:buFont typeface="Segoe UI Symbol"/>
              <a:buChar char="⚫"/>
              <a:tabLst>
                <a:tab pos="287020" algn="l"/>
              </a:tabLst>
            </a:pPr>
            <a:r>
              <a:rPr sz="2400" dirty="0">
                <a:latin typeface="Times New Roman"/>
                <a:cs typeface="Times New Roman"/>
              </a:rPr>
              <a:t>The</a:t>
            </a:r>
            <a:r>
              <a:rPr sz="2400" spc="-40" dirty="0">
                <a:latin typeface="Times New Roman"/>
                <a:cs typeface="Times New Roman"/>
              </a:rPr>
              <a:t> </a:t>
            </a:r>
            <a:r>
              <a:rPr sz="2400" dirty="0">
                <a:latin typeface="Times New Roman"/>
                <a:cs typeface="Times New Roman"/>
              </a:rPr>
              <a:t>exec()</a:t>
            </a:r>
            <a:r>
              <a:rPr sz="2400" spc="5" dirty="0">
                <a:latin typeface="Times New Roman"/>
                <a:cs typeface="Times New Roman"/>
              </a:rPr>
              <a:t> </a:t>
            </a:r>
            <a:r>
              <a:rPr sz="2400" dirty="0">
                <a:latin typeface="Times New Roman"/>
                <a:cs typeface="Times New Roman"/>
              </a:rPr>
              <a:t>system</a:t>
            </a:r>
            <a:r>
              <a:rPr sz="2400" spc="-85" dirty="0">
                <a:latin typeface="Times New Roman"/>
                <a:cs typeface="Times New Roman"/>
              </a:rPr>
              <a:t> </a:t>
            </a:r>
            <a:r>
              <a:rPr sz="2400" spc="-20" dirty="0">
                <a:latin typeface="Times New Roman"/>
                <a:cs typeface="Times New Roman"/>
              </a:rPr>
              <a:t>call</a:t>
            </a:r>
            <a:endParaRPr sz="2400" dirty="0">
              <a:latin typeface="Times New Roman"/>
              <a:cs typeface="Times New Roman"/>
            </a:endParaRPr>
          </a:p>
          <a:p>
            <a:pPr>
              <a:lnSpc>
                <a:spcPct val="100000"/>
              </a:lnSpc>
              <a:spcBef>
                <a:spcPts val="1570"/>
              </a:spcBef>
              <a:buClr>
                <a:srgbClr val="D24717"/>
              </a:buClr>
              <a:buFont typeface="Segoe UI Symbol"/>
              <a:buChar char="⚫"/>
            </a:pPr>
            <a:endParaRPr sz="2400" dirty="0">
              <a:latin typeface="Times New Roman"/>
              <a:cs typeface="Times New Roman"/>
            </a:endParaRPr>
          </a:p>
          <a:p>
            <a:pPr marL="287020" indent="-274320">
              <a:lnSpc>
                <a:spcPts val="2865"/>
              </a:lnSpc>
              <a:buClr>
                <a:srgbClr val="D24717"/>
              </a:buClr>
              <a:buSzPct val="83333"/>
              <a:buFont typeface="Segoe UI Symbol"/>
              <a:buChar char="⚫"/>
              <a:tabLst>
                <a:tab pos="287020" algn="l"/>
              </a:tabLst>
            </a:pPr>
            <a:r>
              <a:rPr sz="2400" dirty="0">
                <a:latin typeface="Times New Roman"/>
                <a:cs typeface="Times New Roman"/>
              </a:rPr>
              <a:t>Attacker</a:t>
            </a:r>
            <a:r>
              <a:rPr sz="2400" spc="-10" dirty="0">
                <a:latin typeface="Times New Roman"/>
                <a:cs typeface="Times New Roman"/>
              </a:rPr>
              <a:t> </a:t>
            </a:r>
            <a:r>
              <a:rPr sz="2400" dirty="0">
                <a:latin typeface="Times New Roman"/>
                <a:cs typeface="Times New Roman"/>
              </a:rPr>
              <a:t>needs</a:t>
            </a:r>
            <a:r>
              <a:rPr sz="2400" spc="5" dirty="0">
                <a:latin typeface="Times New Roman"/>
                <a:cs typeface="Times New Roman"/>
              </a:rPr>
              <a:t> </a:t>
            </a:r>
            <a:r>
              <a:rPr sz="2400" dirty="0">
                <a:latin typeface="Times New Roman"/>
                <a:cs typeface="Times New Roman"/>
              </a:rPr>
              <a:t>to</a:t>
            </a:r>
            <a:r>
              <a:rPr sz="2400" spc="-25" dirty="0">
                <a:latin typeface="Times New Roman"/>
                <a:cs typeface="Times New Roman"/>
              </a:rPr>
              <a:t> </a:t>
            </a:r>
            <a:r>
              <a:rPr sz="2400" dirty="0">
                <a:latin typeface="Times New Roman"/>
                <a:cs typeface="Times New Roman"/>
              </a:rPr>
              <a:t>know</a:t>
            </a:r>
            <a:r>
              <a:rPr sz="2400" spc="-40" dirty="0">
                <a:latin typeface="Times New Roman"/>
                <a:cs typeface="Times New Roman"/>
              </a:rPr>
              <a:t> </a:t>
            </a:r>
            <a:r>
              <a:rPr sz="2400" dirty="0">
                <a:latin typeface="Times New Roman"/>
                <a:cs typeface="Times New Roman"/>
              </a:rPr>
              <a:t>which</a:t>
            </a:r>
            <a:r>
              <a:rPr sz="2400" spc="-25" dirty="0">
                <a:latin typeface="Times New Roman"/>
                <a:cs typeface="Times New Roman"/>
              </a:rPr>
              <a:t> </a:t>
            </a:r>
            <a:r>
              <a:rPr sz="2400" dirty="0">
                <a:latin typeface="Times New Roman"/>
                <a:cs typeface="Times New Roman"/>
              </a:rPr>
              <a:t>CPU</a:t>
            </a:r>
            <a:r>
              <a:rPr sz="2400" spc="-35" dirty="0">
                <a:latin typeface="Times New Roman"/>
                <a:cs typeface="Times New Roman"/>
              </a:rPr>
              <a:t> </a:t>
            </a:r>
            <a:r>
              <a:rPr sz="2400" dirty="0">
                <a:latin typeface="Times New Roman"/>
                <a:cs typeface="Times New Roman"/>
              </a:rPr>
              <a:t>and</a:t>
            </a:r>
            <a:r>
              <a:rPr sz="2400" spc="-25" dirty="0">
                <a:latin typeface="Times New Roman"/>
                <a:cs typeface="Times New Roman"/>
              </a:rPr>
              <a:t> </a:t>
            </a:r>
            <a:r>
              <a:rPr sz="2400" dirty="0">
                <a:latin typeface="Times New Roman"/>
                <a:cs typeface="Times New Roman"/>
              </a:rPr>
              <a:t>OS</a:t>
            </a:r>
            <a:r>
              <a:rPr sz="2400" spc="-15" dirty="0">
                <a:latin typeface="Times New Roman"/>
                <a:cs typeface="Times New Roman"/>
              </a:rPr>
              <a:t> </a:t>
            </a:r>
            <a:r>
              <a:rPr sz="2400" dirty="0">
                <a:latin typeface="Times New Roman"/>
                <a:cs typeface="Times New Roman"/>
              </a:rPr>
              <a:t>used</a:t>
            </a:r>
            <a:r>
              <a:rPr sz="2400" spc="-25" dirty="0">
                <a:latin typeface="Times New Roman"/>
                <a:cs typeface="Times New Roman"/>
              </a:rPr>
              <a:t> </a:t>
            </a:r>
            <a:r>
              <a:rPr sz="2400" dirty="0">
                <a:latin typeface="Times New Roman"/>
                <a:cs typeface="Times New Roman"/>
              </a:rPr>
              <a:t>on</a:t>
            </a:r>
            <a:r>
              <a:rPr sz="2400" spc="-35" dirty="0">
                <a:latin typeface="Times New Roman"/>
                <a:cs typeface="Times New Roman"/>
              </a:rPr>
              <a:t> </a:t>
            </a:r>
            <a:r>
              <a:rPr sz="2400" dirty="0">
                <a:latin typeface="Times New Roman"/>
                <a:cs typeface="Times New Roman"/>
              </a:rPr>
              <a:t>the</a:t>
            </a:r>
            <a:r>
              <a:rPr sz="2400" spc="-35" dirty="0">
                <a:latin typeface="Times New Roman"/>
                <a:cs typeface="Times New Roman"/>
              </a:rPr>
              <a:t> </a:t>
            </a:r>
            <a:r>
              <a:rPr sz="2400" spc="-10" dirty="0">
                <a:latin typeface="Times New Roman"/>
                <a:cs typeface="Times New Roman"/>
              </a:rPr>
              <a:t>target</a:t>
            </a:r>
            <a:endParaRPr sz="2400" dirty="0">
              <a:latin typeface="Times New Roman"/>
              <a:cs typeface="Times New Roman"/>
            </a:endParaRPr>
          </a:p>
          <a:p>
            <a:pPr marL="287020">
              <a:lnSpc>
                <a:spcPts val="2865"/>
              </a:lnSpc>
            </a:pPr>
            <a:r>
              <a:rPr sz="2400" spc="-10" dirty="0">
                <a:latin typeface="Times New Roman"/>
                <a:cs typeface="Times New Roman"/>
              </a:rPr>
              <a:t>machine:</a:t>
            </a:r>
            <a:endParaRPr sz="2400" dirty="0">
              <a:latin typeface="Times New Roman"/>
              <a:cs typeface="Times New Roman"/>
            </a:endParaRPr>
          </a:p>
          <a:p>
            <a:pPr marL="561340" lvl="1" indent="-228600">
              <a:lnSpc>
                <a:spcPct val="100000"/>
              </a:lnSpc>
              <a:spcBef>
                <a:spcPts val="425"/>
              </a:spcBef>
              <a:buClr>
                <a:srgbClr val="9B2C1F"/>
              </a:buClr>
              <a:buSzPct val="83333"/>
              <a:buFont typeface="Segoe UI Symbol"/>
              <a:buChar char="⚫"/>
              <a:tabLst>
                <a:tab pos="561340" algn="l"/>
                <a:tab pos="3294379" algn="l"/>
                <a:tab pos="3904615" algn="l"/>
                <a:tab pos="4999990" algn="l"/>
              </a:tabLst>
            </a:pPr>
            <a:r>
              <a:rPr sz="2400" dirty="0">
                <a:latin typeface="Times New Roman"/>
                <a:cs typeface="Times New Roman"/>
              </a:rPr>
              <a:t>Our</a:t>
            </a:r>
            <a:r>
              <a:rPr sz="2400" spc="-40" dirty="0">
                <a:latin typeface="Times New Roman"/>
                <a:cs typeface="Times New Roman"/>
              </a:rPr>
              <a:t> </a:t>
            </a:r>
            <a:r>
              <a:rPr sz="2400" dirty="0">
                <a:latin typeface="Times New Roman"/>
                <a:cs typeface="Times New Roman"/>
              </a:rPr>
              <a:t>examples</a:t>
            </a:r>
            <a:r>
              <a:rPr sz="2400" spc="-20" dirty="0">
                <a:latin typeface="Times New Roman"/>
                <a:cs typeface="Times New Roman"/>
              </a:rPr>
              <a:t> </a:t>
            </a:r>
            <a:r>
              <a:rPr sz="2400" dirty="0">
                <a:latin typeface="Times New Roman"/>
                <a:cs typeface="Times New Roman"/>
              </a:rPr>
              <a:t>are</a:t>
            </a:r>
            <a:r>
              <a:rPr sz="2400" spc="-5" dirty="0">
                <a:latin typeface="Times New Roman"/>
                <a:cs typeface="Times New Roman"/>
              </a:rPr>
              <a:t> </a:t>
            </a:r>
            <a:r>
              <a:rPr sz="2400" spc="-25" dirty="0">
                <a:latin typeface="Times New Roman"/>
                <a:cs typeface="Times New Roman"/>
              </a:rPr>
              <a:t>for</a:t>
            </a:r>
            <a:r>
              <a:rPr sz="2400" dirty="0">
                <a:latin typeface="Times New Roman"/>
                <a:cs typeface="Times New Roman"/>
              </a:rPr>
              <a:t>	</a:t>
            </a:r>
            <a:r>
              <a:rPr sz="2400" spc="-25" dirty="0">
                <a:latin typeface="Times New Roman"/>
                <a:cs typeface="Times New Roman"/>
              </a:rPr>
              <a:t>x86</a:t>
            </a:r>
            <a:r>
              <a:rPr sz="2400" dirty="0">
                <a:latin typeface="Times New Roman"/>
                <a:cs typeface="Times New Roman"/>
              </a:rPr>
              <a:t>	</a:t>
            </a:r>
            <a:r>
              <a:rPr sz="2400" spc="-10" dirty="0">
                <a:latin typeface="Times New Roman"/>
                <a:cs typeface="Times New Roman"/>
              </a:rPr>
              <a:t>running</a:t>
            </a:r>
            <a:r>
              <a:rPr sz="2400" dirty="0">
                <a:latin typeface="Times New Roman"/>
                <a:cs typeface="Times New Roman"/>
              </a:rPr>
              <a:t>	Linux or</a:t>
            </a:r>
            <a:r>
              <a:rPr sz="2400" spc="-35" dirty="0">
                <a:latin typeface="Times New Roman"/>
                <a:cs typeface="Times New Roman"/>
              </a:rPr>
              <a:t> </a:t>
            </a:r>
            <a:r>
              <a:rPr sz="2400" spc="-10" dirty="0">
                <a:latin typeface="Times New Roman"/>
                <a:cs typeface="Times New Roman"/>
              </a:rPr>
              <a:t>Windows</a:t>
            </a:r>
            <a:endParaRPr sz="2400" dirty="0">
              <a:latin typeface="Times New Roman"/>
              <a:cs typeface="Times New Roman"/>
            </a:endParaRPr>
          </a:p>
          <a:p>
            <a:pPr marL="561340" lvl="1" indent="-228600">
              <a:lnSpc>
                <a:spcPct val="100000"/>
              </a:lnSpc>
              <a:spcBef>
                <a:spcPts val="425"/>
              </a:spcBef>
              <a:buClr>
                <a:srgbClr val="9B2C1F"/>
              </a:buClr>
              <a:buSzPct val="83333"/>
              <a:buFont typeface="Segoe UI Symbol"/>
              <a:buChar char="⚫"/>
              <a:tabLst>
                <a:tab pos="561340" algn="l"/>
              </a:tabLst>
            </a:pPr>
            <a:r>
              <a:rPr sz="2400" dirty="0">
                <a:latin typeface="Times New Roman"/>
                <a:cs typeface="Times New Roman"/>
              </a:rPr>
              <a:t>Details</a:t>
            </a:r>
            <a:r>
              <a:rPr sz="2400" spc="-5" dirty="0">
                <a:latin typeface="Times New Roman"/>
                <a:cs typeface="Times New Roman"/>
              </a:rPr>
              <a:t> </a:t>
            </a:r>
            <a:r>
              <a:rPr sz="2400" dirty="0">
                <a:latin typeface="Times New Roman"/>
                <a:cs typeface="Times New Roman"/>
              </a:rPr>
              <a:t>vary</a:t>
            </a:r>
            <a:r>
              <a:rPr sz="2400" spc="-35" dirty="0">
                <a:latin typeface="Times New Roman"/>
                <a:cs typeface="Times New Roman"/>
              </a:rPr>
              <a:t> </a:t>
            </a:r>
            <a:r>
              <a:rPr sz="2400" dirty="0">
                <a:latin typeface="Times New Roman"/>
                <a:cs typeface="Times New Roman"/>
              </a:rPr>
              <a:t>slightly</a:t>
            </a:r>
            <a:r>
              <a:rPr sz="2400" spc="-30" dirty="0">
                <a:latin typeface="Times New Roman"/>
                <a:cs typeface="Times New Roman"/>
              </a:rPr>
              <a:t> </a:t>
            </a:r>
            <a:r>
              <a:rPr sz="2400" dirty="0">
                <a:latin typeface="Times New Roman"/>
                <a:cs typeface="Times New Roman"/>
              </a:rPr>
              <a:t>between</a:t>
            </a:r>
            <a:r>
              <a:rPr sz="2400" spc="-35" dirty="0">
                <a:latin typeface="Times New Roman"/>
                <a:cs typeface="Times New Roman"/>
              </a:rPr>
              <a:t> </a:t>
            </a:r>
            <a:r>
              <a:rPr sz="2400" dirty="0">
                <a:latin typeface="Times New Roman"/>
                <a:cs typeface="Times New Roman"/>
              </a:rPr>
              <a:t>CPUs</a:t>
            </a:r>
            <a:r>
              <a:rPr sz="2400" spc="-5" dirty="0">
                <a:latin typeface="Times New Roman"/>
                <a:cs typeface="Times New Roman"/>
              </a:rPr>
              <a:t> </a:t>
            </a:r>
            <a:r>
              <a:rPr sz="2400" dirty="0">
                <a:latin typeface="Times New Roman"/>
                <a:cs typeface="Times New Roman"/>
              </a:rPr>
              <a:t>and</a:t>
            </a:r>
            <a:r>
              <a:rPr sz="2400" spc="-35" dirty="0">
                <a:latin typeface="Times New Roman"/>
                <a:cs typeface="Times New Roman"/>
              </a:rPr>
              <a:t> </a:t>
            </a:r>
            <a:r>
              <a:rPr sz="2400" spc="-20" dirty="0">
                <a:latin typeface="Times New Roman"/>
                <a:cs typeface="Times New Roman"/>
              </a:rPr>
              <a:t>OSs:</a:t>
            </a:r>
            <a:endParaRPr sz="2400" dirty="0">
              <a:latin typeface="Times New Roman"/>
              <a:cs typeface="Times New Roman"/>
            </a:endParaRPr>
          </a:p>
        </p:txBody>
      </p:sp>
      <p:sp>
        <p:nvSpPr>
          <p:cNvPr id="4" name="object 4"/>
          <p:cNvSpPr txBox="1"/>
          <p:nvPr/>
        </p:nvSpPr>
        <p:spPr>
          <a:xfrm>
            <a:off x="902652" y="4836795"/>
            <a:ext cx="3578225" cy="392430"/>
          </a:xfrm>
          <a:prstGeom prst="rect">
            <a:avLst/>
          </a:prstGeom>
        </p:spPr>
        <p:txBody>
          <a:bodyPr vert="horz" wrap="square" lIns="0" tIns="13335" rIns="0" bIns="0" rtlCol="0">
            <a:spAutoFit/>
          </a:bodyPr>
          <a:lstStyle/>
          <a:p>
            <a:pPr marL="241300" indent="-228600">
              <a:lnSpc>
                <a:spcPct val="100000"/>
              </a:lnSpc>
              <a:spcBef>
                <a:spcPts val="105"/>
              </a:spcBef>
              <a:buClr>
                <a:srgbClr val="E6B0AB"/>
              </a:buClr>
              <a:buSzPct val="83333"/>
              <a:buFont typeface="Segoe UI Symbol"/>
              <a:buChar char="⚫"/>
              <a:tabLst>
                <a:tab pos="241300" algn="l"/>
              </a:tabLst>
            </a:pPr>
            <a:r>
              <a:rPr sz="2400" dirty="0">
                <a:latin typeface="Times New Roman"/>
                <a:cs typeface="Times New Roman"/>
              </a:rPr>
              <a:t>Little</a:t>
            </a:r>
            <a:r>
              <a:rPr sz="2400" spc="-30" dirty="0">
                <a:latin typeface="Times New Roman"/>
                <a:cs typeface="Times New Roman"/>
              </a:rPr>
              <a:t> </a:t>
            </a:r>
            <a:r>
              <a:rPr sz="2400" dirty="0">
                <a:latin typeface="Times New Roman"/>
                <a:cs typeface="Times New Roman"/>
              </a:rPr>
              <a:t>endian</a:t>
            </a:r>
            <a:r>
              <a:rPr sz="2400" spc="-10" dirty="0">
                <a:latin typeface="Times New Roman"/>
                <a:cs typeface="Times New Roman"/>
              </a:rPr>
              <a:t> </a:t>
            </a:r>
            <a:r>
              <a:rPr sz="2400" dirty="0">
                <a:latin typeface="Times New Roman"/>
                <a:cs typeface="Times New Roman"/>
              </a:rPr>
              <a:t>vs.</a:t>
            </a:r>
            <a:r>
              <a:rPr sz="2400" spc="-15" dirty="0">
                <a:latin typeface="Times New Roman"/>
                <a:cs typeface="Times New Roman"/>
              </a:rPr>
              <a:t> </a:t>
            </a:r>
            <a:r>
              <a:rPr sz="2400" dirty="0">
                <a:latin typeface="Times New Roman"/>
                <a:cs typeface="Times New Roman"/>
              </a:rPr>
              <a:t>big</a:t>
            </a:r>
            <a:r>
              <a:rPr sz="2400" spc="-10" dirty="0">
                <a:latin typeface="Times New Roman"/>
                <a:cs typeface="Times New Roman"/>
              </a:rPr>
              <a:t> endian</a:t>
            </a:r>
            <a:endParaRPr sz="2400">
              <a:latin typeface="Times New Roman"/>
              <a:cs typeface="Times New Roman"/>
            </a:endParaRPr>
          </a:p>
        </p:txBody>
      </p:sp>
      <p:sp>
        <p:nvSpPr>
          <p:cNvPr id="5" name="object 5"/>
          <p:cNvSpPr txBox="1"/>
          <p:nvPr/>
        </p:nvSpPr>
        <p:spPr>
          <a:xfrm>
            <a:off x="4684776" y="4884420"/>
            <a:ext cx="1944370" cy="335280"/>
          </a:xfrm>
          <a:prstGeom prst="rect">
            <a:avLst/>
          </a:prstGeom>
        </p:spPr>
        <p:txBody>
          <a:bodyPr vert="horz" wrap="square" lIns="0" tIns="16510" rIns="0" bIns="0" rtlCol="0">
            <a:spAutoFit/>
          </a:bodyPr>
          <a:lstStyle/>
          <a:p>
            <a:pPr marL="12700">
              <a:lnSpc>
                <a:spcPct val="100000"/>
              </a:lnSpc>
              <a:spcBef>
                <a:spcPts val="130"/>
              </a:spcBef>
            </a:pPr>
            <a:r>
              <a:rPr sz="2000" dirty="0">
                <a:latin typeface="Times New Roman"/>
                <a:cs typeface="Times New Roman"/>
              </a:rPr>
              <a:t>(x86</a:t>
            </a:r>
            <a:r>
              <a:rPr sz="2000" spc="-30" dirty="0">
                <a:latin typeface="Times New Roman"/>
                <a:cs typeface="Times New Roman"/>
              </a:rPr>
              <a:t> </a:t>
            </a:r>
            <a:r>
              <a:rPr sz="2000" dirty="0">
                <a:latin typeface="Times New Roman"/>
                <a:cs typeface="Times New Roman"/>
              </a:rPr>
              <a:t>vs.</a:t>
            </a:r>
            <a:r>
              <a:rPr sz="2000" spc="20" dirty="0">
                <a:latin typeface="Times New Roman"/>
                <a:cs typeface="Times New Roman"/>
              </a:rPr>
              <a:t> </a:t>
            </a:r>
            <a:r>
              <a:rPr sz="2000" spc="-10" dirty="0">
                <a:latin typeface="Times New Roman"/>
                <a:cs typeface="Times New Roman"/>
              </a:rPr>
              <a:t>Motorola)</a:t>
            </a:r>
            <a:endParaRPr sz="2000">
              <a:latin typeface="Times New Roman"/>
              <a:cs typeface="Times New Roman"/>
            </a:endParaRPr>
          </a:p>
        </p:txBody>
      </p:sp>
      <p:sp>
        <p:nvSpPr>
          <p:cNvPr id="6" name="object 6"/>
          <p:cNvSpPr txBox="1"/>
          <p:nvPr/>
        </p:nvSpPr>
        <p:spPr>
          <a:xfrm>
            <a:off x="902652" y="5256529"/>
            <a:ext cx="2922905" cy="392430"/>
          </a:xfrm>
          <a:prstGeom prst="rect">
            <a:avLst/>
          </a:prstGeom>
        </p:spPr>
        <p:txBody>
          <a:bodyPr vert="horz" wrap="square" lIns="0" tIns="13335" rIns="0" bIns="0" rtlCol="0">
            <a:spAutoFit/>
          </a:bodyPr>
          <a:lstStyle/>
          <a:p>
            <a:pPr marL="241300" indent="-228600">
              <a:lnSpc>
                <a:spcPct val="100000"/>
              </a:lnSpc>
              <a:spcBef>
                <a:spcPts val="105"/>
              </a:spcBef>
              <a:buClr>
                <a:srgbClr val="E6B0AB"/>
              </a:buClr>
              <a:buSzPct val="83333"/>
              <a:buFont typeface="Segoe UI Symbol"/>
              <a:buChar char="⚫"/>
              <a:tabLst>
                <a:tab pos="241300" algn="l"/>
              </a:tabLst>
            </a:pPr>
            <a:r>
              <a:rPr sz="2400" dirty="0">
                <a:latin typeface="Times New Roman"/>
                <a:cs typeface="Times New Roman"/>
              </a:rPr>
              <a:t>Stack</a:t>
            </a:r>
            <a:r>
              <a:rPr sz="2400" spc="-15" dirty="0">
                <a:latin typeface="Times New Roman"/>
                <a:cs typeface="Times New Roman"/>
              </a:rPr>
              <a:t> </a:t>
            </a:r>
            <a:r>
              <a:rPr sz="2400" dirty="0">
                <a:latin typeface="Times New Roman"/>
                <a:cs typeface="Times New Roman"/>
              </a:rPr>
              <a:t>Frame</a:t>
            </a:r>
            <a:r>
              <a:rPr sz="2400" spc="-25" dirty="0">
                <a:latin typeface="Times New Roman"/>
                <a:cs typeface="Times New Roman"/>
              </a:rPr>
              <a:t> </a:t>
            </a:r>
            <a:r>
              <a:rPr sz="2400" spc="-10" dirty="0">
                <a:latin typeface="Times New Roman"/>
                <a:cs typeface="Times New Roman"/>
              </a:rPr>
              <a:t>structure</a:t>
            </a:r>
            <a:endParaRPr sz="2400">
              <a:latin typeface="Times New Roman"/>
              <a:cs typeface="Times New Roman"/>
            </a:endParaRPr>
          </a:p>
        </p:txBody>
      </p:sp>
      <p:sp>
        <p:nvSpPr>
          <p:cNvPr id="7" name="object 7"/>
          <p:cNvSpPr txBox="1"/>
          <p:nvPr/>
        </p:nvSpPr>
        <p:spPr>
          <a:xfrm>
            <a:off x="4187571" y="5304472"/>
            <a:ext cx="2072639" cy="334645"/>
          </a:xfrm>
          <a:prstGeom prst="rect">
            <a:avLst/>
          </a:prstGeom>
        </p:spPr>
        <p:txBody>
          <a:bodyPr vert="horz" wrap="square" lIns="0" tIns="15875" rIns="0" bIns="0" rtlCol="0">
            <a:spAutoFit/>
          </a:bodyPr>
          <a:lstStyle/>
          <a:p>
            <a:pPr marL="12700">
              <a:lnSpc>
                <a:spcPct val="100000"/>
              </a:lnSpc>
              <a:spcBef>
                <a:spcPts val="125"/>
              </a:spcBef>
            </a:pPr>
            <a:r>
              <a:rPr sz="2000" dirty="0">
                <a:latin typeface="Times New Roman"/>
                <a:cs typeface="Times New Roman"/>
              </a:rPr>
              <a:t>(Unix</a:t>
            </a:r>
            <a:r>
              <a:rPr sz="2000" spc="-15" dirty="0">
                <a:latin typeface="Times New Roman"/>
                <a:cs typeface="Times New Roman"/>
              </a:rPr>
              <a:t> </a:t>
            </a:r>
            <a:r>
              <a:rPr sz="2000" dirty="0">
                <a:latin typeface="Times New Roman"/>
                <a:cs typeface="Times New Roman"/>
              </a:rPr>
              <a:t>vs.</a:t>
            </a:r>
            <a:r>
              <a:rPr sz="2000" spc="-110" dirty="0">
                <a:latin typeface="Times New Roman"/>
                <a:cs typeface="Times New Roman"/>
              </a:rPr>
              <a:t> </a:t>
            </a:r>
            <a:r>
              <a:rPr sz="2000" spc="-10" dirty="0">
                <a:latin typeface="Times New Roman"/>
                <a:cs typeface="Times New Roman"/>
              </a:rPr>
              <a:t>Windows)</a:t>
            </a:r>
            <a:endParaRPr sz="2000" dirty="0">
              <a:latin typeface="Times New Roman"/>
              <a:cs typeface="Times New Roman"/>
            </a:endParaRPr>
          </a:p>
        </p:txBody>
      </p:sp>
      <p:sp>
        <p:nvSpPr>
          <p:cNvPr id="8" name="object 8"/>
          <p:cNvSpPr/>
          <p:nvPr/>
        </p:nvSpPr>
        <p:spPr>
          <a:xfrm>
            <a:off x="385762" y="3052826"/>
            <a:ext cx="8154034" cy="0"/>
          </a:xfrm>
          <a:custGeom>
            <a:avLst/>
            <a:gdLst/>
            <a:ahLst/>
            <a:cxnLst/>
            <a:rect l="l" t="t" r="r" b="b"/>
            <a:pathLst>
              <a:path w="8154034">
                <a:moveTo>
                  <a:pt x="0" y="0"/>
                </a:moveTo>
                <a:lnTo>
                  <a:pt x="8153463" y="0"/>
                </a:lnTo>
              </a:path>
            </a:pathLst>
          </a:custGeom>
          <a:ln w="28575">
            <a:solidFill>
              <a:srgbClr val="000000"/>
            </a:solidFill>
          </a:ln>
        </p:spPr>
        <p:txBody>
          <a:bodyPr wrap="square" lIns="0" tIns="0" rIns="0" bIns="0" rtlCol="0"/>
          <a:lstStyle/>
          <a:p>
            <a:endParaRPr/>
          </a:p>
        </p:txBody>
      </p:sp>
      <p:pic>
        <p:nvPicPr>
          <p:cNvPr id="9" name="object 9"/>
          <p:cNvPicPr/>
          <p:nvPr/>
        </p:nvPicPr>
        <p:blipFill>
          <a:blip r:embed="rId3" cstate="print"/>
          <a:stretch>
            <a:fillRect/>
          </a:stretch>
        </p:blipFill>
        <p:spPr>
          <a:xfrm>
            <a:off x="457200" y="6248400"/>
            <a:ext cx="476250" cy="381000"/>
          </a:xfrm>
          <a:prstGeom prst="rect">
            <a:avLst/>
          </a:prstGeom>
        </p:spPr>
      </p:pic>
      <p:sp>
        <p:nvSpPr>
          <p:cNvPr id="10" name="object 10"/>
          <p:cNvSpPr txBox="1">
            <a:spLocks noGrp="1"/>
          </p:cNvSpPr>
          <p:nvPr>
            <p:ph type="ftr" sz="quarter" idx="5"/>
          </p:nvPr>
        </p:nvSpPr>
        <p:spPr>
          <a:prstGeom prst="rect">
            <a:avLst/>
          </a:prstGeom>
        </p:spPr>
        <p:txBody>
          <a:bodyPr vert="horz" wrap="square" lIns="0" tIns="76200" rIns="0" bIns="0" rtlCol="0">
            <a:spAutoFit/>
          </a:bodyPr>
          <a:lstStyle/>
          <a:p>
            <a:pPr marL="165100">
              <a:lnSpc>
                <a:spcPts val="1550"/>
              </a:lnSpc>
            </a:pPr>
            <a:r>
              <a:rPr spc="-180" dirty="0"/>
              <a:t>FAST-</a:t>
            </a:r>
            <a:r>
              <a:rPr spc="-100" dirty="0"/>
              <a:t>NUCES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3B0FB-0EC1-30BF-67A3-B2B75457503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4911FE1-2205-C103-60C4-8703381BD7BB}"/>
              </a:ext>
            </a:extLst>
          </p:cNvPr>
          <p:cNvSpPr txBox="1">
            <a:spLocks noGrp="1"/>
          </p:cNvSpPr>
          <p:nvPr>
            <p:ph type="title"/>
          </p:nvPr>
        </p:nvSpPr>
        <p:spPr>
          <a:xfrm>
            <a:off x="369073" y="-211684"/>
            <a:ext cx="8837772" cy="845487"/>
          </a:xfrm>
          <a:prstGeom prst="rect">
            <a:avLst/>
          </a:prstGeom>
        </p:spPr>
        <p:txBody>
          <a:bodyPr vert="horz" wrap="square" lIns="0" tIns="288670" rIns="0" bIns="0" rtlCol="0">
            <a:spAutoFit/>
          </a:bodyPr>
          <a:lstStyle/>
          <a:p>
            <a:pPr marL="88900">
              <a:lnSpc>
                <a:spcPct val="100000"/>
              </a:lnSpc>
              <a:spcBef>
                <a:spcPts val="105"/>
              </a:spcBef>
            </a:pPr>
            <a:r>
              <a:rPr lang="en-US" dirty="0"/>
              <a:t>Prerequisites for Control Hijacking Attacks </a:t>
            </a:r>
            <a:endParaRPr spc="-10" dirty="0"/>
          </a:p>
        </p:txBody>
      </p:sp>
      <p:sp>
        <p:nvSpPr>
          <p:cNvPr id="3" name="object 3">
            <a:extLst>
              <a:ext uri="{FF2B5EF4-FFF2-40B4-BE49-F238E27FC236}">
                <a16:creationId xmlns:a16="http://schemas.microsoft.com/office/drawing/2014/main" id="{3240527B-5CDE-9A14-CED3-C70C19C6E4CC}"/>
              </a:ext>
            </a:extLst>
          </p:cNvPr>
          <p:cNvSpPr txBox="1"/>
          <p:nvPr/>
        </p:nvSpPr>
        <p:spPr>
          <a:xfrm>
            <a:off x="457200" y="692829"/>
            <a:ext cx="8763000" cy="5595121"/>
          </a:xfrm>
          <a:prstGeom prst="rect">
            <a:avLst/>
          </a:prstGeom>
        </p:spPr>
        <p:txBody>
          <a:bodyPr vert="horz" wrap="square" lIns="0" tIns="85090" rIns="0" bIns="0" rtlCol="0">
            <a:spAutoFit/>
          </a:bodyPr>
          <a:lstStyle/>
          <a:p>
            <a:pPr marL="285750" indent="-285750">
              <a:buFont typeface="Arial" panose="020B0604020202020204" pitchFamily="34" charset="0"/>
              <a:buChar char="•"/>
            </a:pPr>
            <a:r>
              <a:rPr lang="en-US" sz="2000" b="1" dirty="0"/>
              <a:t>C Functions &amp; Stack/Heap</a:t>
            </a:r>
            <a:endParaRPr lang="en-US" sz="2000" dirty="0"/>
          </a:p>
          <a:p>
            <a:pPr marL="342900" lvl="4" indent="-342900">
              <a:buFont typeface="Wingdings" panose="05000000000000000000" pitchFamily="2" charset="2"/>
              <a:buChar char="ü"/>
            </a:pPr>
            <a:r>
              <a:rPr lang="en-US" sz="2000" dirty="0"/>
              <a:t>Stack: stores function frames (return address + local variables)</a:t>
            </a:r>
          </a:p>
          <a:p>
            <a:pPr marL="342900" lvl="4" indent="-342900">
              <a:buFont typeface="Wingdings" panose="05000000000000000000" pitchFamily="2" charset="2"/>
              <a:buChar char="ü"/>
            </a:pPr>
            <a:r>
              <a:rPr lang="en-US" sz="2000" dirty="0"/>
              <a:t>Heap: dynamic memory (malloc/new)</a:t>
            </a:r>
          </a:p>
          <a:p>
            <a:pPr lvl="4"/>
            <a:r>
              <a:rPr lang="en-US" sz="2000" dirty="0">
                <a:highlight>
                  <a:srgbClr val="FFFF00"/>
                </a:highlight>
              </a:rPr>
              <a:t>If a buffer inside the stack overflows → attacker overwrites the </a:t>
            </a:r>
            <a:r>
              <a:rPr lang="en-US" sz="2000" b="1" dirty="0">
                <a:highlight>
                  <a:srgbClr val="FFFF00"/>
                </a:highlight>
              </a:rPr>
              <a:t>return address</a:t>
            </a:r>
            <a:r>
              <a:rPr lang="en-US" sz="2000" dirty="0">
                <a:highlight>
                  <a:srgbClr val="FFFF00"/>
                </a:highlight>
              </a:rPr>
              <a:t> → hijacks program flow.</a:t>
            </a:r>
          </a:p>
          <a:p>
            <a:pPr lvl="4"/>
            <a:endParaRPr lang="en-US" sz="2000" dirty="0"/>
          </a:p>
          <a:p>
            <a:pPr marL="285750" indent="-285750">
              <a:buFont typeface="Arial" panose="020B0604020202020204" pitchFamily="34" charset="0"/>
              <a:buChar char="•"/>
            </a:pPr>
            <a:r>
              <a:rPr lang="en-US" sz="2000" b="1" dirty="0"/>
              <a:t>CPU Architecture</a:t>
            </a:r>
            <a:endParaRPr lang="en-US" sz="2000" dirty="0"/>
          </a:p>
          <a:p>
            <a:pPr marL="342900" lvl="1" indent="-342900">
              <a:buFont typeface="Wingdings" panose="05000000000000000000" pitchFamily="2" charset="2"/>
              <a:buChar char="ü"/>
            </a:pPr>
            <a:r>
              <a:rPr lang="en-US" sz="2000" dirty="0"/>
              <a:t>Registers: RIP/EIP (instruction pointer), RSP/ESP (stack pointer)</a:t>
            </a:r>
          </a:p>
          <a:p>
            <a:pPr lvl="1"/>
            <a:r>
              <a:rPr lang="en-US" sz="2000" dirty="0">
                <a:highlight>
                  <a:srgbClr val="FFFF00"/>
                </a:highlight>
              </a:rPr>
              <a:t>Attacks target these registers, especially </a:t>
            </a:r>
            <a:r>
              <a:rPr lang="en-US" sz="2000" b="1" dirty="0">
                <a:highlight>
                  <a:srgbClr val="FFFF00"/>
                </a:highlight>
              </a:rPr>
              <a:t>Instruction Pointer</a:t>
            </a:r>
            <a:r>
              <a:rPr lang="en-US" sz="2000" dirty="0">
                <a:highlight>
                  <a:srgbClr val="FFFF00"/>
                </a:highlight>
              </a:rPr>
              <a:t>.</a:t>
            </a:r>
          </a:p>
          <a:p>
            <a:pPr lvl="1"/>
            <a:endParaRPr lang="en-US" sz="2000" dirty="0"/>
          </a:p>
          <a:p>
            <a:pPr marL="285750" indent="-285750">
              <a:buFont typeface="Arial" panose="020B0604020202020204" pitchFamily="34" charset="0"/>
              <a:buChar char="•"/>
            </a:pPr>
            <a:r>
              <a:rPr lang="en-US" sz="2000" b="1" dirty="0"/>
              <a:t>Endianness</a:t>
            </a:r>
            <a:endParaRPr lang="en-US" sz="2000" dirty="0"/>
          </a:p>
          <a:p>
            <a:pPr marL="342900" lvl="1" indent="-342900">
              <a:buFont typeface="Wingdings" panose="05000000000000000000" pitchFamily="2" charset="2"/>
              <a:buChar char="ü"/>
            </a:pPr>
            <a:r>
              <a:rPr lang="en-US" sz="2000" dirty="0"/>
              <a:t>Defines byte order in memory</a:t>
            </a:r>
          </a:p>
          <a:p>
            <a:pPr marL="342900" lvl="1" indent="-342900">
              <a:buFont typeface="Wingdings" panose="05000000000000000000" pitchFamily="2" charset="2"/>
              <a:buChar char="ü"/>
            </a:pPr>
            <a:r>
              <a:rPr lang="en-US" sz="2000" dirty="0"/>
              <a:t>Most PCs (Intel/AMD) = </a:t>
            </a:r>
            <a:r>
              <a:rPr lang="en-US" sz="2000" b="1" dirty="0"/>
              <a:t>Little Endian</a:t>
            </a:r>
            <a:endParaRPr lang="en-US" sz="2000" dirty="0"/>
          </a:p>
          <a:p>
            <a:pPr lvl="1"/>
            <a:r>
              <a:rPr lang="en-US" sz="2000" dirty="0">
                <a:highlight>
                  <a:srgbClr val="FFFF00"/>
                </a:highlight>
              </a:rPr>
              <a:t>Important when writing shellcode &amp; exploit payload (reverse address bytes)</a:t>
            </a:r>
          </a:p>
          <a:p>
            <a:pPr lvl="1"/>
            <a:endParaRPr lang="en-US" sz="2000" dirty="0"/>
          </a:p>
          <a:p>
            <a:pPr marL="285750" indent="-285750">
              <a:buFont typeface="Arial" panose="020B0604020202020204" pitchFamily="34" charset="0"/>
              <a:buChar char="•"/>
            </a:pPr>
            <a:r>
              <a:rPr lang="en-US" sz="2000" b="1" dirty="0"/>
              <a:t>System Call: exec()</a:t>
            </a:r>
            <a:endParaRPr lang="en-US" sz="2000" dirty="0"/>
          </a:p>
          <a:p>
            <a:pPr marL="342900" lvl="1" indent="-342900">
              <a:buFont typeface="Wingdings" panose="05000000000000000000" pitchFamily="2" charset="2"/>
              <a:buChar char="ü"/>
            </a:pPr>
            <a:r>
              <a:rPr lang="en-US" sz="2000" dirty="0"/>
              <a:t>Replaces current program with new process (e.g., /bin/</a:t>
            </a:r>
            <a:r>
              <a:rPr lang="en-US" sz="2000" dirty="0" err="1"/>
              <a:t>sh</a:t>
            </a:r>
            <a:r>
              <a:rPr lang="en-US" sz="2000" dirty="0"/>
              <a:t>)</a:t>
            </a:r>
          </a:p>
          <a:p>
            <a:r>
              <a:rPr lang="en-US" dirty="0">
                <a:highlight>
                  <a:srgbClr val="FFFF00"/>
                </a:highlight>
              </a:rPr>
              <a:t>→ Overflow → Inject shellcode → Call exec("/bin/</a:t>
            </a:r>
            <a:r>
              <a:rPr lang="en-US" dirty="0" err="1">
                <a:highlight>
                  <a:srgbClr val="FFFF00"/>
                </a:highlight>
              </a:rPr>
              <a:t>sh</a:t>
            </a:r>
            <a:r>
              <a:rPr lang="en-US" dirty="0">
                <a:highlight>
                  <a:srgbClr val="FFFF00"/>
                </a:highlight>
              </a:rPr>
              <a:t>") → </a:t>
            </a:r>
            <a:r>
              <a:rPr lang="en-US" b="1" dirty="0">
                <a:highlight>
                  <a:srgbClr val="FFFF00"/>
                </a:highlight>
              </a:rPr>
              <a:t>Attacker gets a shell</a:t>
            </a:r>
            <a:endParaRPr lang="en-US" dirty="0">
              <a:highlight>
                <a:srgbClr val="FFFF00"/>
              </a:highlight>
            </a:endParaRPr>
          </a:p>
        </p:txBody>
      </p:sp>
      <p:pic>
        <p:nvPicPr>
          <p:cNvPr id="9" name="object 9">
            <a:extLst>
              <a:ext uri="{FF2B5EF4-FFF2-40B4-BE49-F238E27FC236}">
                <a16:creationId xmlns:a16="http://schemas.microsoft.com/office/drawing/2014/main" id="{9AB7363B-65D3-E19C-D692-532682DCD497}"/>
              </a:ext>
            </a:extLst>
          </p:cNvPr>
          <p:cNvPicPr/>
          <p:nvPr/>
        </p:nvPicPr>
        <p:blipFill>
          <a:blip r:embed="rId3" cstate="print"/>
          <a:stretch>
            <a:fillRect/>
          </a:stretch>
        </p:blipFill>
        <p:spPr>
          <a:xfrm>
            <a:off x="457200" y="6248400"/>
            <a:ext cx="476250" cy="381000"/>
          </a:xfrm>
          <a:prstGeom prst="rect">
            <a:avLst/>
          </a:prstGeom>
        </p:spPr>
      </p:pic>
      <p:sp>
        <p:nvSpPr>
          <p:cNvPr id="10" name="object 10">
            <a:extLst>
              <a:ext uri="{FF2B5EF4-FFF2-40B4-BE49-F238E27FC236}">
                <a16:creationId xmlns:a16="http://schemas.microsoft.com/office/drawing/2014/main" id="{28643F60-3BFE-E7E0-223B-02768FCC8933}"/>
              </a:ext>
            </a:extLst>
          </p:cNvPr>
          <p:cNvSpPr txBox="1">
            <a:spLocks noGrp="1"/>
          </p:cNvSpPr>
          <p:nvPr>
            <p:ph type="ftr" sz="quarter" idx="5"/>
          </p:nvPr>
        </p:nvSpPr>
        <p:spPr>
          <a:prstGeom prst="rect">
            <a:avLst/>
          </a:prstGeom>
        </p:spPr>
        <p:txBody>
          <a:bodyPr vert="horz" wrap="square" lIns="0" tIns="76200" rIns="0" bIns="0" rtlCol="0">
            <a:spAutoFit/>
          </a:bodyPr>
          <a:lstStyle/>
          <a:p>
            <a:pPr marL="165100">
              <a:lnSpc>
                <a:spcPts val="1550"/>
              </a:lnSpc>
            </a:pPr>
            <a:r>
              <a:rPr spc="-180" dirty="0"/>
              <a:t>FAST-</a:t>
            </a:r>
            <a:r>
              <a:rPr spc="-100" dirty="0"/>
              <a:t>NUCES</a:t>
            </a:r>
          </a:p>
        </p:txBody>
      </p:sp>
    </p:spTree>
    <p:extLst>
      <p:ext uri="{BB962C8B-B14F-4D97-AF65-F5344CB8AC3E}">
        <p14:creationId xmlns:p14="http://schemas.microsoft.com/office/powerpoint/2010/main" val="18486436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93370" rIns="0" bIns="0" rtlCol="0">
            <a:spAutoFit/>
          </a:bodyPr>
          <a:lstStyle/>
          <a:p>
            <a:pPr marL="241300">
              <a:lnSpc>
                <a:spcPct val="100000"/>
              </a:lnSpc>
              <a:spcBef>
                <a:spcPts val="105"/>
              </a:spcBef>
            </a:pPr>
            <a:r>
              <a:rPr dirty="0"/>
              <a:t>Linux</a:t>
            </a:r>
            <a:r>
              <a:rPr spc="-30" dirty="0"/>
              <a:t> </a:t>
            </a:r>
            <a:r>
              <a:rPr dirty="0"/>
              <a:t>process</a:t>
            </a:r>
            <a:r>
              <a:rPr spc="-10" dirty="0"/>
              <a:t> </a:t>
            </a:r>
            <a:r>
              <a:rPr dirty="0"/>
              <a:t>memory</a:t>
            </a:r>
            <a:r>
              <a:rPr spc="-15" dirty="0"/>
              <a:t> </a:t>
            </a:r>
            <a:r>
              <a:rPr spc="-10" dirty="0"/>
              <a:t>layout</a:t>
            </a:r>
          </a:p>
        </p:txBody>
      </p:sp>
      <p:grpSp>
        <p:nvGrpSpPr>
          <p:cNvPr id="3" name="object 3"/>
          <p:cNvGrpSpPr/>
          <p:nvPr/>
        </p:nvGrpSpPr>
        <p:grpSpPr>
          <a:xfrm>
            <a:off x="2652776" y="3733800"/>
            <a:ext cx="2819400" cy="538480"/>
            <a:chOff x="2652776" y="3733800"/>
            <a:chExt cx="2819400" cy="538480"/>
          </a:xfrm>
        </p:grpSpPr>
        <p:sp>
          <p:nvSpPr>
            <p:cNvPr id="4" name="object 4"/>
            <p:cNvSpPr/>
            <p:nvPr/>
          </p:nvSpPr>
          <p:spPr>
            <a:xfrm>
              <a:off x="2652776" y="3762375"/>
              <a:ext cx="2819400" cy="509905"/>
            </a:xfrm>
            <a:custGeom>
              <a:avLst/>
              <a:gdLst/>
              <a:ahLst/>
              <a:cxnLst/>
              <a:rect l="l" t="t" r="r" b="b"/>
              <a:pathLst>
                <a:path w="2819400" h="509904">
                  <a:moveTo>
                    <a:pt x="0" y="509650"/>
                  </a:moveTo>
                  <a:lnTo>
                    <a:pt x="2819400" y="509650"/>
                  </a:lnTo>
                  <a:lnTo>
                    <a:pt x="2819400" y="0"/>
                  </a:lnTo>
                  <a:lnTo>
                    <a:pt x="0" y="0"/>
                  </a:lnTo>
                  <a:lnTo>
                    <a:pt x="0" y="509650"/>
                  </a:lnTo>
                  <a:close/>
                </a:path>
              </a:pathLst>
            </a:custGeom>
            <a:solidFill>
              <a:srgbClr val="808080"/>
            </a:solidFill>
          </p:spPr>
          <p:txBody>
            <a:bodyPr wrap="square" lIns="0" tIns="0" rIns="0" bIns="0" rtlCol="0"/>
            <a:lstStyle/>
            <a:p>
              <a:endParaRPr/>
            </a:p>
          </p:txBody>
        </p:sp>
        <p:sp>
          <p:nvSpPr>
            <p:cNvPr id="5" name="object 5"/>
            <p:cNvSpPr/>
            <p:nvPr/>
          </p:nvSpPr>
          <p:spPr>
            <a:xfrm>
              <a:off x="3905250" y="3733800"/>
              <a:ext cx="228600" cy="533400"/>
            </a:xfrm>
            <a:custGeom>
              <a:avLst/>
              <a:gdLst/>
              <a:ahLst/>
              <a:cxnLst/>
              <a:rect l="l" t="t" r="r" b="b"/>
              <a:pathLst>
                <a:path w="228600" h="533400">
                  <a:moveTo>
                    <a:pt x="152400" y="190500"/>
                  </a:moveTo>
                  <a:lnTo>
                    <a:pt x="76200" y="190500"/>
                  </a:lnTo>
                  <a:lnTo>
                    <a:pt x="76200" y="533400"/>
                  </a:lnTo>
                  <a:lnTo>
                    <a:pt x="152400" y="533400"/>
                  </a:lnTo>
                  <a:lnTo>
                    <a:pt x="152400" y="190500"/>
                  </a:lnTo>
                  <a:close/>
                </a:path>
                <a:path w="228600" h="533400">
                  <a:moveTo>
                    <a:pt x="114300" y="0"/>
                  </a:moveTo>
                  <a:lnTo>
                    <a:pt x="0" y="228600"/>
                  </a:lnTo>
                  <a:lnTo>
                    <a:pt x="76200" y="228600"/>
                  </a:lnTo>
                  <a:lnTo>
                    <a:pt x="76200" y="190500"/>
                  </a:lnTo>
                  <a:lnTo>
                    <a:pt x="209550" y="190500"/>
                  </a:lnTo>
                  <a:lnTo>
                    <a:pt x="114300" y="0"/>
                  </a:lnTo>
                  <a:close/>
                </a:path>
                <a:path w="228600" h="533400">
                  <a:moveTo>
                    <a:pt x="209550" y="190500"/>
                  </a:moveTo>
                  <a:lnTo>
                    <a:pt x="152400" y="190500"/>
                  </a:lnTo>
                  <a:lnTo>
                    <a:pt x="152400" y="228600"/>
                  </a:lnTo>
                  <a:lnTo>
                    <a:pt x="228600" y="228600"/>
                  </a:lnTo>
                  <a:lnTo>
                    <a:pt x="209550" y="190500"/>
                  </a:lnTo>
                  <a:close/>
                </a:path>
              </a:pathLst>
            </a:custGeom>
            <a:solidFill>
              <a:srgbClr val="000000"/>
            </a:solidFill>
          </p:spPr>
          <p:txBody>
            <a:bodyPr wrap="square" lIns="0" tIns="0" rIns="0" bIns="0" rtlCol="0"/>
            <a:lstStyle/>
            <a:p>
              <a:endParaRPr/>
            </a:p>
          </p:txBody>
        </p:sp>
      </p:grpSp>
      <p:grpSp>
        <p:nvGrpSpPr>
          <p:cNvPr id="6" name="object 6"/>
          <p:cNvGrpSpPr/>
          <p:nvPr/>
        </p:nvGrpSpPr>
        <p:grpSpPr>
          <a:xfrm>
            <a:off x="2071623" y="1947926"/>
            <a:ext cx="3401060" cy="1257300"/>
            <a:chOff x="2071623" y="1947926"/>
            <a:chExt cx="3401060" cy="1257300"/>
          </a:xfrm>
        </p:grpSpPr>
        <p:sp>
          <p:nvSpPr>
            <p:cNvPr id="7" name="object 7"/>
            <p:cNvSpPr/>
            <p:nvPr/>
          </p:nvSpPr>
          <p:spPr>
            <a:xfrm>
              <a:off x="2652775" y="1986026"/>
              <a:ext cx="2819400" cy="1219200"/>
            </a:xfrm>
            <a:custGeom>
              <a:avLst/>
              <a:gdLst/>
              <a:ahLst/>
              <a:cxnLst/>
              <a:rect l="l" t="t" r="r" b="b"/>
              <a:pathLst>
                <a:path w="2819400" h="1219200">
                  <a:moveTo>
                    <a:pt x="2819400" y="0"/>
                  </a:moveTo>
                  <a:lnTo>
                    <a:pt x="0" y="0"/>
                  </a:lnTo>
                  <a:lnTo>
                    <a:pt x="0" y="1219200"/>
                  </a:lnTo>
                  <a:lnTo>
                    <a:pt x="2819400" y="1219200"/>
                  </a:lnTo>
                  <a:lnTo>
                    <a:pt x="2819400" y="0"/>
                  </a:lnTo>
                  <a:close/>
                </a:path>
              </a:pathLst>
            </a:custGeom>
            <a:solidFill>
              <a:srgbClr val="808080"/>
            </a:solidFill>
          </p:spPr>
          <p:txBody>
            <a:bodyPr wrap="square" lIns="0" tIns="0" rIns="0" bIns="0" rtlCol="0"/>
            <a:lstStyle/>
            <a:p>
              <a:endParaRPr/>
            </a:p>
          </p:txBody>
        </p:sp>
        <p:sp>
          <p:nvSpPr>
            <p:cNvPr id="8" name="object 8"/>
            <p:cNvSpPr/>
            <p:nvPr/>
          </p:nvSpPr>
          <p:spPr>
            <a:xfrm>
              <a:off x="2071624" y="1947925"/>
              <a:ext cx="2062480" cy="1252855"/>
            </a:xfrm>
            <a:custGeom>
              <a:avLst/>
              <a:gdLst/>
              <a:ahLst/>
              <a:cxnLst/>
              <a:rect l="l" t="t" r="r" b="b"/>
              <a:pathLst>
                <a:path w="2062479" h="1252855">
                  <a:moveTo>
                    <a:pt x="581025" y="38100"/>
                  </a:moveTo>
                  <a:lnTo>
                    <a:pt x="568325" y="31750"/>
                  </a:lnTo>
                  <a:lnTo>
                    <a:pt x="504825" y="0"/>
                  </a:lnTo>
                  <a:lnTo>
                    <a:pt x="504825" y="31750"/>
                  </a:lnTo>
                  <a:lnTo>
                    <a:pt x="0" y="31750"/>
                  </a:lnTo>
                  <a:lnTo>
                    <a:pt x="0" y="44450"/>
                  </a:lnTo>
                  <a:lnTo>
                    <a:pt x="504825" y="44450"/>
                  </a:lnTo>
                  <a:lnTo>
                    <a:pt x="504825" y="76200"/>
                  </a:lnTo>
                  <a:lnTo>
                    <a:pt x="568325" y="44450"/>
                  </a:lnTo>
                  <a:lnTo>
                    <a:pt x="581025" y="38100"/>
                  </a:lnTo>
                  <a:close/>
                </a:path>
                <a:path w="2062479" h="1252855">
                  <a:moveTo>
                    <a:pt x="2062226" y="947674"/>
                  </a:moveTo>
                  <a:lnTo>
                    <a:pt x="2043176" y="909574"/>
                  </a:lnTo>
                  <a:lnTo>
                    <a:pt x="1947926" y="719074"/>
                  </a:lnTo>
                  <a:lnTo>
                    <a:pt x="1833626" y="947674"/>
                  </a:lnTo>
                  <a:lnTo>
                    <a:pt x="1909826" y="947674"/>
                  </a:lnTo>
                  <a:lnTo>
                    <a:pt x="1909826" y="1252474"/>
                  </a:lnTo>
                  <a:lnTo>
                    <a:pt x="1986026" y="1252474"/>
                  </a:lnTo>
                  <a:lnTo>
                    <a:pt x="1986026" y="947674"/>
                  </a:lnTo>
                  <a:lnTo>
                    <a:pt x="2062226" y="947674"/>
                  </a:lnTo>
                  <a:close/>
                </a:path>
                <a:path w="2062479" h="1252855">
                  <a:moveTo>
                    <a:pt x="2062226" y="338074"/>
                  </a:moveTo>
                  <a:lnTo>
                    <a:pt x="1986026" y="338074"/>
                  </a:lnTo>
                  <a:lnTo>
                    <a:pt x="1986026" y="33274"/>
                  </a:lnTo>
                  <a:lnTo>
                    <a:pt x="1909826" y="33274"/>
                  </a:lnTo>
                  <a:lnTo>
                    <a:pt x="1909826" y="338074"/>
                  </a:lnTo>
                  <a:lnTo>
                    <a:pt x="1833626" y="338074"/>
                  </a:lnTo>
                  <a:lnTo>
                    <a:pt x="1947926" y="566674"/>
                  </a:lnTo>
                  <a:lnTo>
                    <a:pt x="2043176" y="376174"/>
                  </a:lnTo>
                  <a:lnTo>
                    <a:pt x="2062226" y="338074"/>
                  </a:lnTo>
                  <a:close/>
                </a:path>
              </a:pathLst>
            </a:custGeom>
            <a:solidFill>
              <a:srgbClr val="000000"/>
            </a:solidFill>
          </p:spPr>
          <p:txBody>
            <a:bodyPr wrap="square" lIns="0" tIns="0" rIns="0" bIns="0" rtlCol="0"/>
            <a:lstStyle/>
            <a:p>
              <a:endParaRPr/>
            </a:p>
          </p:txBody>
        </p:sp>
      </p:grpSp>
      <p:graphicFrame>
        <p:nvGraphicFramePr>
          <p:cNvPr id="9" name="object 9"/>
          <p:cNvGraphicFramePr>
            <a:graphicFrameLocks noGrp="1"/>
          </p:cNvGraphicFramePr>
          <p:nvPr/>
        </p:nvGraphicFramePr>
        <p:xfrm>
          <a:off x="2648013" y="1190625"/>
          <a:ext cx="2819400" cy="4918074"/>
        </p:xfrm>
        <a:graphic>
          <a:graphicData uri="http://schemas.openxmlformats.org/drawingml/2006/table">
            <a:tbl>
              <a:tblPr firstRow="1" bandRow="1">
                <a:tableStyleId>{2D5ABB26-0587-4C30-8999-92F81FD0307C}</a:tableStyleId>
              </a:tblPr>
              <a:tblGrid>
                <a:gridCol w="2819400">
                  <a:extLst>
                    <a:ext uri="{9D8B030D-6E8A-4147-A177-3AD203B41FA5}">
                      <a16:colId xmlns:a16="http://schemas.microsoft.com/office/drawing/2014/main" val="20000"/>
                    </a:ext>
                  </a:extLst>
                </a:gridCol>
              </a:tblGrid>
              <a:tr h="766445">
                <a:tc>
                  <a:txBody>
                    <a:bodyPr/>
                    <a:lstStyle/>
                    <a:p>
                      <a:pPr marL="7620" algn="ctr">
                        <a:lnSpc>
                          <a:spcPct val="100000"/>
                        </a:lnSpc>
                        <a:spcBef>
                          <a:spcPts val="1165"/>
                        </a:spcBef>
                      </a:pPr>
                      <a:r>
                        <a:rPr sz="2400" spc="-95" dirty="0">
                          <a:latin typeface="Times New Roman"/>
                          <a:cs typeface="Times New Roman"/>
                        </a:rPr>
                        <a:t>user</a:t>
                      </a:r>
                      <a:r>
                        <a:rPr sz="2400" spc="-55" dirty="0">
                          <a:latin typeface="Times New Roman"/>
                          <a:cs typeface="Times New Roman"/>
                        </a:rPr>
                        <a:t> </a:t>
                      </a:r>
                      <a:r>
                        <a:rPr sz="2400" spc="-20" dirty="0">
                          <a:latin typeface="Times New Roman"/>
                          <a:cs typeface="Times New Roman"/>
                        </a:rPr>
                        <a:t>stack</a:t>
                      </a:r>
                      <a:endParaRPr sz="2400" dirty="0">
                        <a:latin typeface="Times New Roman"/>
                        <a:cs typeface="Times New Roman"/>
                      </a:endParaRPr>
                    </a:p>
                  </a:txBody>
                  <a:tcPr marL="0" marR="0" marT="147955" marB="0">
                    <a:lnL w="9525">
                      <a:solidFill>
                        <a:srgbClr val="000000"/>
                      </a:solidFill>
                      <a:prstDash val="solid"/>
                    </a:lnL>
                    <a:lnR w="9525">
                      <a:solidFill>
                        <a:srgbClr val="000000"/>
                      </a:solidFill>
                      <a:prstDash val="solid"/>
                    </a:lnR>
                    <a:lnT w="57150">
                      <a:solidFill>
                        <a:srgbClr val="000000"/>
                      </a:solidFill>
                      <a:prstDash val="solid"/>
                    </a:lnT>
                    <a:lnB w="9525">
                      <a:solidFill>
                        <a:srgbClr val="000000"/>
                      </a:solidFill>
                      <a:prstDash val="solid"/>
                    </a:lnB>
                    <a:solidFill>
                      <a:srgbClr val="006FC0"/>
                    </a:solidFill>
                  </a:tcPr>
                </a:tc>
                <a:extLst>
                  <a:ext uri="{0D108BD9-81ED-4DB2-BD59-A6C34878D82A}">
                    <a16:rowId xmlns:a16="http://schemas.microsoft.com/office/drawing/2014/main" val="10000"/>
                  </a:ext>
                </a:extLst>
              </a:tr>
              <a:tr h="1219200">
                <a:tc>
                  <a:txBody>
                    <a:bodyPr/>
                    <a:lstStyle/>
                    <a:p>
                      <a:pPr>
                        <a:lnSpc>
                          <a:spcPct val="100000"/>
                        </a:lnSpc>
                      </a:pPr>
                      <a:endParaRPr sz="2500" dirty="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1"/>
                  </a:ext>
                </a:extLst>
              </a:tr>
              <a:tr h="528320">
                <a:tc>
                  <a:txBody>
                    <a:bodyPr/>
                    <a:lstStyle/>
                    <a:p>
                      <a:pPr algn="ctr">
                        <a:lnSpc>
                          <a:spcPct val="100000"/>
                        </a:lnSpc>
                        <a:spcBef>
                          <a:spcPts val="245"/>
                        </a:spcBef>
                      </a:pPr>
                      <a:r>
                        <a:rPr sz="2400" spc="-140" dirty="0">
                          <a:latin typeface="Times New Roman"/>
                          <a:cs typeface="Times New Roman"/>
                        </a:rPr>
                        <a:t>shared</a:t>
                      </a:r>
                      <a:r>
                        <a:rPr sz="2400" spc="-10" dirty="0">
                          <a:latin typeface="Times New Roman"/>
                          <a:cs typeface="Times New Roman"/>
                        </a:rPr>
                        <a:t> libraries</a:t>
                      </a:r>
                      <a:endParaRPr sz="2400">
                        <a:latin typeface="Times New Roman"/>
                        <a:cs typeface="Times New Roman"/>
                      </a:endParaRPr>
                    </a:p>
                  </a:txBody>
                  <a:tcPr marL="0" marR="0" marT="31115" marB="0">
                    <a:lnL w="9525">
                      <a:solidFill>
                        <a:srgbClr val="000000"/>
                      </a:solidFill>
                      <a:prstDash val="solid"/>
                    </a:lnL>
                    <a:lnR w="9525">
                      <a:solidFill>
                        <a:srgbClr val="000000"/>
                      </a:solidFill>
                      <a:prstDash val="solid"/>
                    </a:lnR>
                    <a:lnT w="9525">
                      <a:solidFill>
                        <a:srgbClr val="000000"/>
                      </a:solidFill>
                      <a:prstDash val="solid"/>
                    </a:lnT>
                    <a:lnB w="57150">
                      <a:solidFill>
                        <a:srgbClr val="000000"/>
                      </a:solidFill>
                      <a:prstDash val="solid"/>
                    </a:lnB>
                    <a:solidFill>
                      <a:srgbClr val="006FC0"/>
                    </a:solidFill>
                  </a:tcPr>
                </a:tc>
                <a:extLst>
                  <a:ext uri="{0D108BD9-81ED-4DB2-BD59-A6C34878D82A}">
                    <a16:rowId xmlns:a16="http://schemas.microsoft.com/office/drawing/2014/main" val="10002"/>
                  </a:ext>
                </a:extLst>
              </a:tr>
              <a:tr h="537845">
                <a:tc>
                  <a:txBody>
                    <a:bodyPr/>
                    <a:lstStyle/>
                    <a:p>
                      <a:pPr>
                        <a:lnSpc>
                          <a:spcPct val="100000"/>
                        </a:lnSpc>
                      </a:pPr>
                      <a:endParaRPr sz="2500">
                        <a:latin typeface="Times New Roman"/>
                        <a:cs typeface="Times New Roman"/>
                      </a:endParaRPr>
                    </a:p>
                  </a:txBody>
                  <a:tcPr marL="0" marR="0" marT="0" marB="0">
                    <a:lnL w="9525">
                      <a:solidFill>
                        <a:srgbClr val="6699FF"/>
                      </a:solidFill>
                      <a:prstDash val="solid"/>
                    </a:lnL>
                    <a:lnR w="9525">
                      <a:solidFill>
                        <a:srgbClr val="6699FF"/>
                      </a:solidFill>
                      <a:prstDash val="solid"/>
                    </a:lnR>
                    <a:lnT w="57150">
                      <a:solidFill>
                        <a:srgbClr val="000000"/>
                      </a:solidFill>
                      <a:prstDash val="solid"/>
                    </a:lnT>
                    <a:lnB w="9525">
                      <a:solidFill>
                        <a:srgbClr val="6699FF"/>
                      </a:solidFill>
                      <a:prstDash val="solid"/>
                    </a:lnB>
                  </a:tcPr>
                </a:tc>
                <a:extLst>
                  <a:ext uri="{0D108BD9-81ED-4DB2-BD59-A6C34878D82A}">
                    <a16:rowId xmlns:a16="http://schemas.microsoft.com/office/drawing/2014/main" val="10003"/>
                  </a:ext>
                </a:extLst>
              </a:tr>
              <a:tr h="833119">
                <a:tc>
                  <a:txBody>
                    <a:bodyPr/>
                    <a:lstStyle/>
                    <a:p>
                      <a:pPr algn="ctr">
                        <a:lnSpc>
                          <a:spcPct val="100000"/>
                        </a:lnSpc>
                        <a:spcBef>
                          <a:spcPts val="1465"/>
                        </a:spcBef>
                      </a:pPr>
                      <a:r>
                        <a:rPr sz="2400" spc="-45" dirty="0">
                          <a:latin typeface="Times New Roman"/>
                          <a:cs typeface="Times New Roman"/>
                        </a:rPr>
                        <a:t>run</a:t>
                      </a:r>
                      <a:r>
                        <a:rPr sz="2400" spc="-95" dirty="0">
                          <a:latin typeface="Times New Roman"/>
                          <a:cs typeface="Times New Roman"/>
                        </a:rPr>
                        <a:t> </a:t>
                      </a:r>
                      <a:r>
                        <a:rPr sz="2400" spc="-75" dirty="0">
                          <a:latin typeface="Times New Roman"/>
                          <a:cs typeface="Times New Roman"/>
                        </a:rPr>
                        <a:t>time</a:t>
                      </a:r>
                      <a:r>
                        <a:rPr sz="2400" spc="-80" dirty="0">
                          <a:latin typeface="Times New Roman"/>
                          <a:cs typeface="Times New Roman"/>
                        </a:rPr>
                        <a:t> </a:t>
                      </a:r>
                      <a:r>
                        <a:rPr sz="2400" spc="-20" dirty="0">
                          <a:latin typeface="Times New Roman"/>
                          <a:cs typeface="Times New Roman"/>
                        </a:rPr>
                        <a:t>heap</a:t>
                      </a:r>
                      <a:endParaRPr sz="2400" dirty="0">
                        <a:latin typeface="Times New Roman"/>
                        <a:cs typeface="Times New Roman"/>
                      </a:endParaRPr>
                    </a:p>
                  </a:txBody>
                  <a:tcPr marL="0" marR="0" marT="186055" marB="0">
                    <a:lnL w="9525">
                      <a:solidFill>
                        <a:srgbClr val="000000"/>
                      </a:solidFill>
                      <a:prstDash val="solid"/>
                    </a:lnL>
                    <a:lnR w="9525">
                      <a:solidFill>
                        <a:srgbClr val="000000"/>
                      </a:solidFill>
                      <a:prstDash val="solid"/>
                    </a:lnR>
                    <a:lnT w="9525">
                      <a:solidFill>
                        <a:srgbClr val="6699FF"/>
                      </a:solidFill>
                      <a:prstDash val="solid"/>
                    </a:lnT>
                    <a:lnB w="57150">
                      <a:solidFill>
                        <a:srgbClr val="000000"/>
                      </a:solidFill>
                      <a:prstDash val="solid"/>
                    </a:lnB>
                    <a:solidFill>
                      <a:srgbClr val="006FC0"/>
                    </a:solidFill>
                  </a:tcPr>
                </a:tc>
                <a:extLst>
                  <a:ext uri="{0D108BD9-81ED-4DB2-BD59-A6C34878D82A}">
                    <a16:rowId xmlns:a16="http://schemas.microsoft.com/office/drawing/2014/main" val="10004"/>
                  </a:ext>
                </a:extLst>
              </a:tr>
              <a:tr h="619125">
                <a:tc>
                  <a:txBody>
                    <a:bodyPr/>
                    <a:lstStyle/>
                    <a:p>
                      <a:pPr>
                        <a:lnSpc>
                          <a:spcPct val="100000"/>
                        </a:lnSpc>
                      </a:pPr>
                      <a:endParaRPr sz="2500">
                        <a:latin typeface="Times New Roman"/>
                        <a:cs typeface="Times New Roman"/>
                      </a:endParaRPr>
                    </a:p>
                  </a:txBody>
                  <a:tcPr marL="0" marR="0" marT="0" marB="0">
                    <a:lnL w="9525">
                      <a:solidFill>
                        <a:srgbClr val="000000"/>
                      </a:solidFill>
                      <a:prstDash val="solid"/>
                    </a:lnL>
                    <a:lnR w="9525">
                      <a:solidFill>
                        <a:srgbClr val="000000"/>
                      </a:solidFill>
                      <a:prstDash val="solid"/>
                    </a:lnR>
                    <a:lnT w="57150">
                      <a:solidFill>
                        <a:srgbClr val="000000"/>
                      </a:solidFill>
                      <a:prstDash val="solid"/>
                    </a:lnT>
                    <a:lnB w="76200">
                      <a:solidFill>
                        <a:srgbClr val="000000"/>
                      </a:solidFill>
                      <a:prstDash val="solid"/>
                    </a:lnB>
                    <a:solidFill>
                      <a:srgbClr val="006FC0"/>
                    </a:solidFill>
                  </a:tcPr>
                </a:tc>
                <a:extLst>
                  <a:ext uri="{0D108BD9-81ED-4DB2-BD59-A6C34878D82A}">
                    <a16:rowId xmlns:a16="http://schemas.microsoft.com/office/drawing/2014/main" val="10005"/>
                  </a:ext>
                </a:extLst>
              </a:tr>
              <a:tr h="414020">
                <a:tc>
                  <a:txBody>
                    <a:bodyPr/>
                    <a:lstStyle/>
                    <a:p>
                      <a:pPr algn="ctr">
                        <a:lnSpc>
                          <a:spcPts val="2820"/>
                        </a:lnSpc>
                      </a:pPr>
                      <a:r>
                        <a:rPr sz="2400" spc="-10" dirty="0">
                          <a:latin typeface="Times New Roman"/>
                          <a:cs typeface="Times New Roman"/>
                        </a:rPr>
                        <a:t>unused</a:t>
                      </a:r>
                      <a:endParaRPr sz="2400" dirty="0">
                        <a:latin typeface="Times New Roman"/>
                        <a:cs typeface="Times New Roman"/>
                      </a:endParaRPr>
                    </a:p>
                  </a:txBody>
                  <a:tcPr marL="0" marR="0" marT="0" marB="0">
                    <a:lnL w="9525">
                      <a:solidFill>
                        <a:srgbClr val="000000"/>
                      </a:solidFill>
                      <a:prstDash val="solid"/>
                    </a:lnL>
                    <a:lnR w="9525">
                      <a:solidFill>
                        <a:srgbClr val="000000"/>
                      </a:solidFill>
                      <a:prstDash val="solid"/>
                    </a:lnR>
                    <a:lnT w="76200">
                      <a:solidFill>
                        <a:srgbClr val="000000"/>
                      </a:solidFill>
                      <a:prstDash val="solid"/>
                    </a:lnT>
                    <a:lnB w="9525">
                      <a:solidFill>
                        <a:srgbClr val="000000"/>
                      </a:solidFill>
                      <a:prstDash val="solid"/>
                    </a:lnB>
                    <a:solidFill>
                      <a:srgbClr val="006FC0"/>
                    </a:solidFill>
                  </a:tcPr>
                </a:tc>
                <a:extLst>
                  <a:ext uri="{0D108BD9-81ED-4DB2-BD59-A6C34878D82A}">
                    <a16:rowId xmlns:a16="http://schemas.microsoft.com/office/drawing/2014/main" val="10006"/>
                  </a:ext>
                </a:extLst>
              </a:tr>
            </a:tbl>
          </a:graphicData>
        </a:graphic>
      </p:graphicFrame>
      <p:sp>
        <p:nvSpPr>
          <p:cNvPr id="10" name="object 10"/>
          <p:cNvSpPr txBox="1"/>
          <p:nvPr/>
        </p:nvSpPr>
        <p:spPr>
          <a:xfrm>
            <a:off x="5670296" y="3491293"/>
            <a:ext cx="1420495" cy="391795"/>
          </a:xfrm>
          <a:prstGeom prst="rect">
            <a:avLst/>
          </a:prstGeom>
        </p:spPr>
        <p:txBody>
          <a:bodyPr vert="horz" wrap="square" lIns="0" tIns="12700" rIns="0" bIns="0" rtlCol="0">
            <a:spAutoFit/>
          </a:bodyPr>
          <a:lstStyle/>
          <a:p>
            <a:pPr marL="12700">
              <a:lnSpc>
                <a:spcPct val="100000"/>
              </a:lnSpc>
              <a:spcBef>
                <a:spcPts val="100"/>
              </a:spcBef>
            </a:pPr>
            <a:r>
              <a:rPr sz="2400" spc="-105" dirty="0">
                <a:latin typeface="Times New Roman"/>
                <a:cs typeface="Times New Roman"/>
              </a:rPr>
              <a:t>0x40000000</a:t>
            </a:r>
            <a:endParaRPr sz="2400">
              <a:latin typeface="Times New Roman"/>
              <a:cs typeface="Times New Roman"/>
            </a:endParaRPr>
          </a:p>
        </p:txBody>
      </p:sp>
      <p:sp>
        <p:nvSpPr>
          <p:cNvPr id="11" name="object 11"/>
          <p:cNvSpPr txBox="1"/>
          <p:nvPr/>
        </p:nvSpPr>
        <p:spPr>
          <a:xfrm>
            <a:off x="5542279" y="973137"/>
            <a:ext cx="1470660" cy="391795"/>
          </a:xfrm>
          <a:prstGeom prst="rect">
            <a:avLst/>
          </a:prstGeom>
        </p:spPr>
        <p:txBody>
          <a:bodyPr vert="horz" wrap="square" lIns="0" tIns="12700" rIns="0" bIns="0" rtlCol="0">
            <a:spAutoFit/>
          </a:bodyPr>
          <a:lstStyle/>
          <a:p>
            <a:pPr marL="12700">
              <a:lnSpc>
                <a:spcPct val="100000"/>
              </a:lnSpc>
              <a:spcBef>
                <a:spcPts val="100"/>
              </a:spcBef>
            </a:pPr>
            <a:r>
              <a:rPr sz="2400" spc="-105" dirty="0">
                <a:latin typeface="Times New Roman"/>
                <a:cs typeface="Times New Roman"/>
              </a:rPr>
              <a:t>0xC0000000</a:t>
            </a:r>
            <a:endParaRPr sz="2400">
              <a:latin typeface="Times New Roman"/>
              <a:cs typeface="Times New Roman"/>
            </a:endParaRPr>
          </a:p>
        </p:txBody>
      </p:sp>
      <p:sp>
        <p:nvSpPr>
          <p:cNvPr id="12" name="object 12"/>
          <p:cNvSpPr txBox="1"/>
          <p:nvPr/>
        </p:nvSpPr>
        <p:spPr>
          <a:xfrm>
            <a:off x="1289685" y="1736153"/>
            <a:ext cx="614045" cy="391795"/>
          </a:xfrm>
          <a:prstGeom prst="rect">
            <a:avLst/>
          </a:prstGeom>
        </p:spPr>
        <p:txBody>
          <a:bodyPr vert="horz" wrap="square" lIns="0" tIns="12700" rIns="0" bIns="0" rtlCol="0">
            <a:spAutoFit/>
          </a:bodyPr>
          <a:lstStyle/>
          <a:p>
            <a:pPr marL="12700">
              <a:lnSpc>
                <a:spcPct val="100000"/>
              </a:lnSpc>
              <a:spcBef>
                <a:spcPts val="100"/>
              </a:spcBef>
            </a:pPr>
            <a:r>
              <a:rPr sz="2400" spc="-135" dirty="0">
                <a:latin typeface="Times New Roman"/>
                <a:cs typeface="Times New Roman"/>
              </a:rPr>
              <a:t>%esp</a:t>
            </a:r>
            <a:endParaRPr sz="2400">
              <a:latin typeface="Times New Roman"/>
              <a:cs typeface="Times New Roman"/>
            </a:endParaRPr>
          </a:p>
        </p:txBody>
      </p:sp>
      <p:sp>
        <p:nvSpPr>
          <p:cNvPr id="13" name="object 13"/>
          <p:cNvSpPr txBox="1"/>
          <p:nvPr/>
        </p:nvSpPr>
        <p:spPr>
          <a:xfrm>
            <a:off x="1491614" y="4025328"/>
            <a:ext cx="397510" cy="391795"/>
          </a:xfrm>
          <a:prstGeom prst="rect">
            <a:avLst/>
          </a:prstGeom>
        </p:spPr>
        <p:txBody>
          <a:bodyPr vert="horz" wrap="square" lIns="0" tIns="12700" rIns="0" bIns="0" rtlCol="0">
            <a:spAutoFit/>
          </a:bodyPr>
          <a:lstStyle/>
          <a:p>
            <a:pPr marL="12700">
              <a:lnSpc>
                <a:spcPct val="100000"/>
              </a:lnSpc>
              <a:spcBef>
                <a:spcPts val="100"/>
              </a:spcBef>
            </a:pPr>
            <a:r>
              <a:rPr sz="2400" spc="-80" dirty="0">
                <a:latin typeface="Times New Roman"/>
                <a:cs typeface="Times New Roman"/>
              </a:rPr>
              <a:t>brk</a:t>
            </a:r>
            <a:endParaRPr sz="2400">
              <a:latin typeface="Times New Roman"/>
              <a:cs typeface="Times New Roman"/>
            </a:endParaRPr>
          </a:p>
        </p:txBody>
      </p:sp>
      <p:sp>
        <p:nvSpPr>
          <p:cNvPr id="14" name="object 14"/>
          <p:cNvSpPr/>
          <p:nvPr/>
        </p:nvSpPr>
        <p:spPr>
          <a:xfrm>
            <a:off x="1995423" y="4233926"/>
            <a:ext cx="581025" cy="76200"/>
          </a:xfrm>
          <a:custGeom>
            <a:avLst/>
            <a:gdLst/>
            <a:ahLst/>
            <a:cxnLst/>
            <a:rect l="l" t="t" r="r" b="b"/>
            <a:pathLst>
              <a:path w="581025" h="76200">
                <a:moveTo>
                  <a:pt x="504825" y="0"/>
                </a:moveTo>
                <a:lnTo>
                  <a:pt x="504825" y="76073"/>
                </a:lnTo>
                <a:lnTo>
                  <a:pt x="568282" y="44450"/>
                </a:lnTo>
                <a:lnTo>
                  <a:pt x="517525" y="44450"/>
                </a:lnTo>
                <a:lnTo>
                  <a:pt x="517525" y="31750"/>
                </a:lnTo>
                <a:lnTo>
                  <a:pt x="568325" y="31750"/>
                </a:lnTo>
                <a:lnTo>
                  <a:pt x="504825" y="0"/>
                </a:lnTo>
                <a:close/>
              </a:path>
              <a:path w="581025" h="76200">
                <a:moveTo>
                  <a:pt x="504825" y="31750"/>
                </a:moveTo>
                <a:lnTo>
                  <a:pt x="0" y="31750"/>
                </a:lnTo>
                <a:lnTo>
                  <a:pt x="0" y="44450"/>
                </a:lnTo>
                <a:lnTo>
                  <a:pt x="504825" y="44450"/>
                </a:lnTo>
                <a:lnTo>
                  <a:pt x="504825" y="31750"/>
                </a:lnTo>
                <a:close/>
              </a:path>
              <a:path w="581025" h="76200">
                <a:moveTo>
                  <a:pt x="568325" y="31750"/>
                </a:moveTo>
                <a:lnTo>
                  <a:pt x="517525" y="31750"/>
                </a:lnTo>
                <a:lnTo>
                  <a:pt x="517525" y="44450"/>
                </a:lnTo>
                <a:lnTo>
                  <a:pt x="568282" y="44450"/>
                </a:lnTo>
                <a:lnTo>
                  <a:pt x="581025" y="38100"/>
                </a:lnTo>
                <a:lnTo>
                  <a:pt x="568325" y="31750"/>
                </a:lnTo>
                <a:close/>
              </a:path>
            </a:pathLst>
          </a:custGeom>
          <a:solidFill>
            <a:srgbClr val="000000"/>
          </a:solidFill>
        </p:spPr>
        <p:txBody>
          <a:bodyPr wrap="square" lIns="0" tIns="0" rIns="0" bIns="0" rtlCol="0"/>
          <a:lstStyle/>
          <a:p>
            <a:endParaRPr/>
          </a:p>
        </p:txBody>
      </p:sp>
      <p:sp>
        <p:nvSpPr>
          <p:cNvPr id="15" name="object 15"/>
          <p:cNvSpPr/>
          <p:nvPr/>
        </p:nvSpPr>
        <p:spPr>
          <a:xfrm>
            <a:off x="2300351" y="5110226"/>
            <a:ext cx="276225" cy="647700"/>
          </a:xfrm>
          <a:custGeom>
            <a:avLst/>
            <a:gdLst/>
            <a:ahLst/>
            <a:cxnLst/>
            <a:rect l="l" t="t" r="r" b="b"/>
            <a:pathLst>
              <a:path w="276225" h="647700">
                <a:moveTo>
                  <a:pt x="276225" y="647636"/>
                </a:moveTo>
                <a:lnTo>
                  <a:pt x="222434" y="643320"/>
                </a:lnTo>
                <a:lnTo>
                  <a:pt x="178514" y="631550"/>
                </a:lnTo>
                <a:lnTo>
                  <a:pt x="148905" y="614091"/>
                </a:lnTo>
                <a:lnTo>
                  <a:pt x="138049" y="592709"/>
                </a:lnTo>
                <a:lnTo>
                  <a:pt x="138049" y="378714"/>
                </a:lnTo>
                <a:lnTo>
                  <a:pt x="127194" y="357336"/>
                </a:lnTo>
                <a:lnTo>
                  <a:pt x="97599" y="339899"/>
                </a:lnTo>
                <a:lnTo>
                  <a:pt x="53717" y="328154"/>
                </a:lnTo>
                <a:lnTo>
                  <a:pt x="0" y="323850"/>
                </a:lnTo>
                <a:lnTo>
                  <a:pt x="53717" y="319526"/>
                </a:lnTo>
                <a:lnTo>
                  <a:pt x="97599" y="307736"/>
                </a:lnTo>
                <a:lnTo>
                  <a:pt x="127194" y="290256"/>
                </a:lnTo>
                <a:lnTo>
                  <a:pt x="138049" y="268859"/>
                </a:lnTo>
                <a:lnTo>
                  <a:pt x="138049" y="54863"/>
                </a:lnTo>
                <a:lnTo>
                  <a:pt x="148905" y="33486"/>
                </a:lnTo>
                <a:lnTo>
                  <a:pt x="178514" y="16049"/>
                </a:lnTo>
                <a:lnTo>
                  <a:pt x="222434" y="4304"/>
                </a:lnTo>
                <a:lnTo>
                  <a:pt x="276225" y="0"/>
                </a:lnTo>
              </a:path>
            </a:pathLst>
          </a:custGeom>
          <a:ln w="9525">
            <a:solidFill>
              <a:srgbClr val="000000"/>
            </a:solidFill>
          </a:ln>
        </p:spPr>
        <p:txBody>
          <a:bodyPr wrap="square" lIns="0" tIns="0" rIns="0" bIns="0" rtlCol="0"/>
          <a:lstStyle/>
          <a:p>
            <a:endParaRPr/>
          </a:p>
        </p:txBody>
      </p:sp>
      <p:sp>
        <p:nvSpPr>
          <p:cNvPr id="16" name="object 16"/>
          <p:cNvSpPr txBox="1"/>
          <p:nvPr/>
        </p:nvSpPr>
        <p:spPr>
          <a:xfrm>
            <a:off x="1122680" y="5001196"/>
            <a:ext cx="1134110" cy="763905"/>
          </a:xfrm>
          <a:prstGeom prst="rect">
            <a:avLst/>
          </a:prstGeom>
        </p:spPr>
        <p:txBody>
          <a:bodyPr vert="horz" wrap="square" lIns="0" tIns="6350" rIns="0" bIns="0" rtlCol="0">
            <a:spAutoFit/>
          </a:bodyPr>
          <a:lstStyle/>
          <a:p>
            <a:pPr marL="12700" marR="5080" indent="116839">
              <a:lnSpc>
                <a:spcPct val="101800"/>
              </a:lnSpc>
              <a:spcBef>
                <a:spcPts val="50"/>
              </a:spcBef>
            </a:pPr>
            <a:r>
              <a:rPr sz="2400" spc="-10" dirty="0">
                <a:latin typeface="Times New Roman"/>
                <a:cs typeface="Times New Roman"/>
              </a:rPr>
              <a:t>Loaded </a:t>
            </a:r>
            <a:r>
              <a:rPr sz="2400" spc="-110" dirty="0">
                <a:latin typeface="Times New Roman"/>
                <a:cs typeface="Times New Roman"/>
              </a:rPr>
              <a:t>from</a:t>
            </a:r>
            <a:r>
              <a:rPr sz="2400" spc="-45" dirty="0">
                <a:latin typeface="Times New Roman"/>
                <a:cs typeface="Times New Roman"/>
              </a:rPr>
              <a:t> </a:t>
            </a:r>
            <a:r>
              <a:rPr sz="2400" spc="-125" dirty="0">
                <a:latin typeface="Times New Roman"/>
                <a:cs typeface="Times New Roman"/>
              </a:rPr>
              <a:t>exec</a:t>
            </a:r>
            <a:endParaRPr sz="2400">
              <a:latin typeface="Times New Roman"/>
              <a:cs typeface="Times New Roman"/>
            </a:endParaRPr>
          </a:p>
        </p:txBody>
      </p:sp>
      <p:sp>
        <p:nvSpPr>
          <p:cNvPr id="17" name="object 17"/>
          <p:cNvSpPr txBox="1"/>
          <p:nvPr/>
        </p:nvSpPr>
        <p:spPr>
          <a:xfrm>
            <a:off x="5562853" y="5383276"/>
            <a:ext cx="1534160" cy="941069"/>
          </a:xfrm>
          <a:prstGeom prst="rect">
            <a:avLst/>
          </a:prstGeom>
        </p:spPr>
        <p:txBody>
          <a:bodyPr vert="horz" wrap="square" lIns="0" tIns="104775" rIns="0" bIns="0" rtlCol="0">
            <a:spAutoFit/>
          </a:bodyPr>
          <a:lstStyle/>
          <a:p>
            <a:pPr marL="126364">
              <a:lnSpc>
                <a:spcPct val="100000"/>
              </a:lnSpc>
              <a:spcBef>
                <a:spcPts val="825"/>
              </a:spcBef>
            </a:pPr>
            <a:r>
              <a:rPr sz="2400" spc="-105" dirty="0">
                <a:latin typeface="Times New Roman"/>
                <a:cs typeface="Times New Roman"/>
              </a:rPr>
              <a:t>0x08048000</a:t>
            </a:r>
            <a:endParaRPr sz="2400">
              <a:latin typeface="Times New Roman"/>
              <a:cs typeface="Times New Roman"/>
            </a:endParaRPr>
          </a:p>
          <a:p>
            <a:pPr marL="12700">
              <a:lnSpc>
                <a:spcPct val="100000"/>
              </a:lnSpc>
              <a:spcBef>
                <a:spcPts val="725"/>
              </a:spcBef>
            </a:pPr>
            <a:r>
              <a:rPr sz="2400" spc="-50" dirty="0">
                <a:latin typeface="Times New Roman"/>
                <a:cs typeface="Times New Roman"/>
              </a:rPr>
              <a:t>0</a:t>
            </a:r>
            <a:endParaRPr sz="2400">
              <a:latin typeface="Times New Roman"/>
              <a:cs typeface="Times New Roman"/>
            </a:endParaRPr>
          </a:p>
        </p:txBody>
      </p:sp>
      <p:pic>
        <p:nvPicPr>
          <p:cNvPr id="18" name="object 18"/>
          <p:cNvPicPr/>
          <p:nvPr/>
        </p:nvPicPr>
        <p:blipFill>
          <a:blip r:embed="rId3" cstate="print"/>
          <a:stretch>
            <a:fillRect/>
          </a:stretch>
        </p:blipFill>
        <p:spPr>
          <a:xfrm>
            <a:off x="457200" y="6248400"/>
            <a:ext cx="476250" cy="381000"/>
          </a:xfrm>
          <a:prstGeom prst="rect">
            <a:avLst/>
          </a:prstGeom>
        </p:spPr>
      </p:pic>
      <p:sp>
        <p:nvSpPr>
          <p:cNvPr id="19" name="object 19"/>
          <p:cNvSpPr txBox="1">
            <a:spLocks noGrp="1"/>
          </p:cNvSpPr>
          <p:nvPr>
            <p:ph type="ftr" sz="quarter" idx="5"/>
          </p:nvPr>
        </p:nvSpPr>
        <p:spPr>
          <a:prstGeom prst="rect">
            <a:avLst/>
          </a:prstGeom>
        </p:spPr>
        <p:txBody>
          <a:bodyPr vert="horz" wrap="square" lIns="0" tIns="76200" rIns="0" bIns="0" rtlCol="0">
            <a:spAutoFit/>
          </a:bodyPr>
          <a:lstStyle/>
          <a:p>
            <a:pPr marL="165100">
              <a:lnSpc>
                <a:spcPts val="1550"/>
              </a:lnSpc>
            </a:pPr>
            <a:r>
              <a:rPr spc="-180" dirty="0"/>
              <a:t>FAST-</a:t>
            </a:r>
            <a:r>
              <a:rPr spc="-100" dirty="0"/>
              <a:t>NUCES</a:t>
            </a:r>
          </a:p>
        </p:txBody>
      </p:sp>
      <p:sp>
        <p:nvSpPr>
          <p:cNvPr id="21" name="TextBox 20">
            <a:extLst>
              <a:ext uri="{FF2B5EF4-FFF2-40B4-BE49-F238E27FC236}">
                <a16:creationId xmlns:a16="http://schemas.microsoft.com/office/drawing/2014/main" id="{43FBC569-DD13-8240-7A1B-FEB42487588E}"/>
              </a:ext>
            </a:extLst>
          </p:cNvPr>
          <p:cNvSpPr txBox="1"/>
          <p:nvPr/>
        </p:nvSpPr>
        <p:spPr>
          <a:xfrm>
            <a:off x="5670296" y="1613118"/>
            <a:ext cx="3021626" cy="1815882"/>
          </a:xfrm>
          <a:prstGeom prst="rect">
            <a:avLst/>
          </a:prstGeom>
          <a:noFill/>
        </p:spPr>
        <p:txBody>
          <a:bodyPr wrap="square">
            <a:spAutoFit/>
          </a:bodyPr>
          <a:lstStyle/>
          <a:p>
            <a:pPr marL="285750" indent="-285750">
              <a:buFont typeface="Arial" panose="020B0604020202020204" pitchFamily="34" charset="0"/>
              <a:buChar char="•"/>
            </a:pPr>
            <a:r>
              <a:rPr lang="en-US" sz="1600" i="1" dirty="0"/>
              <a:t>Every process has different memory regions: code, data, heap, and stack. </a:t>
            </a:r>
          </a:p>
          <a:p>
            <a:pPr marL="285750" indent="-285750">
              <a:buFont typeface="Arial" panose="020B0604020202020204" pitchFamily="34" charset="0"/>
              <a:buChar char="•"/>
            </a:pPr>
            <a:r>
              <a:rPr lang="en-US" sz="1600" i="1" dirty="0"/>
              <a:t>The attacker’s goal is usually to </a:t>
            </a:r>
            <a:r>
              <a:rPr lang="en-US" sz="1600" b="1" i="1" dirty="0"/>
              <a:t>inject code into the stack or heap</a:t>
            </a:r>
            <a:r>
              <a:rPr lang="en-US" sz="1600" i="1" dirty="0"/>
              <a:t> and trick the program into running it.</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512634" y="3519551"/>
            <a:ext cx="3505200" cy="762000"/>
          </a:xfrm>
          <a:custGeom>
            <a:avLst/>
            <a:gdLst/>
            <a:ahLst/>
            <a:cxnLst/>
            <a:rect l="l" t="t" r="r" b="b"/>
            <a:pathLst>
              <a:path w="3505200" h="762000">
                <a:moveTo>
                  <a:pt x="0" y="762000"/>
                </a:moveTo>
                <a:lnTo>
                  <a:pt x="3505200" y="762000"/>
                </a:lnTo>
                <a:lnTo>
                  <a:pt x="3505200" y="0"/>
                </a:lnTo>
                <a:lnTo>
                  <a:pt x="0" y="0"/>
                </a:lnTo>
                <a:lnTo>
                  <a:pt x="0" y="762000"/>
                </a:lnTo>
                <a:close/>
              </a:path>
            </a:pathLst>
          </a:custGeom>
          <a:ln w="9525">
            <a:solidFill>
              <a:srgbClr val="000000"/>
            </a:solidFill>
          </a:ln>
        </p:spPr>
        <p:txBody>
          <a:bodyPr wrap="square" lIns="0" tIns="0" rIns="0" bIns="0" rtlCol="0"/>
          <a:lstStyle/>
          <a:p>
            <a:endParaRPr/>
          </a:p>
        </p:txBody>
      </p:sp>
      <p:sp>
        <p:nvSpPr>
          <p:cNvPr id="3" name="object 3"/>
          <p:cNvSpPr txBox="1"/>
          <p:nvPr/>
        </p:nvSpPr>
        <p:spPr>
          <a:xfrm>
            <a:off x="1517364" y="3543363"/>
            <a:ext cx="3448050" cy="733425"/>
          </a:xfrm>
          <a:prstGeom prst="rect">
            <a:avLst/>
          </a:prstGeom>
          <a:solidFill>
            <a:srgbClr val="BEBEBE"/>
          </a:solidFill>
        </p:spPr>
        <p:txBody>
          <a:bodyPr vert="horz" wrap="square" lIns="0" tIns="129540" rIns="0" bIns="0" rtlCol="0">
            <a:spAutoFit/>
          </a:bodyPr>
          <a:lstStyle/>
          <a:p>
            <a:pPr marL="706755">
              <a:lnSpc>
                <a:spcPct val="100000"/>
              </a:lnSpc>
              <a:spcBef>
                <a:spcPts val="1020"/>
              </a:spcBef>
            </a:pPr>
            <a:r>
              <a:rPr sz="2400" spc="-100" dirty="0">
                <a:latin typeface="Times New Roman"/>
                <a:cs typeface="Times New Roman"/>
              </a:rPr>
              <a:t>exception</a:t>
            </a:r>
            <a:r>
              <a:rPr sz="2400" dirty="0">
                <a:latin typeface="Times New Roman"/>
                <a:cs typeface="Times New Roman"/>
              </a:rPr>
              <a:t> </a:t>
            </a:r>
            <a:r>
              <a:rPr sz="2400" spc="-10" dirty="0">
                <a:latin typeface="Times New Roman"/>
                <a:cs typeface="Times New Roman"/>
              </a:rPr>
              <a:t>handlers</a:t>
            </a:r>
            <a:endParaRPr sz="2400">
              <a:latin typeface="Times New Roman"/>
              <a:cs typeface="Times New Roman"/>
            </a:endParaRPr>
          </a:p>
        </p:txBody>
      </p:sp>
      <p:sp>
        <p:nvSpPr>
          <p:cNvPr id="4" name="object 4"/>
          <p:cNvSpPr txBox="1">
            <a:spLocks noGrp="1"/>
          </p:cNvSpPr>
          <p:nvPr>
            <p:ph type="title"/>
          </p:nvPr>
        </p:nvSpPr>
        <p:spPr>
          <a:xfrm>
            <a:off x="458771" y="111894"/>
            <a:ext cx="7171055" cy="575310"/>
          </a:xfrm>
          <a:prstGeom prst="rect">
            <a:avLst/>
          </a:prstGeom>
        </p:spPr>
        <p:txBody>
          <a:bodyPr vert="horz" wrap="square" lIns="0" tIns="13335" rIns="0" bIns="0" rtlCol="0">
            <a:spAutoFit/>
          </a:bodyPr>
          <a:lstStyle/>
          <a:p>
            <a:pPr marL="12700">
              <a:lnSpc>
                <a:spcPct val="100000"/>
              </a:lnSpc>
              <a:spcBef>
                <a:spcPts val="105"/>
              </a:spcBef>
            </a:pPr>
            <a:r>
              <a:rPr dirty="0"/>
              <a:t>Stack</a:t>
            </a:r>
            <a:r>
              <a:rPr spc="-25" dirty="0"/>
              <a:t> </a:t>
            </a:r>
            <a:r>
              <a:rPr dirty="0"/>
              <a:t>Frame</a:t>
            </a:r>
            <a:r>
              <a:rPr spc="-5" dirty="0"/>
              <a:t> </a:t>
            </a:r>
            <a:r>
              <a:rPr sz="2000" dirty="0"/>
              <a:t>(created</a:t>
            </a:r>
            <a:r>
              <a:rPr sz="2000" spc="-30" dirty="0"/>
              <a:t> </a:t>
            </a:r>
            <a:r>
              <a:rPr sz="2000" dirty="0"/>
              <a:t>every</a:t>
            </a:r>
            <a:r>
              <a:rPr sz="2000" spc="-35" dirty="0"/>
              <a:t> </a:t>
            </a:r>
            <a:r>
              <a:rPr sz="2000" dirty="0"/>
              <a:t>time</a:t>
            </a:r>
            <a:r>
              <a:rPr sz="2000" spc="-30" dirty="0"/>
              <a:t> </a:t>
            </a:r>
            <a:r>
              <a:rPr sz="2000" dirty="0"/>
              <a:t>a</a:t>
            </a:r>
            <a:r>
              <a:rPr sz="2000" spc="10" dirty="0"/>
              <a:t> </a:t>
            </a:r>
            <a:r>
              <a:rPr sz="2000" dirty="0"/>
              <a:t>new</a:t>
            </a:r>
            <a:r>
              <a:rPr sz="2000" spc="-30" dirty="0"/>
              <a:t> </a:t>
            </a:r>
            <a:r>
              <a:rPr sz="2000" dirty="0"/>
              <a:t>function</a:t>
            </a:r>
            <a:r>
              <a:rPr sz="2000" spc="-25" dirty="0"/>
              <a:t> </a:t>
            </a:r>
            <a:r>
              <a:rPr sz="2000" dirty="0"/>
              <a:t>is</a:t>
            </a:r>
            <a:r>
              <a:rPr sz="2000" spc="-30" dirty="0"/>
              <a:t> </a:t>
            </a:r>
            <a:r>
              <a:rPr sz="2000" spc="-10" dirty="0"/>
              <a:t>invoked)</a:t>
            </a:r>
            <a:endParaRPr sz="2000"/>
          </a:p>
        </p:txBody>
      </p:sp>
      <p:grpSp>
        <p:nvGrpSpPr>
          <p:cNvPr id="5" name="object 5"/>
          <p:cNvGrpSpPr/>
          <p:nvPr/>
        </p:nvGrpSpPr>
        <p:grpSpPr>
          <a:xfrm>
            <a:off x="1488821" y="1314513"/>
            <a:ext cx="3514725" cy="1276350"/>
            <a:chOff x="2495613" y="1314513"/>
            <a:chExt cx="3514725" cy="1276350"/>
          </a:xfrm>
        </p:grpSpPr>
        <p:sp>
          <p:nvSpPr>
            <p:cNvPr id="6" name="object 6"/>
            <p:cNvSpPr/>
            <p:nvPr/>
          </p:nvSpPr>
          <p:spPr>
            <a:xfrm>
              <a:off x="2500376" y="1381124"/>
              <a:ext cx="3505200" cy="1205230"/>
            </a:xfrm>
            <a:custGeom>
              <a:avLst/>
              <a:gdLst/>
              <a:ahLst/>
              <a:cxnLst/>
              <a:rect l="l" t="t" r="r" b="b"/>
              <a:pathLst>
                <a:path w="3505200" h="1205230">
                  <a:moveTo>
                    <a:pt x="0" y="1204976"/>
                  </a:moveTo>
                  <a:lnTo>
                    <a:pt x="3505200" y="1204976"/>
                  </a:lnTo>
                  <a:lnTo>
                    <a:pt x="3505200" y="0"/>
                  </a:lnTo>
                  <a:lnTo>
                    <a:pt x="0" y="0"/>
                  </a:lnTo>
                  <a:lnTo>
                    <a:pt x="0" y="1204976"/>
                  </a:lnTo>
                  <a:close/>
                </a:path>
              </a:pathLst>
            </a:custGeom>
            <a:solidFill>
              <a:srgbClr val="BEBEBE"/>
            </a:solidFill>
          </p:spPr>
          <p:txBody>
            <a:bodyPr wrap="square" lIns="0" tIns="0" rIns="0" bIns="0" rtlCol="0"/>
            <a:lstStyle/>
            <a:p>
              <a:endParaRPr/>
            </a:p>
          </p:txBody>
        </p:sp>
        <p:sp>
          <p:nvSpPr>
            <p:cNvPr id="7" name="object 7"/>
            <p:cNvSpPr/>
            <p:nvPr/>
          </p:nvSpPr>
          <p:spPr>
            <a:xfrm>
              <a:off x="2500376" y="1319275"/>
              <a:ext cx="3505200" cy="1266825"/>
            </a:xfrm>
            <a:custGeom>
              <a:avLst/>
              <a:gdLst/>
              <a:ahLst/>
              <a:cxnLst/>
              <a:rect l="l" t="t" r="r" b="b"/>
              <a:pathLst>
                <a:path w="3505200" h="1266825">
                  <a:moveTo>
                    <a:pt x="0" y="1266825"/>
                  </a:moveTo>
                  <a:lnTo>
                    <a:pt x="3505200" y="1266825"/>
                  </a:lnTo>
                  <a:lnTo>
                    <a:pt x="3505200" y="0"/>
                  </a:lnTo>
                  <a:lnTo>
                    <a:pt x="0" y="0"/>
                  </a:lnTo>
                  <a:lnTo>
                    <a:pt x="0" y="1266825"/>
                  </a:lnTo>
                  <a:close/>
                </a:path>
              </a:pathLst>
            </a:custGeom>
            <a:ln w="9525">
              <a:solidFill>
                <a:srgbClr val="000000"/>
              </a:solidFill>
            </a:ln>
          </p:spPr>
          <p:txBody>
            <a:bodyPr wrap="square" lIns="0" tIns="0" rIns="0" bIns="0" rtlCol="0"/>
            <a:lstStyle/>
            <a:p>
              <a:endParaRPr/>
            </a:p>
          </p:txBody>
        </p:sp>
      </p:grpSp>
      <p:sp>
        <p:nvSpPr>
          <p:cNvPr id="8" name="object 8"/>
          <p:cNvSpPr txBox="1"/>
          <p:nvPr/>
        </p:nvSpPr>
        <p:spPr>
          <a:xfrm>
            <a:off x="2551367" y="1707895"/>
            <a:ext cx="1393825" cy="392430"/>
          </a:xfrm>
          <a:prstGeom prst="rect">
            <a:avLst/>
          </a:prstGeom>
        </p:spPr>
        <p:txBody>
          <a:bodyPr vert="horz" wrap="square" lIns="0" tIns="13335" rIns="0" bIns="0" rtlCol="0">
            <a:spAutoFit/>
          </a:bodyPr>
          <a:lstStyle/>
          <a:p>
            <a:pPr marL="12700">
              <a:lnSpc>
                <a:spcPct val="100000"/>
              </a:lnSpc>
              <a:spcBef>
                <a:spcPts val="105"/>
              </a:spcBef>
            </a:pPr>
            <a:r>
              <a:rPr sz="2400" b="1" spc="-20" dirty="0">
                <a:latin typeface="Times New Roman"/>
                <a:cs typeface="Times New Roman"/>
              </a:rPr>
              <a:t>arguments</a:t>
            </a:r>
            <a:endParaRPr sz="2400">
              <a:latin typeface="Times New Roman"/>
              <a:cs typeface="Times New Roman"/>
            </a:endParaRPr>
          </a:p>
        </p:txBody>
      </p:sp>
      <p:sp>
        <p:nvSpPr>
          <p:cNvPr id="9" name="object 9"/>
          <p:cNvSpPr/>
          <p:nvPr/>
        </p:nvSpPr>
        <p:spPr>
          <a:xfrm>
            <a:off x="1493584" y="2605151"/>
            <a:ext cx="3505200" cy="457200"/>
          </a:xfrm>
          <a:custGeom>
            <a:avLst/>
            <a:gdLst/>
            <a:ahLst/>
            <a:cxnLst/>
            <a:rect l="l" t="t" r="r" b="b"/>
            <a:pathLst>
              <a:path w="3505200" h="457200">
                <a:moveTo>
                  <a:pt x="0" y="457200"/>
                </a:moveTo>
                <a:lnTo>
                  <a:pt x="3505200" y="457200"/>
                </a:lnTo>
                <a:lnTo>
                  <a:pt x="3505200" y="0"/>
                </a:lnTo>
                <a:lnTo>
                  <a:pt x="0" y="0"/>
                </a:lnTo>
                <a:lnTo>
                  <a:pt x="0" y="457200"/>
                </a:lnTo>
                <a:close/>
              </a:path>
            </a:pathLst>
          </a:custGeom>
          <a:ln w="9525">
            <a:solidFill>
              <a:srgbClr val="000000"/>
            </a:solidFill>
          </a:ln>
        </p:spPr>
        <p:txBody>
          <a:bodyPr wrap="square" lIns="0" tIns="0" rIns="0" bIns="0" rtlCol="0"/>
          <a:lstStyle/>
          <a:p>
            <a:endParaRPr/>
          </a:p>
        </p:txBody>
      </p:sp>
      <p:sp>
        <p:nvSpPr>
          <p:cNvPr id="10" name="object 10"/>
          <p:cNvSpPr txBox="1"/>
          <p:nvPr/>
        </p:nvSpPr>
        <p:spPr>
          <a:xfrm>
            <a:off x="1517333" y="2600388"/>
            <a:ext cx="3448050" cy="466725"/>
          </a:xfrm>
          <a:prstGeom prst="rect">
            <a:avLst/>
          </a:prstGeom>
          <a:solidFill>
            <a:srgbClr val="BEBEBE"/>
          </a:solidFill>
        </p:spPr>
        <p:txBody>
          <a:bodyPr vert="horz" wrap="square" lIns="0" tIns="635" rIns="0" bIns="0" rtlCol="0">
            <a:spAutoFit/>
          </a:bodyPr>
          <a:lstStyle/>
          <a:p>
            <a:pPr marL="783590">
              <a:lnSpc>
                <a:spcPct val="100000"/>
              </a:lnSpc>
              <a:spcBef>
                <a:spcPts val="5"/>
              </a:spcBef>
            </a:pPr>
            <a:r>
              <a:rPr sz="2400" b="1" dirty="0">
                <a:latin typeface="Times New Roman"/>
                <a:cs typeface="Times New Roman"/>
              </a:rPr>
              <a:t>return</a:t>
            </a:r>
            <a:r>
              <a:rPr sz="2400" b="1" spc="-105" dirty="0">
                <a:latin typeface="Times New Roman"/>
                <a:cs typeface="Times New Roman"/>
              </a:rPr>
              <a:t> </a:t>
            </a:r>
            <a:r>
              <a:rPr sz="2400" b="1" spc="-10" dirty="0">
                <a:latin typeface="Times New Roman"/>
                <a:cs typeface="Times New Roman"/>
              </a:rPr>
              <a:t>address</a:t>
            </a:r>
            <a:endParaRPr sz="2400">
              <a:latin typeface="Times New Roman"/>
              <a:cs typeface="Times New Roman"/>
            </a:endParaRPr>
          </a:p>
        </p:txBody>
      </p:sp>
      <p:sp>
        <p:nvSpPr>
          <p:cNvPr id="11" name="object 11"/>
          <p:cNvSpPr/>
          <p:nvPr/>
        </p:nvSpPr>
        <p:spPr>
          <a:xfrm>
            <a:off x="1493584" y="3081401"/>
            <a:ext cx="3505200" cy="457200"/>
          </a:xfrm>
          <a:custGeom>
            <a:avLst/>
            <a:gdLst/>
            <a:ahLst/>
            <a:cxnLst/>
            <a:rect l="l" t="t" r="r" b="b"/>
            <a:pathLst>
              <a:path w="3505200" h="457200">
                <a:moveTo>
                  <a:pt x="0" y="457200"/>
                </a:moveTo>
                <a:lnTo>
                  <a:pt x="3505200" y="457200"/>
                </a:lnTo>
                <a:lnTo>
                  <a:pt x="3505200" y="0"/>
                </a:lnTo>
                <a:lnTo>
                  <a:pt x="0" y="0"/>
                </a:lnTo>
                <a:lnTo>
                  <a:pt x="0" y="457200"/>
                </a:lnTo>
                <a:close/>
              </a:path>
            </a:pathLst>
          </a:custGeom>
          <a:ln w="9525">
            <a:solidFill>
              <a:srgbClr val="000000"/>
            </a:solidFill>
          </a:ln>
        </p:spPr>
        <p:txBody>
          <a:bodyPr wrap="square" lIns="0" tIns="0" rIns="0" bIns="0" rtlCol="0"/>
          <a:lstStyle/>
          <a:p>
            <a:endParaRPr/>
          </a:p>
        </p:txBody>
      </p:sp>
      <p:sp>
        <p:nvSpPr>
          <p:cNvPr id="12" name="object 12"/>
          <p:cNvSpPr txBox="1"/>
          <p:nvPr/>
        </p:nvSpPr>
        <p:spPr>
          <a:xfrm>
            <a:off x="1517333" y="3076638"/>
            <a:ext cx="3448050" cy="457200"/>
          </a:xfrm>
          <a:prstGeom prst="rect">
            <a:avLst/>
          </a:prstGeom>
          <a:solidFill>
            <a:srgbClr val="BEBEBE"/>
          </a:solidFill>
        </p:spPr>
        <p:txBody>
          <a:bodyPr vert="horz" wrap="square" lIns="0" tIns="0" rIns="0" bIns="0" rtlCol="0">
            <a:spAutoFit/>
          </a:bodyPr>
          <a:lstStyle/>
          <a:p>
            <a:pPr marL="466725">
              <a:lnSpc>
                <a:spcPts val="2880"/>
              </a:lnSpc>
            </a:pPr>
            <a:r>
              <a:rPr sz="2400" b="1" dirty="0">
                <a:latin typeface="Times New Roman"/>
                <a:cs typeface="Times New Roman"/>
              </a:rPr>
              <a:t>stack</a:t>
            </a:r>
            <a:r>
              <a:rPr sz="2400" b="1" spc="-85" dirty="0">
                <a:latin typeface="Times New Roman"/>
                <a:cs typeface="Times New Roman"/>
              </a:rPr>
              <a:t> </a:t>
            </a:r>
            <a:r>
              <a:rPr sz="2400" b="1" spc="-65" dirty="0">
                <a:latin typeface="Times New Roman"/>
                <a:cs typeface="Times New Roman"/>
              </a:rPr>
              <a:t>frame</a:t>
            </a:r>
            <a:r>
              <a:rPr sz="2400" b="1" spc="-85" dirty="0">
                <a:latin typeface="Times New Roman"/>
                <a:cs typeface="Times New Roman"/>
              </a:rPr>
              <a:t> </a:t>
            </a:r>
            <a:r>
              <a:rPr sz="2400" b="1" spc="-10" dirty="0">
                <a:latin typeface="Times New Roman"/>
                <a:cs typeface="Times New Roman"/>
              </a:rPr>
              <a:t>pointer</a:t>
            </a:r>
            <a:endParaRPr sz="2400">
              <a:latin typeface="Times New Roman"/>
              <a:cs typeface="Times New Roman"/>
            </a:endParaRPr>
          </a:p>
        </p:txBody>
      </p:sp>
      <p:grpSp>
        <p:nvGrpSpPr>
          <p:cNvPr id="13" name="object 13"/>
          <p:cNvGrpSpPr/>
          <p:nvPr/>
        </p:nvGrpSpPr>
        <p:grpSpPr>
          <a:xfrm>
            <a:off x="1488821" y="4276788"/>
            <a:ext cx="3514725" cy="904875"/>
            <a:chOff x="2495613" y="4276788"/>
            <a:chExt cx="3514725" cy="904875"/>
          </a:xfrm>
        </p:grpSpPr>
        <p:sp>
          <p:nvSpPr>
            <p:cNvPr id="14" name="object 14"/>
            <p:cNvSpPr/>
            <p:nvPr/>
          </p:nvSpPr>
          <p:spPr>
            <a:xfrm>
              <a:off x="2500376" y="4281551"/>
              <a:ext cx="3505200" cy="895350"/>
            </a:xfrm>
            <a:custGeom>
              <a:avLst/>
              <a:gdLst/>
              <a:ahLst/>
              <a:cxnLst/>
              <a:rect l="l" t="t" r="r" b="b"/>
              <a:pathLst>
                <a:path w="3505200" h="895350">
                  <a:moveTo>
                    <a:pt x="3505200" y="0"/>
                  </a:moveTo>
                  <a:lnTo>
                    <a:pt x="0" y="0"/>
                  </a:lnTo>
                  <a:lnTo>
                    <a:pt x="0" y="895350"/>
                  </a:lnTo>
                  <a:lnTo>
                    <a:pt x="3505200" y="895350"/>
                  </a:lnTo>
                  <a:lnTo>
                    <a:pt x="3505200" y="0"/>
                  </a:lnTo>
                  <a:close/>
                </a:path>
              </a:pathLst>
            </a:custGeom>
            <a:solidFill>
              <a:srgbClr val="BEBEBE"/>
            </a:solidFill>
          </p:spPr>
          <p:txBody>
            <a:bodyPr wrap="square" lIns="0" tIns="0" rIns="0" bIns="0" rtlCol="0"/>
            <a:lstStyle/>
            <a:p>
              <a:endParaRPr/>
            </a:p>
          </p:txBody>
        </p:sp>
        <p:sp>
          <p:nvSpPr>
            <p:cNvPr id="15" name="object 15"/>
            <p:cNvSpPr/>
            <p:nvPr/>
          </p:nvSpPr>
          <p:spPr>
            <a:xfrm>
              <a:off x="2500376" y="4281551"/>
              <a:ext cx="3505200" cy="895350"/>
            </a:xfrm>
            <a:custGeom>
              <a:avLst/>
              <a:gdLst/>
              <a:ahLst/>
              <a:cxnLst/>
              <a:rect l="l" t="t" r="r" b="b"/>
              <a:pathLst>
                <a:path w="3505200" h="895350">
                  <a:moveTo>
                    <a:pt x="0" y="895350"/>
                  </a:moveTo>
                  <a:lnTo>
                    <a:pt x="3505200" y="895350"/>
                  </a:lnTo>
                  <a:lnTo>
                    <a:pt x="3505200" y="0"/>
                  </a:lnTo>
                  <a:lnTo>
                    <a:pt x="0" y="0"/>
                  </a:lnTo>
                  <a:lnTo>
                    <a:pt x="0" y="895350"/>
                  </a:lnTo>
                  <a:close/>
                </a:path>
              </a:pathLst>
            </a:custGeom>
            <a:ln w="9525">
              <a:solidFill>
                <a:srgbClr val="000000"/>
              </a:solidFill>
            </a:ln>
          </p:spPr>
          <p:txBody>
            <a:bodyPr wrap="square" lIns="0" tIns="0" rIns="0" bIns="0" rtlCol="0"/>
            <a:lstStyle/>
            <a:p>
              <a:endParaRPr/>
            </a:p>
          </p:txBody>
        </p:sp>
      </p:grpSp>
      <p:sp>
        <p:nvSpPr>
          <p:cNvPr id="16" name="object 16"/>
          <p:cNvSpPr txBox="1"/>
          <p:nvPr/>
        </p:nvSpPr>
        <p:spPr>
          <a:xfrm>
            <a:off x="1517333" y="4286313"/>
            <a:ext cx="3448050" cy="814705"/>
          </a:xfrm>
          <a:prstGeom prst="rect">
            <a:avLst/>
          </a:prstGeom>
          <a:solidFill>
            <a:srgbClr val="BEBEBE"/>
          </a:solidFill>
        </p:spPr>
        <p:txBody>
          <a:bodyPr vert="horz" wrap="square" lIns="0" tIns="214629" rIns="0" bIns="0" rtlCol="0">
            <a:spAutoFit/>
          </a:bodyPr>
          <a:lstStyle/>
          <a:p>
            <a:pPr marL="807720">
              <a:lnSpc>
                <a:spcPct val="100000"/>
              </a:lnSpc>
              <a:spcBef>
                <a:spcPts val="1689"/>
              </a:spcBef>
            </a:pPr>
            <a:r>
              <a:rPr sz="2400" b="1" dirty="0">
                <a:latin typeface="Times New Roman"/>
                <a:cs typeface="Times New Roman"/>
              </a:rPr>
              <a:t>local</a:t>
            </a:r>
            <a:r>
              <a:rPr sz="2400" b="1" spc="45" dirty="0">
                <a:latin typeface="Times New Roman"/>
                <a:cs typeface="Times New Roman"/>
              </a:rPr>
              <a:t> </a:t>
            </a:r>
            <a:r>
              <a:rPr sz="2400" b="1" spc="-10" dirty="0">
                <a:latin typeface="Times New Roman"/>
                <a:cs typeface="Times New Roman"/>
              </a:rPr>
              <a:t>variables</a:t>
            </a:r>
            <a:endParaRPr sz="2400">
              <a:latin typeface="Times New Roman"/>
              <a:cs typeface="Times New Roman"/>
            </a:endParaRPr>
          </a:p>
        </p:txBody>
      </p:sp>
      <p:sp>
        <p:nvSpPr>
          <p:cNvPr id="17" name="object 17"/>
          <p:cNvSpPr txBox="1"/>
          <p:nvPr/>
        </p:nvSpPr>
        <p:spPr>
          <a:xfrm>
            <a:off x="76200" y="5281295"/>
            <a:ext cx="298450" cy="392430"/>
          </a:xfrm>
          <a:prstGeom prst="rect">
            <a:avLst/>
          </a:prstGeom>
        </p:spPr>
        <p:txBody>
          <a:bodyPr vert="horz" wrap="square" lIns="0" tIns="13335" rIns="0" bIns="0" rtlCol="0">
            <a:spAutoFit/>
          </a:bodyPr>
          <a:lstStyle/>
          <a:p>
            <a:pPr marL="12700">
              <a:lnSpc>
                <a:spcPct val="100000"/>
              </a:lnSpc>
              <a:spcBef>
                <a:spcPts val="105"/>
              </a:spcBef>
            </a:pPr>
            <a:r>
              <a:rPr sz="2400" spc="-300" dirty="0">
                <a:latin typeface="Times New Roman"/>
                <a:cs typeface="Times New Roman"/>
              </a:rPr>
              <a:t>SP</a:t>
            </a:r>
            <a:endParaRPr sz="2400">
              <a:latin typeface="Times New Roman"/>
              <a:cs typeface="Times New Roman"/>
            </a:endParaRPr>
          </a:p>
        </p:txBody>
      </p:sp>
      <p:sp>
        <p:nvSpPr>
          <p:cNvPr id="18" name="object 18"/>
          <p:cNvSpPr/>
          <p:nvPr/>
        </p:nvSpPr>
        <p:spPr>
          <a:xfrm>
            <a:off x="560007" y="5510276"/>
            <a:ext cx="542925" cy="76200"/>
          </a:xfrm>
          <a:custGeom>
            <a:avLst/>
            <a:gdLst/>
            <a:ahLst/>
            <a:cxnLst/>
            <a:rect l="l" t="t" r="r" b="b"/>
            <a:pathLst>
              <a:path w="542925" h="76200">
                <a:moveTo>
                  <a:pt x="466725" y="0"/>
                </a:moveTo>
                <a:lnTo>
                  <a:pt x="466725" y="76200"/>
                </a:lnTo>
                <a:lnTo>
                  <a:pt x="530225" y="44450"/>
                </a:lnTo>
                <a:lnTo>
                  <a:pt x="479425" y="44450"/>
                </a:lnTo>
                <a:lnTo>
                  <a:pt x="479425" y="31750"/>
                </a:lnTo>
                <a:lnTo>
                  <a:pt x="530225" y="31750"/>
                </a:lnTo>
                <a:lnTo>
                  <a:pt x="466725" y="0"/>
                </a:lnTo>
                <a:close/>
              </a:path>
              <a:path w="542925" h="76200">
                <a:moveTo>
                  <a:pt x="466725" y="31750"/>
                </a:moveTo>
                <a:lnTo>
                  <a:pt x="0" y="31750"/>
                </a:lnTo>
                <a:lnTo>
                  <a:pt x="0" y="44450"/>
                </a:lnTo>
                <a:lnTo>
                  <a:pt x="466725" y="44450"/>
                </a:lnTo>
                <a:lnTo>
                  <a:pt x="466725" y="31750"/>
                </a:lnTo>
                <a:close/>
              </a:path>
              <a:path w="542925" h="76200">
                <a:moveTo>
                  <a:pt x="530225" y="31750"/>
                </a:moveTo>
                <a:lnTo>
                  <a:pt x="479425" y="31750"/>
                </a:lnTo>
                <a:lnTo>
                  <a:pt x="479425" y="44450"/>
                </a:lnTo>
                <a:lnTo>
                  <a:pt x="530225" y="44450"/>
                </a:lnTo>
                <a:lnTo>
                  <a:pt x="542925" y="38100"/>
                </a:lnTo>
                <a:lnTo>
                  <a:pt x="530225" y="31750"/>
                </a:lnTo>
                <a:close/>
              </a:path>
            </a:pathLst>
          </a:custGeom>
          <a:solidFill>
            <a:srgbClr val="000000"/>
          </a:solidFill>
        </p:spPr>
        <p:txBody>
          <a:bodyPr wrap="square" lIns="0" tIns="0" rIns="0" bIns="0" rtlCol="0"/>
          <a:lstStyle/>
          <a:p>
            <a:endParaRPr/>
          </a:p>
        </p:txBody>
      </p:sp>
      <p:sp>
        <p:nvSpPr>
          <p:cNvPr id="19" name="object 19"/>
          <p:cNvSpPr/>
          <p:nvPr/>
        </p:nvSpPr>
        <p:spPr>
          <a:xfrm>
            <a:off x="5794058" y="1409700"/>
            <a:ext cx="228600" cy="4114800"/>
          </a:xfrm>
          <a:custGeom>
            <a:avLst/>
            <a:gdLst/>
            <a:ahLst/>
            <a:cxnLst/>
            <a:rect l="l" t="t" r="r" b="b"/>
            <a:pathLst>
              <a:path w="228600" h="4114800">
                <a:moveTo>
                  <a:pt x="76200" y="3886200"/>
                </a:moveTo>
                <a:lnTo>
                  <a:pt x="0" y="3886200"/>
                </a:lnTo>
                <a:lnTo>
                  <a:pt x="114300" y="4114800"/>
                </a:lnTo>
                <a:lnTo>
                  <a:pt x="209550" y="3924300"/>
                </a:lnTo>
                <a:lnTo>
                  <a:pt x="76200" y="3924300"/>
                </a:lnTo>
                <a:lnTo>
                  <a:pt x="76200" y="3886200"/>
                </a:lnTo>
                <a:close/>
              </a:path>
              <a:path w="228600" h="4114800">
                <a:moveTo>
                  <a:pt x="152400" y="0"/>
                </a:moveTo>
                <a:lnTo>
                  <a:pt x="76200" y="0"/>
                </a:lnTo>
                <a:lnTo>
                  <a:pt x="76200" y="3924300"/>
                </a:lnTo>
                <a:lnTo>
                  <a:pt x="152400" y="3924300"/>
                </a:lnTo>
                <a:lnTo>
                  <a:pt x="152400" y="0"/>
                </a:lnTo>
                <a:close/>
              </a:path>
              <a:path w="228600" h="4114800">
                <a:moveTo>
                  <a:pt x="228600" y="3886200"/>
                </a:moveTo>
                <a:lnTo>
                  <a:pt x="152400" y="3886200"/>
                </a:lnTo>
                <a:lnTo>
                  <a:pt x="152400" y="3924300"/>
                </a:lnTo>
                <a:lnTo>
                  <a:pt x="209550" y="3924300"/>
                </a:lnTo>
                <a:lnTo>
                  <a:pt x="228600" y="3886200"/>
                </a:lnTo>
                <a:close/>
              </a:path>
            </a:pathLst>
          </a:custGeom>
          <a:solidFill>
            <a:srgbClr val="000000"/>
          </a:solidFill>
        </p:spPr>
        <p:txBody>
          <a:bodyPr wrap="square" lIns="0" tIns="0" rIns="0" bIns="0" rtlCol="0"/>
          <a:lstStyle/>
          <a:p>
            <a:endParaRPr/>
          </a:p>
        </p:txBody>
      </p:sp>
      <p:grpSp>
        <p:nvGrpSpPr>
          <p:cNvPr id="20" name="object 20"/>
          <p:cNvGrpSpPr/>
          <p:nvPr/>
        </p:nvGrpSpPr>
        <p:grpSpPr>
          <a:xfrm>
            <a:off x="683959" y="923925"/>
            <a:ext cx="4577080" cy="4686300"/>
            <a:chOff x="1690751" y="923925"/>
            <a:chExt cx="4577080" cy="4686300"/>
          </a:xfrm>
        </p:grpSpPr>
        <p:sp>
          <p:nvSpPr>
            <p:cNvPr id="21" name="object 21"/>
            <p:cNvSpPr/>
            <p:nvPr/>
          </p:nvSpPr>
          <p:spPr>
            <a:xfrm>
              <a:off x="2500376" y="1414526"/>
              <a:ext cx="3505200" cy="0"/>
            </a:xfrm>
            <a:custGeom>
              <a:avLst/>
              <a:gdLst/>
              <a:ahLst/>
              <a:cxnLst/>
              <a:rect l="l" t="t" r="r" b="b"/>
              <a:pathLst>
                <a:path w="3505200">
                  <a:moveTo>
                    <a:pt x="0" y="0"/>
                  </a:moveTo>
                  <a:lnTo>
                    <a:pt x="3505200" y="0"/>
                  </a:lnTo>
                </a:path>
              </a:pathLst>
            </a:custGeom>
            <a:ln w="9525">
              <a:solidFill>
                <a:srgbClr val="000000"/>
              </a:solidFill>
            </a:ln>
          </p:spPr>
          <p:txBody>
            <a:bodyPr wrap="square" lIns="0" tIns="0" rIns="0" bIns="0" rtlCol="0"/>
            <a:lstStyle/>
            <a:p>
              <a:endParaRPr/>
            </a:p>
          </p:txBody>
        </p:sp>
        <p:sp>
          <p:nvSpPr>
            <p:cNvPr id="22" name="object 22"/>
            <p:cNvSpPr/>
            <p:nvPr/>
          </p:nvSpPr>
          <p:spPr>
            <a:xfrm>
              <a:off x="2495550" y="1352550"/>
              <a:ext cx="3505200" cy="3838575"/>
            </a:xfrm>
            <a:custGeom>
              <a:avLst/>
              <a:gdLst/>
              <a:ahLst/>
              <a:cxnLst/>
              <a:rect l="l" t="t" r="r" b="b"/>
              <a:pathLst>
                <a:path w="3505200" h="3838575">
                  <a:moveTo>
                    <a:pt x="0" y="3838575"/>
                  </a:moveTo>
                  <a:lnTo>
                    <a:pt x="3505200" y="3838575"/>
                  </a:lnTo>
                  <a:lnTo>
                    <a:pt x="3505200" y="0"/>
                  </a:lnTo>
                  <a:lnTo>
                    <a:pt x="0" y="0"/>
                  </a:lnTo>
                  <a:lnTo>
                    <a:pt x="0" y="3838575"/>
                  </a:lnTo>
                  <a:close/>
                </a:path>
              </a:pathLst>
            </a:custGeom>
            <a:ln w="57150">
              <a:solidFill>
                <a:srgbClr val="000000"/>
              </a:solidFill>
            </a:ln>
          </p:spPr>
          <p:txBody>
            <a:bodyPr wrap="square" lIns="0" tIns="0" rIns="0" bIns="0" rtlCol="0"/>
            <a:lstStyle/>
            <a:p>
              <a:endParaRPr/>
            </a:p>
          </p:txBody>
        </p:sp>
        <p:sp>
          <p:nvSpPr>
            <p:cNvPr id="23" name="object 23"/>
            <p:cNvSpPr/>
            <p:nvPr/>
          </p:nvSpPr>
          <p:spPr>
            <a:xfrm>
              <a:off x="2190750" y="1343025"/>
              <a:ext cx="4038600" cy="0"/>
            </a:xfrm>
            <a:custGeom>
              <a:avLst/>
              <a:gdLst/>
              <a:ahLst/>
              <a:cxnLst/>
              <a:rect l="l" t="t" r="r" b="b"/>
              <a:pathLst>
                <a:path w="4038600">
                  <a:moveTo>
                    <a:pt x="0" y="0"/>
                  </a:moveTo>
                  <a:lnTo>
                    <a:pt x="4038600" y="0"/>
                  </a:lnTo>
                </a:path>
              </a:pathLst>
            </a:custGeom>
            <a:ln w="76200">
              <a:solidFill>
                <a:srgbClr val="000000"/>
              </a:solidFill>
            </a:ln>
          </p:spPr>
          <p:txBody>
            <a:bodyPr wrap="square" lIns="0" tIns="0" rIns="0" bIns="0" rtlCol="0"/>
            <a:lstStyle/>
            <a:p>
              <a:endParaRPr/>
            </a:p>
          </p:txBody>
        </p:sp>
        <p:sp>
          <p:nvSpPr>
            <p:cNvPr id="24" name="object 24"/>
            <p:cNvSpPr/>
            <p:nvPr/>
          </p:nvSpPr>
          <p:spPr>
            <a:xfrm>
              <a:off x="1757426" y="3367151"/>
              <a:ext cx="742950" cy="0"/>
            </a:xfrm>
            <a:custGeom>
              <a:avLst/>
              <a:gdLst/>
              <a:ahLst/>
              <a:cxnLst/>
              <a:rect l="l" t="t" r="r" b="b"/>
              <a:pathLst>
                <a:path w="742950">
                  <a:moveTo>
                    <a:pt x="742950" y="0"/>
                  </a:moveTo>
                  <a:lnTo>
                    <a:pt x="0" y="0"/>
                  </a:lnTo>
                </a:path>
              </a:pathLst>
            </a:custGeom>
            <a:ln w="28575">
              <a:solidFill>
                <a:srgbClr val="0000FF"/>
              </a:solidFill>
            </a:ln>
          </p:spPr>
          <p:txBody>
            <a:bodyPr wrap="square" lIns="0" tIns="0" rIns="0" bIns="0" rtlCol="0"/>
            <a:lstStyle/>
            <a:p>
              <a:endParaRPr/>
            </a:p>
          </p:txBody>
        </p:sp>
        <p:sp>
          <p:nvSpPr>
            <p:cNvPr id="25" name="object 25"/>
            <p:cNvSpPr/>
            <p:nvPr/>
          </p:nvSpPr>
          <p:spPr>
            <a:xfrm>
              <a:off x="1690751" y="923925"/>
              <a:ext cx="123825" cy="2438400"/>
            </a:xfrm>
            <a:custGeom>
              <a:avLst/>
              <a:gdLst/>
              <a:ahLst/>
              <a:cxnLst/>
              <a:rect l="l" t="t" r="r" b="b"/>
              <a:pathLst>
                <a:path w="123825" h="2438400">
                  <a:moveTo>
                    <a:pt x="82550" y="103250"/>
                  </a:moveTo>
                  <a:lnTo>
                    <a:pt x="41275" y="103250"/>
                  </a:lnTo>
                  <a:lnTo>
                    <a:pt x="41148" y="2438400"/>
                  </a:lnTo>
                  <a:lnTo>
                    <a:pt x="82423" y="2438400"/>
                  </a:lnTo>
                  <a:lnTo>
                    <a:pt x="82550" y="103250"/>
                  </a:lnTo>
                  <a:close/>
                </a:path>
                <a:path w="123825" h="2438400">
                  <a:moveTo>
                    <a:pt x="61849" y="0"/>
                  </a:moveTo>
                  <a:lnTo>
                    <a:pt x="0" y="123825"/>
                  </a:lnTo>
                  <a:lnTo>
                    <a:pt x="41273" y="123825"/>
                  </a:lnTo>
                  <a:lnTo>
                    <a:pt x="41275" y="103250"/>
                  </a:lnTo>
                  <a:lnTo>
                    <a:pt x="113527" y="103250"/>
                  </a:lnTo>
                  <a:lnTo>
                    <a:pt x="61849" y="0"/>
                  </a:lnTo>
                  <a:close/>
                </a:path>
                <a:path w="123825" h="2438400">
                  <a:moveTo>
                    <a:pt x="113527" y="103250"/>
                  </a:moveTo>
                  <a:lnTo>
                    <a:pt x="82550" y="103250"/>
                  </a:lnTo>
                  <a:lnTo>
                    <a:pt x="82548" y="123825"/>
                  </a:lnTo>
                  <a:lnTo>
                    <a:pt x="123825" y="123825"/>
                  </a:lnTo>
                  <a:lnTo>
                    <a:pt x="113527" y="103250"/>
                  </a:lnTo>
                  <a:close/>
                </a:path>
              </a:pathLst>
            </a:custGeom>
            <a:solidFill>
              <a:srgbClr val="0000FF"/>
            </a:solidFill>
          </p:spPr>
          <p:txBody>
            <a:bodyPr wrap="square" lIns="0" tIns="0" rIns="0" bIns="0" rtlCol="0"/>
            <a:lstStyle/>
            <a:p>
              <a:endParaRPr/>
            </a:p>
          </p:txBody>
        </p:sp>
        <p:sp>
          <p:nvSpPr>
            <p:cNvPr id="26" name="object 26"/>
            <p:cNvSpPr/>
            <p:nvPr/>
          </p:nvSpPr>
          <p:spPr>
            <a:xfrm>
              <a:off x="2495550" y="1028700"/>
              <a:ext cx="3514725" cy="1019175"/>
            </a:xfrm>
            <a:custGeom>
              <a:avLst/>
              <a:gdLst/>
              <a:ahLst/>
              <a:cxnLst/>
              <a:rect l="l" t="t" r="r" b="b"/>
              <a:pathLst>
                <a:path w="3514725" h="1019175">
                  <a:moveTo>
                    <a:pt x="0" y="0"/>
                  </a:moveTo>
                  <a:lnTo>
                    <a:pt x="0" y="1019175"/>
                  </a:lnTo>
                </a:path>
                <a:path w="3514725" h="1019175">
                  <a:moveTo>
                    <a:pt x="3514725" y="0"/>
                  </a:moveTo>
                  <a:lnTo>
                    <a:pt x="3514725" y="1019175"/>
                  </a:lnTo>
                </a:path>
              </a:pathLst>
            </a:custGeom>
            <a:ln w="57150">
              <a:solidFill>
                <a:srgbClr val="000000"/>
              </a:solidFill>
            </a:ln>
          </p:spPr>
          <p:txBody>
            <a:bodyPr wrap="square" lIns="0" tIns="0" rIns="0" bIns="0" rtlCol="0"/>
            <a:lstStyle/>
            <a:p>
              <a:endParaRPr/>
            </a:p>
          </p:txBody>
        </p:sp>
        <p:sp>
          <p:nvSpPr>
            <p:cNvPr id="27" name="object 27"/>
            <p:cNvSpPr/>
            <p:nvPr/>
          </p:nvSpPr>
          <p:spPr>
            <a:xfrm>
              <a:off x="2519426" y="5100637"/>
              <a:ext cx="3505200" cy="462280"/>
            </a:xfrm>
            <a:custGeom>
              <a:avLst/>
              <a:gdLst/>
              <a:ahLst/>
              <a:cxnLst/>
              <a:rect l="l" t="t" r="r" b="b"/>
              <a:pathLst>
                <a:path w="3505200" h="462279">
                  <a:moveTo>
                    <a:pt x="0" y="461962"/>
                  </a:moveTo>
                  <a:lnTo>
                    <a:pt x="3505200" y="461962"/>
                  </a:lnTo>
                  <a:lnTo>
                    <a:pt x="3505200" y="0"/>
                  </a:lnTo>
                  <a:lnTo>
                    <a:pt x="0" y="0"/>
                  </a:lnTo>
                  <a:lnTo>
                    <a:pt x="0" y="461962"/>
                  </a:lnTo>
                  <a:close/>
                </a:path>
              </a:pathLst>
            </a:custGeom>
            <a:solidFill>
              <a:srgbClr val="BEBEBE"/>
            </a:solidFill>
          </p:spPr>
          <p:txBody>
            <a:bodyPr wrap="square" lIns="0" tIns="0" rIns="0" bIns="0" rtlCol="0"/>
            <a:lstStyle/>
            <a:p>
              <a:endParaRPr/>
            </a:p>
          </p:txBody>
        </p:sp>
        <p:sp>
          <p:nvSpPr>
            <p:cNvPr id="28" name="object 28"/>
            <p:cNvSpPr/>
            <p:nvPr/>
          </p:nvSpPr>
          <p:spPr>
            <a:xfrm>
              <a:off x="2519426" y="5100637"/>
              <a:ext cx="3505200" cy="504825"/>
            </a:xfrm>
            <a:custGeom>
              <a:avLst/>
              <a:gdLst/>
              <a:ahLst/>
              <a:cxnLst/>
              <a:rect l="l" t="t" r="r" b="b"/>
              <a:pathLst>
                <a:path w="3505200" h="504825">
                  <a:moveTo>
                    <a:pt x="0" y="504825"/>
                  </a:moveTo>
                  <a:lnTo>
                    <a:pt x="3505200" y="504825"/>
                  </a:lnTo>
                  <a:lnTo>
                    <a:pt x="3505200" y="0"/>
                  </a:lnTo>
                  <a:lnTo>
                    <a:pt x="0" y="0"/>
                  </a:lnTo>
                  <a:lnTo>
                    <a:pt x="0" y="504825"/>
                  </a:lnTo>
                  <a:close/>
                </a:path>
              </a:pathLst>
            </a:custGeom>
            <a:ln w="9525">
              <a:solidFill>
                <a:srgbClr val="000000"/>
              </a:solidFill>
            </a:ln>
          </p:spPr>
          <p:txBody>
            <a:bodyPr wrap="square" lIns="0" tIns="0" rIns="0" bIns="0" rtlCol="0"/>
            <a:lstStyle/>
            <a:p>
              <a:endParaRPr/>
            </a:p>
          </p:txBody>
        </p:sp>
      </p:grpSp>
      <p:sp>
        <p:nvSpPr>
          <p:cNvPr id="29" name="object 29"/>
          <p:cNvSpPr txBox="1"/>
          <p:nvPr/>
        </p:nvSpPr>
        <p:spPr>
          <a:xfrm>
            <a:off x="6056059" y="4450143"/>
            <a:ext cx="883285" cy="725170"/>
          </a:xfrm>
          <a:prstGeom prst="rect">
            <a:avLst/>
          </a:prstGeom>
        </p:spPr>
        <p:txBody>
          <a:bodyPr vert="horz" wrap="square" lIns="0" tIns="50165" rIns="0" bIns="0" rtlCol="0">
            <a:spAutoFit/>
          </a:bodyPr>
          <a:lstStyle/>
          <a:p>
            <a:pPr marL="12700" marR="5080" indent="136525">
              <a:lnSpc>
                <a:spcPts val="2630"/>
              </a:lnSpc>
              <a:spcBef>
                <a:spcPts val="395"/>
              </a:spcBef>
            </a:pPr>
            <a:r>
              <a:rPr sz="2400" spc="-10" dirty="0">
                <a:latin typeface="Times New Roman"/>
                <a:cs typeface="Times New Roman"/>
              </a:rPr>
              <a:t>Stack </a:t>
            </a:r>
            <a:r>
              <a:rPr sz="2400" spc="-110" dirty="0">
                <a:latin typeface="Times New Roman"/>
                <a:cs typeface="Times New Roman"/>
              </a:rPr>
              <a:t>Growth</a:t>
            </a:r>
            <a:endParaRPr sz="2400">
              <a:latin typeface="Times New Roman"/>
              <a:cs typeface="Times New Roman"/>
            </a:endParaRPr>
          </a:p>
        </p:txBody>
      </p:sp>
      <p:sp>
        <p:nvSpPr>
          <p:cNvPr id="30" name="object 30"/>
          <p:cNvSpPr txBox="1"/>
          <p:nvPr/>
        </p:nvSpPr>
        <p:spPr>
          <a:xfrm>
            <a:off x="5708333" y="931862"/>
            <a:ext cx="373380" cy="300355"/>
          </a:xfrm>
          <a:prstGeom prst="rect">
            <a:avLst/>
          </a:prstGeom>
        </p:spPr>
        <p:txBody>
          <a:bodyPr vert="horz" wrap="square" lIns="0" tIns="12700" rIns="0" bIns="0" rtlCol="0">
            <a:spAutoFit/>
          </a:bodyPr>
          <a:lstStyle/>
          <a:p>
            <a:pPr marL="12700">
              <a:lnSpc>
                <a:spcPct val="100000"/>
              </a:lnSpc>
              <a:spcBef>
                <a:spcPts val="100"/>
              </a:spcBef>
            </a:pPr>
            <a:r>
              <a:rPr sz="1800" spc="-110" dirty="0">
                <a:latin typeface="Times New Roman"/>
                <a:cs typeface="Times New Roman"/>
              </a:rPr>
              <a:t>high</a:t>
            </a:r>
            <a:endParaRPr sz="1800">
              <a:latin typeface="Times New Roman"/>
              <a:cs typeface="Times New Roman"/>
            </a:endParaRPr>
          </a:p>
        </p:txBody>
      </p:sp>
      <p:sp>
        <p:nvSpPr>
          <p:cNvPr id="31" name="object 31"/>
          <p:cNvSpPr txBox="1"/>
          <p:nvPr/>
        </p:nvSpPr>
        <p:spPr>
          <a:xfrm>
            <a:off x="5708333" y="5510212"/>
            <a:ext cx="330835" cy="300355"/>
          </a:xfrm>
          <a:prstGeom prst="rect">
            <a:avLst/>
          </a:prstGeom>
        </p:spPr>
        <p:txBody>
          <a:bodyPr vert="horz" wrap="square" lIns="0" tIns="12700" rIns="0" bIns="0" rtlCol="0">
            <a:spAutoFit/>
          </a:bodyPr>
          <a:lstStyle/>
          <a:p>
            <a:pPr marL="12700">
              <a:lnSpc>
                <a:spcPct val="100000"/>
              </a:lnSpc>
              <a:spcBef>
                <a:spcPts val="100"/>
              </a:spcBef>
            </a:pPr>
            <a:r>
              <a:rPr sz="1800" spc="-90" dirty="0">
                <a:latin typeface="Times New Roman"/>
                <a:cs typeface="Times New Roman"/>
              </a:rPr>
              <a:t>low</a:t>
            </a:r>
            <a:endParaRPr sz="1800">
              <a:latin typeface="Times New Roman"/>
              <a:cs typeface="Times New Roman"/>
            </a:endParaRPr>
          </a:p>
        </p:txBody>
      </p:sp>
      <p:sp>
        <p:nvSpPr>
          <p:cNvPr id="32" name="object 32"/>
          <p:cNvSpPr txBox="1"/>
          <p:nvPr/>
        </p:nvSpPr>
        <p:spPr>
          <a:xfrm>
            <a:off x="1526858" y="5109209"/>
            <a:ext cx="3429000" cy="392430"/>
          </a:xfrm>
          <a:prstGeom prst="rect">
            <a:avLst/>
          </a:prstGeom>
        </p:spPr>
        <p:txBody>
          <a:bodyPr vert="horz" wrap="square" lIns="0" tIns="13335" rIns="0" bIns="0" rtlCol="0">
            <a:spAutoFit/>
          </a:bodyPr>
          <a:lstStyle/>
          <a:p>
            <a:pPr marL="594995">
              <a:lnSpc>
                <a:spcPct val="100000"/>
              </a:lnSpc>
              <a:spcBef>
                <a:spcPts val="105"/>
              </a:spcBef>
            </a:pPr>
            <a:r>
              <a:rPr sz="2400" spc="-130" dirty="0">
                <a:latin typeface="Times New Roman"/>
                <a:cs typeface="Times New Roman"/>
              </a:rPr>
              <a:t>callee</a:t>
            </a:r>
            <a:r>
              <a:rPr sz="2400" spc="5" dirty="0">
                <a:latin typeface="Times New Roman"/>
                <a:cs typeface="Times New Roman"/>
              </a:rPr>
              <a:t> </a:t>
            </a:r>
            <a:r>
              <a:rPr sz="2400" spc="-200" dirty="0">
                <a:latin typeface="Times New Roman"/>
                <a:cs typeface="Times New Roman"/>
              </a:rPr>
              <a:t>saved</a:t>
            </a:r>
            <a:r>
              <a:rPr sz="2400" spc="-25" dirty="0">
                <a:latin typeface="Times New Roman"/>
                <a:cs typeface="Times New Roman"/>
              </a:rPr>
              <a:t> </a:t>
            </a:r>
            <a:r>
              <a:rPr sz="2400" spc="-10" dirty="0">
                <a:latin typeface="Times New Roman"/>
                <a:cs typeface="Times New Roman"/>
              </a:rPr>
              <a:t>registers</a:t>
            </a:r>
            <a:endParaRPr sz="2400">
              <a:latin typeface="Times New Roman"/>
              <a:cs typeface="Times New Roman"/>
            </a:endParaRPr>
          </a:p>
        </p:txBody>
      </p:sp>
      <p:grpSp>
        <p:nvGrpSpPr>
          <p:cNvPr id="33" name="object 33"/>
          <p:cNvGrpSpPr/>
          <p:nvPr/>
        </p:nvGrpSpPr>
        <p:grpSpPr>
          <a:xfrm>
            <a:off x="1183958" y="5418603"/>
            <a:ext cx="4038600" cy="627641"/>
            <a:chOff x="2190750" y="5276850"/>
            <a:chExt cx="4038600" cy="1333500"/>
          </a:xfrm>
        </p:grpSpPr>
        <p:sp>
          <p:nvSpPr>
            <p:cNvPr id="34" name="object 34"/>
            <p:cNvSpPr/>
            <p:nvPr/>
          </p:nvSpPr>
          <p:spPr>
            <a:xfrm>
              <a:off x="2190750" y="5600700"/>
              <a:ext cx="4038600" cy="0"/>
            </a:xfrm>
            <a:custGeom>
              <a:avLst/>
              <a:gdLst/>
              <a:ahLst/>
              <a:cxnLst/>
              <a:rect l="l" t="t" r="r" b="b"/>
              <a:pathLst>
                <a:path w="4038600">
                  <a:moveTo>
                    <a:pt x="0" y="0"/>
                  </a:moveTo>
                  <a:lnTo>
                    <a:pt x="4038600" y="0"/>
                  </a:lnTo>
                </a:path>
              </a:pathLst>
            </a:custGeom>
            <a:ln w="76200">
              <a:solidFill>
                <a:srgbClr val="000000"/>
              </a:solidFill>
            </a:ln>
          </p:spPr>
          <p:txBody>
            <a:bodyPr wrap="square" lIns="0" tIns="0" rIns="0" bIns="0" rtlCol="0"/>
            <a:lstStyle/>
            <a:p>
              <a:endParaRPr/>
            </a:p>
          </p:txBody>
        </p:sp>
        <p:sp>
          <p:nvSpPr>
            <p:cNvPr id="35" name="object 35"/>
            <p:cNvSpPr/>
            <p:nvPr/>
          </p:nvSpPr>
          <p:spPr>
            <a:xfrm>
              <a:off x="2486025" y="5305425"/>
              <a:ext cx="3533775" cy="1276350"/>
            </a:xfrm>
            <a:custGeom>
              <a:avLst/>
              <a:gdLst/>
              <a:ahLst/>
              <a:cxnLst/>
              <a:rect l="l" t="t" r="r" b="b"/>
              <a:pathLst>
                <a:path w="3533775" h="1276350">
                  <a:moveTo>
                    <a:pt x="3524250" y="0"/>
                  </a:moveTo>
                  <a:lnTo>
                    <a:pt x="3533775" y="1276350"/>
                  </a:lnTo>
                </a:path>
                <a:path w="3533775" h="1276350">
                  <a:moveTo>
                    <a:pt x="0" y="0"/>
                  </a:moveTo>
                  <a:lnTo>
                    <a:pt x="19050" y="1276350"/>
                  </a:lnTo>
                </a:path>
              </a:pathLst>
            </a:custGeom>
            <a:ln w="57150">
              <a:solidFill>
                <a:srgbClr val="000000"/>
              </a:solidFill>
            </a:ln>
          </p:spPr>
          <p:txBody>
            <a:bodyPr wrap="square" lIns="0" tIns="0" rIns="0" bIns="0" rtlCol="0"/>
            <a:lstStyle/>
            <a:p>
              <a:endParaRPr/>
            </a:p>
          </p:txBody>
        </p:sp>
      </p:grpSp>
      <p:pic>
        <p:nvPicPr>
          <p:cNvPr id="36" name="object 36"/>
          <p:cNvPicPr/>
          <p:nvPr/>
        </p:nvPicPr>
        <p:blipFill>
          <a:blip r:embed="rId2" cstate="print"/>
          <a:stretch>
            <a:fillRect/>
          </a:stretch>
        </p:blipFill>
        <p:spPr>
          <a:xfrm>
            <a:off x="457200" y="6248400"/>
            <a:ext cx="476250" cy="381000"/>
          </a:xfrm>
          <a:prstGeom prst="rect">
            <a:avLst/>
          </a:prstGeom>
        </p:spPr>
      </p:pic>
      <p:sp>
        <p:nvSpPr>
          <p:cNvPr id="37" name="object 37"/>
          <p:cNvSpPr txBox="1">
            <a:spLocks noGrp="1"/>
          </p:cNvSpPr>
          <p:nvPr>
            <p:ph type="ftr" sz="quarter" idx="5"/>
          </p:nvPr>
        </p:nvSpPr>
        <p:spPr>
          <a:prstGeom prst="rect">
            <a:avLst/>
          </a:prstGeom>
        </p:spPr>
        <p:txBody>
          <a:bodyPr vert="horz" wrap="square" lIns="0" tIns="76200" rIns="0" bIns="0" rtlCol="0">
            <a:spAutoFit/>
          </a:bodyPr>
          <a:lstStyle/>
          <a:p>
            <a:pPr marL="165100">
              <a:lnSpc>
                <a:spcPts val="1550"/>
              </a:lnSpc>
            </a:pPr>
            <a:r>
              <a:rPr spc="-180" dirty="0"/>
              <a:t>FAST-</a:t>
            </a:r>
            <a:r>
              <a:rPr spc="-100" dirty="0"/>
              <a:t>NUCES</a:t>
            </a:r>
          </a:p>
        </p:txBody>
      </p:sp>
      <p:sp>
        <p:nvSpPr>
          <p:cNvPr id="41" name="TextBox 40">
            <a:extLst>
              <a:ext uri="{FF2B5EF4-FFF2-40B4-BE49-F238E27FC236}">
                <a16:creationId xmlns:a16="http://schemas.microsoft.com/office/drawing/2014/main" id="{FB9CA12D-72D2-D6DE-5100-0FE2699CFDB8}"/>
              </a:ext>
            </a:extLst>
          </p:cNvPr>
          <p:cNvSpPr txBox="1"/>
          <p:nvPr/>
        </p:nvSpPr>
        <p:spPr>
          <a:xfrm>
            <a:off x="4955858" y="2642719"/>
            <a:ext cx="4623846" cy="369332"/>
          </a:xfrm>
          <a:prstGeom prst="rect">
            <a:avLst/>
          </a:prstGeom>
          <a:noFill/>
        </p:spPr>
        <p:txBody>
          <a:bodyPr wrap="square">
            <a:spAutoFit/>
          </a:bodyPr>
          <a:lstStyle/>
          <a:p>
            <a:r>
              <a:rPr lang="en-PK" dirty="0">
                <a:highlight>
                  <a:srgbClr val="FFFF00"/>
                </a:highlight>
              </a:rPr>
              <a:t>← attacker overwrites this!</a:t>
            </a:r>
          </a:p>
        </p:txBody>
      </p:sp>
      <p:sp>
        <p:nvSpPr>
          <p:cNvPr id="43" name="TextBox 42">
            <a:extLst>
              <a:ext uri="{FF2B5EF4-FFF2-40B4-BE49-F238E27FC236}">
                <a16:creationId xmlns:a16="http://schemas.microsoft.com/office/drawing/2014/main" id="{BC2D4512-65E7-9D75-E9CC-85F5415B574C}"/>
              </a:ext>
            </a:extLst>
          </p:cNvPr>
          <p:cNvSpPr txBox="1"/>
          <p:nvPr/>
        </p:nvSpPr>
        <p:spPr>
          <a:xfrm>
            <a:off x="1723486" y="668302"/>
            <a:ext cx="6093682" cy="369332"/>
          </a:xfrm>
          <a:prstGeom prst="rect">
            <a:avLst/>
          </a:prstGeom>
          <a:noFill/>
        </p:spPr>
        <p:txBody>
          <a:bodyPr wrap="square">
            <a:spAutoFit/>
          </a:bodyPr>
          <a:lstStyle/>
          <a:p>
            <a:r>
              <a:rPr lang="en-US" dirty="0">
                <a:highlight>
                  <a:srgbClr val="FFFF00"/>
                </a:highlight>
              </a:rPr>
              <a:t>Controlling the stack frame = controlling the program.</a:t>
            </a:r>
            <a:endParaRPr lang="en-PK" dirty="0">
              <a:highlight>
                <a:srgbClr val="FFFF00"/>
              </a:highlight>
            </a:endParaRPr>
          </a:p>
        </p:txBody>
      </p:sp>
      <p:sp>
        <p:nvSpPr>
          <p:cNvPr id="45" name="TextBox 44">
            <a:extLst>
              <a:ext uri="{FF2B5EF4-FFF2-40B4-BE49-F238E27FC236}">
                <a16:creationId xmlns:a16="http://schemas.microsoft.com/office/drawing/2014/main" id="{DAFEEB8C-3924-AC1E-BA9E-22FD9417631E}"/>
              </a:ext>
            </a:extLst>
          </p:cNvPr>
          <p:cNvSpPr txBox="1"/>
          <p:nvPr/>
        </p:nvSpPr>
        <p:spPr>
          <a:xfrm>
            <a:off x="1471376" y="5723219"/>
            <a:ext cx="8358423" cy="1323439"/>
          </a:xfrm>
          <a:prstGeom prst="rect">
            <a:avLst/>
          </a:prstGeom>
          <a:noFill/>
        </p:spPr>
        <p:txBody>
          <a:bodyPr wrap="square">
            <a:spAutoFit/>
          </a:bodyPr>
          <a:lstStyle/>
          <a:p>
            <a:r>
              <a:rPr lang="en-US" sz="1600" dirty="0">
                <a:highlight>
                  <a:srgbClr val="FFFF00"/>
                </a:highlight>
              </a:rPr>
              <a:t>The </a:t>
            </a:r>
            <a:r>
              <a:rPr lang="en-US" sz="1600" b="1" dirty="0">
                <a:highlight>
                  <a:srgbClr val="FFFF00"/>
                </a:highlight>
              </a:rPr>
              <a:t>Return Address</a:t>
            </a:r>
            <a:r>
              <a:rPr lang="en-US" sz="1600" dirty="0">
                <a:highlight>
                  <a:srgbClr val="FFFF00"/>
                </a:highlight>
              </a:rPr>
              <a:t> tells where the CPU should go after function ends</a:t>
            </a:r>
            <a:br>
              <a:rPr lang="en-US" sz="1600" dirty="0">
                <a:highlight>
                  <a:srgbClr val="FFFF00"/>
                </a:highlight>
              </a:rPr>
            </a:br>
            <a:r>
              <a:rPr lang="en-US" sz="1600" dirty="0">
                <a:highlight>
                  <a:srgbClr val="FFFF00"/>
                </a:highlight>
              </a:rPr>
              <a:t>➡ If attacker overwrites it → </a:t>
            </a:r>
            <a:r>
              <a:rPr lang="en-US" sz="1600" b="1" dirty="0">
                <a:highlight>
                  <a:srgbClr val="FFFF00"/>
                </a:highlight>
              </a:rPr>
              <a:t>program jumps to attacker’s code</a:t>
            </a:r>
          </a:p>
          <a:p>
            <a:r>
              <a:rPr lang="en-US" sz="1600" dirty="0">
                <a:highlight>
                  <a:srgbClr val="FFFF00"/>
                </a:highlight>
              </a:rPr>
              <a:t>This directly leads to </a:t>
            </a:r>
            <a:r>
              <a:rPr lang="en-US" sz="1600" b="1" dirty="0">
                <a:highlight>
                  <a:srgbClr val="FFFF00"/>
                </a:highlight>
              </a:rPr>
              <a:t>control hijacking</a:t>
            </a:r>
            <a:r>
              <a:rPr lang="en-US" sz="1600" dirty="0">
                <a:highlight>
                  <a:srgbClr val="FFFF00"/>
                </a:highlight>
              </a:rPr>
              <a:t>.</a:t>
            </a:r>
          </a:p>
          <a:p>
            <a:r>
              <a:rPr lang="en-US" sz="1600" dirty="0">
                <a:highlight>
                  <a:srgbClr val="FFFF00"/>
                </a:highlight>
              </a:rPr>
              <a:t>Example exploit sequence: Overflow local buffer, Overwrite saved return address</a:t>
            </a:r>
          </a:p>
          <a:p>
            <a:endParaRPr lang="en-PK" sz="1600" dirty="0">
              <a:highlight>
                <a:srgbClr val="FFFF00"/>
              </a:highligh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5889" rIns="0" bIns="0" rtlCol="0">
            <a:spAutoFit/>
          </a:bodyPr>
          <a:lstStyle/>
          <a:p>
            <a:pPr marL="317500">
              <a:lnSpc>
                <a:spcPct val="100000"/>
              </a:lnSpc>
              <a:spcBef>
                <a:spcPts val="105"/>
              </a:spcBef>
            </a:pPr>
            <a:r>
              <a:rPr dirty="0"/>
              <a:t>What</a:t>
            </a:r>
            <a:r>
              <a:rPr spc="-80" dirty="0"/>
              <a:t> </a:t>
            </a:r>
            <a:r>
              <a:rPr dirty="0"/>
              <a:t>are</a:t>
            </a:r>
            <a:r>
              <a:rPr spc="10" dirty="0"/>
              <a:t> </a:t>
            </a:r>
            <a:r>
              <a:rPr dirty="0"/>
              <a:t>buffer</a:t>
            </a:r>
            <a:r>
              <a:rPr spc="-35" dirty="0"/>
              <a:t> </a:t>
            </a:r>
            <a:r>
              <a:rPr spc="-10" dirty="0"/>
              <a:t>overflows?</a:t>
            </a:r>
          </a:p>
        </p:txBody>
      </p:sp>
      <p:sp>
        <p:nvSpPr>
          <p:cNvPr id="3" name="object 3"/>
          <p:cNvSpPr/>
          <p:nvPr/>
        </p:nvSpPr>
        <p:spPr>
          <a:xfrm>
            <a:off x="5415026" y="1709673"/>
            <a:ext cx="3571875" cy="1752600"/>
          </a:xfrm>
          <a:custGeom>
            <a:avLst/>
            <a:gdLst/>
            <a:ahLst/>
            <a:cxnLst/>
            <a:rect l="l" t="t" r="r" b="b"/>
            <a:pathLst>
              <a:path w="3571875" h="1752600">
                <a:moveTo>
                  <a:pt x="0" y="1752600"/>
                </a:moveTo>
                <a:lnTo>
                  <a:pt x="3571875" y="1752600"/>
                </a:lnTo>
                <a:lnTo>
                  <a:pt x="3571875" y="0"/>
                </a:lnTo>
                <a:lnTo>
                  <a:pt x="0" y="0"/>
                </a:lnTo>
                <a:lnTo>
                  <a:pt x="0" y="1752600"/>
                </a:lnTo>
                <a:close/>
              </a:path>
            </a:pathLst>
          </a:custGeom>
          <a:ln w="9525">
            <a:solidFill>
              <a:srgbClr val="0000FF"/>
            </a:solidFill>
          </a:ln>
        </p:spPr>
        <p:txBody>
          <a:bodyPr wrap="square" lIns="0" tIns="0" rIns="0" bIns="0" rtlCol="0"/>
          <a:lstStyle/>
          <a:p>
            <a:endParaRPr/>
          </a:p>
        </p:txBody>
      </p:sp>
      <p:sp>
        <p:nvSpPr>
          <p:cNvPr id="4" name="object 4"/>
          <p:cNvSpPr txBox="1"/>
          <p:nvPr/>
        </p:nvSpPr>
        <p:spPr>
          <a:xfrm>
            <a:off x="5494654" y="1708848"/>
            <a:ext cx="3383915" cy="1670050"/>
          </a:xfrm>
          <a:prstGeom prst="rect">
            <a:avLst/>
          </a:prstGeom>
        </p:spPr>
        <p:txBody>
          <a:bodyPr vert="horz" wrap="square" lIns="0" tIns="15875" rIns="0" bIns="0" rtlCol="0">
            <a:spAutoFit/>
          </a:bodyPr>
          <a:lstStyle/>
          <a:p>
            <a:pPr marL="469900" marR="5080" indent="-457834">
              <a:lnSpc>
                <a:spcPct val="100000"/>
              </a:lnSpc>
              <a:spcBef>
                <a:spcPts val="125"/>
              </a:spcBef>
            </a:pPr>
            <a:r>
              <a:rPr sz="2000" b="1" dirty="0">
                <a:solidFill>
                  <a:srgbClr val="696363"/>
                </a:solidFill>
                <a:latin typeface="Courier New"/>
                <a:cs typeface="Courier New"/>
              </a:rPr>
              <a:t>void</a:t>
            </a:r>
            <a:r>
              <a:rPr sz="2000" b="1" spc="-35" dirty="0">
                <a:solidFill>
                  <a:srgbClr val="696363"/>
                </a:solidFill>
                <a:latin typeface="Courier New"/>
                <a:cs typeface="Courier New"/>
              </a:rPr>
              <a:t> </a:t>
            </a:r>
            <a:r>
              <a:rPr sz="2000" b="1" dirty="0">
                <a:solidFill>
                  <a:srgbClr val="696363"/>
                </a:solidFill>
                <a:latin typeface="Courier New"/>
                <a:cs typeface="Courier New"/>
              </a:rPr>
              <a:t>func(char</a:t>
            </a:r>
            <a:r>
              <a:rPr sz="2000" b="1" spc="-30" dirty="0">
                <a:solidFill>
                  <a:srgbClr val="696363"/>
                </a:solidFill>
                <a:latin typeface="Courier New"/>
                <a:cs typeface="Courier New"/>
              </a:rPr>
              <a:t> </a:t>
            </a:r>
            <a:r>
              <a:rPr sz="2000" b="1" dirty="0">
                <a:solidFill>
                  <a:srgbClr val="696363"/>
                </a:solidFill>
                <a:latin typeface="Courier New"/>
                <a:cs typeface="Courier New"/>
              </a:rPr>
              <a:t>*str)</a:t>
            </a:r>
            <a:r>
              <a:rPr sz="2000" b="1" spc="-30" dirty="0">
                <a:solidFill>
                  <a:srgbClr val="696363"/>
                </a:solidFill>
                <a:latin typeface="Courier New"/>
                <a:cs typeface="Courier New"/>
              </a:rPr>
              <a:t> </a:t>
            </a:r>
            <a:r>
              <a:rPr sz="2000" b="1" spc="-50" dirty="0">
                <a:solidFill>
                  <a:srgbClr val="696363"/>
                </a:solidFill>
                <a:latin typeface="Courier New"/>
                <a:cs typeface="Courier New"/>
              </a:rPr>
              <a:t>{ </a:t>
            </a:r>
            <a:r>
              <a:rPr sz="2000" b="1" dirty="0">
                <a:solidFill>
                  <a:srgbClr val="696363"/>
                </a:solidFill>
                <a:latin typeface="Courier New"/>
                <a:cs typeface="Courier New"/>
              </a:rPr>
              <a:t>char</a:t>
            </a:r>
            <a:r>
              <a:rPr sz="2000" b="1" spc="-20" dirty="0">
                <a:solidFill>
                  <a:srgbClr val="696363"/>
                </a:solidFill>
                <a:latin typeface="Courier New"/>
                <a:cs typeface="Courier New"/>
              </a:rPr>
              <a:t> </a:t>
            </a:r>
            <a:r>
              <a:rPr sz="2000" b="1" spc="-10" dirty="0">
                <a:solidFill>
                  <a:srgbClr val="696363"/>
                </a:solidFill>
                <a:latin typeface="Courier New"/>
                <a:cs typeface="Courier New"/>
              </a:rPr>
              <a:t>buf[128];</a:t>
            </a:r>
            <a:endParaRPr sz="2000">
              <a:latin typeface="Courier New"/>
              <a:cs typeface="Courier New"/>
            </a:endParaRPr>
          </a:p>
          <a:p>
            <a:pPr marL="469900" marR="159385">
              <a:lnSpc>
                <a:spcPct val="100000"/>
              </a:lnSpc>
              <a:spcBef>
                <a:spcPts val="910"/>
              </a:spcBef>
            </a:pPr>
            <a:r>
              <a:rPr sz="2000" b="1" dirty="0">
                <a:solidFill>
                  <a:srgbClr val="696363"/>
                </a:solidFill>
                <a:latin typeface="Courier New"/>
                <a:cs typeface="Courier New"/>
              </a:rPr>
              <a:t>strcpy(buf,</a:t>
            </a:r>
            <a:r>
              <a:rPr sz="2000" b="1" spc="-55" dirty="0">
                <a:solidFill>
                  <a:srgbClr val="696363"/>
                </a:solidFill>
                <a:latin typeface="Courier New"/>
                <a:cs typeface="Courier New"/>
              </a:rPr>
              <a:t> </a:t>
            </a:r>
            <a:r>
              <a:rPr sz="2000" b="1" spc="-10" dirty="0">
                <a:solidFill>
                  <a:srgbClr val="696363"/>
                </a:solidFill>
                <a:latin typeface="Courier New"/>
                <a:cs typeface="Courier New"/>
              </a:rPr>
              <a:t>str); do-something(buf);</a:t>
            </a:r>
            <a:endParaRPr sz="2000">
              <a:latin typeface="Courier New"/>
              <a:cs typeface="Courier New"/>
            </a:endParaRPr>
          </a:p>
          <a:p>
            <a:pPr marL="12700">
              <a:lnSpc>
                <a:spcPct val="100000"/>
              </a:lnSpc>
              <a:spcBef>
                <a:spcPts val="5"/>
              </a:spcBef>
            </a:pPr>
            <a:r>
              <a:rPr sz="2000" b="1" spc="-50" dirty="0">
                <a:solidFill>
                  <a:srgbClr val="696363"/>
                </a:solidFill>
                <a:latin typeface="Courier New"/>
                <a:cs typeface="Courier New"/>
              </a:rPr>
              <a:t>}</a:t>
            </a:r>
            <a:endParaRPr sz="2000">
              <a:latin typeface="Courier New"/>
              <a:cs typeface="Courier New"/>
            </a:endParaRPr>
          </a:p>
        </p:txBody>
      </p:sp>
      <p:sp>
        <p:nvSpPr>
          <p:cNvPr id="5" name="object 5"/>
          <p:cNvSpPr txBox="1"/>
          <p:nvPr/>
        </p:nvSpPr>
        <p:spPr>
          <a:xfrm>
            <a:off x="383857" y="1702117"/>
            <a:ext cx="4306570" cy="334645"/>
          </a:xfrm>
          <a:prstGeom prst="rect">
            <a:avLst/>
          </a:prstGeom>
        </p:spPr>
        <p:txBody>
          <a:bodyPr vert="horz" wrap="square" lIns="0" tIns="15875" rIns="0" bIns="0" rtlCol="0">
            <a:spAutoFit/>
          </a:bodyPr>
          <a:lstStyle/>
          <a:p>
            <a:pPr marL="12700">
              <a:lnSpc>
                <a:spcPct val="100000"/>
              </a:lnSpc>
              <a:spcBef>
                <a:spcPts val="125"/>
              </a:spcBef>
            </a:pPr>
            <a:r>
              <a:rPr sz="2000" dirty="0">
                <a:latin typeface="Times New Roman"/>
                <a:cs typeface="Times New Roman"/>
              </a:rPr>
              <a:t>Suppose</a:t>
            </a:r>
            <a:r>
              <a:rPr sz="2000" spc="-50" dirty="0">
                <a:latin typeface="Times New Roman"/>
                <a:cs typeface="Times New Roman"/>
              </a:rPr>
              <a:t> </a:t>
            </a:r>
            <a:r>
              <a:rPr sz="2000" dirty="0">
                <a:latin typeface="Times New Roman"/>
                <a:cs typeface="Times New Roman"/>
              </a:rPr>
              <a:t>a</a:t>
            </a:r>
            <a:r>
              <a:rPr sz="2000" spc="30" dirty="0">
                <a:latin typeface="Times New Roman"/>
                <a:cs typeface="Times New Roman"/>
              </a:rPr>
              <a:t> </a:t>
            </a:r>
            <a:r>
              <a:rPr sz="2000" dirty="0">
                <a:latin typeface="Times New Roman"/>
                <a:cs typeface="Times New Roman"/>
              </a:rPr>
              <a:t>web</a:t>
            </a:r>
            <a:r>
              <a:rPr sz="2000" spc="-10" dirty="0">
                <a:latin typeface="Times New Roman"/>
                <a:cs typeface="Times New Roman"/>
              </a:rPr>
              <a:t> </a:t>
            </a:r>
            <a:r>
              <a:rPr sz="2000" dirty="0">
                <a:latin typeface="Times New Roman"/>
                <a:cs typeface="Times New Roman"/>
              </a:rPr>
              <a:t>server</a:t>
            </a:r>
            <a:r>
              <a:rPr sz="2000" spc="-40" dirty="0">
                <a:latin typeface="Times New Roman"/>
                <a:cs typeface="Times New Roman"/>
              </a:rPr>
              <a:t> </a:t>
            </a:r>
            <a:r>
              <a:rPr sz="2000" dirty="0">
                <a:latin typeface="Times New Roman"/>
                <a:cs typeface="Times New Roman"/>
              </a:rPr>
              <a:t>contains</a:t>
            </a:r>
            <a:r>
              <a:rPr sz="2000" spc="-15" dirty="0">
                <a:latin typeface="Times New Roman"/>
                <a:cs typeface="Times New Roman"/>
              </a:rPr>
              <a:t> </a:t>
            </a:r>
            <a:r>
              <a:rPr sz="2000" dirty="0">
                <a:latin typeface="Times New Roman"/>
                <a:cs typeface="Times New Roman"/>
              </a:rPr>
              <a:t>a</a:t>
            </a:r>
            <a:r>
              <a:rPr sz="2000" spc="-45" dirty="0">
                <a:latin typeface="Times New Roman"/>
                <a:cs typeface="Times New Roman"/>
              </a:rPr>
              <a:t> </a:t>
            </a:r>
            <a:r>
              <a:rPr sz="2000" spc="-10" dirty="0">
                <a:latin typeface="Times New Roman"/>
                <a:cs typeface="Times New Roman"/>
              </a:rPr>
              <a:t>function:</a:t>
            </a:r>
            <a:endParaRPr sz="2000">
              <a:latin typeface="Times New Roman"/>
              <a:cs typeface="Times New Roman"/>
            </a:endParaRPr>
          </a:p>
        </p:txBody>
      </p:sp>
      <p:sp>
        <p:nvSpPr>
          <p:cNvPr id="6" name="object 6"/>
          <p:cNvSpPr txBox="1"/>
          <p:nvPr/>
        </p:nvSpPr>
        <p:spPr>
          <a:xfrm>
            <a:off x="418782" y="2439987"/>
            <a:ext cx="3922395" cy="334645"/>
          </a:xfrm>
          <a:prstGeom prst="rect">
            <a:avLst/>
          </a:prstGeom>
        </p:spPr>
        <p:txBody>
          <a:bodyPr vert="horz" wrap="square" lIns="0" tIns="15875" rIns="0" bIns="0" rtlCol="0">
            <a:spAutoFit/>
          </a:bodyPr>
          <a:lstStyle/>
          <a:p>
            <a:pPr marL="12700">
              <a:lnSpc>
                <a:spcPct val="100000"/>
              </a:lnSpc>
              <a:spcBef>
                <a:spcPts val="125"/>
              </a:spcBef>
            </a:pPr>
            <a:r>
              <a:rPr sz="2000" dirty="0">
                <a:latin typeface="Times New Roman"/>
                <a:cs typeface="Times New Roman"/>
              </a:rPr>
              <a:t>When</a:t>
            </a:r>
            <a:r>
              <a:rPr sz="2000" spc="5" dirty="0">
                <a:latin typeface="Times New Roman"/>
                <a:cs typeface="Times New Roman"/>
              </a:rPr>
              <a:t> </a:t>
            </a:r>
            <a:r>
              <a:rPr sz="2000" dirty="0">
                <a:latin typeface="Times New Roman"/>
                <a:cs typeface="Times New Roman"/>
              </a:rPr>
              <a:t>func()</a:t>
            </a:r>
            <a:r>
              <a:rPr sz="2000" spc="-55" dirty="0">
                <a:latin typeface="Times New Roman"/>
                <a:cs typeface="Times New Roman"/>
              </a:rPr>
              <a:t> </a:t>
            </a:r>
            <a:r>
              <a:rPr sz="2000" dirty="0">
                <a:latin typeface="Times New Roman"/>
                <a:cs typeface="Times New Roman"/>
              </a:rPr>
              <a:t>is</a:t>
            </a:r>
            <a:r>
              <a:rPr sz="2000" spc="-25" dirty="0">
                <a:latin typeface="Times New Roman"/>
                <a:cs typeface="Times New Roman"/>
              </a:rPr>
              <a:t> </a:t>
            </a:r>
            <a:r>
              <a:rPr sz="2000" dirty="0">
                <a:latin typeface="Times New Roman"/>
                <a:cs typeface="Times New Roman"/>
              </a:rPr>
              <a:t>called</a:t>
            </a:r>
            <a:r>
              <a:rPr sz="2000" spc="-25" dirty="0">
                <a:latin typeface="Times New Roman"/>
                <a:cs typeface="Times New Roman"/>
              </a:rPr>
              <a:t> </a:t>
            </a:r>
            <a:r>
              <a:rPr sz="2000" dirty="0">
                <a:latin typeface="Times New Roman"/>
                <a:cs typeface="Times New Roman"/>
              </a:rPr>
              <a:t>stack</a:t>
            </a:r>
            <a:r>
              <a:rPr sz="2000" spc="-25" dirty="0">
                <a:latin typeface="Times New Roman"/>
                <a:cs typeface="Times New Roman"/>
              </a:rPr>
              <a:t> </a:t>
            </a:r>
            <a:r>
              <a:rPr sz="2000" dirty="0">
                <a:latin typeface="Times New Roman"/>
                <a:cs typeface="Times New Roman"/>
              </a:rPr>
              <a:t>looks</a:t>
            </a:r>
            <a:r>
              <a:rPr sz="2000" spc="-25" dirty="0">
                <a:latin typeface="Times New Roman"/>
                <a:cs typeface="Times New Roman"/>
              </a:rPr>
              <a:t> </a:t>
            </a:r>
            <a:r>
              <a:rPr sz="2000" spc="-10" dirty="0">
                <a:latin typeface="Times New Roman"/>
                <a:cs typeface="Times New Roman"/>
              </a:rPr>
              <a:t>like:</a:t>
            </a:r>
            <a:endParaRPr sz="2000">
              <a:latin typeface="Times New Roman"/>
              <a:cs typeface="Times New Roman"/>
            </a:endParaRPr>
          </a:p>
        </p:txBody>
      </p:sp>
      <p:grpSp>
        <p:nvGrpSpPr>
          <p:cNvPr id="7" name="object 7"/>
          <p:cNvGrpSpPr/>
          <p:nvPr/>
        </p:nvGrpSpPr>
        <p:grpSpPr>
          <a:xfrm>
            <a:off x="1676463" y="3048063"/>
            <a:ext cx="3514725" cy="514350"/>
            <a:chOff x="1676463" y="3048063"/>
            <a:chExt cx="3514725" cy="514350"/>
          </a:xfrm>
        </p:grpSpPr>
        <p:sp>
          <p:nvSpPr>
            <p:cNvPr id="8" name="object 8"/>
            <p:cNvSpPr/>
            <p:nvPr/>
          </p:nvSpPr>
          <p:spPr>
            <a:xfrm>
              <a:off x="1681226" y="3086100"/>
              <a:ext cx="3505200" cy="471805"/>
            </a:xfrm>
            <a:custGeom>
              <a:avLst/>
              <a:gdLst/>
              <a:ahLst/>
              <a:cxnLst/>
              <a:rect l="l" t="t" r="r" b="b"/>
              <a:pathLst>
                <a:path w="3505200" h="471804">
                  <a:moveTo>
                    <a:pt x="0" y="471550"/>
                  </a:moveTo>
                  <a:lnTo>
                    <a:pt x="3505200" y="471550"/>
                  </a:lnTo>
                  <a:lnTo>
                    <a:pt x="3505200" y="0"/>
                  </a:lnTo>
                  <a:lnTo>
                    <a:pt x="0" y="0"/>
                  </a:lnTo>
                  <a:lnTo>
                    <a:pt x="0" y="471550"/>
                  </a:lnTo>
                  <a:close/>
                </a:path>
              </a:pathLst>
            </a:custGeom>
            <a:solidFill>
              <a:srgbClr val="BEBEBE"/>
            </a:solidFill>
          </p:spPr>
          <p:txBody>
            <a:bodyPr wrap="square" lIns="0" tIns="0" rIns="0" bIns="0" rtlCol="0"/>
            <a:lstStyle/>
            <a:p>
              <a:endParaRPr/>
            </a:p>
          </p:txBody>
        </p:sp>
        <p:sp>
          <p:nvSpPr>
            <p:cNvPr id="9" name="object 9"/>
            <p:cNvSpPr/>
            <p:nvPr/>
          </p:nvSpPr>
          <p:spPr>
            <a:xfrm>
              <a:off x="1681226" y="3052826"/>
              <a:ext cx="3505200" cy="504825"/>
            </a:xfrm>
            <a:custGeom>
              <a:avLst/>
              <a:gdLst/>
              <a:ahLst/>
              <a:cxnLst/>
              <a:rect l="l" t="t" r="r" b="b"/>
              <a:pathLst>
                <a:path w="3505200" h="504825">
                  <a:moveTo>
                    <a:pt x="0" y="504825"/>
                  </a:moveTo>
                  <a:lnTo>
                    <a:pt x="3505200" y="504825"/>
                  </a:lnTo>
                  <a:lnTo>
                    <a:pt x="3505200" y="0"/>
                  </a:lnTo>
                  <a:lnTo>
                    <a:pt x="0" y="0"/>
                  </a:lnTo>
                  <a:lnTo>
                    <a:pt x="0" y="504825"/>
                  </a:lnTo>
                  <a:close/>
                </a:path>
              </a:pathLst>
            </a:custGeom>
            <a:ln w="9525">
              <a:solidFill>
                <a:srgbClr val="000000"/>
              </a:solidFill>
            </a:ln>
          </p:spPr>
          <p:txBody>
            <a:bodyPr wrap="square" lIns="0" tIns="0" rIns="0" bIns="0" rtlCol="0"/>
            <a:lstStyle/>
            <a:p>
              <a:endParaRPr/>
            </a:p>
          </p:txBody>
        </p:sp>
      </p:grpSp>
      <p:sp>
        <p:nvSpPr>
          <p:cNvPr id="10" name="object 10"/>
          <p:cNvSpPr txBox="1"/>
          <p:nvPr/>
        </p:nvSpPr>
        <p:spPr>
          <a:xfrm>
            <a:off x="2741676" y="3103181"/>
            <a:ext cx="1381760" cy="334645"/>
          </a:xfrm>
          <a:prstGeom prst="rect">
            <a:avLst/>
          </a:prstGeom>
        </p:spPr>
        <p:txBody>
          <a:bodyPr vert="horz" wrap="square" lIns="0" tIns="15875" rIns="0" bIns="0" rtlCol="0">
            <a:spAutoFit/>
          </a:bodyPr>
          <a:lstStyle/>
          <a:p>
            <a:pPr marL="12700">
              <a:lnSpc>
                <a:spcPct val="100000"/>
              </a:lnSpc>
              <a:spcBef>
                <a:spcPts val="125"/>
              </a:spcBef>
              <a:tabLst>
                <a:tab pos="1127125" algn="l"/>
              </a:tabLst>
            </a:pPr>
            <a:r>
              <a:rPr sz="2000" spc="-10" dirty="0">
                <a:latin typeface="Times New Roman"/>
                <a:cs typeface="Times New Roman"/>
              </a:rPr>
              <a:t>argument:</a:t>
            </a:r>
            <a:r>
              <a:rPr sz="2000" dirty="0">
                <a:latin typeface="Times New Roman"/>
                <a:cs typeface="Times New Roman"/>
              </a:rPr>
              <a:t>	</a:t>
            </a:r>
            <a:r>
              <a:rPr sz="2000" spc="-25" dirty="0">
                <a:latin typeface="Times New Roman"/>
                <a:cs typeface="Times New Roman"/>
              </a:rPr>
              <a:t>str</a:t>
            </a:r>
            <a:endParaRPr sz="2000">
              <a:latin typeface="Times New Roman"/>
              <a:cs typeface="Times New Roman"/>
            </a:endParaRPr>
          </a:p>
        </p:txBody>
      </p:sp>
      <p:grpSp>
        <p:nvGrpSpPr>
          <p:cNvPr id="11" name="object 11"/>
          <p:cNvGrpSpPr/>
          <p:nvPr/>
        </p:nvGrpSpPr>
        <p:grpSpPr>
          <a:xfrm>
            <a:off x="1676463" y="3505263"/>
            <a:ext cx="3514725" cy="2400300"/>
            <a:chOff x="1676463" y="3505263"/>
            <a:chExt cx="3514725" cy="2400300"/>
          </a:xfrm>
        </p:grpSpPr>
        <p:sp>
          <p:nvSpPr>
            <p:cNvPr id="12" name="object 12"/>
            <p:cNvSpPr/>
            <p:nvPr/>
          </p:nvSpPr>
          <p:spPr>
            <a:xfrm>
              <a:off x="1681226" y="3510026"/>
              <a:ext cx="3505200" cy="457200"/>
            </a:xfrm>
            <a:custGeom>
              <a:avLst/>
              <a:gdLst/>
              <a:ahLst/>
              <a:cxnLst/>
              <a:rect l="l" t="t" r="r" b="b"/>
              <a:pathLst>
                <a:path w="3505200" h="457200">
                  <a:moveTo>
                    <a:pt x="3505200" y="0"/>
                  </a:moveTo>
                  <a:lnTo>
                    <a:pt x="0" y="0"/>
                  </a:lnTo>
                  <a:lnTo>
                    <a:pt x="0" y="457200"/>
                  </a:lnTo>
                  <a:lnTo>
                    <a:pt x="3505200" y="457200"/>
                  </a:lnTo>
                  <a:lnTo>
                    <a:pt x="3505200" y="0"/>
                  </a:lnTo>
                  <a:close/>
                </a:path>
              </a:pathLst>
            </a:custGeom>
            <a:solidFill>
              <a:srgbClr val="BEBEBE"/>
            </a:solidFill>
          </p:spPr>
          <p:txBody>
            <a:bodyPr wrap="square" lIns="0" tIns="0" rIns="0" bIns="0" rtlCol="0"/>
            <a:lstStyle/>
            <a:p>
              <a:endParaRPr/>
            </a:p>
          </p:txBody>
        </p:sp>
        <p:sp>
          <p:nvSpPr>
            <p:cNvPr id="13" name="object 13"/>
            <p:cNvSpPr/>
            <p:nvPr/>
          </p:nvSpPr>
          <p:spPr>
            <a:xfrm>
              <a:off x="1681226" y="3510026"/>
              <a:ext cx="3505200" cy="457200"/>
            </a:xfrm>
            <a:custGeom>
              <a:avLst/>
              <a:gdLst/>
              <a:ahLst/>
              <a:cxnLst/>
              <a:rect l="l" t="t" r="r" b="b"/>
              <a:pathLst>
                <a:path w="3505200" h="457200">
                  <a:moveTo>
                    <a:pt x="0" y="457200"/>
                  </a:moveTo>
                  <a:lnTo>
                    <a:pt x="3505200" y="457200"/>
                  </a:lnTo>
                  <a:lnTo>
                    <a:pt x="3505200" y="0"/>
                  </a:lnTo>
                  <a:lnTo>
                    <a:pt x="0" y="0"/>
                  </a:lnTo>
                  <a:lnTo>
                    <a:pt x="0" y="457200"/>
                  </a:lnTo>
                  <a:close/>
                </a:path>
              </a:pathLst>
            </a:custGeom>
            <a:ln w="9525">
              <a:solidFill>
                <a:srgbClr val="000000"/>
              </a:solidFill>
            </a:ln>
          </p:spPr>
          <p:txBody>
            <a:bodyPr wrap="square" lIns="0" tIns="0" rIns="0" bIns="0" rtlCol="0"/>
            <a:lstStyle/>
            <a:p>
              <a:endParaRPr/>
            </a:p>
          </p:txBody>
        </p:sp>
        <p:sp>
          <p:nvSpPr>
            <p:cNvPr id="14" name="object 14"/>
            <p:cNvSpPr/>
            <p:nvPr/>
          </p:nvSpPr>
          <p:spPr>
            <a:xfrm>
              <a:off x="1681226" y="3919601"/>
              <a:ext cx="3505200" cy="457200"/>
            </a:xfrm>
            <a:custGeom>
              <a:avLst/>
              <a:gdLst/>
              <a:ahLst/>
              <a:cxnLst/>
              <a:rect l="l" t="t" r="r" b="b"/>
              <a:pathLst>
                <a:path w="3505200" h="457200">
                  <a:moveTo>
                    <a:pt x="3505200" y="0"/>
                  </a:moveTo>
                  <a:lnTo>
                    <a:pt x="0" y="0"/>
                  </a:lnTo>
                  <a:lnTo>
                    <a:pt x="0" y="457200"/>
                  </a:lnTo>
                  <a:lnTo>
                    <a:pt x="3505200" y="457200"/>
                  </a:lnTo>
                  <a:lnTo>
                    <a:pt x="3505200" y="0"/>
                  </a:lnTo>
                  <a:close/>
                </a:path>
              </a:pathLst>
            </a:custGeom>
            <a:solidFill>
              <a:srgbClr val="BEBEBE"/>
            </a:solidFill>
          </p:spPr>
          <p:txBody>
            <a:bodyPr wrap="square" lIns="0" tIns="0" rIns="0" bIns="0" rtlCol="0"/>
            <a:lstStyle/>
            <a:p>
              <a:endParaRPr/>
            </a:p>
          </p:txBody>
        </p:sp>
        <p:sp>
          <p:nvSpPr>
            <p:cNvPr id="15" name="object 15"/>
            <p:cNvSpPr/>
            <p:nvPr/>
          </p:nvSpPr>
          <p:spPr>
            <a:xfrm>
              <a:off x="1681226" y="3919601"/>
              <a:ext cx="3505200" cy="457200"/>
            </a:xfrm>
            <a:custGeom>
              <a:avLst/>
              <a:gdLst/>
              <a:ahLst/>
              <a:cxnLst/>
              <a:rect l="l" t="t" r="r" b="b"/>
              <a:pathLst>
                <a:path w="3505200" h="457200">
                  <a:moveTo>
                    <a:pt x="0" y="457200"/>
                  </a:moveTo>
                  <a:lnTo>
                    <a:pt x="3505200" y="457200"/>
                  </a:lnTo>
                  <a:lnTo>
                    <a:pt x="3505200" y="0"/>
                  </a:lnTo>
                  <a:lnTo>
                    <a:pt x="0" y="0"/>
                  </a:lnTo>
                  <a:lnTo>
                    <a:pt x="0" y="457200"/>
                  </a:lnTo>
                  <a:close/>
                </a:path>
              </a:pathLst>
            </a:custGeom>
            <a:ln w="9525">
              <a:solidFill>
                <a:srgbClr val="000000"/>
              </a:solidFill>
            </a:ln>
          </p:spPr>
          <p:txBody>
            <a:bodyPr wrap="square" lIns="0" tIns="0" rIns="0" bIns="0" rtlCol="0"/>
            <a:lstStyle/>
            <a:p>
              <a:endParaRPr/>
            </a:p>
          </p:txBody>
        </p:sp>
        <p:sp>
          <p:nvSpPr>
            <p:cNvPr id="16" name="object 16"/>
            <p:cNvSpPr/>
            <p:nvPr/>
          </p:nvSpPr>
          <p:spPr>
            <a:xfrm>
              <a:off x="1681226" y="4376737"/>
              <a:ext cx="3505200" cy="1481455"/>
            </a:xfrm>
            <a:custGeom>
              <a:avLst/>
              <a:gdLst/>
              <a:ahLst/>
              <a:cxnLst/>
              <a:rect l="l" t="t" r="r" b="b"/>
              <a:pathLst>
                <a:path w="3505200" h="1481454">
                  <a:moveTo>
                    <a:pt x="0" y="1481137"/>
                  </a:moveTo>
                  <a:lnTo>
                    <a:pt x="3505200" y="1481137"/>
                  </a:lnTo>
                  <a:lnTo>
                    <a:pt x="3505200" y="0"/>
                  </a:lnTo>
                  <a:lnTo>
                    <a:pt x="0" y="0"/>
                  </a:lnTo>
                  <a:lnTo>
                    <a:pt x="0" y="1481137"/>
                  </a:lnTo>
                  <a:close/>
                </a:path>
              </a:pathLst>
            </a:custGeom>
            <a:solidFill>
              <a:srgbClr val="BEBEBE"/>
            </a:solidFill>
          </p:spPr>
          <p:txBody>
            <a:bodyPr wrap="square" lIns="0" tIns="0" rIns="0" bIns="0" rtlCol="0"/>
            <a:lstStyle/>
            <a:p>
              <a:endParaRPr/>
            </a:p>
          </p:txBody>
        </p:sp>
        <p:sp>
          <p:nvSpPr>
            <p:cNvPr id="17" name="object 17"/>
            <p:cNvSpPr/>
            <p:nvPr/>
          </p:nvSpPr>
          <p:spPr>
            <a:xfrm>
              <a:off x="1681226" y="4376737"/>
              <a:ext cx="3505200" cy="1524000"/>
            </a:xfrm>
            <a:custGeom>
              <a:avLst/>
              <a:gdLst/>
              <a:ahLst/>
              <a:cxnLst/>
              <a:rect l="l" t="t" r="r" b="b"/>
              <a:pathLst>
                <a:path w="3505200" h="1524000">
                  <a:moveTo>
                    <a:pt x="0" y="1524000"/>
                  </a:moveTo>
                  <a:lnTo>
                    <a:pt x="3505200" y="1524000"/>
                  </a:lnTo>
                  <a:lnTo>
                    <a:pt x="3505200" y="0"/>
                  </a:lnTo>
                  <a:lnTo>
                    <a:pt x="0" y="0"/>
                  </a:lnTo>
                  <a:lnTo>
                    <a:pt x="0" y="1524000"/>
                  </a:lnTo>
                  <a:close/>
                </a:path>
              </a:pathLst>
            </a:custGeom>
            <a:ln w="9525">
              <a:solidFill>
                <a:srgbClr val="000000"/>
              </a:solidFill>
            </a:ln>
          </p:spPr>
          <p:txBody>
            <a:bodyPr wrap="square" lIns="0" tIns="0" rIns="0" bIns="0" rtlCol="0"/>
            <a:lstStyle/>
            <a:p>
              <a:endParaRPr/>
            </a:p>
          </p:txBody>
        </p:sp>
      </p:grpSp>
      <p:sp>
        <p:nvSpPr>
          <p:cNvPr id="18" name="object 18"/>
          <p:cNvSpPr txBox="1"/>
          <p:nvPr/>
        </p:nvSpPr>
        <p:spPr>
          <a:xfrm>
            <a:off x="2529839" y="3437826"/>
            <a:ext cx="1807845" cy="1831339"/>
          </a:xfrm>
          <a:prstGeom prst="rect">
            <a:avLst/>
          </a:prstGeom>
        </p:spPr>
        <p:txBody>
          <a:bodyPr vert="horz" wrap="square" lIns="0" tIns="11430" rIns="0" bIns="0" rtlCol="0">
            <a:spAutoFit/>
          </a:bodyPr>
          <a:lstStyle/>
          <a:p>
            <a:pPr marL="12700" marR="5080" indent="-2540" algn="ctr">
              <a:lnSpc>
                <a:spcPct val="133500"/>
              </a:lnSpc>
              <a:spcBef>
                <a:spcPts val="90"/>
              </a:spcBef>
            </a:pPr>
            <a:r>
              <a:rPr sz="2000" spc="-20" dirty="0">
                <a:latin typeface="Times New Roman"/>
                <a:cs typeface="Times New Roman"/>
              </a:rPr>
              <a:t>return</a:t>
            </a:r>
            <a:r>
              <a:rPr sz="2000" spc="-85" dirty="0">
                <a:latin typeface="Times New Roman"/>
                <a:cs typeface="Times New Roman"/>
              </a:rPr>
              <a:t> </a:t>
            </a:r>
            <a:r>
              <a:rPr sz="2000" spc="-10" dirty="0">
                <a:latin typeface="Times New Roman"/>
                <a:cs typeface="Times New Roman"/>
              </a:rPr>
              <a:t>address </a:t>
            </a:r>
            <a:r>
              <a:rPr sz="2000" spc="-100" dirty="0">
                <a:latin typeface="Times New Roman"/>
                <a:cs typeface="Times New Roman"/>
              </a:rPr>
              <a:t>stack</a:t>
            </a:r>
            <a:r>
              <a:rPr sz="2000" spc="-90" dirty="0">
                <a:latin typeface="Times New Roman"/>
                <a:cs typeface="Times New Roman"/>
              </a:rPr>
              <a:t> </a:t>
            </a:r>
            <a:r>
              <a:rPr sz="2000" spc="-105" dirty="0">
                <a:latin typeface="Times New Roman"/>
                <a:cs typeface="Times New Roman"/>
              </a:rPr>
              <a:t>frame</a:t>
            </a:r>
            <a:r>
              <a:rPr sz="2000" spc="-15" dirty="0">
                <a:latin typeface="Times New Roman"/>
                <a:cs typeface="Times New Roman"/>
              </a:rPr>
              <a:t> </a:t>
            </a:r>
            <a:r>
              <a:rPr sz="2000" spc="-45" dirty="0">
                <a:latin typeface="Times New Roman"/>
                <a:cs typeface="Times New Roman"/>
              </a:rPr>
              <a:t>pointer</a:t>
            </a:r>
            <a:endParaRPr sz="2000">
              <a:latin typeface="Times New Roman"/>
              <a:cs typeface="Times New Roman"/>
            </a:endParaRPr>
          </a:p>
          <a:p>
            <a:pPr>
              <a:lnSpc>
                <a:spcPct val="100000"/>
              </a:lnSpc>
            </a:pPr>
            <a:endParaRPr sz="2000">
              <a:latin typeface="Times New Roman"/>
              <a:cs typeface="Times New Roman"/>
            </a:endParaRPr>
          </a:p>
          <a:p>
            <a:pPr>
              <a:lnSpc>
                <a:spcPct val="100000"/>
              </a:lnSpc>
              <a:spcBef>
                <a:spcPts val="815"/>
              </a:spcBef>
            </a:pPr>
            <a:endParaRPr sz="2000">
              <a:latin typeface="Times New Roman"/>
              <a:cs typeface="Times New Roman"/>
            </a:endParaRPr>
          </a:p>
          <a:p>
            <a:pPr marL="2540" algn="ctr">
              <a:lnSpc>
                <a:spcPct val="100000"/>
              </a:lnSpc>
            </a:pPr>
            <a:r>
              <a:rPr sz="2000" spc="-95" dirty="0">
                <a:latin typeface="Times New Roman"/>
                <a:cs typeface="Times New Roman"/>
              </a:rPr>
              <a:t>char</a:t>
            </a:r>
            <a:r>
              <a:rPr sz="2000" spc="-35" dirty="0">
                <a:latin typeface="Times New Roman"/>
                <a:cs typeface="Times New Roman"/>
              </a:rPr>
              <a:t> </a:t>
            </a:r>
            <a:r>
              <a:rPr sz="2000" spc="-10" dirty="0">
                <a:latin typeface="Times New Roman"/>
                <a:cs typeface="Times New Roman"/>
              </a:rPr>
              <a:t>buf[128]</a:t>
            </a:r>
            <a:endParaRPr sz="2000">
              <a:latin typeface="Times New Roman"/>
              <a:cs typeface="Times New Roman"/>
            </a:endParaRPr>
          </a:p>
        </p:txBody>
      </p:sp>
      <p:sp>
        <p:nvSpPr>
          <p:cNvPr id="19" name="object 19"/>
          <p:cNvSpPr txBox="1"/>
          <p:nvPr/>
        </p:nvSpPr>
        <p:spPr>
          <a:xfrm>
            <a:off x="284479" y="5667057"/>
            <a:ext cx="256540" cy="334645"/>
          </a:xfrm>
          <a:prstGeom prst="rect">
            <a:avLst/>
          </a:prstGeom>
        </p:spPr>
        <p:txBody>
          <a:bodyPr vert="horz" wrap="square" lIns="0" tIns="15875" rIns="0" bIns="0" rtlCol="0">
            <a:spAutoFit/>
          </a:bodyPr>
          <a:lstStyle/>
          <a:p>
            <a:pPr marL="12700">
              <a:lnSpc>
                <a:spcPct val="100000"/>
              </a:lnSpc>
              <a:spcBef>
                <a:spcPts val="125"/>
              </a:spcBef>
            </a:pPr>
            <a:r>
              <a:rPr sz="2000" spc="-185" dirty="0">
                <a:latin typeface="Times New Roman"/>
                <a:cs typeface="Times New Roman"/>
              </a:rPr>
              <a:t>SP</a:t>
            </a:r>
            <a:endParaRPr sz="2000">
              <a:latin typeface="Times New Roman"/>
              <a:cs typeface="Times New Roman"/>
            </a:endParaRPr>
          </a:p>
        </p:txBody>
      </p:sp>
      <p:sp>
        <p:nvSpPr>
          <p:cNvPr id="20" name="object 20"/>
          <p:cNvSpPr/>
          <p:nvPr/>
        </p:nvSpPr>
        <p:spPr>
          <a:xfrm>
            <a:off x="747712" y="5891212"/>
            <a:ext cx="543560" cy="76200"/>
          </a:xfrm>
          <a:custGeom>
            <a:avLst/>
            <a:gdLst/>
            <a:ahLst/>
            <a:cxnLst/>
            <a:rect l="l" t="t" r="r" b="b"/>
            <a:pathLst>
              <a:path w="543560" h="76200">
                <a:moveTo>
                  <a:pt x="466725" y="0"/>
                </a:moveTo>
                <a:lnTo>
                  <a:pt x="466725" y="76200"/>
                </a:lnTo>
                <a:lnTo>
                  <a:pt x="530277" y="44450"/>
                </a:lnTo>
                <a:lnTo>
                  <a:pt x="479425" y="44450"/>
                </a:lnTo>
                <a:lnTo>
                  <a:pt x="479425" y="31750"/>
                </a:lnTo>
                <a:lnTo>
                  <a:pt x="530277" y="31750"/>
                </a:lnTo>
                <a:lnTo>
                  <a:pt x="466725" y="0"/>
                </a:lnTo>
                <a:close/>
              </a:path>
              <a:path w="543560" h="76200">
                <a:moveTo>
                  <a:pt x="466725" y="31750"/>
                </a:moveTo>
                <a:lnTo>
                  <a:pt x="0" y="31750"/>
                </a:lnTo>
                <a:lnTo>
                  <a:pt x="0" y="44450"/>
                </a:lnTo>
                <a:lnTo>
                  <a:pt x="466725" y="44450"/>
                </a:lnTo>
                <a:lnTo>
                  <a:pt x="466725" y="31750"/>
                </a:lnTo>
                <a:close/>
              </a:path>
              <a:path w="543560" h="76200">
                <a:moveTo>
                  <a:pt x="530277" y="31750"/>
                </a:moveTo>
                <a:lnTo>
                  <a:pt x="479425" y="31750"/>
                </a:lnTo>
                <a:lnTo>
                  <a:pt x="479425" y="44450"/>
                </a:lnTo>
                <a:lnTo>
                  <a:pt x="530277" y="44450"/>
                </a:lnTo>
                <a:lnTo>
                  <a:pt x="542988" y="38100"/>
                </a:lnTo>
                <a:lnTo>
                  <a:pt x="530277" y="31750"/>
                </a:lnTo>
                <a:close/>
              </a:path>
            </a:pathLst>
          </a:custGeom>
          <a:solidFill>
            <a:srgbClr val="000000"/>
          </a:solidFill>
        </p:spPr>
        <p:txBody>
          <a:bodyPr wrap="square" lIns="0" tIns="0" rIns="0" bIns="0" rtlCol="0"/>
          <a:lstStyle/>
          <a:p>
            <a:endParaRPr/>
          </a:p>
        </p:txBody>
      </p:sp>
      <p:grpSp>
        <p:nvGrpSpPr>
          <p:cNvPr id="21" name="object 21"/>
          <p:cNvGrpSpPr/>
          <p:nvPr/>
        </p:nvGrpSpPr>
        <p:grpSpPr>
          <a:xfrm>
            <a:off x="871537" y="2667000"/>
            <a:ext cx="4538980" cy="3457575"/>
            <a:chOff x="871537" y="2667000"/>
            <a:chExt cx="4538980" cy="3457575"/>
          </a:xfrm>
        </p:grpSpPr>
        <p:sp>
          <p:nvSpPr>
            <p:cNvPr id="22" name="object 22"/>
            <p:cNvSpPr/>
            <p:nvPr/>
          </p:nvSpPr>
          <p:spPr>
            <a:xfrm>
              <a:off x="1371600" y="3048000"/>
              <a:ext cx="4038600" cy="2847975"/>
            </a:xfrm>
            <a:custGeom>
              <a:avLst/>
              <a:gdLst/>
              <a:ahLst/>
              <a:cxnLst/>
              <a:rect l="l" t="t" r="r" b="b"/>
              <a:pathLst>
                <a:path w="4038600" h="2847975">
                  <a:moveTo>
                    <a:pt x="0" y="2847975"/>
                  </a:moveTo>
                  <a:lnTo>
                    <a:pt x="4038600" y="2847975"/>
                  </a:lnTo>
                </a:path>
                <a:path w="4038600" h="2847975">
                  <a:moveTo>
                    <a:pt x="0" y="0"/>
                  </a:moveTo>
                  <a:lnTo>
                    <a:pt x="4038600" y="0"/>
                  </a:lnTo>
                </a:path>
              </a:pathLst>
            </a:custGeom>
            <a:ln w="76200">
              <a:solidFill>
                <a:srgbClr val="000000"/>
              </a:solidFill>
            </a:ln>
          </p:spPr>
          <p:txBody>
            <a:bodyPr wrap="square" lIns="0" tIns="0" rIns="0" bIns="0" rtlCol="0"/>
            <a:lstStyle/>
            <a:p>
              <a:endParaRPr/>
            </a:p>
          </p:txBody>
        </p:sp>
        <p:sp>
          <p:nvSpPr>
            <p:cNvPr id="23" name="object 23"/>
            <p:cNvSpPr/>
            <p:nvPr/>
          </p:nvSpPr>
          <p:spPr>
            <a:xfrm>
              <a:off x="938212" y="4167250"/>
              <a:ext cx="743585" cy="0"/>
            </a:xfrm>
            <a:custGeom>
              <a:avLst/>
              <a:gdLst/>
              <a:ahLst/>
              <a:cxnLst/>
              <a:rect l="l" t="t" r="r" b="b"/>
              <a:pathLst>
                <a:path w="743585">
                  <a:moveTo>
                    <a:pt x="743013" y="0"/>
                  </a:moveTo>
                  <a:lnTo>
                    <a:pt x="0" y="0"/>
                  </a:lnTo>
                </a:path>
              </a:pathLst>
            </a:custGeom>
            <a:ln w="28575">
              <a:solidFill>
                <a:srgbClr val="0000FF"/>
              </a:solidFill>
            </a:ln>
          </p:spPr>
          <p:txBody>
            <a:bodyPr wrap="square" lIns="0" tIns="0" rIns="0" bIns="0" rtlCol="0"/>
            <a:lstStyle/>
            <a:p>
              <a:endParaRPr/>
            </a:p>
          </p:txBody>
        </p:sp>
        <p:sp>
          <p:nvSpPr>
            <p:cNvPr id="24" name="object 24"/>
            <p:cNvSpPr/>
            <p:nvPr/>
          </p:nvSpPr>
          <p:spPr>
            <a:xfrm>
              <a:off x="871537" y="2743200"/>
              <a:ext cx="123825" cy="1419225"/>
            </a:xfrm>
            <a:custGeom>
              <a:avLst/>
              <a:gdLst/>
              <a:ahLst/>
              <a:cxnLst/>
              <a:rect l="l" t="t" r="r" b="b"/>
              <a:pathLst>
                <a:path w="123825" h="1419225">
                  <a:moveTo>
                    <a:pt x="82550" y="103124"/>
                  </a:moveTo>
                  <a:lnTo>
                    <a:pt x="41275" y="103124"/>
                  </a:lnTo>
                  <a:lnTo>
                    <a:pt x="41275" y="1419225"/>
                  </a:lnTo>
                  <a:lnTo>
                    <a:pt x="82550" y="1419225"/>
                  </a:lnTo>
                  <a:lnTo>
                    <a:pt x="82550" y="103124"/>
                  </a:lnTo>
                  <a:close/>
                </a:path>
                <a:path w="123825" h="1419225">
                  <a:moveTo>
                    <a:pt x="61912" y="0"/>
                  </a:moveTo>
                  <a:lnTo>
                    <a:pt x="0" y="123825"/>
                  </a:lnTo>
                  <a:lnTo>
                    <a:pt x="41275" y="123825"/>
                  </a:lnTo>
                  <a:lnTo>
                    <a:pt x="41275" y="103124"/>
                  </a:lnTo>
                  <a:lnTo>
                    <a:pt x="113474" y="103124"/>
                  </a:lnTo>
                  <a:lnTo>
                    <a:pt x="61912" y="0"/>
                  </a:lnTo>
                  <a:close/>
                </a:path>
                <a:path w="123825" h="1419225">
                  <a:moveTo>
                    <a:pt x="113474" y="103124"/>
                  </a:moveTo>
                  <a:lnTo>
                    <a:pt x="82550" y="103124"/>
                  </a:lnTo>
                  <a:lnTo>
                    <a:pt x="82550" y="123825"/>
                  </a:lnTo>
                  <a:lnTo>
                    <a:pt x="123825" y="123825"/>
                  </a:lnTo>
                  <a:lnTo>
                    <a:pt x="113474" y="103124"/>
                  </a:lnTo>
                  <a:close/>
                </a:path>
              </a:pathLst>
            </a:custGeom>
            <a:solidFill>
              <a:srgbClr val="0000FF"/>
            </a:solidFill>
          </p:spPr>
          <p:txBody>
            <a:bodyPr wrap="square" lIns="0" tIns="0" rIns="0" bIns="0" rtlCol="0"/>
            <a:lstStyle/>
            <a:p>
              <a:endParaRPr/>
            </a:p>
          </p:txBody>
        </p:sp>
        <p:sp>
          <p:nvSpPr>
            <p:cNvPr id="25" name="object 25"/>
            <p:cNvSpPr/>
            <p:nvPr/>
          </p:nvSpPr>
          <p:spPr>
            <a:xfrm>
              <a:off x="1676400" y="2695575"/>
              <a:ext cx="3514725" cy="3400425"/>
            </a:xfrm>
            <a:custGeom>
              <a:avLst/>
              <a:gdLst/>
              <a:ahLst/>
              <a:cxnLst/>
              <a:rect l="l" t="t" r="r" b="b"/>
              <a:pathLst>
                <a:path w="3514725" h="3400425">
                  <a:moveTo>
                    <a:pt x="0" y="47625"/>
                  </a:moveTo>
                  <a:lnTo>
                    <a:pt x="0" y="457200"/>
                  </a:lnTo>
                </a:path>
                <a:path w="3514725" h="3400425">
                  <a:moveTo>
                    <a:pt x="3505200" y="0"/>
                  </a:moveTo>
                  <a:lnTo>
                    <a:pt x="3514725" y="457200"/>
                  </a:lnTo>
                </a:path>
                <a:path w="3514725" h="3400425">
                  <a:moveTo>
                    <a:pt x="9525" y="2686050"/>
                  </a:moveTo>
                  <a:lnTo>
                    <a:pt x="0" y="3400425"/>
                  </a:lnTo>
                </a:path>
                <a:path w="3514725" h="3400425">
                  <a:moveTo>
                    <a:pt x="3514725" y="2686050"/>
                  </a:moveTo>
                  <a:lnTo>
                    <a:pt x="3505200" y="3400425"/>
                  </a:lnTo>
                </a:path>
              </a:pathLst>
            </a:custGeom>
            <a:ln w="57150">
              <a:solidFill>
                <a:srgbClr val="000000"/>
              </a:solidFill>
            </a:ln>
          </p:spPr>
          <p:txBody>
            <a:bodyPr wrap="square" lIns="0" tIns="0" rIns="0" bIns="0" rtlCol="0"/>
            <a:lstStyle/>
            <a:p>
              <a:endParaRPr/>
            </a:p>
          </p:txBody>
        </p:sp>
        <p:sp>
          <p:nvSpPr>
            <p:cNvPr id="26" name="object 26"/>
            <p:cNvSpPr/>
            <p:nvPr/>
          </p:nvSpPr>
          <p:spPr>
            <a:xfrm>
              <a:off x="1676400" y="3048000"/>
              <a:ext cx="3505200" cy="2847975"/>
            </a:xfrm>
            <a:custGeom>
              <a:avLst/>
              <a:gdLst/>
              <a:ahLst/>
              <a:cxnLst/>
              <a:rect l="l" t="t" r="r" b="b"/>
              <a:pathLst>
                <a:path w="3505200" h="2847975">
                  <a:moveTo>
                    <a:pt x="0" y="2847975"/>
                  </a:moveTo>
                  <a:lnTo>
                    <a:pt x="3505200" y="2847975"/>
                  </a:lnTo>
                  <a:lnTo>
                    <a:pt x="3505200" y="0"/>
                  </a:lnTo>
                  <a:lnTo>
                    <a:pt x="0" y="0"/>
                  </a:lnTo>
                  <a:lnTo>
                    <a:pt x="0" y="2847975"/>
                  </a:lnTo>
                  <a:close/>
                </a:path>
              </a:pathLst>
            </a:custGeom>
            <a:ln w="57150">
              <a:solidFill>
                <a:srgbClr val="000000"/>
              </a:solidFill>
            </a:ln>
          </p:spPr>
          <p:txBody>
            <a:bodyPr wrap="square" lIns="0" tIns="0" rIns="0" bIns="0" rtlCol="0"/>
            <a:lstStyle/>
            <a:p>
              <a:endParaRPr/>
            </a:p>
          </p:txBody>
        </p:sp>
      </p:grpSp>
      <p:pic>
        <p:nvPicPr>
          <p:cNvPr id="27" name="object 27"/>
          <p:cNvPicPr/>
          <p:nvPr/>
        </p:nvPicPr>
        <p:blipFill>
          <a:blip r:embed="rId2" cstate="print"/>
          <a:stretch>
            <a:fillRect/>
          </a:stretch>
        </p:blipFill>
        <p:spPr>
          <a:xfrm>
            <a:off x="457200" y="6248400"/>
            <a:ext cx="476250" cy="381000"/>
          </a:xfrm>
          <a:prstGeom prst="rect">
            <a:avLst/>
          </a:prstGeom>
        </p:spPr>
      </p:pic>
      <p:sp>
        <p:nvSpPr>
          <p:cNvPr id="28" name="object 28"/>
          <p:cNvSpPr txBox="1">
            <a:spLocks noGrp="1"/>
          </p:cNvSpPr>
          <p:nvPr>
            <p:ph type="ftr" sz="quarter" idx="5"/>
          </p:nvPr>
        </p:nvSpPr>
        <p:spPr>
          <a:prstGeom prst="rect">
            <a:avLst/>
          </a:prstGeom>
        </p:spPr>
        <p:txBody>
          <a:bodyPr vert="horz" wrap="square" lIns="0" tIns="76200" rIns="0" bIns="0" rtlCol="0">
            <a:spAutoFit/>
          </a:bodyPr>
          <a:lstStyle/>
          <a:p>
            <a:pPr marL="241300">
              <a:lnSpc>
                <a:spcPts val="1550"/>
              </a:lnSpc>
            </a:pPr>
            <a:r>
              <a:rPr spc="-180" dirty="0"/>
              <a:t>FAST-</a:t>
            </a:r>
            <a:r>
              <a:rPr spc="-100" dirty="0"/>
              <a:t>NUCES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1452240" y="2752222"/>
            <a:ext cx="3586250" cy="2443262"/>
          </a:xfrm>
          <a:prstGeom prst="rect">
            <a:avLst/>
          </a:prstGeom>
        </p:spPr>
      </p:pic>
      <p:sp>
        <p:nvSpPr>
          <p:cNvPr id="3" name="object 3"/>
          <p:cNvSpPr txBox="1">
            <a:spLocks noGrp="1"/>
          </p:cNvSpPr>
          <p:nvPr>
            <p:ph type="title"/>
          </p:nvPr>
        </p:nvSpPr>
        <p:spPr>
          <a:prstGeom prst="rect">
            <a:avLst/>
          </a:prstGeom>
        </p:spPr>
        <p:txBody>
          <a:bodyPr vert="horz" wrap="square" lIns="0" tIns="135889" rIns="0" bIns="0" rtlCol="0">
            <a:spAutoFit/>
          </a:bodyPr>
          <a:lstStyle/>
          <a:p>
            <a:pPr marL="165100">
              <a:lnSpc>
                <a:spcPct val="100000"/>
              </a:lnSpc>
              <a:spcBef>
                <a:spcPts val="105"/>
              </a:spcBef>
            </a:pPr>
            <a:r>
              <a:rPr dirty="0"/>
              <a:t>What</a:t>
            </a:r>
            <a:r>
              <a:rPr spc="-70" dirty="0"/>
              <a:t> </a:t>
            </a:r>
            <a:r>
              <a:rPr dirty="0"/>
              <a:t>are</a:t>
            </a:r>
            <a:r>
              <a:rPr spc="10" dirty="0"/>
              <a:t> </a:t>
            </a:r>
            <a:r>
              <a:rPr dirty="0"/>
              <a:t>buffer</a:t>
            </a:r>
            <a:r>
              <a:rPr spc="-30" dirty="0"/>
              <a:t> </a:t>
            </a:r>
            <a:r>
              <a:rPr spc="-10" dirty="0"/>
              <a:t>overflows?</a:t>
            </a:r>
          </a:p>
        </p:txBody>
      </p:sp>
      <p:sp>
        <p:nvSpPr>
          <p:cNvPr id="4" name="object 4"/>
          <p:cNvSpPr txBox="1"/>
          <p:nvPr/>
        </p:nvSpPr>
        <p:spPr>
          <a:xfrm>
            <a:off x="5312113" y="813953"/>
            <a:ext cx="3571875" cy="1752600"/>
          </a:xfrm>
          <a:prstGeom prst="rect">
            <a:avLst/>
          </a:prstGeom>
          <a:ln w="9525">
            <a:solidFill>
              <a:srgbClr val="0000FF"/>
            </a:solidFill>
          </a:ln>
        </p:spPr>
        <p:txBody>
          <a:bodyPr vert="horz" wrap="square" lIns="0" tIns="15240" rIns="0" bIns="0" rtlCol="0">
            <a:spAutoFit/>
          </a:bodyPr>
          <a:lstStyle/>
          <a:p>
            <a:pPr marL="549275" marR="113030" indent="-457834">
              <a:lnSpc>
                <a:spcPct val="100000"/>
              </a:lnSpc>
              <a:spcBef>
                <a:spcPts val="120"/>
              </a:spcBef>
            </a:pPr>
            <a:r>
              <a:rPr sz="2000" b="1" dirty="0">
                <a:solidFill>
                  <a:srgbClr val="696363"/>
                </a:solidFill>
                <a:latin typeface="Courier New"/>
                <a:cs typeface="Courier New"/>
              </a:rPr>
              <a:t>void</a:t>
            </a:r>
            <a:r>
              <a:rPr sz="2000" b="1" spc="-35" dirty="0">
                <a:solidFill>
                  <a:srgbClr val="696363"/>
                </a:solidFill>
                <a:latin typeface="Courier New"/>
                <a:cs typeface="Courier New"/>
              </a:rPr>
              <a:t> </a:t>
            </a:r>
            <a:r>
              <a:rPr sz="2000" b="1" dirty="0">
                <a:solidFill>
                  <a:srgbClr val="696363"/>
                </a:solidFill>
                <a:latin typeface="Courier New"/>
                <a:cs typeface="Courier New"/>
              </a:rPr>
              <a:t>func(char</a:t>
            </a:r>
            <a:r>
              <a:rPr sz="2000" b="1" spc="-30" dirty="0">
                <a:solidFill>
                  <a:srgbClr val="696363"/>
                </a:solidFill>
                <a:latin typeface="Courier New"/>
                <a:cs typeface="Courier New"/>
              </a:rPr>
              <a:t> </a:t>
            </a:r>
            <a:r>
              <a:rPr sz="2000" b="1" dirty="0">
                <a:solidFill>
                  <a:srgbClr val="696363"/>
                </a:solidFill>
                <a:latin typeface="Courier New"/>
                <a:cs typeface="Courier New"/>
              </a:rPr>
              <a:t>*str)</a:t>
            </a:r>
            <a:r>
              <a:rPr sz="2000" b="1" spc="-30" dirty="0">
                <a:solidFill>
                  <a:srgbClr val="696363"/>
                </a:solidFill>
                <a:latin typeface="Courier New"/>
                <a:cs typeface="Courier New"/>
              </a:rPr>
              <a:t> </a:t>
            </a:r>
            <a:r>
              <a:rPr sz="2000" b="1" spc="-50" dirty="0">
                <a:solidFill>
                  <a:srgbClr val="696363"/>
                </a:solidFill>
                <a:latin typeface="Courier New"/>
                <a:cs typeface="Courier New"/>
              </a:rPr>
              <a:t>{ </a:t>
            </a:r>
            <a:r>
              <a:rPr sz="2000" b="1" dirty="0">
                <a:solidFill>
                  <a:srgbClr val="696363"/>
                </a:solidFill>
                <a:latin typeface="Courier New"/>
                <a:cs typeface="Courier New"/>
              </a:rPr>
              <a:t>char</a:t>
            </a:r>
            <a:r>
              <a:rPr sz="2000" b="1" spc="-20" dirty="0">
                <a:solidFill>
                  <a:srgbClr val="696363"/>
                </a:solidFill>
                <a:latin typeface="Courier New"/>
                <a:cs typeface="Courier New"/>
              </a:rPr>
              <a:t> </a:t>
            </a:r>
            <a:r>
              <a:rPr sz="2000" b="1" spc="-10" dirty="0">
                <a:solidFill>
                  <a:srgbClr val="696363"/>
                </a:solidFill>
                <a:latin typeface="Courier New"/>
                <a:cs typeface="Courier New"/>
              </a:rPr>
              <a:t>buf[128];</a:t>
            </a:r>
            <a:endParaRPr sz="2000">
              <a:latin typeface="Courier New"/>
              <a:cs typeface="Courier New"/>
            </a:endParaRPr>
          </a:p>
          <a:p>
            <a:pPr marL="549275" marR="268605">
              <a:lnSpc>
                <a:spcPct val="100000"/>
              </a:lnSpc>
              <a:spcBef>
                <a:spcPts val="905"/>
              </a:spcBef>
            </a:pPr>
            <a:r>
              <a:rPr sz="2000" b="1" dirty="0">
                <a:solidFill>
                  <a:srgbClr val="696363"/>
                </a:solidFill>
                <a:latin typeface="Courier New"/>
                <a:cs typeface="Courier New"/>
              </a:rPr>
              <a:t>strcpy(buf,</a:t>
            </a:r>
            <a:r>
              <a:rPr sz="2000" b="1" spc="-55" dirty="0">
                <a:solidFill>
                  <a:srgbClr val="696363"/>
                </a:solidFill>
                <a:latin typeface="Courier New"/>
                <a:cs typeface="Courier New"/>
              </a:rPr>
              <a:t> </a:t>
            </a:r>
            <a:r>
              <a:rPr sz="2000" b="1" spc="-10" dirty="0">
                <a:solidFill>
                  <a:srgbClr val="696363"/>
                </a:solidFill>
                <a:latin typeface="Courier New"/>
                <a:cs typeface="Courier New"/>
              </a:rPr>
              <a:t>str); do-something(buf);</a:t>
            </a:r>
            <a:endParaRPr sz="2000">
              <a:latin typeface="Courier New"/>
              <a:cs typeface="Courier New"/>
            </a:endParaRPr>
          </a:p>
          <a:p>
            <a:pPr marL="92075">
              <a:lnSpc>
                <a:spcPct val="100000"/>
              </a:lnSpc>
              <a:spcBef>
                <a:spcPts val="5"/>
              </a:spcBef>
            </a:pPr>
            <a:r>
              <a:rPr sz="2000" b="1" spc="-50" dirty="0">
                <a:solidFill>
                  <a:srgbClr val="696363"/>
                </a:solidFill>
                <a:latin typeface="Courier New"/>
                <a:cs typeface="Courier New"/>
              </a:rPr>
              <a:t>}</a:t>
            </a:r>
            <a:endParaRPr sz="2000">
              <a:latin typeface="Courier New"/>
              <a:cs typeface="Courier New"/>
            </a:endParaRPr>
          </a:p>
        </p:txBody>
      </p:sp>
      <p:sp>
        <p:nvSpPr>
          <p:cNvPr id="5" name="object 5"/>
          <p:cNvSpPr txBox="1"/>
          <p:nvPr/>
        </p:nvSpPr>
        <p:spPr>
          <a:xfrm>
            <a:off x="1771474" y="1166043"/>
            <a:ext cx="1932305" cy="334645"/>
          </a:xfrm>
          <a:prstGeom prst="rect">
            <a:avLst/>
          </a:prstGeom>
        </p:spPr>
        <p:txBody>
          <a:bodyPr vert="horz" wrap="square" lIns="0" tIns="15875" rIns="0" bIns="0" rtlCol="0">
            <a:spAutoFit/>
          </a:bodyPr>
          <a:lstStyle/>
          <a:p>
            <a:pPr marL="12700">
              <a:lnSpc>
                <a:spcPct val="100000"/>
              </a:lnSpc>
              <a:spcBef>
                <a:spcPts val="125"/>
              </a:spcBef>
              <a:tabLst>
                <a:tab pos="307340" algn="l"/>
              </a:tabLst>
            </a:pPr>
            <a:r>
              <a:rPr sz="2000" spc="-25" dirty="0">
                <a:latin typeface="Times New Roman"/>
                <a:cs typeface="Times New Roman"/>
              </a:rPr>
              <a:t>is</a:t>
            </a:r>
            <a:r>
              <a:rPr sz="2000" dirty="0">
                <a:latin typeface="Times New Roman"/>
                <a:cs typeface="Times New Roman"/>
              </a:rPr>
              <a:t>	136</a:t>
            </a:r>
            <a:r>
              <a:rPr sz="2000" spc="-10" dirty="0">
                <a:latin typeface="Times New Roman"/>
                <a:cs typeface="Times New Roman"/>
              </a:rPr>
              <a:t> </a:t>
            </a:r>
            <a:r>
              <a:rPr sz="2000" dirty="0">
                <a:latin typeface="Times New Roman"/>
                <a:cs typeface="Times New Roman"/>
              </a:rPr>
              <a:t>bytes</a:t>
            </a:r>
            <a:r>
              <a:rPr sz="2000" spc="-5" dirty="0">
                <a:latin typeface="Times New Roman"/>
                <a:cs typeface="Times New Roman"/>
              </a:rPr>
              <a:t> </a:t>
            </a:r>
            <a:r>
              <a:rPr sz="2000" spc="-20" dirty="0">
                <a:latin typeface="Times New Roman"/>
                <a:cs typeface="Times New Roman"/>
              </a:rPr>
              <a:t>long?</a:t>
            </a:r>
            <a:endParaRPr sz="2000" dirty="0">
              <a:latin typeface="Times New Roman"/>
              <a:cs typeface="Times New Roman"/>
            </a:endParaRPr>
          </a:p>
        </p:txBody>
      </p:sp>
      <p:sp>
        <p:nvSpPr>
          <p:cNvPr id="6" name="object 6"/>
          <p:cNvSpPr txBox="1"/>
          <p:nvPr/>
        </p:nvSpPr>
        <p:spPr>
          <a:xfrm>
            <a:off x="353364" y="1095551"/>
            <a:ext cx="1510030" cy="807085"/>
          </a:xfrm>
          <a:prstGeom prst="rect">
            <a:avLst/>
          </a:prstGeom>
        </p:spPr>
        <p:txBody>
          <a:bodyPr vert="horz" wrap="square" lIns="0" tIns="97155" rIns="0" bIns="0" rtlCol="0">
            <a:spAutoFit/>
          </a:bodyPr>
          <a:lstStyle/>
          <a:p>
            <a:pPr marL="12700">
              <a:lnSpc>
                <a:spcPct val="100000"/>
              </a:lnSpc>
              <a:spcBef>
                <a:spcPts val="765"/>
              </a:spcBef>
            </a:pPr>
            <a:r>
              <a:rPr sz="2000" dirty="0">
                <a:latin typeface="Times New Roman"/>
                <a:cs typeface="Times New Roman"/>
              </a:rPr>
              <a:t>What</a:t>
            </a:r>
            <a:r>
              <a:rPr sz="2000" spc="-10" dirty="0">
                <a:latin typeface="Times New Roman"/>
                <a:cs typeface="Times New Roman"/>
              </a:rPr>
              <a:t> </a:t>
            </a:r>
            <a:r>
              <a:rPr sz="2000" dirty="0">
                <a:latin typeface="Times New Roman"/>
                <a:cs typeface="Times New Roman"/>
              </a:rPr>
              <a:t>if</a:t>
            </a:r>
            <a:r>
              <a:rPr sz="2000" spc="475" dirty="0">
                <a:latin typeface="Times New Roman"/>
                <a:cs typeface="Times New Roman"/>
              </a:rPr>
              <a:t> </a:t>
            </a:r>
            <a:r>
              <a:rPr sz="2000" b="1" spc="-20" dirty="0">
                <a:solidFill>
                  <a:srgbClr val="696363"/>
                </a:solidFill>
                <a:latin typeface="Times New Roman"/>
                <a:cs typeface="Times New Roman"/>
              </a:rPr>
              <a:t>*str</a:t>
            </a:r>
            <a:endParaRPr sz="2000" dirty="0">
              <a:latin typeface="Times New Roman"/>
              <a:cs typeface="Times New Roman"/>
            </a:endParaRPr>
          </a:p>
          <a:p>
            <a:pPr marL="12700">
              <a:lnSpc>
                <a:spcPct val="100000"/>
              </a:lnSpc>
              <a:spcBef>
                <a:spcPts val="680"/>
              </a:spcBef>
              <a:tabLst>
                <a:tab pos="738505" algn="l"/>
              </a:tabLst>
            </a:pPr>
            <a:r>
              <a:rPr sz="2000" spc="-10" dirty="0">
                <a:latin typeface="Times New Roman"/>
                <a:cs typeface="Times New Roman"/>
              </a:rPr>
              <a:t>After</a:t>
            </a:r>
            <a:r>
              <a:rPr sz="2000" dirty="0">
                <a:latin typeface="Times New Roman"/>
                <a:cs typeface="Times New Roman"/>
              </a:rPr>
              <a:t>	</a:t>
            </a:r>
            <a:r>
              <a:rPr sz="2000" b="1" spc="-10" dirty="0">
                <a:solidFill>
                  <a:srgbClr val="696363"/>
                </a:solidFill>
                <a:latin typeface="Times New Roman"/>
                <a:cs typeface="Times New Roman"/>
              </a:rPr>
              <a:t>strcpy</a:t>
            </a:r>
            <a:r>
              <a:rPr sz="2000" b="1" spc="-10" dirty="0">
                <a:latin typeface="Times New Roman"/>
                <a:cs typeface="Times New Roman"/>
              </a:rPr>
              <a:t>:</a:t>
            </a:r>
            <a:endParaRPr sz="2000" dirty="0">
              <a:latin typeface="Times New Roman"/>
              <a:cs typeface="Times New Roman"/>
            </a:endParaRPr>
          </a:p>
        </p:txBody>
      </p:sp>
      <p:sp>
        <p:nvSpPr>
          <p:cNvPr id="7" name="object 7"/>
          <p:cNvSpPr txBox="1"/>
          <p:nvPr/>
        </p:nvSpPr>
        <p:spPr>
          <a:xfrm>
            <a:off x="100973" y="4936069"/>
            <a:ext cx="256540" cy="334645"/>
          </a:xfrm>
          <a:prstGeom prst="rect">
            <a:avLst/>
          </a:prstGeom>
        </p:spPr>
        <p:txBody>
          <a:bodyPr vert="horz" wrap="square" lIns="0" tIns="15875" rIns="0" bIns="0" rtlCol="0">
            <a:spAutoFit/>
          </a:bodyPr>
          <a:lstStyle/>
          <a:p>
            <a:pPr marL="12700">
              <a:lnSpc>
                <a:spcPct val="100000"/>
              </a:lnSpc>
              <a:spcBef>
                <a:spcPts val="125"/>
              </a:spcBef>
            </a:pPr>
            <a:r>
              <a:rPr sz="2000" spc="-185" dirty="0">
                <a:latin typeface="Times New Roman"/>
                <a:cs typeface="Times New Roman"/>
              </a:rPr>
              <a:t>SP</a:t>
            </a:r>
            <a:endParaRPr sz="2000">
              <a:latin typeface="Times New Roman"/>
              <a:cs typeface="Times New Roman"/>
            </a:endParaRPr>
          </a:p>
        </p:txBody>
      </p:sp>
      <p:sp>
        <p:nvSpPr>
          <p:cNvPr id="8" name="object 8"/>
          <p:cNvSpPr/>
          <p:nvPr/>
        </p:nvSpPr>
        <p:spPr>
          <a:xfrm>
            <a:off x="561665" y="5157366"/>
            <a:ext cx="542925" cy="76200"/>
          </a:xfrm>
          <a:custGeom>
            <a:avLst/>
            <a:gdLst/>
            <a:ahLst/>
            <a:cxnLst/>
            <a:rect l="l" t="t" r="r" b="b"/>
            <a:pathLst>
              <a:path w="542925" h="76200">
                <a:moveTo>
                  <a:pt x="466725" y="0"/>
                </a:moveTo>
                <a:lnTo>
                  <a:pt x="466725" y="76200"/>
                </a:lnTo>
                <a:lnTo>
                  <a:pt x="530225" y="44450"/>
                </a:lnTo>
                <a:lnTo>
                  <a:pt x="479425" y="44450"/>
                </a:lnTo>
                <a:lnTo>
                  <a:pt x="479425" y="31750"/>
                </a:lnTo>
                <a:lnTo>
                  <a:pt x="530225" y="31750"/>
                </a:lnTo>
                <a:lnTo>
                  <a:pt x="466725" y="0"/>
                </a:lnTo>
                <a:close/>
              </a:path>
              <a:path w="542925" h="76200">
                <a:moveTo>
                  <a:pt x="466725" y="31750"/>
                </a:moveTo>
                <a:lnTo>
                  <a:pt x="0" y="31750"/>
                </a:lnTo>
                <a:lnTo>
                  <a:pt x="0" y="44450"/>
                </a:lnTo>
                <a:lnTo>
                  <a:pt x="466725" y="44450"/>
                </a:lnTo>
                <a:lnTo>
                  <a:pt x="466725" y="31750"/>
                </a:lnTo>
                <a:close/>
              </a:path>
              <a:path w="542925" h="76200">
                <a:moveTo>
                  <a:pt x="530225" y="31750"/>
                </a:moveTo>
                <a:lnTo>
                  <a:pt x="479425" y="31750"/>
                </a:lnTo>
                <a:lnTo>
                  <a:pt x="479425" y="44450"/>
                </a:lnTo>
                <a:lnTo>
                  <a:pt x="530225" y="44450"/>
                </a:lnTo>
                <a:lnTo>
                  <a:pt x="542925" y="38100"/>
                </a:lnTo>
                <a:lnTo>
                  <a:pt x="530225" y="31750"/>
                </a:lnTo>
                <a:close/>
              </a:path>
            </a:pathLst>
          </a:custGeom>
          <a:solidFill>
            <a:srgbClr val="000000"/>
          </a:solidFill>
        </p:spPr>
        <p:txBody>
          <a:bodyPr wrap="square" lIns="0" tIns="0" rIns="0" bIns="0" rtlCol="0"/>
          <a:lstStyle/>
          <a:p>
            <a:endParaRPr/>
          </a:p>
        </p:txBody>
      </p:sp>
      <p:grpSp>
        <p:nvGrpSpPr>
          <p:cNvPr id="9" name="object 9"/>
          <p:cNvGrpSpPr/>
          <p:nvPr/>
        </p:nvGrpSpPr>
        <p:grpSpPr>
          <a:xfrm>
            <a:off x="1156625" y="2818895"/>
            <a:ext cx="215265" cy="2214880"/>
            <a:chOff x="1190272" y="3447966"/>
            <a:chExt cx="215265" cy="2214880"/>
          </a:xfrm>
        </p:grpSpPr>
        <p:pic>
          <p:nvPicPr>
            <p:cNvPr id="10" name="object 10"/>
            <p:cNvPicPr/>
            <p:nvPr/>
          </p:nvPicPr>
          <p:blipFill>
            <a:blip r:embed="rId4" cstate="print"/>
            <a:stretch>
              <a:fillRect/>
            </a:stretch>
          </p:blipFill>
          <p:spPr>
            <a:xfrm>
              <a:off x="1190272" y="3447966"/>
              <a:ext cx="215018" cy="2214665"/>
            </a:xfrm>
            <a:prstGeom prst="rect">
              <a:avLst/>
            </a:prstGeom>
          </p:spPr>
        </p:pic>
        <p:sp>
          <p:nvSpPr>
            <p:cNvPr id="11" name="object 11"/>
            <p:cNvSpPr/>
            <p:nvPr/>
          </p:nvSpPr>
          <p:spPr>
            <a:xfrm>
              <a:off x="1223962" y="3462401"/>
              <a:ext cx="153035" cy="2133600"/>
            </a:xfrm>
            <a:custGeom>
              <a:avLst/>
              <a:gdLst/>
              <a:ahLst/>
              <a:cxnLst/>
              <a:rect l="l" t="t" r="r" b="b"/>
              <a:pathLst>
                <a:path w="153034" h="2133600">
                  <a:moveTo>
                    <a:pt x="152463" y="2133536"/>
                  </a:moveTo>
                  <a:lnTo>
                    <a:pt x="122769" y="2132538"/>
                  </a:lnTo>
                  <a:lnTo>
                    <a:pt x="98552" y="2129823"/>
                  </a:lnTo>
                  <a:lnTo>
                    <a:pt x="82240" y="2125805"/>
                  </a:lnTo>
                  <a:lnTo>
                    <a:pt x="76263" y="2120900"/>
                  </a:lnTo>
                  <a:lnTo>
                    <a:pt x="76263" y="1079500"/>
                  </a:lnTo>
                  <a:lnTo>
                    <a:pt x="70265" y="1074515"/>
                  </a:lnTo>
                  <a:lnTo>
                    <a:pt x="53914" y="1070483"/>
                  </a:lnTo>
                  <a:lnTo>
                    <a:pt x="29671" y="1067784"/>
                  </a:lnTo>
                  <a:lnTo>
                    <a:pt x="0" y="1066800"/>
                  </a:lnTo>
                  <a:lnTo>
                    <a:pt x="29671" y="1065795"/>
                  </a:lnTo>
                  <a:lnTo>
                    <a:pt x="53914" y="1063053"/>
                  </a:lnTo>
                  <a:lnTo>
                    <a:pt x="70265" y="1058977"/>
                  </a:lnTo>
                  <a:lnTo>
                    <a:pt x="76263" y="1053973"/>
                  </a:lnTo>
                  <a:lnTo>
                    <a:pt x="76263" y="12700"/>
                  </a:lnTo>
                  <a:lnTo>
                    <a:pt x="82240" y="7715"/>
                  </a:lnTo>
                  <a:lnTo>
                    <a:pt x="98551" y="3683"/>
                  </a:lnTo>
                  <a:lnTo>
                    <a:pt x="122769" y="984"/>
                  </a:lnTo>
                  <a:lnTo>
                    <a:pt x="152463" y="0"/>
                  </a:lnTo>
                </a:path>
              </a:pathLst>
            </a:custGeom>
            <a:ln w="12700">
              <a:solidFill>
                <a:srgbClr val="D24717"/>
              </a:solidFill>
            </a:ln>
          </p:spPr>
          <p:txBody>
            <a:bodyPr wrap="square" lIns="0" tIns="0" rIns="0" bIns="0" rtlCol="0"/>
            <a:lstStyle/>
            <a:p>
              <a:endParaRPr/>
            </a:p>
          </p:txBody>
        </p:sp>
      </p:grpSp>
      <p:sp>
        <p:nvSpPr>
          <p:cNvPr id="12" name="object 12"/>
          <p:cNvSpPr txBox="1"/>
          <p:nvPr/>
        </p:nvSpPr>
        <p:spPr>
          <a:xfrm>
            <a:off x="581985" y="3537227"/>
            <a:ext cx="382270" cy="334645"/>
          </a:xfrm>
          <a:prstGeom prst="rect">
            <a:avLst/>
          </a:prstGeom>
        </p:spPr>
        <p:txBody>
          <a:bodyPr vert="horz" wrap="square" lIns="0" tIns="15875" rIns="0" bIns="0" rtlCol="0">
            <a:spAutoFit/>
          </a:bodyPr>
          <a:lstStyle/>
          <a:p>
            <a:pPr marL="12700">
              <a:lnSpc>
                <a:spcPct val="100000"/>
              </a:lnSpc>
              <a:spcBef>
                <a:spcPts val="125"/>
              </a:spcBef>
            </a:pPr>
            <a:r>
              <a:rPr sz="2000" spc="-40" dirty="0">
                <a:latin typeface="Times New Roman"/>
                <a:cs typeface="Times New Roman"/>
              </a:rPr>
              <a:t>*str</a:t>
            </a:r>
            <a:endParaRPr sz="2000">
              <a:latin typeface="Times New Roman"/>
              <a:cs typeface="Times New Roman"/>
            </a:endParaRPr>
          </a:p>
        </p:txBody>
      </p:sp>
      <p:graphicFrame>
        <p:nvGraphicFramePr>
          <p:cNvPr id="13" name="object 13"/>
          <p:cNvGraphicFramePr>
            <a:graphicFrameLocks noGrp="1"/>
          </p:cNvGraphicFramePr>
          <p:nvPr>
            <p:extLst>
              <p:ext uri="{D42A27DB-BD31-4B8C-83A1-F6EECF244321}">
                <p14:modId xmlns:p14="http://schemas.microsoft.com/office/powerpoint/2010/main" val="1679940142"/>
              </p:ext>
            </p:extLst>
          </p:nvPr>
        </p:nvGraphicFramePr>
        <p:xfrm>
          <a:off x="1185553" y="1933154"/>
          <a:ext cx="4212590" cy="3346450"/>
        </p:xfrm>
        <a:graphic>
          <a:graphicData uri="http://schemas.openxmlformats.org/drawingml/2006/table">
            <a:tbl>
              <a:tblPr firstRow="1" bandRow="1">
                <a:tableStyleId>{2D5ABB26-0587-4C30-8999-92F81FD0307C}</a:tableStyleId>
              </a:tblPr>
              <a:tblGrid>
                <a:gridCol w="304800">
                  <a:extLst>
                    <a:ext uri="{9D8B030D-6E8A-4147-A177-3AD203B41FA5}">
                      <a16:colId xmlns:a16="http://schemas.microsoft.com/office/drawing/2014/main" val="20000"/>
                    </a:ext>
                  </a:extLst>
                </a:gridCol>
                <a:gridCol w="3425508">
                  <a:extLst>
                    <a:ext uri="{9D8B030D-6E8A-4147-A177-3AD203B41FA5}">
                      <a16:colId xmlns:a16="http://schemas.microsoft.com/office/drawing/2014/main" val="20001"/>
                    </a:ext>
                  </a:extLst>
                </a:gridCol>
                <a:gridCol w="482282">
                  <a:extLst>
                    <a:ext uri="{9D8B030D-6E8A-4147-A177-3AD203B41FA5}">
                      <a16:colId xmlns:a16="http://schemas.microsoft.com/office/drawing/2014/main" val="20002"/>
                    </a:ext>
                  </a:extLst>
                </a:gridCol>
              </a:tblGrid>
              <a:tr h="381000">
                <a:tc>
                  <a:txBody>
                    <a:bodyPr/>
                    <a:lstStyle/>
                    <a:p>
                      <a:pPr>
                        <a:lnSpc>
                          <a:spcPct val="100000"/>
                        </a:lnSpc>
                      </a:pPr>
                      <a:endParaRPr sz="2100">
                        <a:latin typeface="Times New Roman"/>
                        <a:cs typeface="Times New Roman"/>
                      </a:endParaRPr>
                    </a:p>
                  </a:txBody>
                  <a:tcPr marL="0" marR="0" marT="0" marB="0">
                    <a:lnR w="57150">
                      <a:solidFill>
                        <a:srgbClr val="000000"/>
                      </a:solidFill>
                      <a:prstDash val="solid"/>
                    </a:lnR>
                    <a:lnB w="76200">
                      <a:solidFill>
                        <a:srgbClr val="000000"/>
                      </a:solidFill>
                      <a:prstDash val="solid"/>
                    </a:lnB>
                  </a:tcPr>
                </a:tc>
                <a:tc>
                  <a:txBody>
                    <a:bodyPr/>
                    <a:lstStyle/>
                    <a:p>
                      <a:pPr>
                        <a:lnSpc>
                          <a:spcPct val="100000"/>
                        </a:lnSpc>
                      </a:pPr>
                      <a:endParaRPr sz="2100">
                        <a:latin typeface="Times New Roman"/>
                        <a:cs typeface="Times New Roman"/>
                      </a:endParaRPr>
                    </a:p>
                  </a:txBody>
                  <a:tcPr marL="0" marR="0" marT="0" marB="0">
                    <a:lnL w="57150">
                      <a:solidFill>
                        <a:srgbClr val="000000"/>
                      </a:solidFill>
                      <a:prstDash val="solid"/>
                    </a:lnL>
                    <a:lnR w="76200">
                      <a:solidFill>
                        <a:srgbClr val="000000"/>
                      </a:solidFill>
                      <a:prstDash val="solid"/>
                    </a:lnR>
                    <a:lnB w="76200">
                      <a:solidFill>
                        <a:srgbClr val="000000"/>
                      </a:solidFill>
                      <a:prstDash val="solid"/>
                    </a:lnB>
                  </a:tcPr>
                </a:tc>
                <a:tc>
                  <a:txBody>
                    <a:bodyPr/>
                    <a:lstStyle/>
                    <a:p>
                      <a:pPr marR="167640">
                        <a:lnSpc>
                          <a:spcPct val="100000"/>
                        </a:lnSpc>
                      </a:pPr>
                      <a:endParaRPr sz="2100">
                        <a:latin typeface="Times New Roman"/>
                        <a:cs typeface="Times New Roman"/>
                      </a:endParaRPr>
                    </a:p>
                  </a:txBody>
                  <a:tcPr marL="0" marR="0" marT="0" marB="0">
                    <a:lnL w="76200">
                      <a:solidFill>
                        <a:srgbClr val="000000"/>
                      </a:solidFill>
                      <a:prstDash val="solid"/>
                    </a:lnL>
                    <a:lnB w="76200">
                      <a:solidFill>
                        <a:srgbClr val="000000"/>
                      </a:solidFill>
                      <a:prstDash val="solid"/>
                    </a:lnB>
                  </a:tcPr>
                </a:tc>
                <a:extLst>
                  <a:ext uri="{0D108BD9-81ED-4DB2-BD59-A6C34878D82A}">
                    <a16:rowId xmlns:a16="http://schemas.microsoft.com/office/drawing/2014/main" val="10000"/>
                  </a:ext>
                </a:extLst>
              </a:tr>
              <a:tr h="461645">
                <a:tc rowSpan="4">
                  <a:txBody>
                    <a:bodyPr/>
                    <a:lstStyle/>
                    <a:p>
                      <a:pPr>
                        <a:lnSpc>
                          <a:spcPct val="100000"/>
                        </a:lnSpc>
                      </a:pPr>
                      <a:endParaRPr sz="2100">
                        <a:latin typeface="Times New Roman"/>
                        <a:cs typeface="Times New Roman"/>
                      </a:endParaRPr>
                    </a:p>
                  </a:txBody>
                  <a:tcPr marL="0" marR="0" marT="0" marB="0">
                    <a:lnR w="76200">
                      <a:solidFill>
                        <a:srgbClr val="000000"/>
                      </a:solidFill>
                      <a:prstDash val="solid"/>
                    </a:lnR>
                    <a:lnT w="76200">
                      <a:solidFill>
                        <a:srgbClr val="000000"/>
                      </a:solidFill>
                      <a:prstDash val="solid"/>
                    </a:lnT>
                    <a:lnB w="76200">
                      <a:solidFill>
                        <a:srgbClr val="000000"/>
                      </a:solidFill>
                      <a:prstDash val="solid"/>
                    </a:lnB>
                  </a:tcPr>
                </a:tc>
                <a:tc>
                  <a:txBody>
                    <a:bodyPr/>
                    <a:lstStyle/>
                    <a:p>
                      <a:pPr marL="11430" algn="ctr">
                        <a:lnSpc>
                          <a:spcPct val="100000"/>
                        </a:lnSpc>
                        <a:spcBef>
                          <a:spcPts val="585"/>
                        </a:spcBef>
                        <a:tabLst>
                          <a:tab pos="1126490" algn="l"/>
                        </a:tabLst>
                      </a:pPr>
                      <a:r>
                        <a:rPr sz="2000" spc="-10" dirty="0">
                          <a:latin typeface="Times New Roman"/>
                          <a:cs typeface="Times New Roman"/>
                        </a:rPr>
                        <a:t>argument:</a:t>
                      </a:r>
                      <a:r>
                        <a:rPr sz="2000" dirty="0">
                          <a:latin typeface="Times New Roman"/>
                          <a:cs typeface="Times New Roman"/>
                        </a:rPr>
                        <a:t>	</a:t>
                      </a:r>
                      <a:r>
                        <a:rPr sz="2000" spc="-25" dirty="0">
                          <a:latin typeface="Times New Roman"/>
                          <a:cs typeface="Times New Roman"/>
                        </a:rPr>
                        <a:t>str</a:t>
                      </a:r>
                      <a:endParaRPr sz="2000">
                        <a:latin typeface="Times New Roman"/>
                        <a:cs typeface="Times New Roman"/>
                      </a:endParaRPr>
                    </a:p>
                  </a:txBody>
                  <a:tcPr marL="0" marR="0" marT="74295" marB="0">
                    <a:lnL w="76200" cap="flat" cmpd="sng" algn="ctr">
                      <a:solidFill>
                        <a:srgbClr val="000000"/>
                      </a:solidFill>
                      <a:prstDash val="solid"/>
                      <a:round/>
                      <a:headEnd type="none" w="med" len="med"/>
                      <a:tailEnd type="none" w="med" len="med"/>
                    </a:lnL>
                    <a:lnR w="76200">
                      <a:solidFill>
                        <a:srgbClr val="000000"/>
                      </a:solidFill>
                      <a:prstDash val="solid"/>
                    </a:lnR>
                    <a:lnT w="76200">
                      <a:solidFill>
                        <a:srgbClr val="000000"/>
                      </a:solidFill>
                      <a:prstDash val="solid"/>
                    </a:lnT>
                    <a:lnB w="9525">
                      <a:solidFill>
                        <a:srgbClr val="000000"/>
                      </a:solidFill>
                      <a:prstDash val="solid"/>
                    </a:lnB>
                    <a:solidFill>
                      <a:srgbClr val="BEBEBE"/>
                    </a:solidFill>
                  </a:tcPr>
                </a:tc>
                <a:tc rowSpan="4">
                  <a:txBody>
                    <a:bodyPr/>
                    <a:lstStyle/>
                    <a:p>
                      <a:pPr marR="167640">
                        <a:lnSpc>
                          <a:spcPct val="100000"/>
                        </a:lnSpc>
                      </a:pPr>
                      <a:endParaRPr sz="2000" dirty="0">
                        <a:latin typeface="Times New Roman"/>
                        <a:cs typeface="Times New Roman"/>
                      </a:endParaRPr>
                    </a:p>
                    <a:p>
                      <a:pPr marR="167640">
                        <a:lnSpc>
                          <a:spcPct val="100000"/>
                        </a:lnSpc>
                      </a:pPr>
                      <a:endParaRPr sz="2000" dirty="0">
                        <a:latin typeface="Times New Roman"/>
                        <a:cs typeface="Times New Roman"/>
                      </a:endParaRPr>
                    </a:p>
                    <a:p>
                      <a:pPr marR="167640">
                        <a:lnSpc>
                          <a:spcPct val="100000"/>
                        </a:lnSpc>
                      </a:pPr>
                      <a:endParaRPr sz="2000" dirty="0">
                        <a:latin typeface="Times New Roman"/>
                        <a:cs typeface="Times New Roman"/>
                      </a:endParaRPr>
                    </a:p>
                    <a:p>
                      <a:pPr marR="167640">
                        <a:lnSpc>
                          <a:spcPct val="100000"/>
                        </a:lnSpc>
                      </a:pPr>
                      <a:endParaRPr sz="2000" dirty="0">
                        <a:latin typeface="Times New Roman"/>
                        <a:cs typeface="Times New Roman"/>
                      </a:endParaRPr>
                    </a:p>
                    <a:p>
                      <a:pPr marR="167640">
                        <a:lnSpc>
                          <a:spcPct val="100000"/>
                        </a:lnSpc>
                      </a:pPr>
                      <a:endParaRPr sz="2000" dirty="0">
                        <a:latin typeface="Times New Roman"/>
                        <a:cs typeface="Times New Roman"/>
                      </a:endParaRPr>
                    </a:p>
                    <a:p>
                      <a:pPr marR="167640">
                        <a:lnSpc>
                          <a:spcPct val="100000"/>
                        </a:lnSpc>
                        <a:spcBef>
                          <a:spcPts val="590"/>
                        </a:spcBef>
                      </a:pPr>
                      <a:endParaRPr sz="2000" dirty="0">
                        <a:latin typeface="Times New Roman"/>
                        <a:cs typeface="Times New Roman"/>
                      </a:endParaRPr>
                    </a:p>
                    <a:p>
                      <a:pPr algn="r">
                        <a:lnSpc>
                          <a:spcPct val="100000"/>
                        </a:lnSpc>
                      </a:pPr>
                      <a:endParaRPr sz="2000" dirty="0">
                        <a:latin typeface="Times New Roman"/>
                        <a:cs typeface="Times New Roman"/>
                      </a:endParaRPr>
                    </a:p>
                  </a:txBody>
                  <a:tcPr marL="0" marR="0" marT="0" marB="0">
                    <a:lnL w="76200">
                      <a:solidFill>
                        <a:srgbClr val="000000"/>
                      </a:solidFill>
                      <a:prstDash val="solid"/>
                    </a:lnL>
                    <a:lnT w="76200">
                      <a:solidFill>
                        <a:srgbClr val="000000"/>
                      </a:solidFill>
                      <a:prstDash val="solid"/>
                    </a:lnT>
                    <a:lnB w="76200">
                      <a:solidFill>
                        <a:srgbClr val="000000"/>
                      </a:solidFill>
                      <a:prstDash val="solid"/>
                    </a:lnB>
                  </a:tcPr>
                </a:tc>
                <a:extLst>
                  <a:ext uri="{0D108BD9-81ED-4DB2-BD59-A6C34878D82A}">
                    <a16:rowId xmlns:a16="http://schemas.microsoft.com/office/drawing/2014/main" val="10001"/>
                  </a:ext>
                </a:extLst>
              </a:tr>
              <a:tr h="409575">
                <a:tc vMerge="1">
                  <a:txBody>
                    <a:bodyPr/>
                    <a:lstStyle/>
                    <a:p>
                      <a:endParaRPr/>
                    </a:p>
                  </a:txBody>
                  <a:tcPr marL="0" marR="0" marT="0" marB="0">
                    <a:lnR w="76200">
                      <a:solidFill>
                        <a:srgbClr val="000000"/>
                      </a:solidFill>
                      <a:prstDash val="solid"/>
                    </a:lnR>
                    <a:lnT w="76200">
                      <a:solidFill>
                        <a:srgbClr val="000000"/>
                      </a:solidFill>
                      <a:prstDash val="solid"/>
                    </a:lnT>
                    <a:lnB w="76200">
                      <a:solidFill>
                        <a:srgbClr val="000000"/>
                      </a:solidFill>
                      <a:prstDash val="solid"/>
                    </a:lnB>
                  </a:tcPr>
                </a:tc>
                <a:tc>
                  <a:txBody>
                    <a:bodyPr/>
                    <a:lstStyle/>
                    <a:p>
                      <a:pPr marL="15875" algn="ctr">
                        <a:lnSpc>
                          <a:spcPct val="100000"/>
                        </a:lnSpc>
                        <a:spcBef>
                          <a:spcPts val="350"/>
                        </a:spcBef>
                      </a:pPr>
                      <a:r>
                        <a:rPr sz="2000" b="1" dirty="0">
                          <a:latin typeface="Times New Roman"/>
                          <a:cs typeface="Times New Roman"/>
                        </a:rPr>
                        <a:t>return</a:t>
                      </a:r>
                      <a:r>
                        <a:rPr sz="2000" b="1" spc="-90" dirty="0">
                          <a:latin typeface="Times New Roman"/>
                          <a:cs typeface="Times New Roman"/>
                        </a:rPr>
                        <a:t> </a:t>
                      </a:r>
                      <a:r>
                        <a:rPr sz="2000" b="1" spc="-10" dirty="0">
                          <a:latin typeface="Times New Roman"/>
                          <a:cs typeface="Times New Roman"/>
                        </a:rPr>
                        <a:t>address</a:t>
                      </a:r>
                      <a:endParaRPr sz="2000">
                        <a:latin typeface="Times New Roman"/>
                        <a:cs typeface="Times New Roman"/>
                      </a:endParaRPr>
                    </a:p>
                  </a:txBody>
                  <a:tcPr marL="0" marR="0" marT="44450" marB="0">
                    <a:lnL w="57150">
                      <a:solidFill>
                        <a:srgbClr val="000000"/>
                      </a:solidFill>
                      <a:prstDash val="solid"/>
                    </a:lnL>
                    <a:lnR w="57150">
                      <a:solidFill>
                        <a:srgbClr val="000000"/>
                      </a:solidFill>
                      <a:prstDash val="solid"/>
                    </a:lnR>
                    <a:lnT w="9525">
                      <a:solidFill>
                        <a:srgbClr val="000000"/>
                      </a:solidFill>
                      <a:prstDash val="solid"/>
                    </a:lnT>
                    <a:lnB w="9525">
                      <a:solidFill>
                        <a:srgbClr val="000000"/>
                      </a:solidFill>
                      <a:prstDash val="solid"/>
                    </a:lnB>
                    <a:solidFill>
                      <a:srgbClr val="006FC0"/>
                    </a:solidFill>
                  </a:tcPr>
                </a:tc>
                <a:tc vMerge="1">
                  <a:txBody>
                    <a:bodyPr/>
                    <a:lstStyle/>
                    <a:p>
                      <a:endParaRPr/>
                    </a:p>
                  </a:txBody>
                  <a:tcPr marL="0" marR="0" marT="0" marB="0">
                    <a:lnL w="76200">
                      <a:solidFill>
                        <a:srgbClr val="000000"/>
                      </a:solidFill>
                      <a:prstDash val="solid"/>
                    </a:lnL>
                    <a:lnT w="76200">
                      <a:solidFill>
                        <a:srgbClr val="000000"/>
                      </a:solidFill>
                      <a:prstDash val="solid"/>
                    </a:lnT>
                    <a:lnB w="76200">
                      <a:solidFill>
                        <a:srgbClr val="000000"/>
                      </a:solidFill>
                      <a:prstDash val="solid"/>
                    </a:lnB>
                  </a:tcPr>
                </a:tc>
                <a:extLst>
                  <a:ext uri="{0D108BD9-81ED-4DB2-BD59-A6C34878D82A}">
                    <a16:rowId xmlns:a16="http://schemas.microsoft.com/office/drawing/2014/main" val="10002"/>
                  </a:ext>
                </a:extLst>
              </a:tr>
              <a:tr h="224155">
                <a:tc vMerge="1">
                  <a:txBody>
                    <a:bodyPr/>
                    <a:lstStyle/>
                    <a:p>
                      <a:endParaRPr/>
                    </a:p>
                  </a:txBody>
                  <a:tcPr marL="0" marR="0" marT="0" marB="0">
                    <a:lnR w="76200">
                      <a:solidFill>
                        <a:srgbClr val="000000"/>
                      </a:solidFill>
                      <a:prstDash val="solid"/>
                    </a:lnR>
                    <a:lnT w="76200">
                      <a:solidFill>
                        <a:srgbClr val="000000"/>
                      </a:solidFill>
                      <a:prstDash val="solid"/>
                    </a:lnT>
                    <a:lnB w="76200">
                      <a:solidFill>
                        <a:srgbClr val="000000"/>
                      </a:solidFill>
                      <a:prstDash val="solid"/>
                    </a:lnB>
                  </a:tcPr>
                </a:tc>
                <a:tc>
                  <a:txBody>
                    <a:bodyPr/>
                    <a:lstStyle/>
                    <a:p>
                      <a:pPr marL="14604" algn="ctr">
                        <a:lnSpc>
                          <a:spcPct val="100000"/>
                        </a:lnSpc>
                        <a:spcBef>
                          <a:spcPts val="330"/>
                        </a:spcBef>
                      </a:pPr>
                      <a:r>
                        <a:rPr sz="2000" b="1" dirty="0">
                          <a:latin typeface="Times New Roman"/>
                          <a:cs typeface="Times New Roman"/>
                        </a:rPr>
                        <a:t>stack</a:t>
                      </a:r>
                      <a:r>
                        <a:rPr sz="2000" b="1" spc="-85" dirty="0">
                          <a:latin typeface="Times New Roman"/>
                          <a:cs typeface="Times New Roman"/>
                        </a:rPr>
                        <a:t> </a:t>
                      </a:r>
                      <a:r>
                        <a:rPr sz="2000" b="1" spc="-55" dirty="0">
                          <a:latin typeface="Times New Roman"/>
                          <a:cs typeface="Times New Roman"/>
                        </a:rPr>
                        <a:t>frame</a:t>
                      </a:r>
                      <a:r>
                        <a:rPr sz="2000" b="1" spc="-40" dirty="0">
                          <a:latin typeface="Times New Roman"/>
                          <a:cs typeface="Times New Roman"/>
                        </a:rPr>
                        <a:t> </a:t>
                      </a:r>
                      <a:r>
                        <a:rPr sz="2000" b="1" spc="-10" dirty="0">
                          <a:latin typeface="Times New Roman"/>
                          <a:cs typeface="Times New Roman"/>
                        </a:rPr>
                        <a:t>pointer</a:t>
                      </a:r>
                      <a:endParaRPr sz="2000">
                        <a:latin typeface="Times New Roman"/>
                        <a:cs typeface="Times New Roman"/>
                      </a:endParaRPr>
                    </a:p>
                  </a:txBody>
                  <a:tcPr marL="0" marR="0" marT="41910" marB="0">
                    <a:lnL w="57150">
                      <a:solidFill>
                        <a:srgbClr val="000000"/>
                      </a:solidFill>
                      <a:prstDash val="solid"/>
                    </a:lnL>
                    <a:lnR w="57150">
                      <a:solidFill>
                        <a:srgbClr val="000000"/>
                      </a:solidFill>
                      <a:prstDash val="solid"/>
                    </a:lnR>
                    <a:lnT w="9525">
                      <a:solidFill>
                        <a:srgbClr val="000000"/>
                      </a:solidFill>
                      <a:prstDash val="solid"/>
                    </a:lnT>
                    <a:lnB w="9525">
                      <a:solidFill>
                        <a:srgbClr val="000000"/>
                      </a:solidFill>
                      <a:prstDash val="solid"/>
                    </a:lnB>
                    <a:solidFill>
                      <a:srgbClr val="006FC0"/>
                    </a:solidFill>
                  </a:tcPr>
                </a:tc>
                <a:tc vMerge="1">
                  <a:txBody>
                    <a:bodyPr/>
                    <a:lstStyle/>
                    <a:p>
                      <a:endParaRPr/>
                    </a:p>
                  </a:txBody>
                  <a:tcPr marL="0" marR="0" marT="0" marB="0">
                    <a:lnL w="76200">
                      <a:solidFill>
                        <a:srgbClr val="000000"/>
                      </a:solidFill>
                      <a:prstDash val="solid"/>
                    </a:lnL>
                    <a:lnT w="76200">
                      <a:solidFill>
                        <a:srgbClr val="000000"/>
                      </a:solidFill>
                      <a:prstDash val="solid"/>
                    </a:lnT>
                    <a:lnB w="76200">
                      <a:solidFill>
                        <a:srgbClr val="000000"/>
                      </a:solidFill>
                      <a:prstDash val="solid"/>
                    </a:lnB>
                  </a:tcPr>
                </a:tc>
                <a:extLst>
                  <a:ext uri="{0D108BD9-81ED-4DB2-BD59-A6C34878D82A}">
                    <a16:rowId xmlns:a16="http://schemas.microsoft.com/office/drawing/2014/main" val="10003"/>
                  </a:ext>
                </a:extLst>
              </a:tr>
              <a:tr h="1518920">
                <a:tc vMerge="1">
                  <a:txBody>
                    <a:bodyPr/>
                    <a:lstStyle/>
                    <a:p>
                      <a:endParaRPr/>
                    </a:p>
                  </a:txBody>
                  <a:tcPr marL="0" marR="0" marT="0" marB="0">
                    <a:lnR w="76200">
                      <a:solidFill>
                        <a:srgbClr val="000000"/>
                      </a:solidFill>
                      <a:prstDash val="solid"/>
                    </a:lnR>
                    <a:lnT w="76200">
                      <a:solidFill>
                        <a:srgbClr val="000000"/>
                      </a:solidFill>
                      <a:prstDash val="solid"/>
                    </a:lnT>
                    <a:lnB w="76200">
                      <a:solidFill>
                        <a:srgbClr val="000000"/>
                      </a:solidFill>
                      <a:prstDash val="solid"/>
                    </a:lnB>
                  </a:tcPr>
                </a:tc>
                <a:tc>
                  <a:txBody>
                    <a:bodyPr/>
                    <a:lstStyle/>
                    <a:p>
                      <a:pPr>
                        <a:lnSpc>
                          <a:spcPct val="100000"/>
                        </a:lnSpc>
                        <a:spcBef>
                          <a:spcPts val="2240"/>
                        </a:spcBef>
                      </a:pPr>
                      <a:endParaRPr sz="2000" dirty="0">
                        <a:latin typeface="Times New Roman"/>
                        <a:cs typeface="Times New Roman"/>
                      </a:endParaRPr>
                    </a:p>
                    <a:p>
                      <a:pPr marL="11430" algn="ctr">
                        <a:lnSpc>
                          <a:spcPct val="100000"/>
                        </a:lnSpc>
                      </a:pPr>
                      <a:r>
                        <a:rPr sz="2000" b="1" spc="-20" dirty="0">
                          <a:latin typeface="Times New Roman"/>
                          <a:cs typeface="Times New Roman"/>
                        </a:rPr>
                        <a:t>char</a:t>
                      </a:r>
                      <a:r>
                        <a:rPr sz="2000" b="1" spc="-100" dirty="0">
                          <a:latin typeface="Times New Roman"/>
                          <a:cs typeface="Times New Roman"/>
                        </a:rPr>
                        <a:t> </a:t>
                      </a:r>
                      <a:r>
                        <a:rPr sz="2000" b="1" spc="-10" dirty="0">
                          <a:latin typeface="Times New Roman"/>
                          <a:cs typeface="Times New Roman"/>
                        </a:rPr>
                        <a:t>buf[128]</a:t>
                      </a:r>
                      <a:endParaRPr sz="2000" dirty="0">
                        <a:latin typeface="Times New Roman"/>
                        <a:cs typeface="Times New Roman"/>
                      </a:endParaRPr>
                    </a:p>
                  </a:txBody>
                  <a:tcPr marL="0" marR="0" marT="284480" marB="0">
                    <a:lnL w="76200">
                      <a:solidFill>
                        <a:srgbClr val="000000"/>
                      </a:solidFill>
                      <a:prstDash val="solid"/>
                    </a:lnL>
                    <a:lnR w="76200">
                      <a:solidFill>
                        <a:srgbClr val="000000"/>
                      </a:solidFill>
                      <a:prstDash val="solid"/>
                    </a:lnR>
                    <a:lnT w="9525">
                      <a:solidFill>
                        <a:srgbClr val="000000"/>
                      </a:solidFill>
                      <a:prstDash val="solid"/>
                    </a:lnT>
                    <a:lnB w="76200">
                      <a:solidFill>
                        <a:srgbClr val="000000"/>
                      </a:solidFill>
                      <a:prstDash val="solid"/>
                    </a:lnB>
                    <a:solidFill>
                      <a:srgbClr val="006FC0"/>
                    </a:solidFill>
                  </a:tcPr>
                </a:tc>
                <a:tc vMerge="1">
                  <a:txBody>
                    <a:bodyPr/>
                    <a:lstStyle/>
                    <a:p>
                      <a:endParaRPr/>
                    </a:p>
                  </a:txBody>
                  <a:tcPr marL="0" marR="0" marT="0" marB="0">
                    <a:lnL w="76200">
                      <a:solidFill>
                        <a:srgbClr val="000000"/>
                      </a:solidFill>
                      <a:prstDash val="solid"/>
                    </a:lnL>
                    <a:lnT w="76200">
                      <a:solidFill>
                        <a:srgbClr val="000000"/>
                      </a:solidFill>
                      <a:prstDash val="solid"/>
                    </a:lnT>
                    <a:lnB w="76200">
                      <a:solidFill>
                        <a:srgbClr val="000000"/>
                      </a:solidFill>
                      <a:prstDash val="solid"/>
                    </a:lnB>
                  </a:tcPr>
                </a:tc>
                <a:extLst>
                  <a:ext uri="{0D108BD9-81ED-4DB2-BD59-A6C34878D82A}">
                    <a16:rowId xmlns:a16="http://schemas.microsoft.com/office/drawing/2014/main" val="10004"/>
                  </a:ext>
                </a:extLst>
              </a:tr>
              <a:tr h="228600">
                <a:tc>
                  <a:txBody>
                    <a:bodyPr/>
                    <a:lstStyle/>
                    <a:p>
                      <a:pPr>
                        <a:lnSpc>
                          <a:spcPct val="100000"/>
                        </a:lnSpc>
                      </a:pPr>
                      <a:endParaRPr sz="1300">
                        <a:latin typeface="Times New Roman"/>
                        <a:cs typeface="Times New Roman"/>
                      </a:endParaRPr>
                    </a:p>
                  </a:txBody>
                  <a:tcPr marL="0" marR="0" marT="0" marB="0">
                    <a:lnR w="76200">
                      <a:solidFill>
                        <a:srgbClr val="000000"/>
                      </a:solidFill>
                      <a:prstDash val="solid"/>
                    </a:lnR>
                    <a:lnT w="76200">
                      <a:solidFill>
                        <a:srgbClr val="000000"/>
                      </a:solidFill>
                      <a:prstDash val="solid"/>
                    </a:lnT>
                  </a:tcPr>
                </a:tc>
                <a:tc>
                  <a:txBody>
                    <a:bodyPr/>
                    <a:lstStyle/>
                    <a:p>
                      <a:pPr>
                        <a:lnSpc>
                          <a:spcPct val="100000"/>
                        </a:lnSpc>
                      </a:pPr>
                      <a:endParaRPr sz="1300">
                        <a:latin typeface="Times New Roman"/>
                        <a:cs typeface="Times New Roman"/>
                      </a:endParaRPr>
                    </a:p>
                  </a:txBody>
                  <a:tcPr marL="0" marR="0" marT="0" marB="0">
                    <a:lnL w="76200">
                      <a:solidFill>
                        <a:srgbClr val="000000"/>
                      </a:solidFill>
                      <a:prstDash val="solid"/>
                    </a:lnL>
                    <a:lnR w="76200">
                      <a:solidFill>
                        <a:srgbClr val="000000"/>
                      </a:solidFill>
                      <a:prstDash val="solid"/>
                    </a:lnR>
                    <a:lnT w="76200">
                      <a:solidFill>
                        <a:srgbClr val="000000"/>
                      </a:solidFill>
                      <a:prstDash val="solid"/>
                    </a:lnT>
                  </a:tcPr>
                </a:tc>
                <a:tc>
                  <a:txBody>
                    <a:bodyPr/>
                    <a:lstStyle/>
                    <a:p>
                      <a:pPr marR="167640">
                        <a:lnSpc>
                          <a:spcPct val="100000"/>
                        </a:lnSpc>
                      </a:pPr>
                      <a:endParaRPr sz="1300" dirty="0">
                        <a:latin typeface="Times New Roman"/>
                        <a:cs typeface="Times New Roman"/>
                      </a:endParaRPr>
                    </a:p>
                  </a:txBody>
                  <a:tcPr marL="0" marR="0" marT="0" marB="0">
                    <a:lnL w="76200">
                      <a:solidFill>
                        <a:srgbClr val="000000"/>
                      </a:solidFill>
                      <a:prstDash val="solid"/>
                    </a:lnL>
                    <a:lnT w="76200">
                      <a:solidFill>
                        <a:srgbClr val="000000"/>
                      </a:solidFill>
                      <a:prstDash val="solid"/>
                    </a:lnT>
                  </a:tcPr>
                </a:tc>
                <a:extLst>
                  <a:ext uri="{0D108BD9-81ED-4DB2-BD59-A6C34878D82A}">
                    <a16:rowId xmlns:a16="http://schemas.microsoft.com/office/drawing/2014/main" val="10005"/>
                  </a:ext>
                </a:extLst>
              </a:tr>
            </a:tbl>
          </a:graphicData>
        </a:graphic>
      </p:graphicFrame>
      <p:sp>
        <p:nvSpPr>
          <p:cNvPr id="14" name="object 14"/>
          <p:cNvSpPr txBox="1"/>
          <p:nvPr/>
        </p:nvSpPr>
        <p:spPr>
          <a:xfrm>
            <a:off x="5460718" y="4828604"/>
            <a:ext cx="3289300" cy="639445"/>
          </a:xfrm>
          <a:prstGeom prst="rect">
            <a:avLst/>
          </a:prstGeom>
        </p:spPr>
        <p:txBody>
          <a:bodyPr vert="horz" wrap="square" lIns="0" tIns="15875" rIns="0" bIns="0" rtlCol="0">
            <a:spAutoFit/>
          </a:bodyPr>
          <a:lstStyle/>
          <a:p>
            <a:pPr marL="12700">
              <a:lnSpc>
                <a:spcPct val="100000"/>
              </a:lnSpc>
              <a:spcBef>
                <a:spcPts val="125"/>
              </a:spcBef>
            </a:pPr>
            <a:r>
              <a:rPr lang="en-US" sz="2000" spc="-10" dirty="0" err="1">
                <a:latin typeface="Times New Roman"/>
                <a:cs typeface="Times New Roman"/>
              </a:rPr>
              <a:t>P</a:t>
            </a:r>
            <a:r>
              <a:rPr sz="2000" spc="-10" dirty="0" err="1">
                <a:latin typeface="Times New Roman"/>
                <a:cs typeface="Times New Roman"/>
              </a:rPr>
              <a:t>oblem</a:t>
            </a:r>
            <a:r>
              <a:rPr sz="2000" spc="-10" dirty="0">
                <a:latin typeface="Times New Roman"/>
                <a:cs typeface="Times New Roman"/>
              </a:rPr>
              <a:t>:</a:t>
            </a:r>
            <a:endParaRPr sz="2000" dirty="0">
              <a:latin typeface="Times New Roman"/>
              <a:cs typeface="Times New Roman"/>
            </a:endParaRPr>
          </a:p>
          <a:p>
            <a:pPr marL="164465">
              <a:lnSpc>
                <a:spcPct val="100000"/>
              </a:lnSpc>
              <a:spcBef>
                <a:spcPts val="5"/>
              </a:spcBef>
            </a:pPr>
            <a:r>
              <a:rPr sz="2000" dirty="0">
                <a:latin typeface="Times New Roman"/>
                <a:cs typeface="Times New Roman"/>
              </a:rPr>
              <a:t>no</a:t>
            </a:r>
            <a:r>
              <a:rPr sz="2000" spc="-20" dirty="0">
                <a:latin typeface="Times New Roman"/>
                <a:cs typeface="Times New Roman"/>
              </a:rPr>
              <a:t> </a:t>
            </a:r>
            <a:r>
              <a:rPr sz="2000" dirty="0">
                <a:latin typeface="Times New Roman"/>
                <a:cs typeface="Times New Roman"/>
              </a:rPr>
              <a:t>length</a:t>
            </a:r>
            <a:r>
              <a:rPr sz="2000" spc="-15" dirty="0">
                <a:latin typeface="Times New Roman"/>
                <a:cs typeface="Times New Roman"/>
              </a:rPr>
              <a:t> </a:t>
            </a:r>
            <a:r>
              <a:rPr sz="2000" dirty="0">
                <a:latin typeface="Times New Roman"/>
                <a:cs typeface="Times New Roman"/>
              </a:rPr>
              <a:t>checking</a:t>
            </a:r>
            <a:r>
              <a:rPr sz="2000" spc="-15" dirty="0">
                <a:latin typeface="Times New Roman"/>
                <a:cs typeface="Times New Roman"/>
              </a:rPr>
              <a:t> </a:t>
            </a:r>
            <a:r>
              <a:rPr sz="2000" dirty="0">
                <a:latin typeface="Times New Roman"/>
                <a:cs typeface="Times New Roman"/>
              </a:rPr>
              <a:t>in</a:t>
            </a:r>
            <a:r>
              <a:rPr sz="2000" spc="459" dirty="0">
                <a:latin typeface="Times New Roman"/>
                <a:cs typeface="Times New Roman"/>
              </a:rPr>
              <a:t> </a:t>
            </a:r>
            <a:r>
              <a:rPr sz="2000" spc="-10" dirty="0">
                <a:solidFill>
                  <a:srgbClr val="696363"/>
                </a:solidFill>
                <a:latin typeface="Times New Roman"/>
                <a:cs typeface="Times New Roman"/>
              </a:rPr>
              <a:t>strcpy()</a:t>
            </a:r>
            <a:endParaRPr sz="2000" dirty="0">
              <a:latin typeface="Times New Roman"/>
              <a:cs typeface="Times New Roman"/>
            </a:endParaRPr>
          </a:p>
        </p:txBody>
      </p:sp>
      <p:pic>
        <p:nvPicPr>
          <p:cNvPr id="15" name="object 15"/>
          <p:cNvPicPr/>
          <p:nvPr/>
        </p:nvPicPr>
        <p:blipFill>
          <a:blip r:embed="rId5" cstate="print"/>
          <a:stretch>
            <a:fillRect/>
          </a:stretch>
        </p:blipFill>
        <p:spPr>
          <a:xfrm>
            <a:off x="457200" y="6248400"/>
            <a:ext cx="476250" cy="381000"/>
          </a:xfrm>
          <a:prstGeom prst="rect">
            <a:avLst/>
          </a:prstGeom>
        </p:spPr>
      </p:pic>
      <p:sp>
        <p:nvSpPr>
          <p:cNvPr id="16" name="object 16"/>
          <p:cNvSpPr txBox="1">
            <a:spLocks noGrp="1"/>
          </p:cNvSpPr>
          <p:nvPr>
            <p:ph type="ftr" sz="quarter" idx="5"/>
          </p:nvPr>
        </p:nvSpPr>
        <p:spPr>
          <a:prstGeom prst="rect">
            <a:avLst/>
          </a:prstGeom>
        </p:spPr>
        <p:txBody>
          <a:bodyPr vert="horz" wrap="square" lIns="0" tIns="76200" rIns="0" bIns="0" rtlCol="0">
            <a:spAutoFit/>
          </a:bodyPr>
          <a:lstStyle/>
          <a:p>
            <a:pPr marL="241300">
              <a:lnSpc>
                <a:spcPts val="1550"/>
              </a:lnSpc>
            </a:pPr>
            <a:r>
              <a:rPr spc="-180" dirty="0"/>
              <a:t>FAST-</a:t>
            </a:r>
            <a:r>
              <a:rPr spc="-100" dirty="0"/>
              <a:t>NUCES</a:t>
            </a:r>
          </a:p>
        </p:txBody>
      </p:sp>
      <p:sp>
        <p:nvSpPr>
          <p:cNvPr id="20" name="TextBox 19">
            <a:extLst>
              <a:ext uri="{FF2B5EF4-FFF2-40B4-BE49-F238E27FC236}">
                <a16:creationId xmlns:a16="http://schemas.microsoft.com/office/drawing/2014/main" id="{5CC336CB-DE50-14E9-2441-091F9FC56363}"/>
              </a:ext>
            </a:extLst>
          </p:cNvPr>
          <p:cNvSpPr txBox="1"/>
          <p:nvPr/>
        </p:nvSpPr>
        <p:spPr>
          <a:xfrm>
            <a:off x="1601491" y="5804898"/>
            <a:ext cx="7627070" cy="923330"/>
          </a:xfrm>
          <a:prstGeom prst="rect">
            <a:avLst/>
          </a:prstGeom>
          <a:noFill/>
        </p:spPr>
        <p:txBody>
          <a:bodyPr wrap="square">
            <a:spAutoFit/>
          </a:bodyPr>
          <a:lstStyle/>
          <a:p>
            <a:r>
              <a:rPr lang="en-US" dirty="0">
                <a:highlight>
                  <a:srgbClr val="FFFF00"/>
                </a:highlight>
              </a:rPr>
              <a:t>This happens when you write more data into a buffer than allocated.</a:t>
            </a:r>
            <a:br>
              <a:rPr lang="en-US" dirty="0">
                <a:highlight>
                  <a:srgbClr val="FFFF00"/>
                </a:highlight>
              </a:rPr>
            </a:br>
            <a:r>
              <a:rPr lang="en-US" dirty="0">
                <a:highlight>
                  <a:srgbClr val="FFFF00"/>
                </a:highlight>
              </a:rPr>
              <a:t>If a function like </a:t>
            </a:r>
            <a:r>
              <a:rPr lang="en-US" dirty="0" err="1">
                <a:highlight>
                  <a:srgbClr val="FFFF00"/>
                </a:highlight>
                <a:latin typeface="Courier New" panose="02070309020205020404" pitchFamily="49" charset="0"/>
              </a:rPr>
              <a:t>strcpy</a:t>
            </a:r>
            <a:r>
              <a:rPr lang="en-US" dirty="0">
                <a:highlight>
                  <a:srgbClr val="FFFF00"/>
                </a:highlight>
                <a:latin typeface="Courier New" panose="02070309020205020404" pitchFamily="49" charset="0"/>
              </a:rPr>
              <a:t>()</a:t>
            </a:r>
            <a:r>
              <a:rPr lang="en-US" dirty="0">
                <a:highlight>
                  <a:srgbClr val="FFFF00"/>
                </a:highlight>
              </a:rPr>
              <a:t> doesn’t check size → attacker can overwrite return address.</a:t>
            </a:r>
            <a:endParaRPr lang="en-PK" dirty="0">
              <a:highlight>
                <a:srgbClr val="FFFF00"/>
              </a:highlight>
            </a:endParaRPr>
          </a:p>
        </p:txBody>
      </p:sp>
      <p:sp>
        <p:nvSpPr>
          <p:cNvPr id="22" name="TextBox 21">
            <a:extLst>
              <a:ext uri="{FF2B5EF4-FFF2-40B4-BE49-F238E27FC236}">
                <a16:creationId xmlns:a16="http://schemas.microsoft.com/office/drawing/2014/main" id="{A737AC79-9BC8-1B39-863B-481B682EEAD6}"/>
              </a:ext>
            </a:extLst>
          </p:cNvPr>
          <p:cNvSpPr txBox="1"/>
          <p:nvPr/>
        </p:nvSpPr>
        <p:spPr>
          <a:xfrm>
            <a:off x="5797205" y="2681834"/>
            <a:ext cx="3065941" cy="2062103"/>
          </a:xfrm>
          <a:prstGeom prst="rect">
            <a:avLst/>
          </a:prstGeom>
          <a:noFill/>
        </p:spPr>
        <p:txBody>
          <a:bodyPr wrap="square">
            <a:spAutoFit/>
          </a:bodyPr>
          <a:lstStyle/>
          <a:p>
            <a:pPr algn="just"/>
            <a:r>
              <a:rPr lang="en-US" sz="1600" b="1" dirty="0">
                <a:highlight>
                  <a:srgbClr val="FFFF00"/>
                </a:highlight>
              </a:rPr>
              <a:t>Vulnerability:</a:t>
            </a:r>
            <a:r>
              <a:rPr lang="en-US" sz="1600" dirty="0">
                <a:highlight>
                  <a:srgbClr val="FFFF00"/>
                </a:highlight>
              </a:rPr>
              <a:t> Using </a:t>
            </a:r>
            <a:r>
              <a:rPr lang="en-US" sz="1600" dirty="0" err="1">
                <a:highlight>
                  <a:srgbClr val="FFFF00"/>
                </a:highlight>
              </a:rPr>
              <a:t>strcpy</a:t>
            </a:r>
            <a:r>
              <a:rPr lang="en-US" sz="1600" dirty="0">
                <a:highlight>
                  <a:srgbClr val="FFFF00"/>
                </a:highlight>
              </a:rPr>
              <a:t> to copy *str into char </a:t>
            </a:r>
            <a:r>
              <a:rPr lang="en-US" sz="1600" dirty="0" err="1">
                <a:highlight>
                  <a:srgbClr val="FFFF00"/>
                </a:highlight>
              </a:rPr>
              <a:t>buf</a:t>
            </a:r>
            <a:r>
              <a:rPr lang="en-US" sz="1600" dirty="0">
                <a:highlight>
                  <a:srgbClr val="FFFF00"/>
                </a:highlight>
              </a:rPr>
              <a:t>[128] without length checks can overflow the buffer.</a:t>
            </a:r>
          </a:p>
          <a:p>
            <a:pPr algn="just"/>
            <a:r>
              <a:rPr lang="en-US" sz="1600" b="1" dirty="0">
                <a:highlight>
                  <a:srgbClr val="FFFF00"/>
                </a:highlight>
              </a:rPr>
              <a:t>Target:</a:t>
            </a:r>
            <a:r>
              <a:rPr lang="en-US" sz="1600" dirty="0">
                <a:highlight>
                  <a:srgbClr val="FFFF00"/>
                </a:highlight>
              </a:rPr>
              <a:t> The stack stores local variables and function call info, growing from high to low memory addresses.</a:t>
            </a:r>
          </a:p>
        </p:txBody>
      </p:sp>
      <p:sp>
        <p:nvSpPr>
          <p:cNvPr id="24" name="TextBox 23">
            <a:extLst>
              <a:ext uri="{FF2B5EF4-FFF2-40B4-BE49-F238E27FC236}">
                <a16:creationId xmlns:a16="http://schemas.microsoft.com/office/drawing/2014/main" id="{ED24CCF7-2741-8047-73DE-1E93C6997751}"/>
              </a:ext>
            </a:extLst>
          </p:cNvPr>
          <p:cNvSpPr txBox="1"/>
          <p:nvPr/>
        </p:nvSpPr>
        <p:spPr>
          <a:xfrm>
            <a:off x="706168" y="5290871"/>
            <a:ext cx="4808482" cy="646331"/>
          </a:xfrm>
          <a:prstGeom prst="rect">
            <a:avLst/>
          </a:prstGeom>
          <a:noFill/>
        </p:spPr>
        <p:txBody>
          <a:bodyPr wrap="square">
            <a:spAutoFit/>
          </a:bodyPr>
          <a:lstStyle/>
          <a:p>
            <a:r>
              <a:rPr lang="en-US" dirty="0"/>
              <a:t>If </a:t>
            </a:r>
            <a:r>
              <a:rPr lang="en-US" dirty="0">
                <a:latin typeface="Courier New" panose="02070309020205020404" pitchFamily="49" charset="0"/>
              </a:rPr>
              <a:t>input</a:t>
            </a:r>
            <a:r>
              <a:rPr lang="en-US" dirty="0"/>
              <a:t> &gt; 128 bytes, it overwrites adjacent memory (stack).</a:t>
            </a:r>
            <a:endParaRPr lang="en-PK"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5619813" y="3429063"/>
            <a:ext cx="2676525" cy="466725"/>
            <a:chOff x="5619813" y="3429063"/>
            <a:chExt cx="2676525" cy="466725"/>
          </a:xfrm>
        </p:grpSpPr>
        <p:sp>
          <p:nvSpPr>
            <p:cNvPr id="3" name="object 3"/>
            <p:cNvSpPr/>
            <p:nvPr/>
          </p:nvSpPr>
          <p:spPr>
            <a:xfrm>
              <a:off x="5624576" y="3433826"/>
              <a:ext cx="2667000" cy="457200"/>
            </a:xfrm>
            <a:custGeom>
              <a:avLst/>
              <a:gdLst/>
              <a:ahLst/>
              <a:cxnLst/>
              <a:rect l="l" t="t" r="r" b="b"/>
              <a:pathLst>
                <a:path w="2667000" h="457200">
                  <a:moveTo>
                    <a:pt x="2667000" y="0"/>
                  </a:moveTo>
                  <a:lnTo>
                    <a:pt x="0" y="0"/>
                  </a:lnTo>
                  <a:lnTo>
                    <a:pt x="0" y="457200"/>
                  </a:lnTo>
                  <a:lnTo>
                    <a:pt x="2667000" y="457200"/>
                  </a:lnTo>
                  <a:lnTo>
                    <a:pt x="2667000" y="0"/>
                  </a:lnTo>
                  <a:close/>
                </a:path>
              </a:pathLst>
            </a:custGeom>
            <a:solidFill>
              <a:srgbClr val="006FC0"/>
            </a:solidFill>
          </p:spPr>
          <p:txBody>
            <a:bodyPr wrap="square" lIns="0" tIns="0" rIns="0" bIns="0" rtlCol="0"/>
            <a:lstStyle/>
            <a:p>
              <a:endParaRPr/>
            </a:p>
          </p:txBody>
        </p:sp>
        <p:sp>
          <p:nvSpPr>
            <p:cNvPr id="4" name="object 4"/>
            <p:cNvSpPr/>
            <p:nvPr/>
          </p:nvSpPr>
          <p:spPr>
            <a:xfrm>
              <a:off x="5624576" y="3433826"/>
              <a:ext cx="2667000" cy="457200"/>
            </a:xfrm>
            <a:custGeom>
              <a:avLst/>
              <a:gdLst/>
              <a:ahLst/>
              <a:cxnLst/>
              <a:rect l="l" t="t" r="r" b="b"/>
              <a:pathLst>
                <a:path w="2667000" h="457200">
                  <a:moveTo>
                    <a:pt x="0" y="457200"/>
                  </a:moveTo>
                  <a:lnTo>
                    <a:pt x="2667000" y="457200"/>
                  </a:lnTo>
                  <a:lnTo>
                    <a:pt x="2667000" y="0"/>
                  </a:lnTo>
                  <a:lnTo>
                    <a:pt x="0" y="0"/>
                  </a:lnTo>
                  <a:lnTo>
                    <a:pt x="0" y="457200"/>
                  </a:lnTo>
                  <a:close/>
                </a:path>
              </a:pathLst>
            </a:custGeom>
            <a:ln w="9525">
              <a:solidFill>
                <a:srgbClr val="000000"/>
              </a:solidFill>
            </a:ln>
          </p:spPr>
          <p:txBody>
            <a:bodyPr wrap="square" lIns="0" tIns="0" rIns="0" bIns="0" rtlCol="0"/>
            <a:lstStyle/>
            <a:p>
              <a:endParaRPr/>
            </a:p>
          </p:txBody>
        </p:sp>
      </p:grpSp>
      <p:grpSp>
        <p:nvGrpSpPr>
          <p:cNvPr id="5" name="object 5"/>
          <p:cNvGrpSpPr/>
          <p:nvPr/>
        </p:nvGrpSpPr>
        <p:grpSpPr>
          <a:xfrm>
            <a:off x="5600763" y="4752975"/>
            <a:ext cx="2695575" cy="1533525"/>
            <a:chOff x="5600763" y="4752975"/>
            <a:chExt cx="2695575" cy="1533525"/>
          </a:xfrm>
        </p:grpSpPr>
        <p:sp>
          <p:nvSpPr>
            <p:cNvPr id="6" name="object 6"/>
            <p:cNvSpPr/>
            <p:nvPr/>
          </p:nvSpPr>
          <p:spPr>
            <a:xfrm>
              <a:off x="5605526" y="4757737"/>
              <a:ext cx="19050" cy="871855"/>
            </a:xfrm>
            <a:custGeom>
              <a:avLst/>
              <a:gdLst/>
              <a:ahLst/>
              <a:cxnLst/>
              <a:rect l="l" t="t" r="r" b="b"/>
              <a:pathLst>
                <a:path w="19050" h="871854">
                  <a:moveTo>
                    <a:pt x="0" y="871537"/>
                  </a:moveTo>
                  <a:lnTo>
                    <a:pt x="19050" y="871537"/>
                  </a:lnTo>
                  <a:lnTo>
                    <a:pt x="19050" y="0"/>
                  </a:lnTo>
                  <a:lnTo>
                    <a:pt x="0" y="0"/>
                  </a:lnTo>
                  <a:lnTo>
                    <a:pt x="0" y="871537"/>
                  </a:lnTo>
                  <a:close/>
                </a:path>
              </a:pathLst>
            </a:custGeom>
            <a:solidFill>
              <a:srgbClr val="FF0000"/>
            </a:solidFill>
          </p:spPr>
          <p:txBody>
            <a:bodyPr wrap="square" lIns="0" tIns="0" rIns="0" bIns="0" rtlCol="0"/>
            <a:lstStyle/>
            <a:p>
              <a:endParaRPr/>
            </a:p>
          </p:txBody>
        </p:sp>
        <p:sp>
          <p:nvSpPr>
            <p:cNvPr id="7" name="object 7"/>
            <p:cNvSpPr/>
            <p:nvPr/>
          </p:nvSpPr>
          <p:spPr>
            <a:xfrm>
              <a:off x="5605526" y="4757737"/>
              <a:ext cx="2667000" cy="1524000"/>
            </a:xfrm>
            <a:custGeom>
              <a:avLst/>
              <a:gdLst/>
              <a:ahLst/>
              <a:cxnLst/>
              <a:rect l="l" t="t" r="r" b="b"/>
              <a:pathLst>
                <a:path w="2667000" h="1524000">
                  <a:moveTo>
                    <a:pt x="0" y="1524000"/>
                  </a:moveTo>
                  <a:lnTo>
                    <a:pt x="2667000" y="1524000"/>
                  </a:lnTo>
                  <a:lnTo>
                    <a:pt x="2667000" y="0"/>
                  </a:lnTo>
                  <a:lnTo>
                    <a:pt x="0" y="0"/>
                  </a:lnTo>
                  <a:lnTo>
                    <a:pt x="0" y="1524000"/>
                  </a:lnTo>
                  <a:close/>
                </a:path>
              </a:pathLst>
            </a:custGeom>
            <a:ln w="9525">
              <a:solidFill>
                <a:srgbClr val="000000"/>
              </a:solidFill>
            </a:ln>
          </p:spPr>
          <p:txBody>
            <a:bodyPr wrap="square" lIns="0" tIns="0" rIns="0" bIns="0" rtlCol="0"/>
            <a:lstStyle/>
            <a:p>
              <a:endParaRPr/>
            </a:p>
          </p:txBody>
        </p:sp>
        <p:sp>
          <p:nvSpPr>
            <p:cNvPr id="8" name="object 8"/>
            <p:cNvSpPr/>
            <p:nvPr/>
          </p:nvSpPr>
          <p:spPr>
            <a:xfrm>
              <a:off x="5624576" y="4757737"/>
              <a:ext cx="2667000" cy="1524000"/>
            </a:xfrm>
            <a:custGeom>
              <a:avLst/>
              <a:gdLst/>
              <a:ahLst/>
              <a:cxnLst/>
              <a:rect l="l" t="t" r="r" b="b"/>
              <a:pathLst>
                <a:path w="2667000" h="1524000">
                  <a:moveTo>
                    <a:pt x="2614549" y="1500187"/>
                  </a:moveTo>
                  <a:lnTo>
                    <a:pt x="14224" y="1500187"/>
                  </a:lnTo>
                  <a:lnTo>
                    <a:pt x="14224" y="1524000"/>
                  </a:lnTo>
                  <a:lnTo>
                    <a:pt x="2614549" y="1524000"/>
                  </a:lnTo>
                  <a:lnTo>
                    <a:pt x="2614549" y="1500187"/>
                  </a:lnTo>
                  <a:close/>
                </a:path>
                <a:path w="2667000" h="1524000">
                  <a:moveTo>
                    <a:pt x="2667000" y="0"/>
                  </a:moveTo>
                  <a:lnTo>
                    <a:pt x="0" y="0"/>
                  </a:lnTo>
                  <a:lnTo>
                    <a:pt x="0" y="1423987"/>
                  </a:lnTo>
                  <a:lnTo>
                    <a:pt x="2667000" y="1423987"/>
                  </a:lnTo>
                  <a:lnTo>
                    <a:pt x="2667000" y="0"/>
                  </a:lnTo>
                  <a:close/>
                </a:path>
              </a:pathLst>
            </a:custGeom>
            <a:solidFill>
              <a:srgbClr val="006FC0"/>
            </a:solidFill>
          </p:spPr>
          <p:txBody>
            <a:bodyPr wrap="square" lIns="0" tIns="0" rIns="0" bIns="0" rtlCol="0"/>
            <a:lstStyle/>
            <a:p>
              <a:endParaRPr/>
            </a:p>
          </p:txBody>
        </p:sp>
        <p:sp>
          <p:nvSpPr>
            <p:cNvPr id="9" name="object 9"/>
            <p:cNvSpPr/>
            <p:nvPr/>
          </p:nvSpPr>
          <p:spPr>
            <a:xfrm>
              <a:off x="5624576" y="4757737"/>
              <a:ext cx="2667000" cy="1524000"/>
            </a:xfrm>
            <a:custGeom>
              <a:avLst/>
              <a:gdLst/>
              <a:ahLst/>
              <a:cxnLst/>
              <a:rect l="l" t="t" r="r" b="b"/>
              <a:pathLst>
                <a:path w="2667000" h="1524000">
                  <a:moveTo>
                    <a:pt x="0" y="1524000"/>
                  </a:moveTo>
                  <a:lnTo>
                    <a:pt x="2667000" y="1524000"/>
                  </a:lnTo>
                  <a:lnTo>
                    <a:pt x="2667000" y="0"/>
                  </a:lnTo>
                  <a:lnTo>
                    <a:pt x="0" y="0"/>
                  </a:lnTo>
                  <a:lnTo>
                    <a:pt x="0" y="1524000"/>
                  </a:lnTo>
                  <a:close/>
                </a:path>
              </a:pathLst>
            </a:custGeom>
            <a:ln w="9525">
              <a:solidFill>
                <a:srgbClr val="000000"/>
              </a:solidFill>
            </a:ln>
          </p:spPr>
          <p:txBody>
            <a:bodyPr wrap="square" lIns="0" tIns="0" rIns="0" bIns="0" rtlCol="0"/>
            <a:lstStyle/>
            <a:p>
              <a:endParaRPr/>
            </a:p>
          </p:txBody>
        </p:sp>
      </p:grpSp>
      <p:sp>
        <p:nvSpPr>
          <p:cNvPr id="10" name="object 10"/>
          <p:cNvSpPr txBox="1"/>
          <p:nvPr/>
        </p:nvSpPr>
        <p:spPr>
          <a:xfrm>
            <a:off x="5648325" y="5315902"/>
            <a:ext cx="2595880" cy="334645"/>
          </a:xfrm>
          <a:prstGeom prst="rect">
            <a:avLst/>
          </a:prstGeom>
        </p:spPr>
        <p:txBody>
          <a:bodyPr vert="horz" wrap="square" lIns="0" tIns="15875" rIns="0" bIns="0" rtlCol="0">
            <a:spAutoFit/>
          </a:bodyPr>
          <a:lstStyle/>
          <a:p>
            <a:pPr marL="700405">
              <a:lnSpc>
                <a:spcPct val="100000"/>
              </a:lnSpc>
              <a:spcBef>
                <a:spcPts val="125"/>
              </a:spcBef>
            </a:pPr>
            <a:r>
              <a:rPr sz="2000" spc="-95" dirty="0">
                <a:solidFill>
                  <a:srgbClr val="EDEBE0"/>
                </a:solidFill>
                <a:latin typeface="Times New Roman"/>
                <a:cs typeface="Times New Roman"/>
              </a:rPr>
              <a:t>char</a:t>
            </a:r>
            <a:r>
              <a:rPr sz="2000" spc="-35" dirty="0">
                <a:solidFill>
                  <a:srgbClr val="EDEBE0"/>
                </a:solidFill>
                <a:latin typeface="Times New Roman"/>
                <a:cs typeface="Times New Roman"/>
              </a:rPr>
              <a:t> </a:t>
            </a:r>
            <a:r>
              <a:rPr sz="2000" spc="-10" dirty="0">
                <a:solidFill>
                  <a:srgbClr val="EDEBE0"/>
                </a:solidFill>
                <a:latin typeface="Times New Roman"/>
                <a:cs typeface="Times New Roman"/>
              </a:rPr>
              <a:t>buf[128]</a:t>
            </a:r>
            <a:endParaRPr sz="2000">
              <a:latin typeface="Times New Roman"/>
              <a:cs typeface="Times New Roman"/>
            </a:endParaRPr>
          </a:p>
        </p:txBody>
      </p:sp>
      <p:grpSp>
        <p:nvGrpSpPr>
          <p:cNvPr id="11" name="object 11"/>
          <p:cNvGrpSpPr/>
          <p:nvPr/>
        </p:nvGrpSpPr>
        <p:grpSpPr>
          <a:xfrm>
            <a:off x="5619813" y="3886263"/>
            <a:ext cx="2676525" cy="466725"/>
            <a:chOff x="5619813" y="3886263"/>
            <a:chExt cx="2676525" cy="466725"/>
          </a:xfrm>
        </p:grpSpPr>
        <p:sp>
          <p:nvSpPr>
            <p:cNvPr id="12" name="object 12"/>
            <p:cNvSpPr/>
            <p:nvPr/>
          </p:nvSpPr>
          <p:spPr>
            <a:xfrm>
              <a:off x="5624576" y="3891026"/>
              <a:ext cx="2667000" cy="457200"/>
            </a:xfrm>
            <a:custGeom>
              <a:avLst/>
              <a:gdLst/>
              <a:ahLst/>
              <a:cxnLst/>
              <a:rect l="l" t="t" r="r" b="b"/>
              <a:pathLst>
                <a:path w="2667000" h="457200">
                  <a:moveTo>
                    <a:pt x="2667000" y="0"/>
                  </a:moveTo>
                  <a:lnTo>
                    <a:pt x="0" y="0"/>
                  </a:lnTo>
                  <a:lnTo>
                    <a:pt x="0" y="457200"/>
                  </a:lnTo>
                  <a:lnTo>
                    <a:pt x="2667000" y="457200"/>
                  </a:lnTo>
                  <a:lnTo>
                    <a:pt x="2667000" y="0"/>
                  </a:lnTo>
                  <a:close/>
                </a:path>
              </a:pathLst>
            </a:custGeom>
            <a:solidFill>
              <a:srgbClr val="006FC0"/>
            </a:solidFill>
          </p:spPr>
          <p:txBody>
            <a:bodyPr wrap="square" lIns="0" tIns="0" rIns="0" bIns="0" rtlCol="0"/>
            <a:lstStyle/>
            <a:p>
              <a:endParaRPr/>
            </a:p>
          </p:txBody>
        </p:sp>
        <p:sp>
          <p:nvSpPr>
            <p:cNvPr id="13" name="object 13"/>
            <p:cNvSpPr/>
            <p:nvPr/>
          </p:nvSpPr>
          <p:spPr>
            <a:xfrm>
              <a:off x="5624576" y="3891026"/>
              <a:ext cx="2667000" cy="457200"/>
            </a:xfrm>
            <a:custGeom>
              <a:avLst/>
              <a:gdLst/>
              <a:ahLst/>
              <a:cxnLst/>
              <a:rect l="l" t="t" r="r" b="b"/>
              <a:pathLst>
                <a:path w="2667000" h="457200">
                  <a:moveTo>
                    <a:pt x="0" y="457200"/>
                  </a:moveTo>
                  <a:lnTo>
                    <a:pt x="2667000" y="457200"/>
                  </a:lnTo>
                  <a:lnTo>
                    <a:pt x="2667000" y="0"/>
                  </a:lnTo>
                  <a:lnTo>
                    <a:pt x="0" y="0"/>
                  </a:lnTo>
                  <a:lnTo>
                    <a:pt x="0" y="457200"/>
                  </a:lnTo>
                  <a:close/>
                </a:path>
              </a:pathLst>
            </a:custGeom>
            <a:ln w="9525">
              <a:solidFill>
                <a:srgbClr val="000000"/>
              </a:solidFill>
            </a:ln>
          </p:spPr>
          <p:txBody>
            <a:bodyPr wrap="square" lIns="0" tIns="0" rIns="0" bIns="0" rtlCol="0"/>
            <a:lstStyle/>
            <a:p>
              <a:endParaRPr/>
            </a:p>
          </p:txBody>
        </p:sp>
      </p:grpSp>
      <p:sp>
        <p:nvSpPr>
          <p:cNvPr id="14" name="object 14"/>
          <p:cNvSpPr txBox="1"/>
          <p:nvPr/>
        </p:nvSpPr>
        <p:spPr>
          <a:xfrm>
            <a:off x="5648325" y="3916997"/>
            <a:ext cx="2600325" cy="334645"/>
          </a:xfrm>
          <a:prstGeom prst="rect">
            <a:avLst/>
          </a:prstGeom>
        </p:spPr>
        <p:txBody>
          <a:bodyPr vert="horz" wrap="square" lIns="0" tIns="15875" rIns="0" bIns="0" rtlCol="0">
            <a:spAutoFit/>
          </a:bodyPr>
          <a:lstStyle/>
          <a:p>
            <a:pPr marL="655320">
              <a:lnSpc>
                <a:spcPct val="100000"/>
              </a:lnSpc>
              <a:spcBef>
                <a:spcPts val="125"/>
              </a:spcBef>
            </a:pPr>
            <a:r>
              <a:rPr sz="2000" spc="-20" dirty="0">
                <a:solidFill>
                  <a:srgbClr val="E9E4DC"/>
                </a:solidFill>
                <a:latin typeface="Times New Roman"/>
                <a:cs typeface="Times New Roman"/>
              </a:rPr>
              <a:t>return</a:t>
            </a:r>
            <a:r>
              <a:rPr sz="2000" spc="-85" dirty="0">
                <a:solidFill>
                  <a:srgbClr val="E9E4DC"/>
                </a:solidFill>
                <a:latin typeface="Times New Roman"/>
                <a:cs typeface="Times New Roman"/>
              </a:rPr>
              <a:t> </a:t>
            </a:r>
            <a:r>
              <a:rPr sz="2000" spc="-10" dirty="0">
                <a:solidFill>
                  <a:srgbClr val="E9E4DC"/>
                </a:solidFill>
                <a:latin typeface="Times New Roman"/>
                <a:cs typeface="Times New Roman"/>
              </a:rPr>
              <a:t>address</a:t>
            </a:r>
            <a:endParaRPr sz="2000">
              <a:latin typeface="Times New Roman"/>
              <a:cs typeface="Times New Roman"/>
            </a:endParaRPr>
          </a:p>
        </p:txBody>
      </p:sp>
      <p:grpSp>
        <p:nvGrpSpPr>
          <p:cNvPr id="15" name="object 15"/>
          <p:cNvGrpSpPr/>
          <p:nvPr/>
        </p:nvGrpSpPr>
        <p:grpSpPr>
          <a:xfrm>
            <a:off x="5257800" y="866775"/>
            <a:ext cx="3248025" cy="5534025"/>
            <a:chOff x="5257800" y="866775"/>
            <a:chExt cx="3248025" cy="5534025"/>
          </a:xfrm>
        </p:grpSpPr>
        <p:sp>
          <p:nvSpPr>
            <p:cNvPr id="16" name="object 16"/>
            <p:cNvSpPr/>
            <p:nvPr/>
          </p:nvSpPr>
          <p:spPr>
            <a:xfrm>
              <a:off x="5624575" y="4300601"/>
              <a:ext cx="2667000" cy="457200"/>
            </a:xfrm>
            <a:custGeom>
              <a:avLst/>
              <a:gdLst/>
              <a:ahLst/>
              <a:cxnLst/>
              <a:rect l="l" t="t" r="r" b="b"/>
              <a:pathLst>
                <a:path w="2667000" h="457200">
                  <a:moveTo>
                    <a:pt x="2667000" y="0"/>
                  </a:moveTo>
                  <a:lnTo>
                    <a:pt x="0" y="0"/>
                  </a:lnTo>
                  <a:lnTo>
                    <a:pt x="0" y="457200"/>
                  </a:lnTo>
                  <a:lnTo>
                    <a:pt x="2667000" y="457200"/>
                  </a:lnTo>
                  <a:lnTo>
                    <a:pt x="2667000" y="0"/>
                  </a:lnTo>
                  <a:close/>
                </a:path>
              </a:pathLst>
            </a:custGeom>
            <a:solidFill>
              <a:srgbClr val="006FC0"/>
            </a:solidFill>
          </p:spPr>
          <p:txBody>
            <a:bodyPr wrap="square" lIns="0" tIns="0" rIns="0" bIns="0" rtlCol="0"/>
            <a:lstStyle/>
            <a:p>
              <a:endParaRPr/>
            </a:p>
          </p:txBody>
        </p:sp>
        <p:sp>
          <p:nvSpPr>
            <p:cNvPr id="17" name="object 17"/>
            <p:cNvSpPr/>
            <p:nvPr/>
          </p:nvSpPr>
          <p:spPr>
            <a:xfrm>
              <a:off x="5624575" y="4300601"/>
              <a:ext cx="2667000" cy="457200"/>
            </a:xfrm>
            <a:custGeom>
              <a:avLst/>
              <a:gdLst/>
              <a:ahLst/>
              <a:cxnLst/>
              <a:rect l="l" t="t" r="r" b="b"/>
              <a:pathLst>
                <a:path w="2667000" h="457200">
                  <a:moveTo>
                    <a:pt x="0" y="457200"/>
                  </a:moveTo>
                  <a:lnTo>
                    <a:pt x="2667000" y="457200"/>
                  </a:lnTo>
                  <a:lnTo>
                    <a:pt x="2667000" y="0"/>
                  </a:lnTo>
                  <a:lnTo>
                    <a:pt x="0" y="0"/>
                  </a:lnTo>
                  <a:lnTo>
                    <a:pt x="0" y="457200"/>
                  </a:lnTo>
                  <a:close/>
                </a:path>
              </a:pathLst>
            </a:custGeom>
            <a:ln w="9525">
              <a:solidFill>
                <a:srgbClr val="000000"/>
              </a:solidFill>
            </a:ln>
          </p:spPr>
          <p:txBody>
            <a:bodyPr wrap="square" lIns="0" tIns="0" rIns="0" bIns="0" rtlCol="0"/>
            <a:lstStyle/>
            <a:p>
              <a:endParaRPr/>
            </a:p>
          </p:txBody>
        </p:sp>
        <p:sp>
          <p:nvSpPr>
            <p:cNvPr id="18" name="object 18"/>
            <p:cNvSpPr/>
            <p:nvPr/>
          </p:nvSpPr>
          <p:spPr>
            <a:xfrm>
              <a:off x="5295900" y="3381375"/>
              <a:ext cx="3171825" cy="2838450"/>
            </a:xfrm>
            <a:custGeom>
              <a:avLst/>
              <a:gdLst/>
              <a:ahLst/>
              <a:cxnLst/>
              <a:rect l="l" t="t" r="r" b="b"/>
              <a:pathLst>
                <a:path w="3171825" h="2838450">
                  <a:moveTo>
                    <a:pt x="0" y="2838450"/>
                  </a:moveTo>
                  <a:lnTo>
                    <a:pt x="3067050" y="2838450"/>
                  </a:lnTo>
                </a:path>
                <a:path w="3171825" h="2838450">
                  <a:moveTo>
                    <a:pt x="47625" y="0"/>
                  </a:moveTo>
                  <a:lnTo>
                    <a:pt x="3171825" y="0"/>
                  </a:lnTo>
                </a:path>
              </a:pathLst>
            </a:custGeom>
            <a:ln w="76200">
              <a:solidFill>
                <a:srgbClr val="000000"/>
              </a:solidFill>
            </a:ln>
          </p:spPr>
          <p:txBody>
            <a:bodyPr wrap="square" lIns="0" tIns="0" rIns="0" bIns="0" rtlCol="0"/>
            <a:lstStyle/>
            <a:p>
              <a:endParaRPr/>
            </a:p>
          </p:txBody>
        </p:sp>
        <p:sp>
          <p:nvSpPr>
            <p:cNvPr id="19" name="object 19"/>
            <p:cNvSpPr/>
            <p:nvPr/>
          </p:nvSpPr>
          <p:spPr>
            <a:xfrm>
              <a:off x="5600700" y="5657850"/>
              <a:ext cx="2676525" cy="714375"/>
            </a:xfrm>
            <a:custGeom>
              <a:avLst/>
              <a:gdLst/>
              <a:ahLst/>
              <a:cxnLst/>
              <a:rect l="l" t="t" r="r" b="b"/>
              <a:pathLst>
                <a:path w="2676525" h="714375">
                  <a:moveTo>
                    <a:pt x="9525" y="0"/>
                  </a:moveTo>
                  <a:lnTo>
                    <a:pt x="0" y="714375"/>
                  </a:lnTo>
                </a:path>
                <a:path w="2676525" h="714375">
                  <a:moveTo>
                    <a:pt x="2676525" y="0"/>
                  </a:moveTo>
                  <a:lnTo>
                    <a:pt x="2667000" y="714375"/>
                  </a:lnTo>
                </a:path>
              </a:pathLst>
            </a:custGeom>
            <a:ln w="57150">
              <a:solidFill>
                <a:srgbClr val="000000"/>
              </a:solidFill>
            </a:ln>
          </p:spPr>
          <p:txBody>
            <a:bodyPr wrap="square" lIns="0" tIns="0" rIns="0" bIns="0" rtlCol="0"/>
            <a:lstStyle/>
            <a:p>
              <a:endParaRPr/>
            </a:p>
          </p:txBody>
        </p:sp>
        <p:pic>
          <p:nvPicPr>
            <p:cNvPr id="20" name="object 20"/>
            <p:cNvPicPr/>
            <p:nvPr/>
          </p:nvPicPr>
          <p:blipFill>
            <a:blip r:embed="rId2" cstate="print"/>
            <a:stretch>
              <a:fillRect/>
            </a:stretch>
          </p:blipFill>
          <p:spPr>
            <a:xfrm>
              <a:off x="5572125" y="2190686"/>
              <a:ext cx="2767076" cy="1214437"/>
            </a:xfrm>
            <a:prstGeom prst="rect">
              <a:avLst/>
            </a:prstGeom>
          </p:spPr>
        </p:pic>
        <p:sp>
          <p:nvSpPr>
            <p:cNvPr id="21" name="object 21"/>
            <p:cNvSpPr/>
            <p:nvPr/>
          </p:nvSpPr>
          <p:spPr>
            <a:xfrm>
              <a:off x="5648325" y="2214625"/>
              <a:ext cx="2590800" cy="1114425"/>
            </a:xfrm>
            <a:custGeom>
              <a:avLst/>
              <a:gdLst/>
              <a:ahLst/>
              <a:cxnLst/>
              <a:rect l="l" t="t" r="r" b="b"/>
              <a:pathLst>
                <a:path w="2590800" h="1114425">
                  <a:moveTo>
                    <a:pt x="0" y="1114425"/>
                  </a:moveTo>
                  <a:lnTo>
                    <a:pt x="2590800" y="1114425"/>
                  </a:lnTo>
                  <a:lnTo>
                    <a:pt x="2590800" y="0"/>
                  </a:lnTo>
                  <a:lnTo>
                    <a:pt x="0" y="0"/>
                  </a:lnTo>
                  <a:lnTo>
                    <a:pt x="0" y="1114425"/>
                  </a:lnTo>
                  <a:close/>
                </a:path>
              </a:pathLst>
            </a:custGeom>
            <a:solidFill>
              <a:srgbClr val="006FC0"/>
            </a:solidFill>
          </p:spPr>
          <p:txBody>
            <a:bodyPr wrap="square" lIns="0" tIns="0" rIns="0" bIns="0" rtlCol="0"/>
            <a:lstStyle/>
            <a:p>
              <a:endParaRPr/>
            </a:p>
          </p:txBody>
        </p:sp>
        <p:sp>
          <p:nvSpPr>
            <p:cNvPr id="22" name="object 22"/>
            <p:cNvSpPr/>
            <p:nvPr/>
          </p:nvSpPr>
          <p:spPr>
            <a:xfrm>
              <a:off x="5624575" y="2214625"/>
              <a:ext cx="2667000" cy="1114425"/>
            </a:xfrm>
            <a:custGeom>
              <a:avLst/>
              <a:gdLst/>
              <a:ahLst/>
              <a:cxnLst/>
              <a:rect l="l" t="t" r="r" b="b"/>
              <a:pathLst>
                <a:path w="2667000" h="1114425">
                  <a:moveTo>
                    <a:pt x="0" y="1114425"/>
                  </a:moveTo>
                  <a:lnTo>
                    <a:pt x="2667000" y="1114425"/>
                  </a:lnTo>
                  <a:lnTo>
                    <a:pt x="2667000" y="0"/>
                  </a:lnTo>
                  <a:lnTo>
                    <a:pt x="0" y="0"/>
                  </a:lnTo>
                  <a:lnTo>
                    <a:pt x="0" y="1114425"/>
                  </a:lnTo>
                  <a:close/>
                </a:path>
              </a:pathLst>
            </a:custGeom>
            <a:ln w="9525">
              <a:solidFill>
                <a:srgbClr val="AE3408"/>
              </a:solidFill>
            </a:ln>
          </p:spPr>
          <p:txBody>
            <a:bodyPr wrap="square" lIns="0" tIns="0" rIns="0" bIns="0" rtlCol="0"/>
            <a:lstStyle/>
            <a:p>
              <a:endParaRPr/>
            </a:p>
          </p:txBody>
        </p:sp>
        <p:pic>
          <p:nvPicPr>
            <p:cNvPr id="23" name="object 23"/>
            <p:cNvPicPr/>
            <p:nvPr/>
          </p:nvPicPr>
          <p:blipFill>
            <a:blip r:embed="rId3" cstate="print"/>
            <a:stretch>
              <a:fillRect/>
            </a:stretch>
          </p:blipFill>
          <p:spPr>
            <a:xfrm>
              <a:off x="5572125" y="866775"/>
              <a:ext cx="2767076" cy="1423924"/>
            </a:xfrm>
            <a:prstGeom prst="rect">
              <a:avLst/>
            </a:prstGeom>
          </p:spPr>
        </p:pic>
        <p:sp>
          <p:nvSpPr>
            <p:cNvPr id="24" name="object 24"/>
            <p:cNvSpPr/>
            <p:nvPr/>
          </p:nvSpPr>
          <p:spPr>
            <a:xfrm>
              <a:off x="5648325" y="890650"/>
              <a:ext cx="2590800" cy="1323975"/>
            </a:xfrm>
            <a:custGeom>
              <a:avLst/>
              <a:gdLst/>
              <a:ahLst/>
              <a:cxnLst/>
              <a:rect l="l" t="t" r="r" b="b"/>
              <a:pathLst>
                <a:path w="2590800" h="1323975">
                  <a:moveTo>
                    <a:pt x="0" y="1323975"/>
                  </a:moveTo>
                  <a:lnTo>
                    <a:pt x="2590800" y="1323975"/>
                  </a:lnTo>
                  <a:lnTo>
                    <a:pt x="2590800" y="0"/>
                  </a:lnTo>
                  <a:lnTo>
                    <a:pt x="0" y="0"/>
                  </a:lnTo>
                  <a:lnTo>
                    <a:pt x="0" y="1323975"/>
                  </a:lnTo>
                  <a:close/>
                </a:path>
              </a:pathLst>
            </a:custGeom>
            <a:solidFill>
              <a:srgbClr val="006FC0"/>
            </a:solidFill>
          </p:spPr>
          <p:txBody>
            <a:bodyPr wrap="square" lIns="0" tIns="0" rIns="0" bIns="0" rtlCol="0"/>
            <a:lstStyle/>
            <a:p>
              <a:endParaRPr/>
            </a:p>
          </p:txBody>
        </p:sp>
        <p:sp>
          <p:nvSpPr>
            <p:cNvPr id="25" name="object 25"/>
            <p:cNvSpPr/>
            <p:nvPr/>
          </p:nvSpPr>
          <p:spPr>
            <a:xfrm>
              <a:off x="5624575" y="890650"/>
              <a:ext cx="2667000" cy="1323975"/>
            </a:xfrm>
            <a:custGeom>
              <a:avLst/>
              <a:gdLst/>
              <a:ahLst/>
              <a:cxnLst/>
              <a:rect l="l" t="t" r="r" b="b"/>
              <a:pathLst>
                <a:path w="2667000" h="1323975">
                  <a:moveTo>
                    <a:pt x="0" y="1323975"/>
                  </a:moveTo>
                  <a:lnTo>
                    <a:pt x="2667000" y="1323975"/>
                  </a:lnTo>
                  <a:lnTo>
                    <a:pt x="2667000" y="0"/>
                  </a:lnTo>
                  <a:lnTo>
                    <a:pt x="0" y="0"/>
                  </a:lnTo>
                  <a:lnTo>
                    <a:pt x="0" y="1323975"/>
                  </a:lnTo>
                  <a:close/>
                </a:path>
              </a:pathLst>
            </a:custGeom>
            <a:ln w="9525">
              <a:solidFill>
                <a:srgbClr val="AE3408"/>
              </a:solidFill>
            </a:ln>
          </p:spPr>
          <p:txBody>
            <a:bodyPr wrap="square" lIns="0" tIns="0" rIns="0" bIns="0" rtlCol="0"/>
            <a:lstStyle/>
            <a:p>
              <a:endParaRPr/>
            </a:p>
          </p:txBody>
        </p:sp>
      </p:grpSp>
      <p:sp>
        <p:nvSpPr>
          <p:cNvPr id="26" name="object 26"/>
          <p:cNvSpPr txBox="1">
            <a:spLocks noGrp="1"/>
          </p:cNvSpPr>
          <p:nvPr>
            <p:ph type="title"/>
          </p:nvPr>
        </p:nvSpPr>
        <p:spPr>
          <a:xfrm>
            <a:off x="307657" y="242824"/>
            <a:ext cx="3479165" cy="575310"/>
          </a:xfrm>
          <a:prstGeom prst="rect">
            <a:avLst/>
          </a:prstGeom>
        </p:spPr>
        <p:txBody>
          <a:bodyPr vert="horz" wrap="square" lIns="0" tIns="13335" rIns="0" bIns="0" rtlCol="0">
            <a:spAutoFit/>
          </a:bodyPr>
          <a:lstStyle/>
          <a:p>
            <a:pPr marL="12700">
              <a:lnSpc>
                <a:spcPct val="100000"/>
              </a:lnSpc>
              <a:spcBef>
                <a:spcPts val="105"/>
              </a:spcBef>
            </a:pPr>
            <a:r>
              <a:rPr dirty="0"/>
              <a:t>Basic</a:t>
            </a:r>
            <a:r>
              <a:rPr spc="-15" dirty="0"/>
              <a:t> </a:t>
            </a:r>
            <a:r>
              <a:rPr dirty="0"/>
              <a:t>stack</a:t>
            </a:r>
            <a:r>
              <a:rPr spc="-45" dirty="0"/>
              <a:t> </a:t>
            </a:r>
            <a:r>
              <a:rPr spc="-10" dirty="0"/>
              <a:t>exploit</a:t>
            </a:r>
          </a:p>
        </p:txBody>
      </p:sp>
      <p:sp>
        <p:nvSpPr>
          <p:cNvPr id="27" name="object 27"/>
          <p:cNvSpPr txBox="1"/>
          <p:nvPr/>
        </p:nvSpPr>
        <p:spPr>
          <a:xfrm>
            <a:off x="383857" y="938911"/>
            <a:ext cx="4151629" cy="1431925"/>
          </a:xfrm>
          <a:prstGeom prst="rect">
            <a:avLst/>
          </a:prstGeom>
        </p:spPr>
        <p:txBody>
          <a:bodyPr vert="horz" wrap="square" lIns="0" tIns="13335" rIns="0" bIns="0" rtlCol="0">
            <a:spAutoFit/>
          </a:bodyPr>
          <a:lstStyle/>
          <a:p>
            <a:pPr marR="565785" algn="ctr">
              <a:lnSpc>
                <a:spcPts val="2865"/>
              </a:lnSpc>
              <a:spcBef>
                <a:spcPts val="105"/>
              </a:spcBef>
              <a:tabLst>
                <a:tab pos="1339850" algn="l"/>
                <a:tab pos="2178050" algn="l"/>
              </a:tabLst>
            </a:pPr>
            <a:r>
              <a:rPr sz="2400" spc="-10" dirty="0">
                <a:latin typeface="Times New Roman"/>
                <a:cs typeface="Times New Roman"/>
              </a:rPr>
              <a:t>Suppose</a:t>
            </a:r>
            <a:r>
              <a:rPr sz="2400" dirty="0">
                <a:latin typeface="Times New Roman"/>
                <a:cs typeface="Times New Roman"/>
              </a:rPr>
              <a:t>	</a:t>
            </a:r>
            <a:r>
              <a:rPr sz="2400" spc="-20" dirty="0">
                <a:solidFill>
                  <a:srgbClr val="696363"/>
                </a:solidFill>
                <a:latin typeface="Times New Roman"/>
                <a:cs typeface="Times New Roman"/>
              </a:rPr>
              <a:t>*str</a:t>
            </a:r>
            <a:r>
              <a:rPr sz="2400" dirty="0">
                <a:solidFill>
                  <a:srgbClr val="696363"/>
                </a:solidFill>
                <a:latin typeface="Times New Roman"/>
                <a:cs typeface="Times New Roman"/>
              </a:rPr>
              <a:t>	</a:t>
            </a:r>
            <a:r>
              <a:rPr sz="2400" dirty="0">
                <a:latin typeface="Times New Roman"/>
                <a:cs typeface="Times New Roman"/>
              </a:rPr>
              <a:t>is</a:t>
            </a:r>
            <a:r>
              <a:rPr sz="2400" spc="-30" dirty="0">
                <a:latin typeface="Times New Roman"/>
                <a:cs typeface="Times New Roman"/>
              </a:rPr>
              <a:t> </a:t>
            </a:r>
            <a:r>
              <a:rPr sz="2400" dirty="0">
                <a:latin typeface="Times New Roman"/>
                <a:cs typeface="Times New Roman"/>
              </a:rPr>
              <a:t>such</a:t>
            </a:r>
            <a:r>
              <a:rPr sz="2400" spc="5" dirty="0">
                <a:latin typeface="Times New Roman"/>
                <a:cs typeface="Times New Roman"/>
              </a:rPr>
              <a:t> </a:t>
            </a:r>
            <a:r>
              <a:rPr sz="2400" spc="-20" dirty="0">
                <a:latin typeface="Times New Roman"/>
                <a:cs typeface="Times New Roman"/>
              </a:rPr>
              <a:t>that</a:t>
            </a:r>
            <a:endParaRPr sz="2400">
              <a:latin typeface="Times New Roman"/>
              <a:cs typeface="Times New Roman"/>
            </a:endParaRPr>
          </a:p>
          <a:p>
            <a:pPr marL="533400" algn="ctr">
              <a:lnSpc>
                <a:spcPts val="2865"/>
              </a:lnSpc>
              <a:tabLst>
                <a:tab pos="1243965" algn="l"/>
                <a:tab pos="2141855" algn="l"/>
              </a:tabLst>
            </a:pPr>
            <a:r>
              <a:rPr sz="2400" spc="-10" dirty="0">
                <a:latin typeface="Times New Roman"/>
                <a:cs typeface="Times New Roman"/>
              </a:rPr>
              <a:t>after</a:t>
            </a:r>
            <a:r>
              <a:rPr sz="2400" dirty="0">
                <a:latin typeface="Times New Roman"/>
                <a:cs typeface="Times New Roman"/>
              </a:rPr>
              <a:t>	</a:t>
            </a:r>
            <a:r>
              <a:rPr sz="2400" spc="-10" dirty="0">
                <a:solidFill>
                  <a:srgbClr val="696363"/>
                </a:solidFill>
                <a:latin typeface="Times New Roman"/>
                <a:cs typeface="Times New Roman"/>
              </a:rPr>
              <a:t>strcpy</a:t>
            </a:r>
            <a:r>
              <a:rPr sz="2400" dirty="0">
                <a:solidFill>
                  <a:srgbClr val="696363"/>
                </a:solidFill>
                <a:latin typeface="Times New Roman"/>
                <a:cs typeface="Times New Roman"/>
              </a:rPr>
              <a:t>	</a:t>
            </a:r>
            <a:r>
              <a:rPr sz="2400" dirty="0">
                <a:latin typeface="Times New Roman"/>
                <a:cs typeface="Times New Roman"/>
              </a:rPr>
              <a:t>stack looks</a:t>
            </a:r>
            <a:r>
              <a:rPr sz="2400" spc="-30" dirty="0">
                <a:latin typeface="Times New Roman"/>
                <a:cs typeface="Times New Roman"/>
              </a:rPr>
              <a:t> </a:t>
            </a:r>
            <a:r>
              <a:rPr sz="2400" spc="-10" dirty="0">
                <a:latin typeface="Times New Roman"/>
                <a:cs typeface="Times New Roman"/>
              </a:rPr>
              <a:t>like:</a:t>
            </a:r>
            <a:endParaRPr sz="2400">
              <a:latin typeface="Times New Roman"/>
              <a:cs typeface="Times New Roman"/>
            </a:endParaRPr>
          </a:p>
          <a:p>
            <a:pPr marR="574040" algn="ctr">
              <a:lnSpc>
                <a:spcPct val="100000"/>
              </a:lnSpc>
              <a:spcBef>
                <a:spcPts val="2450"/>
              </a:spcBef>
              <a:tabLst>
                <a:tab pos="1685925" algn="l"/>
              </a:tabLst>
            </a:pPr>
            <a:r>
              <a:rPr sz="2400" dirty="0">
                <a:latin typeface="Times New Roman"/>
                <a:cs typeface="Times New Roman"/>
              </a:rPr>
              <a:t>Program</a:t>
            </a:r>
            <a:r>
              <a:rPr sz="2400" spc="-45" dirty="0">
                <a:latin typeface="Times New Roman"/>
                <a:cs typeface="Times New Roman"/>
              </a:rPr>
              <a:t> </a:t>
            </a:r>
            <a:r>
              <a:rPr sz="2400" spc="-25" dirty="0">
                <a:latin typeface="Times New Roman"/>
                <a:cs typeface="Times New Roman"/>
              </a:rPr>
              <a:t>P:</a:t>
            </a:r>
            <a:r>
              <a:rPr sz="2400" dirty="0">
                <a:latin typeface="Times New Roman"/>
                <a:cs typeface="Times New Roman"/>
              </a:rPr>
              <a:t>	</a:t>
            </a:r>
            <a:r>
              <a:rPr sz="2400" spc="-10" dirty="0">
                <a:solidFill>
                  <a:srgbClr val="000090"/>
                </a:solidFill>
                <a:latin typeface="Times New Roman"/>
                <a:cs typeface="Times New Roman"/>
              </a:rPr>
              <a:t>exec(“/bin/sh”)</a:t>
            </a:r>
            <a:endParaRPr sz="2400">
              <a:latin typeface="Times New Roman"/>
              <a:cs typeface="Times New Roman"/>
            </a:endParaRPr>
          </a:p>
        </p:txBody>
      </p:sp>
      <p:sp>
        <p:nvSpPr>
          <p:cNvPr id="28" name="object 28"/>
          <p:cNvSpPr txBox="1"/>
          <p:nvPr/>
        </p:nvSpPr>
        <p:spPr>
          <a:xfrm>
            <a:off x="383857" y="3794823"/>
            <a:ext cx="4318000" cy="788670"/>
          </a:xfrm>
          <a:prstGeom prst="rect">
            <a:avLst/>
          </a:prstGeom>
        </p:spPr>
        <p:txBody>
          <a:bodyPr vert="horz" wrap="square" lIns="0" tIns="12065" rIns="0" bIns="0" rtlCol="0">
            <a:spAutoFit/>
          </a:bodyPr>
          <a:lstStyle/>
          <a:p>
            <a:pPr marL="12700" marR="5080">
              <a:lnSpc>
                <a:spcPct val="125200"/>
              </a:lnSpc>
              <a:spcBef>
                <a:spcPts val="95"/>
              </a:spcBef>
              <a:tabLst>
                <a:tab pos="708660" algn="l"/>
                <a:tab pos="810260" algn="l"/>
                <a:tab pos="1621155" algn="l"/>
              </a:tabLst>
            </a:pPr>
            <a:r>
              <a:rPr sz="2000" spc="-20" dirty="0">
                <a:latin typeface="Times New Roman"/>
                <a:cs typeface="Times New Roman"/>
              </a:rPr>
              <a:t>When</a:t>
            </a:r>
            <a:r>
              <a:rPr sz="2000" dirty="0">
                <a:latin typeface="Times New Roman"/>
                <a:cs typeface="Times New Roman"/>
              </a:rPr>
              <a:t>		</a:t>
            </a:r>
            <a:r>
              <a:rPr sz="2000" spc="-10" dirty="0">
                <a:solidFill>
                  <a:srgbClr val="696363"/>
                </a:solidFill>
                <a:latin typeface="Times New Roman"/>
                <a:cs typeface="Times New Roman"/>
              </a:rPr>
              <a:t>func()</a:t>
            </a:r>
            <a:r>
              <a:rPr sz="2000" dirty="0">
                <a:solidFill>
                  <a:srgbClr val="696363"/>
                </a:solidFill>
                <a:latin typeface="Times New Roman"/>
                <a:cs typeface="Times New Roman"/>
              </a:rPr>
              <a:t>	</a:t>
            </a:r>
            <a:r>
              <a:rPr sz="2000" dirty="0">
                <a:latin typeface="Times New Roman"/>
                <a:cs typeface="Times New Roman"/>
              </a:rPr>
              <a:t>exits,</a:t>
            </a:r>
            <a:r>
              <a:rPr sz="2000" spc="490" dirty="0">
                <a:latin typeface="Times New Roman"/>
                <a:cs typeface="Times New Roman"/>
              </a:rPr>
              <a:t> </a:t>
            </a:r>
            <a:r>
              <a:rPr sz="2000" dirty="0">
                <a:latin typeface="Times New Roman"/>
                <a:cs typeface="Times New Roman"/>
              </a:rPr>
              <a:t>the</a:t>
            </a:r>
            <a:r>
              <a:rPr sz="2000" spc="-50" dirty="0">
                <a:latin typeface="Times New Roman"/>
                <a:cs typeface="Times New Roman"/>
              </a:rPr>
              <a:t> </a:t>
            </a:r>
            <a:r>
              <a:rPr sz="2000" dirty="0">
                <a:latin typeface="Times New Roman"/>
                <a:cs typeface="Times New Roman"/>
              </a:rPr>
              <a:t>user</a:t>
            </a:r>
            <a:r>
              <a:rPr sz="2000" spc="-45" dirty="0">
                <a:latin typeface="Times New Roman"/>
                <a:cs typeface="Times New Roman"/>
              </a:rPr>
              <a:t> </a:t>
            </a:r>
            <a:r>
              <a:rPr sz="2000" dirty="0">
                <a:latin typeface="Times New Roman"/>
                <a:cs typeface="Times New Roman"/>
              </a:rPr>
              <a:t>gets</a:t>
            </a:r>
            <a:r>
              <a:rPr sz="2000" spc="-15" dirty="0">
                <a:latin typeface="Times New Roman"/>
                <a:cs typeface="Times New Roman"/>
              </a:rPr>
              <a:t> </a:t>
            </a:r>
            <a:r>
              <a:rPr sz="2000" dirty="0">
                <a:latin typeface="Times New Roman"/>
                <a:cs typeface="Times New Roman"/>
              </a:rPr>
              <a:t>shell</a:t>
            </a:r>
            <a:r>
              <a:rPr sz="2000" spc="440" dirty="0">
                <a:latin typeface="Times New Roman"/>
                <a:cs typeface="Times New Roman"/>
              </a:rPr>
              <a:t> </a:t>
            </a:r>
            <a:r>
              <a:rPr sz="2000" spc="-50" dirty="0">
                <a:latin typeface="Times New Roman"/>
                <a:cs typeface="Times New Roman"/>
              </a:rPr>
              <a:t>! </a:t>
            </a:r>
            <a:r>
              <a:rPr sz="2000" spc="-10" dirty="0">
                <a:latin typeface="Times New Roman"/>
                <a:cs typeface="Times New Roman"/>
              </a:rPr>
              <a:t>Note:</a:t>
            </a:r>
            <a:r>
              <a:rPr sz="2000" dirty="0">
                <a:latin typeface="Times New Roman"/>
                <a:cs typeface="Times New Roman"/>
              </a:rPr>
              <a:t>	attack</a:t>
            </a:r>
            <a:r>
              <a:rPr sz="2000" spc="-25" dirty="0">
                <a:latin typeface="Times New Roman"/>
                <a:cs typeface="Times New Roman"/>
              </a:rPr>
              <a:t> </a:t>
            </a:r>
            <a:r>
              <a:rPr sz="2000" dirty="0">
                <a:latin typeface="Times New Roman"/>
                <a:cs typeface="Times New Roman"/>
              </a:rPr>
              <a:t>code</a:t>
            </a:r>
            <a:r>
              <a:rPr sz="2000" spc="20" dirty="0">
                <a:latin typeface="Times New Roman"/>
                <a:cs typeface="Times New Roman"/>
              </a:rPr>
              <a:t> </a:t>
            </a:r>
            <a:r>
              <a:rPr sz="2000" dirty="0">
                <a:latin typeface="Times New Roman"/>
                <a:cs typeface="Times New Roman"/>
              </a:rPr>
              <a:t>P</a:t>
            </a:r>
            <a:r>
              <a:rPr sz="2000" spc="-125" dirty="0">
                <a:latin typeface="Times New Roman"/>
                <a:cs typeface="Times New Roman"/>
              </a:rPr>
              <a:t> </a:t>
            </a:r>
            <a:r>
              <a:rPr sz="2000" dirty="0">
                <a:latin typeface="Times New Roman"/>
                <a:cs typeface="Times New Roman"/>
              </a:rPr>
              <a:t>runs</a:t>
            </a:r>
            <a:r>
              <a:rPr sz="2000" spc="-65" dirty="0">
                <a:latin typeface="Times New Roman"/>
                <a:cs typeface="Times New Roman"/>
              </a:rPr>
              <a:t> </a:t>
            </a:r>
            <a:r>
              <a:rPr sz="2000" i="1" dirty="0">
                <a:latin typeface="Times New Roman"/>
                <a:cs typeface="Times New Roman"/>
              </a:rPr>
              <a:t>in</a:t>
            </a:r>
            <a:r>
              <a:rPr sz="2000" i="1" spc="-20" dirty="0">
                <a:latin typeface="Times New Roman"/>
                <a:cs typeface="Times New Roman"/>
              </a:rPr>
              <a:t> </a:t>
            </a:r>
            <a:r>
              <a:rPr sz="2000" i="1" spc="-10" dirty="0">
                <a:latin typeface="Times New Roman"/>
                <a:cs typeface="Times New Roman"/>
              </a:rPr>
              <a:t>stack</a:t>
            </a:r>
            <a:r>
              <a:rPr sz="2000" spc="-10" dirty="0">
                <a:latin typeface="Times New Roman"/>
                <a:cs typeface="Times New Roman"/>
              </a:rPr>
              <a:t>.</a:t>
            </a:r>
            <a:endParaRPr sz="2000">
              <a:latin typeface="Times New Roman"/>
              <a:cs typeface="Times New Roman"/>
            </a:endParaRPr>
          </a:p>
        </p:txBody>
      </p:sp>
      <p:sp>
        <p:nvSpPr>
          <p:cNvPr id="29" name="object 29"/>
          <p:cNvSpPr txBox="1"/>
          <p:nvPr/>
        </p:nvSpPr>
        <p:spPr>
          <a:xfrm>
            <a:off x="688975" y="2923222"/>
            <a:ext cx="3422015" cy="300355"/>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585858"/>
                </a:solidFill>
                <a:latin typeface="Comic Sans MS"/>
                <a:cs typeface="Comic Sans MS"/>
              </a:rPr>
              <a:t>(exact</a:t>
            </a:r>
            <a:r>
              <a:rPr sz="1800" spc="-45" dirty="0">
                <a:solidFill>
                  <a:srgbClr val="585858"/>
                </a:solidFill>
                <a:latin typeface="Comic Sans MS"/>
                <a:cs typeface="Comic Sans MS"/>
              </a:rPr>
              <a:t> </a:t>
            </a:r>
            <a:r>
              <a:rPr sz="1800" dirty="0">
                <a:solidFill>
                  <a:srgbClr val="585858"/>
                </a:solidFill>
                <a:latin typeface="Comic Sans MS"/>
                <a:cs typeface="Comic Sans MS"/>
              </a:rPr>
              <a:t>shell</a:t>
            </a:r>
            <a:r>
              <a:rPr sz="1800" spc="-60" dirty="0">
                <a:solidFill>
                  <a:srgbClr val="585858"/>
                </a:solidFill>
                <a:latin typeface="Comic Sans MS"/>
                <a:cs typeface="Comic Sans MS"/>
              </a:rPr>
              <a:t> </a:t>
            </a:r>
            <a:r>
              <a:rPr sz="1800" dirty="0">
                <a:solidFill>
                  <a:srgbClr val="585858"/>
                </a:solidFill>
                <a:latin typeface="Comic Sans MS"/>
                <a:cs typeface="Comic Sans MS"/>
              </a:rPr>
              <a:t>code</a:t>
            </a:r>
            <a:r>
              <a:rPr sz="1800" spc="45" dirty="0">
                <a:solidFill>
                  <a:srgbClr val="585858"/>
                </a:solidFill>
                <a:latin typeface="Comic Sans MS"/>
                <a:cs typeface="Comic Sans MS"/>
              </a:rPr>
              <a:t> </a:t>
            </a:r>
            <a:r>
              <a:rPr sz="1800" dirty="0">
                <a:solidFill>
                  <a:srgbClr val="585858"/>
                </a:solidFill>
                <a:latin typeface="Comic Sans MS"/>
                <a:cs typeface="Comic Sans MS"/>
              </a:rPr>
              <a:t>by</a:t>
            </a:r>
            <a:r>
              <a:rPr sz="1800" spc="20" dirty="0">
                <a:solidFill>
                  <a:srgbClr val="585858"/>
                </a:solidFill>
                <a:latin typeface="Comic Sans MS"/>
                <a:cs typeface="Comic Sans MS"/>
              </a:rPr>
              <a:t> </a:t>
            </a:r>
            <a:r>
              <a:rPr sz="1800" dirty="0">
                <a:solidFill>
                  <a:srgbClr val="585858"/>
                </a:solidFill>
                <a:latin typeface="Comic Sans MS"/>
                <a:cs typeface="Comic Sans MS"/>
              </a:rPr>
              <a:t>Aleph</a:t>
            </a:r>
            <a:r>
              <a:rPr sz="1800" spc="-10" dirty="0">
                <a:solidFill>
                  <a:srgbClr val="585858"/>
                </a:solidFill>
                <a:latin typeface="Comic Sans MS"/>
                <a:cs typeface="Comic Sans MS"/>
              </a:rPr>
              <a:t> </a:t>
            </a:r>
            <a:r>
              <a:rPr sz="1800" spc="-20" dirty="0">
                <a:solidFill>
                  <a:srgbClr val="585858"/>
                </a:solidFill>
                <a:latin typeface="Comic Sans MS"/>
                <a:cs typeface="Comic Sans MS"/>
              </a:rPr>
              <a:t>One)</a:t>
            </a:r>
            <a:endParaRPr sz="1800">
              <a:latin typeface="Comic Sans MS"/>
              <a:cs typeface="Comic Sans MS"/>
            </a:endParaRPr>
          </a:p>
        </p:txBody>
      </p:sp>
      <p:sp>
        <p:nvSpPr>
          <p:cNvPr id="30" name="object 30"/>
          <p:cNvSpPr txBox="1"/>
          <p:nvPr/>
        </p:nvSpPr>
        <p:spPr>
          <a:xfrm>
            <a:off x="5648325" y="1348041"/>
            <a:ext cx="2590800" cy="334645"/>
          </a:xfrm>
          <a:prstGeom prst="rect">
            <a:avLst/>
          </a:prstGeom>
        </p:spPr>
        <p:txBody>
          <a:bodyPr vert="horz" wrap="square" lIns="0" tIns="15875" rIns="0" bIns="0" rtlCol="0">
            <a:spAutoFit/>
          </a:bodyPr>
          <a:lstStyle/>
          <a:p>
            <a:pPr marL="747395">
              <a:lnSpc>
                <a:spcPct val="100000"/>
              </a:lnSpc>
              <a:spcBef>
                <a:spcPts val="125"/>
              </a:spcBef>
            </a:pPr>
            <a:r>
              <a:rPr sz="2000" b="1" spc="-50" dirty="0">
                <a:solidFill>
                  <a:srgbClr val="EDEBE0"/>
                </a:solidFill>
                <a:latin typeface="Times New Roman"/>
                <a:cs typeface="Times New Roman"/>
              </a:rPr>
              <a:t>Program</a:t>
            </a:r>
            <a:r>
              <a:rPr sz="2000" b="1" spc="-70" dirty="0">
                <a:solidFill>
                  <a:srgbClr val="EDEBE0"/>
                </a:solidFill>
                <a:latin typeface="Times New Roman"/>
                <a:cs typeface="Times New Roman"/>
              </a:rPr>
              <a:t> </a:t>
            </a:r>
            <a:r>
              <a:rPr sz="2000" b="1" spc="-50" dirty="0">
                <a:solidFill>
                  <a:srgbClr val="EDEBE0"/>
                </a:solidFill>
                <a:latin typeface="Times New Roman"/>
                <a:cs typeface="Times New Roman"/>
              </a:rPr>
              <a:t>P</a:t>
            </a:r>
            <a:endParaRPr sz="2000">
              <a:latin typeface="Times New Roman"/>
              <a:cs typeface="Times New Roman"/>
            </a:endParaRPr>
          </a:p>
        </p:txBody>
      </p:sp>
      <p:grpSp>
        <p:nvGrpSpPr>
          <p:cNvPr id="31" name="object 31"/>
          <p:cNvGrpSpPr/>
          <p:nvPr/>
        </p:nvGrpSpPr>
        <p:grpSpPr>
          <a:xfrm>
            <a:off x="4800600" y="657225"/>
            <a:ext cx="4081779" cy="5591175"/>
            <a:chOff x="4800600" y="657225"/>
            <a:chExt cx="4081779" cy="5591175"/>
          </a:xfrm>
        </p:grpSpPr>
        <p:sp>
          <p:nvSpPr>
            <p:cNvPr id="32" name="object 32"/>
            <p:cNvSpPr/>
            <p:nvPr/>
          </p:nvSpPr>
          <p:spPr>
            <a:xfrm>
              <a:off x="5600700" y="685800"/>
              <a:ext cx="2686050" cy="2790825"/>
            </a:xfrm>
            <a:custGeom>
              <a:avLst/>
              <a:gdLst/>
              <a:ahLst/>
              <a:cxnLst/>
              <a:rect l="l" t="t" r="r" b="b"/>
              <a:pathLst>
                <a:path w="2686050" h="2790825">
                  <a:moveTo>
                    <a:pt x="2686050" y="0"/>
                  </a:moveTo>
                  <a:lnTo>
                    <a:pt x="2667000" y="2790825"/>
                  </a:lnTo>
                </a:path>
                <a:path w="2686050" h="2790825">
                  <a:moveTo>
                    <a:pt x="19050" y="0"/>
                  </a:moveTo>
                  <a:lnTo>
                    <a:pt x="0" y="2790825"/>
                  </a:lnTo>
                </a:path>
              </a:pathLst>
            </a:custGeom>
            <a:ln w="57150">
              <a:solidFill>
                <a:srgbClr val="000000"/>
              </a:solidFill>
            </a:ln>
          </p:spPr>
          <p:txBody>
            <a:bodyPr wrap="square" lIns="0" tIns="0" rIns="0" bIns="0" rtlCol="0"/>
            <a:lstStyle/>
            <a:p>
              <a:endParaRPr/>
            </a:p>
          </p:txBody>
        </p:sp>
        <p:pic>
          <p:nvPicPr>
            <p:cNvPr id="33" name="object 33"/>
            <p:cNvPicPr/>
            <p:nvPr/>
          </p:nvPicPr>
          <p:blipFill>
            <a:blip r:embed="rId4" cstate="print"/>
            <a:stretch>
              <a:fillRect/>
            </a:stretch>
          </p:blipFill>
          <p:spPr>
            <a:xfrm>
              <a:off x="4800600" y="1914397"/>
              <a:ext cx="900112" cy="2290826"/>
            </a:xfrm>
            <a:prstGeom prst="rect">
              <a:avLst/>
            </a:prstGeom>
          </p:spPr>
        </p:pic>
        <p:sp>
          <p:nvSpPr>
            <p:cNvPr id="34" name="object 34"/>
            <p:cNvSpPr/>
            <p:nvPr/>
          </p:nvSpPr>
          <p:spPr>
            <a:xfrm>
              <a:off x="4848478" y="2096008"/>
              <a:ext cx="783590" cy="2037714"/>
            </a:xfrm>
            <a:custGeom>
              <a:avLst/>
              <a:gdLst/>
              <a:ahLst/>
              <a:cxnLst/>
              <a:rect l="l" t="t" r="r" b="b"/>
              <a:pathLst>
                <a:path w="783589" h="2037714">
                  <a:moveTo>
                    <a:pt x="466446" y="52471"/>
                  </a:moveTo>
                  <a:lnTo>
                    <a:pt x="411988" y="79501"/>
                  </a:lnTo>
                  <a:lnTo>
                    <a:pt x="342138" y="117728"/>
                  </a:lnTo>
                  <a:lnTo>
                    <a:pt x="295529" y="145541"/>
                  </a:lnTo>
                  <a:lnTo>
                    <a:pt x="249555" y="175513"/>
                  </a:lnTo>
                  <a:lnTo>
                    <a:pt x="205867" y="207137"/>
                  </a:lnTo>
                  <a:lnTo>
                    <a:pt x="165354" y="240411"/>
                  </a:lnTo>
                  <a:lnTo>
                    <a:pt x="129412" y="275336"/>
                  </a:lnTo>
                  <a:lnTo>
                    <a:pt x="98679" y="312038"/>
                  </a:lnTo>
                  <a:lnTo>
                    <a:pt x="75184" y="350012"/>
                  </a:lnTo>
                  <a:lnTo>
                    <a:pt x="57912" y="388746"/>
                  </a:lnTo>
                  <a:lnTo>
                    <a:pt x="43053" y="430275"/>
                  </a:lnTo>
                  <a:lnTo>
                    <a:pt x="30607" y="474599"/>
                  </a:lnTo>
                  <a:lnTo>
                    <a:pt x="20193" y="521588"/>
                  </a:lnTo>
                  <a:lnTo>
                    <a:pt x="12192" y="570229"/>
                  </a:lnTo>
                  <a:lnTo>
                    <a:pt x="6096" y="620521"/>
                  </a:lnTo>
                  <a:lnTo>
                    <a:pt x="2159" y="671829"/>
                  </a:lnTo>
                  <a:lnTo>
                    <a:pt x="126" y="723900"/>
                  </a:lnTo>
                  <a:lnTo>
                    <a:pt x="0" y="776604"/>
                  </a:lnTo>
                  <a:lnTo>
                    <a:pt x="1527" y="825245"/>
                  </a:lnTo>
                  <a:lnTo>
                    <a:pt x="5080" y="881252"/>
                  </a:lnTo>
                  <a:lnTo>
                    <a:pt x="10413" y="932688"/>
                  </a:lnTo>
                  <a:lnTo>
                    <a:pt x="17399" y="982726"/>
                  </a:lnTo>
                  <a:lnTo>
                    <a:pt x="26035" y="1031113"/>
                  </a:lnTo>
                  <a:lnTo>
                    <a:pt x="36322" y="1077594"/>
                  </a:lnTo>
                  <a:lnTo>
                    <a:pt x="48387" y="1122171"/>
                  </a:lnTo>
                  <a:lnTo>
                    <a:pt x="63500" y="1165478"/>
                  </a:lnTo>
                  <a:lnTo>
                    <a:pt x="82296" y="1208151"/>
                  </a:lnTo>
                  <a:lnTo>
                    <a:pt x="104140" y="1249933"/>
                  </a:lnTo>
                  <a:lnTo>
                    <a:pt x="128778" y="1290574"/>
                  </a:lnTo>
                  <a:lnTo>
                    <a:pt x="155829" y="1330959"/>
                  </a:lnTo>
                  <a:lnTo>
                    <a:pt x="184404" y="1369949"/>
                  </a:lnTo>
                  <a:lnTo>
                    <a:pt x="214503" y="1408049"/>
                  </a:lnTo>
                  <a:lnTo>
                    <a:pt x="245363" y="1445387"/>
                  </a:lnTo>
                  <a:lnTo>
                    <a:pt x="276733" y="1481581"/>
                  </a:lnTo>
                  <a:lnTo>
                    <a:pt x="308101" y="1516887"/>
                  </a:lnTo>
                  <a:lnTo>
                    <a:pt x="338963" y="1551177"/>
                  </a:lnTo>
                  <a:lnTo>
                    <a:pt x="369188" y="1584324"/>
                  </a:lnTo>
                  <a:lnTo>
                    <a:pt x="397891" y="1616202"/>
                  </a:lnTo>
                  <a:lnTo>
                    <a:pt x="424942" y="1647062"/>
                  </a:lnTo>
                  <a:lnTo>
                    <a:pt x="449834" y="1676653"/>
                  </a:lnTo>
                  <a:lnTo>
                    <a:pt x="493268" y="1732533"/>
                  </a:lnTo>
                  <a:lnTo>
                    <a:pt x="513588" y="1758949"/>
                  </a:lnTo>
                  <a:lnTo>
                    <a:pt x="551688" y="1807971"/>
                  </a:lnTo>
                  <a:lnTo>
                    <a:pt x="604138" y="1873884"/>
                  </a:lnTo>
                  <a:lnTo>
                    <a:pt x="652018" y="1932558"/>
                  </a:lnTo>
                  <a:lnTo>
                    <a:pt x="711200" y="2003297"/>
                  </a:lnTo>
                  <a:lnTo>
                    <a:pt x="739901" y="2037206"/>
                  </a:lnTo>
                  <a:lnTo>
                    <a:pt x="783590" y="2000377"/>
                  </a:lnTo>
                  <a:lnTo>
                    <a:pt x="754888" y="1966467"/>
                  </a:lnTo>
                  <a:lnTo>
                    <a:pt x="695960" y="1895855"/>
                  </a:lnTo>
                  <a:lnTo>
                    <a:pt x="648462" y="1837816"/>
                  </a:lnTo>
                  <a:lnTo>
                    <a:pt x="614426" y="1795271"/>
                  </a:lnTo>
                  <a:lnTo>
                    <a:pt x="558673" y="1723897"/>
                  </a:lnTo>
                  <a:lnTo>
                    <a:pt x="506475" y="1655698"/>
                  </a:lnTo>
                  <a:lnTo>
                    <a:pt x="494284" y="1640712"/>
                  </a:lnTo>
                  <a:lnTo>
                    <a:pt x="481711" y="1625472"/>
                  </a:lnTo>
                  <a:lnTo>
                    <a:pt x="468503" y="1610105"/>
                  </a:lnTo>
                  <a:lnTo>
                    <a:pt x="440944" y="1578609"/>
                  </a:lnTo>
                  <a:lnTo>
                    <a:pt x="350520" y="1478661"/>
                  </a:lnTo>
                  <a:lnTo>
                    <a:pt x="319405" y="1443608"/>
                  </a:lnTo>
                  <a:lnTo>
                    <a:pt x="288671" y="1408049"/>
                  </a:lnTo>
                  <a:lnTo>
                    <a:pt x="258445" y="1371600"/>
                  </a:lnTo>
                  <a:lnTo>
                    <a:pt x="229362" y="1334642"/>
                  </a:lnTo>
                  <a:lnTo>
                    <a:pt x="201930" y="1297177"/>
                  </a:lnTo>
                  <a:lnTo>
                    <a:pt x="176657" y="1259458"/>
                  </a:lnTo>
                  <a:lnTo>
                    <a:pt x="153416" y="1220977"/>
                  </a:lnTo>
                  <a:lnTo>
                    <a:pt x="133223" y="1182369"/>
                  </a:lnTo>
                  <a:lnTo>
                    <a:pt x="116205" y="1143507"/>
                  </a:lnTo>
                  <a:lnTo>
                    <a:pt x="102743" y="1104518"/>
                  </a:lnTo>
                  <a:lnTo>
                    <a:pt x="91694" y="1063497"/>
                  </a:lnTo>
                  <a:lnTo>
                    <a:pt x="81915" y="1019301"/>
                  </a:lnTo>
                  <a:lnTo>
                    <a:pt x="73660" y="972819"/>
                  </a:lnTo>
                  <a:lnTo>
                    <a:pt x="67056" y="924813"/>
                  </a:lnTo>
                  <a:lnTo>
                    <a:pt x="61975" y="875411"/>
                  </a:lnTo>
                  <a:lnTo>
                    <a:pt x="58674" y="825245"/>
                  </a:lnTo>
                  <a:lnTo>
                    <a:pt x="57081" y="776604"/>
                  </a:lnTo>
                  <a:lnTo>
                    <a:pt x="57023" y="774826"/>
                  </a:lnTo>
                  <a:lnTo>
                    <a:pt x="57276" y="724153"/>
                  </a:lnTo>
                  <a:lnTo>
                    <a:pt x="59309" y="673988"/>
                  </a:lnTo>
                  <a:lnTo>
                    <a:pt x="63119" y="624966"/>
                  </a:lnTo>
                  <a:lnTo>
                    <a:pt x="68834" y="577088"/>
                  </a:lnTo>
                  <a:lnTo>
                    <a:pt x="76581" y="530987"/>
                  </a:lnTo>
                  <a:lnTo>
                    <a:pt x="86233" y="487679"/>
                  </a:lnTo>
                  <a:lnTo>
                    <a:pt x="97790" y="446658"/>
                  </a:lnTo>
                  <a:lnTo>
                    <a:pt x="111283" y="409066"/>
                  </a:lnTo>
                  <a:lnTo>
                    <a:pt x="135636" y="359155"/>
                  </a:lnTo>
                  <a:lnTo>
                    <a:pt x="171958" y="313436"/>
                  </a:lnTo>
                  <a:lnTo>
                    <a:pt x="204216" y="282447"/>
                  </a:lnTo>
                  <a:lnTo>
                    <a:pt x="241426" y="251840"/>
                  </a:lnTo>
                  <a:lnTo>
                    <a:pt x="282575" y="222122"/>
                  </a:lnTo>
                  <a:lnTo>
                    <a:pt x="326136" y="193801"/>
                  </a:lnTo>
                  <a:lnTo>
                    <a:pt x="371348" y="166750"/>
                  </a:lnTo>
                  <a:lnTo>
                    <a:pt x="416560" y="141731"/>
                  </a:lnTo>
                  <a:lnTo>
                    <a:pt x="460756" y="118744"/>
                  </a:lnTo>
                  <a:lnTo>
                    <a:pt x="489534" y="104652"/>
                  </a:lnTo>
                  <a:lnTo>
                    <a:pt x="466446" y="52471"/>
                  </a:lnTo>
                  <a:close/>
                </a:path>
                <a:path w="783589" h="2037714">
                  <a:moveTo>
                    <a:pt x="608383" y="40766"/>
                  </a:moveTo>
                  <a:lnTo>
                    <a:pt x="492251" y="40766"/>
                  </a:lnTo>
                  <a:lnTo>
                    <a:pt x="515747" y="92837"/>
                  </a:lnTo>
                  <a:lnTo>
                    <a:pt x="489534" y="104652"/>
                  </a:lnTo>
                  <a:lnTo>
                    <a:pt x="512572" y="156717"/>
                  </a:lnTo>
                  <a:lnTo>
                    <a:pt x="608383" y="40766"/>
                  </a:lnTo>
                  <a:close/>
                </a:path>
                <a:path w="783589" h="2037714">
                  <a:moveTo>
                    <a:pt x="492251" y="40766"/>
                  </a:moveTo>
                  <a:lnTo>
                    <a:pt x="466446" y="52471"/>
                  </a:lnTo>
                  <a:lnTo>
                    <a:pt x="489534" y="104652"/>
                  </a:lnTo>
                  <a:lnTo>
                    <a:pt x="515747" y="92837"/>
                  </a:lnTo>
                  <a:lnTo>
                    <a:pt x="492251" y="40766"/>
                  </a:lnTo>
                  <a:close/>
                </a:path>
                <a:path w="783589" h="2037714">
                  <a:moveTo>
                    <a:pt x="443230" y="0"/>
                  </a:moveTo>
                  <a:lnTo>
                    <a:pt x="466446" y="52471"/>
                  </a:lnTo>
                  <a:lnTo>
                    <a:pt x="492251" y="40766"/>
                  </a:lnTo>
                  <a:lnTo>
                    <a:pt x="608383" y="40766"/>
                  </a:lnTo>
                  <a:lnTo>
                    <a:pt x="634619" y="9016"/>
                  </a:lnTo>
                  <a:lnTo>
                    <a:pt x="443230" y="0"/>
                  </a:lnTo>
                  <a:close/>
                </a:path>
              </a:pathLst>
            </a:custGeom>
            <a:solidFill>
              <a:srgbClr val="000090"/>
            </a:solidFill>
          </p:spPr>
          <p:txBody>
            <a:bodyPr wrap="square" lIns="0" tIns="0" rIns="0" bIns="0" rtlCol="0"/>
            <a:lstStyle/>
            <a:p>
              <a:endParaRPr/>
            </a:p>
          </p:txBody>
        </p:sp>
        <p:sp>
          <p:nvSpPr>
            <p:cNvPr id="35" name="object 35"/>
            <p:cNvSpPr/>
            <p:nvPr/>
          </p:nvSpPr>
          <p:spPr>
            <a:xfrm>
              <a:off x="5600700" y="3381375"/>
              <a:ext cx="2667000" cy="2838450"/>
            </a:xfrm>
            <a:custGeom>
              <a:avLst/>
              <a:gdLst/>
              <a:ahLst/>
              <a:cxnLst/>
              <a:rect l="l" t="t" r="r" b="b"/>
              <a:pathLst>
                <a:path w="2667000" h="2838450">
                  <a:moveTo>
                    <a:pt x="0" y="2838450"/>
                  </a:moveTo>
                  <a:lnTo>
                    <a:pt x="2667000" y="2838450"/>
                  </a:lnTo>
                  <a:lnTo>
                    <a:pt x="2667000" y="0"/>
                  </a:lnTo>
                  <a:lnTo>
                    <a:pt x="0" y="0"/>
                  </a:lnTo>
                  <a:lnTo>
                    <a:pt x="0" y="2838450"/>
                  </a:lnTo>
                  <a:close/>
                </a:path>
              </a:pathLst>
            </a:custGeom>
            <a:ln w="57150">
              <a:solidFill>
                <a:srgbClr val="000000"/>
              </a:solidFill>
            </a:ln>
          </p:spPr>
          <p:txBody>
            <a:bodyPr wrap="square" lIns="0" tIns="0" rIns="0" bIns="0" rtlCol="0"/>
            <a:lstStyle/>
            <a:p>
              <a:endParaRPr/>
            </a:p>
          </p:txBody>
        </p:sp>
        <p:pic>
          <p:nvPicPr>
            <p:cNvPr id="36" name="object 36"/>
            <p:cNvPicPr/>
            <p:nvPr/>
          </p:nvPicPr>
          <p:blipFill>
            <a:blip r:embed="rId5" cstate="print"/>
            <a:stretch>
              <a:fillRect/>
            </a:stretch>
          </p:blipFill>
          <p:spPr>
            <a:xfrm>
              <a:off x="8448675" y="1000061"/>
              <a:ext cx="433387" cy="5138801"/>
            </a:xfrm>
            <a:prstGeom prst="rect">
              <a:avLst/>
            </a:prstGeom>
          </p:spPr>
        </p:pic>
        <p:sp>
          <p:nvSpPr>
            <p:cNvPr id="37" name="object 37"/>
            <p:cNvSpPr/>
            <p:nvPr/>
          </p:nvSpPr>
          <p:spPr>
            <a:xfrm>
              <a:off x="8582171" y="1190498"/>
              <a:ext cx="171450" cy="4877435"/>
            </a:xfrm>
            <a:custGeom>
              <a:avLst/>
              <a:gdLst/>
              <a:ahLst/>
              <a:cxnLst/>
              <a:rect l="l" t="t" r="r" b="b"/>
              <a:pathLst>
                <a:path w="171450" h="4877435">
                  <a:moveTo>
                    <a:pt x="85578" y="75800"/>
                  </a:moveTo>
                  <a:lnTo>
                    <a:pt x="66528" y="108457"/>
                  </a:lnTo>
                  <a:lnTo>
                    <a:pt x="66528" y="4876927"/>
                  </a:lnTo>
                  <a:lnTo>
                    <a:pt x="104628" y="4876927"/>
                  </a:lnTo>
                  <a:lnTo>
                    <a:pt x="104628" y="108457"/>
                  </a:lnTo>
                  <a:lnTo>
                    <a:pt x="85578" y="75800"/>
                  </a:lnTo>
                  <a:close/>
                </a:path>
                <a:path w="171450" h="4877435">
                  <a:moveTo>
                    <a:pt x="85578" y="0"/>
                  </a:moveTo>
                  <a:lnTo>
                    <a:pt x="2393" y="142493"/>
                  </a:lnTo>
                  <a:lnTo>
                    <a:pt x="0" y="149689"/>
                  </a:lnTo>
                  <a:lnTo>
                    <a:pt x="488" y="157003"/>
                  </a:lnTo>
                  <a:lnTo>
                    <a:pt x="3643" y="163603"/>
                  </a:lnTo>
                  <a:lnTo>
                    <a:pt x="9251" y="168655"/>
                  </a:lnTo>
                  <a:lnTo>
                    <a:pt x="16446" y="171049"/>
                  </a:lnTo>
                  <a:lnTo>
                    <a:pt x="23760" y="170561"/>
                  </a:lnTo>
                  <a:lnTo>
                    <a:pt x="30360" y="167405"/>
                  </a:lnTo>
                  <a:lnTo>
                    <a:pt x="35413" y="161798"/>
                  </a:lnTo>
                  <a:lnTo>
                    <a:pt x="66528" y="108457"/>
                  </a:lnTo>
                  <a:lnTo>
                    <a:pt x="66528" y="37846"/>
                  </a:lnTo>
                  <a:lnTo>
                    <a:pt x="107671" y="37846"/>
                  </a:lnTo>
                  <a:lnTo>
                    <a:pt x="85578" y="0"/>
                  </a:lnTo>
                  <a:close/>
                </a:path>
                <a:path w="171450" h="4877435">
                  <a:moveTo>
                    <a:pt x="107671" y="37846"/>
                  </a:moveTo>
                  <a:lnTo>
                    <a:pt x="104628" y="37846"/>
                  </a:lnTo>
                  <a:lnTo>
                    <a:pt x="104628" y="108457"/>
                  </a:lnTo>
                  <a:lnTo>
                    <a:pt x="135743" y="161798"/>
                  </a:lnTo>
                  <a:lnTo>
                    <a:pt x="140795" y="167405"/>
                  </a:lnTo>
                  <a:lnTo>
                    <a:pt x="147395" y="170561"/>
                  </a:lnTo>
                  <a:lnTo>
                    <a:pt x="154709" y="171049"/>
                  </a:lnTo>
                  <a:lnTo>
                    <a:pt x="161905" y="168655"/>
                  </a:lnTo>
                  <a:lnTo>
                    <a:pt x="167513" y="163603"/>
                  </a:lnTo>
                  <a:lnTo>
                    <a:pt x="170668" y="157003"/>
                  </a:lnTo>
                  <a:lnTo>
                    <a:pt x="171156" y="149689"/>
                  </a:lnTo>
                  <a:lnTo>
                    <a:pt x="168763" y="142493"/>
                  </a:lnTo>
                  <a:lnTo>
                    <a:pt x="107671" y="37846"/>
                  </a:lnTo>
                  <a:close/>
                </a:path>
                <a:path w="171450" h="4877435">
                  <a:moveTo>
                    <a:pt x="104628" y="37846"/>
                  </a:moveTo>
                  <a:lnTo>
                    <a:pt x="66528" y="37846"/>
                  </a:lnTo>
                  <a:lnTo>
                    <a:pt x="66528" y="108457"/>
                  </a:lnTo>
                  <a:lnTo>
                    <a:pt x="85578" y="75800"/>
                  </a:lnTo>
                  <a:lnTo>
                    <a:pt x="69068" y="47498"/>
                  </a:lnTo>
                  <a:lnTo>
                    <a:pt x="104628" y="47498"/>
                  </a:lnTo>
                  <a:lnTo>
                    <a:pt x="104628" y="37846"/>
                  </a:lnTo>
                  <a:close/>
                </a:path>
                <a:path w="171450" h="4877435">
                  <a:moveTo>
                    <a:pt x="104628" y="47498"/>
                  </a:moveTo>
                  <a:lnTo>
                    <a:pt x="102088" y="47498"/>
                  </a:lnTo>
                  <a:lnTo>
                    <a:pt x="85578" y="75800"/>
                  </a:lnTo>
                  <a:lnTo>
                    <a:pt x="104628" y="108457"/>
                  </a:lnTo>
                  <a:lnTo>
                    <a:pt x="104628" y="47498"/>
                  </a:lnTo>
                  <a:close/>
                </a:path>
                <a:path w="171450" h="4877435">
                  <a:moveTo>
                    <a:pt x="102088" y="47498"/>
                  </a:moveTo>
                  <a:lnTo>
                    <a:pt x="69068" y="47498"/>
                  </a:lnTo>
                  <a:lnTo>
                    <a:pt x="85578" y="75800"/>
                  </a:lnTo>
                  <a:lnTo>
                    <a:pt x="102088" y="47498"/>
                  </a:lnTo>
                  <a:close/>
                </a:path>
              </a:pathLst>
            </a:custGeom>
            <a:solidFill>
              <a:srgbClr val="0000FF"/>
            </a:solidFill>
          </p:spPr>
          <p:txBody>
            <a:bodyPr wrap="square" lIns="0" tIns="0" rIns="0" bIns="0" rtlCol="0"/>
            <a:lstStyle/>
            <a:p>
              <a:endParaRPr/>
            </a:p>
          </p:txBody>
        </p:sp>
      </p:grpSp>
      <p:sp>
        <p:nvSpPr>
          <p:cNvPr id="38" name="object 38"/>
          <p:cNvSpPr txBox="1"/>
          <p:nvPr/>
        </p:nvSpPr>
        <p:spPr>
          <a:xfrm>
            <a:off x="8462391" y="5981700"/>
            <a:ext cx="330835" cy="300355"/>
          </a:xfrm>
          <a:prstGeom prst="rect">
            <a:avLst/>
          </a:prstGeom>
        </p:spPr>
        <p:txBody>
          <a:bodyPr vert="horz" wrap="square" lIns="0" tIns="12700" rIns="0" bIns="0" rtlCol="0">
            <a:spAutoFit/>
          </a:bodyPr>
          <a:lstStyle/>
          <a:p>
            <a:pPr marL="12700">
              <a:lnSpc>
                <a:spcPct val="100000"/>
              </a:lnSpc>
              <a:spcBef>
                <a:spcPts val="100"/>
              </a:spcBef>
            </a:pPr>
            <a:r>
              <a:rPr sz="1800" spc="-90" dirty="0">
                <a:latin typeface="Times New Roman"/>
                <a:cs typeface="Times New Roman"/>
              </a:rPr>
              <a:t>low</a:t>
            </a:r>
            <a:endParaRPr sz="1800">
              <a:latin typeface="Times New Roman"/>
              <a:cs typeface="Times New Roman"/>
            </a:endParaRPr>
          </a:p>
        </p:txBody>
      </p:sp>
      <p:sp>
        <p:nvSpPr>
          <p:cNvPr id="39" name="object 39"/>
          <p:cNvSpPr txBox="1"/>
          <p:nvPr/>
        </p:nvSpPr>
        <p:spPr>
          <a:xfrm>
            <a:off x="8462391" y="793178"/>
            <a:ext cx="373380" cy="300355"/>
          </a:xfrm>
          <a:prstGeom prst="rect">
            <a:avLst/>
          </a:prstGeom>
        </p:spPr>
        <p:txBody>
          <a:bodyPr vert="horz" wrap="square" lIns="0" tIns="12700" rIns="0" bIns="0" rtlCol="0">
            <a:spAutoFit/>
          </a:bodyPr>
          <a:lstStyle/>
          <a:p>
            <a:pPr marL="12700">
              <a:lnSpc>
                <a:spcPct val="100000"/>
              </a:lnSpc>
              <a:spcBef>
                <a:spcPts val="100"/>
              </a:spcBef>
            </a:pPr>
            <a:r>
              <a:rPr sz="1800" spc="-110" dirty="0">
                <a:latin typeface="Times New Roman"/>
                <a:cs typeface="Times New Roman"/>
              </a:rPr>
              <a:t>high</a:t>
            </a:r>
            <a:endParaRPr sz="1800">
              <a:latin typeface="Times New Roman"/>
              <a:cs typeface="Times New Roman"/>
            </a:endParaRPr>
          </a:p>
        </p:txBody>
      </p:sp>
      <p:pic>
        <p:nvPicPr>
          <p:cNvPr id="40" name="object 40"/>
          <p:cNvPicPr/>
          <p:nvPr/>
        </p:nvPicPr>
        <p:blipFill>
          <a:blip r:embed="rId6" cstate="print"/>
          <a:stretch>
            <a:fillRect/>
          </a:stretch>
        </p:blipFill>
        <p:spPr>
          <a:xfrm>
            <a:off x="457200" y="6248400"/>
            <a:ext cx="476250" cy="381000"/>
          </a:xfrm>
          <a:prstGeom prst="rect">
            <a:avLst/>
          </a:prstGeom>
        </p:spPr>
      </p:pic>
      <p:sp>
        <p:nvSpPr>
          <p:cNvPr id="41" name="object 41"/>
          <p:cNvSpPr txBox="1">
            <a:spLocks noGrp="1"/>
          </p:cNvSpPr>
          <p:nvPr>
            <p:ph type="ftr" sz="quarter" idx="5"/>
          </p:nvPr>
        </p:nvSpPr>
        <p:spPr>
          <a:prstGeom prst="rect">
            <a:avLst/>
          </a:prstGeom>
        </p:spPr>
        <p:txBody>
          <a:bodyPr vert="horz" wrap="square" lIns="0" tIns="76200" rIns="0" bIns="0" rtlCol="0">
            <a:spAutoFit/>
          </a:bodyPr>
          <a:lstStyle/>
          <a:p>
            <a:pPr marL="165100">
              <a:lnSpc>
                <a:spcPts val="1550"/>
              </a:lnSpc>
            </a:pPr>
            <a:r>
              <a:rPr spc="-180" dirty="0"/>
              <a:t>FAST-</a:t>
            </a:r>
            <a:r>
              <a:rPr spc="-100" dirty="0"/>
              <a:t>NUCES</a:t>
            </a:r>
          </a:p>
        </p:txBody>
      </p:sp>
      <p:sp>
        <p:nvSpPr>
          <p:cNvPr id="43" name="TextBox 42">
            <a:extLst>
              <a:ext uri="{FF2B5EF4-FFF2-40B4-BE49-F238E27FC236}">
                <a16:creationId xmlns:a16="http://schemas.microsoft.com/office/drawing/2014/main" id="{1340B960-973C-09C8-5131-7501C097B171}"/>
              </a:ext>
            </a:extLst>
          </p:cNvPr>
          <p:cNvSpPr txBox="1"/>
          <p:nvPr/>
        </p:nvSpPr>
        <p:spPr>
          <a:xfrm>
            <a:off x="21021" y="5020953"/>
            <a:ext cx="6270816" cy="2031325"/>
          </a:xfrm>
          <a:prstGeom prst="rect">
            <a:avLst/>
          </a:prstGeom>
          <a:noFill/>
        </p:spPr>
        <p:txBody>
          <a:bodyPr wrap="square">
            <a:spAutoFit/>
          </a:bodyPr>
          <a:lstStyle/>
          <a:p>
            <a:r>
              <a:rPr lang="en-US" dirty="0">
                <a:highlight>
                  <a:srgbClr val="FFFF00"/>
                </a:highlight>
              </a:rPr>
              <a:t>Attacker includes:</a:t>
            </a:r>
            <a:br>
              <a:rPr lang="en-US" dirty="0">
                <a:highlight>
                  <a:srgbClr val="FFFF00"/>
                </a:highlight>
              </a:rPr>
            </a:br>
            <a:r>
              <a:rPr lang="en-US" dirty="0">
                <a:highlight>
                  <a:srgbClr val="FFFF00"/>
                </a:highlight>
              </a:rPr>
              <a:t>① </a:t>
            </a:r>
            <a:r>
              <a:rPr lang="en-US" b="1" dirty="0">
                <a:highlight>
                  <a:srgbClr val="FFFF00"/>
                </a:highlight>
              </a:rPr>
              <a:t>Shellcode</a:t>
            </a:r>
            <a:r>
              <a:rPr lang="en-US" dirty="0">
                <a:highlight>
                  <a:srgbClr val="FFFF00"/>
                </a:highlight>
              </a:rPr>
              <a:t> in buffer</a:t>
            </a:r>
            <a:br>
              <a:rPr lang="en-US" dirty="0">
                <a:highlight>
                  <a:srgbClr val="FFFF00"/>
                </a:highlight>
              </a:rPr>
            </a:br>
            <a:r>
              <a:rPr lang="en-US" dirty="0">
                <a:highlight>
                  <a:srgbClr val="FFFF00"/>
                </a:highlight>
              </a:rPr>
              <a:t>② </a:t>
            </a:r>
            <a:r>
              <a:rPr lang="en-US" b="1" dirty="0">
                <a:highlight>
                  <a:srgbClr val="FFFF00"/>
                </a:highlight>
              </a:rPr>
              <a:t>Fake return address</a:t>
            </a:r>
            <a:r>
              <a:rPr lang="en-US" dirty="0">
                <a:highlight>
                  <a:srgbClr val="FFFF00"/>
                </a:highlight>
              </a:rPr>
              <a:t> pointing to shellcode</a:t>
            </a:r>
          </a:p>
          <a:p>
            <a:r>
              <a:rPr lang="en-US" dirty="0">
                <a:highlight>
                  <a:srgbClr val="FFFF00"/>
                </a:highlight>
              </a:rPr>
              <a:t>On return → program opens </a:t>
            </a:r>
            <a:r>
              <a:rPr lang="en-US" b="1" dirty="0">
                <a:highlight>
                  <a:srgbClr val="FFFF00"/>
                </a:highlight>
              </a:rPr>
              <a:t>/bin/</a:t>
            </a:r>
            <a:r>
              <a:rPr lang="en-US" b="1" dirty="0" err="1">
                <a:highlight>
                  <a:srgbClr val="FFFF00"/>
                </a:highlight>
              </a:rPr>
              <a:t>sh</a:t>
            </a:r>
            <a:r>
              <a:rPr lang="en-US" b="1" dirty="0">
                <a:highlight>
                  <a:srgbClr val="FFFF00"/>
                </a:highlight>
              </a:rPr>
              <a:t> shell</a:t>
            </a:r>
            <a:r>
              <a:rPr lang="en-US" dirty="0">
                <a:highlight>
                  <a:srgbClr val="FFFF00"/>
                </a:highlight>
              </a:rPr>
              <a:t> for attacker.</a:t>
            </a:r>
          </a:p>
          <a:p>
            <a:r>
              <a:rPr lang="en-US" dirty="0">
                <a:highlight>
                  <a:srgbClr val="FFFF00"/>
                </a:highlight>
              </a:rPr>
              <a:t>The attacker gains full control with privileges of the compromised program.</a:t>
            </a:r>
          </a:p>
          <a:p>
            <a:endParaRPr lang="en-PK" dirty="0">
              <a:highlight>
                <a:srgbClr val="FFFF00"/>
              </a:high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7970" rIns="0" bIns="0" rtlCol="0">
            <a:spAutoFit/>
          </a:bodyPr>
          <a:lstStyle/>
          <a:p>
            <a:pPr marL="88900">
              <a:lnSpc>
                <a:spcPct val="100000"/>
              </a:lnSpc>
              <a:spcBef>
                <a:spcPts val="105"/>
              </a:spcBef>
            </a:pPr>
            <a:r>
              <a:rPr dirty="0"/>
              <a:t>The</a:t>
            </a:r>
            <a:r>
              <a:rPr spc="10" dirty="0"/>
              <a:t> </a:t>
            </a:r>
            <a:r>
              <a:rPr dirty="0"/>
              <a:t>NOP</a:t>
            </a:r>
            <a:r>
              <a:rPr spc="-155" dirty="0"/>
              <a:t> </a:t>
            </a:r>
            <a:r>
              <a:rPr spc="-10" dirty="0"/>
              <a:t>slide</a:t>
            </a:r>
          </a:p>
        </p:txBody>
      </p:sp>
      <p:sp>
        <p:nvSpPr>
          <p:cNvPr id="3" name="object 3"/>
          <p:cNvSpPr txBox="1"/>
          <p:nvPr/>
        </p:nvSpPr>
        <p:spPr>
          <a:xfrm>
            <a:off x="383857" y="1282636"/>
            <a:ext cx="1140460" cy="391795"/>
          </a:xfrm>
          <a:prstGeom prst="rect">
            <a:avLst/>
          </a:prstGeom>
        </p:spPr>
        <p:txBody>
          <a:bodyPr vert="horz" wrap="square" lIns="0" tIns="12700" rIns="0" bIns="0" rtlCol="0">
            <a:spAutoFit/>
          </a:bodyPr>
          <a:lstStyle/>
          <a:p>
            <a:pPr marL="12700">
              <a:lnSpc>
                <a:spcPct val="100000"/>
              </a:lnSpc>
              <a:spcBef>
                <a:spcPts val="100"/>
              </a:spcBef>
            </a:pPr>
            <a:r>
              <a:rPr sz="2400" spc="-10" dirty="0">
                <a:latin typeface="Times New Roman"/>
                <a:cs typeface="Times New Roman"/>
              </a:rPr>
              <a:t>Problem:</a:t>
            </a:r>
            <a:endParaRPr sz="2400" dirty="0">
              <a:latin typeface="Times New Roman"/>
              <a:cs typeface="Times New Roman"/>
            </a:endParaRPr>
          </a:p>
        </p:txBody>
      </p:sp>
      <p:sp>
        <p:nvSpPr>
          <p:cNvPr id="4" name="object 4"/>
          <p:cNvSpPr txBox="1"/>
          <p:nvPr/>
        </p:nvSpPr>
        <p:spPr>
          <a:xfrm>
            <a:off x="1728307" y="1282636"/>
            <a:ext cx="2821940" cy="725805"/>
          </a:xfrm>
          <a:prstGeom prst="rect">
            <a:avLst/>
          </a:prstGeom>
        </p:spPr>
        <p:txBody>
          <a:bodyPr vert="horz" wrap="square" lIns="0" tIns="12700" rIns="0" bIns="0" rtlCol="0">
            <a:spAutoFit/>
          </a:bodyPr>
          <a:lstStyle/>
          <a:p>
            <a:pPr marL="12700">
              <a:lnSpc>
                <a:spcPts val="2755"/>
              </a:lnSpc>
              <a:spcBef>
                <a:spcPts val="100"/>
              </a:spcBef>
            </a:pPr>
            <a:r>
              <a:rPr sz="2400" dirty="0">
                <a:latin typeface="Times New Roman"/>
                <a:cs typeface="Times New Roman"/>
              </a:rPr>
              <a:t>how</a:t>
            </a:r>
            <a:r>
              <a:rPr sz="2400" spc="10" dirty="0">
                <a:latin typeface="Times New Roman"/>
                <a:cs typeface="Times New Roman"/>
              </a:rPr>
              <a:t> </a:t>
            </a:r>
            <a:r>
              <a:rPr sz="2400" dirty="0">
                <a:latin typeface="Times New Roman"/>
                <a:cs typeface="Times New Roman"/>
              </a:rPr>
              <a:t>does</a:t>
            </a:r>
            <a:r>
              <a:rPr sz="2400" spc="-20" dirty="0">
                <a:latin typeface="Times New Roman"/>
                <a:cs typeface="Times New Roman"/>
              </a:rPr>
              <a:t> </a:t>
            </a:r>
            <a:r>
              <a:rPr sz="2400" spc="-10" dirty="0">
                <a:latin typeface="Times New Roman"/>
                <a:cs typeface="Times New Roman"/>
              </a:rPr>
              <a:t>attacker</a:t>
            </a:r>
            <a:endParaRPr sz="2400">
              <a:latin typeface="Times New Roman"/>
              <a:cs typeface="Times New Roman"/>
            </a:endParaRPr>
          </a:p>
          <a:p>
            <a:pPr marL="41275">
              <a:lnSpc>
                <a:spcPts val="2755"/>
              </a:lnSpc>
            </a:pPr>
            <a:r>
              <a:rPr sz="2400" dirty="0">
                <a:latin typeface="Times New Roman"/>
                <a:cs typeface="Times New Roman"/>
              </a:rPr>
              <a:t>determine</a:t>
            </a:r>
            <a:r>
              <a:rPr sz="2400" spc="-20" dirty="0">
                <a:latin typeface="Times New Roman"/>
                <a:cs typeface="Times New Roman"/>
              </a:rPr>
              <a:t> </a:t>
            </a:r>
            <a:r>
              <a:rPr sz="2400" spc="-10" dirty="0">
                <a:latin typeface="Times New Roman"/>
                <a:cs typeface="Times New Roman"/>
              </a:rPr>
              <a:t>ret-address?</a:t>
            </a:r>
            <a:endParaRPr sz="2400">
              <a:latin typeface="Times New Roman"/>
              <a:cs typeface="Times New Roman"/>
            </a:endParaRPr>
          </a:p>
        </p:txBody>
      </p:sp>
      <p:sp>
        <p:nvSpPr>
          <p:cNvPr id="5" name="object 5"/>
          <p:cNvSpPr txBox="1"/>
          <p:nvPr/>
        </p:nvSpPr>
        <p:spPr>
          <a:xfrm>
            <a:off x="383857" y="1875281"/>
            <a:ext cx="4091304" cy="1617980"/>
          </a:xfrm>
          <a:prstGeom prst="rect">
            <a:avLst/>
          </a:prstGeom>
        </p:spPr>
        <p:txBody>
          <a:bodyPr vert="horz" wrap="square" lIns="0" tIns="132715" rIns="0" bIns="0" rtlCol="0">
            <a:spAutoFit/>
          </a:bodyPr>
          <a:lstStyle/>
          <a:p>
            <a:pPr marL="12700">
              <a:lnSpc>
                <a:spcPct val="100000"/>
              </a:lnSpc>
              <a:spcBef>
                <a:spcPts val="1045"/>
              </a:spcBef>
              <a:tabLst>
                <a:tab pos="1357630" algn="l"/>
              </a:tabLst>
            </a:pPr>
            <a:r>
              <a:rPr sz="2400" spc="-10" dirty="0">
                <a:latin typeface="Times New Roman"/>
                <a:cs typeface="Times New Roman"/>
              </a:rPr>
              <a:t>Solution:</a:t>
            </a:r>
            <a:r>
              <a:rPr sz="2400" dirty="0">
                <a:latin typeface="Times New Roman"/>
                <a:cs typeface="Times New Roman"/>
              </a:rPr>
              <a:t>	NOP</a:t>
            </a:r>
            <a:r>
              <a:rPr sz="2400" spc="-130" dirty="0">
                <a:latin typeface="Times New Roman"/>
                <a:cs typeface="Times New Roman"/>
              </a:rPr>
              <a:t> </a:t>
            </a:r>
            <a:r>
              <a:rPr sz="2400" spc="-20" dirty="0">
                <a:latin typeface="Times New Roman"/>
                <a:cs typeface="Times New Roman"/>
              </a:rPr>
              <a:t>slide</a:t>
            </a:r>
            <a:endParaRPr sz="2400" dirty="0">
              <a:latin typeface="Times New Roman"/>
              <a:cs typeface="Times New Roman"/>
            </a:endParaRPr>
          </a:p>
          <a:p>
            <a:pPr marL="287020" marR="724535" indent="-274955">
              <a:lnSpc>
                <a:spcPts val="2180"/>
              </a:lnSpc>
              <a:spcBef>
                <a:spcPts val="1080"/>
              </a:spcBef>
              <a:buClr>
                <a:srgbClr val="D24717"/>
              </a:buClr>
              <a:buSzPct val="85000"/>
              <a:buFont typeface="Segoe UI Symbol"/>
              <a:buChar char="⚫"/>
              <a:tabLst>
                <a:tab pos="287020" algn="l"/>
              </a:tabLst>
            </a:pPr>
            <a:r>
              <a:rPr sz="2000" dirty="0">
                <a:latin typeface="Times New Roman"/>
                <a:cs typeface="Times New Roman"/>
              </a:rPr>
              <a:t>Guess</a:t>
            </a:r>
            <a:r>
              <a:rPr sz="2000" spc="-50" dirty="0">
                <a:latin typeface="Times New Roman"/>
                <a:cs typeface="Times New Roman"/>
              </a:rPr>
              <a:t> </a:t>
            </a:r>
            <a:r>
              <a:rPr sz="2000" dirty="0">
                <a:latin typeface="Times New Roman"/>
                <a:cs typeface="Times New Roman"/>
              </a:rPr>
              <a:t>approximate</a:t>
            </a:r>
            <a:r>
              <a:rPr sz="2000" spc="-10" dirty="0">
                <a:latin typeface="Times New Roman"/>
                <a:cs typeface="Times New Roman"/>
              </a:rPr>
              <a:t> </a:t>
            </a:r>
            <a:r>
              <a:rPr sz="2000" dirty="0">
                <a:latin typeface="Times New Roman"/>
                <a:cs typeface="Times New Roman"/>
              </a:rPr>
              <a:t>stack</a:t>
            </a:r>
            <a:r>
              <a:rPr sz="2000" spc="-40" dirty="0">
                <a:latin typeface="Times New Roman"/>
                <a:cs typeface="Times New Roman"/>
              </a:rPr>
              <a:t> </a:t>
            </a:r>
            <a:r>
              <a:rPr sz="2000" spc="-20" dirty="0">
                <a:latin typeface="Times New Roman"/>
                <a:cs typeface="Times New Roman"/>
              </a:rPr>
              <a:t>state </a:t>
            </a:r>
            <a:r>
              <a:rPr sz="2000" dirty="0">
                <a:latin typeface="Times New Roman"/>
                <a:cs typeface="Times New Roman"/>
              </a:rPr>
              <a:t>when</a:t>
            </a:r>
            <a:r>
              <a:rPr sz="2000" spc="-55" dirty="0">
                <a:latin typeface="Times New Roman"/>
                <a:cs typeface="Times New Roman"/>
              </a:rPr>
              <a:t> </a:t>
            </a:r>
            <a:r>
              <a:rPr sz="2000" dirty="0">
                <a:solidFill>
                  <a:srgbClr val="696363"/>
                </a:solidFill>
                <a:latin typeface="Times New Roman"/>
                <a:cs typeface="Times New Roman"/>
              </a:rPr>
              <a:t>func()</a:t>
            </a:r>
            <a:r>
              <a:rPr sz="2000" spc="-35" dirty="0">
                <a:solidFill>
                  <a:srgbClr val="696363"/>
                </a:solidFill>
                <a:latin typeface="Times New Roman"/>
                <a:cs typeface="Times New Roman"/>
              </a:rPr>
              <a:t> </a:t>
            </a:r>
            <a:r>
              <a:rPr sz="2000" dirty="0">
                <a:latin typeface="Times New Roman"/>
                <a:cs typeface="Times New Roman"/>
              </a:rPr>
              <a:t>is</a:t>
            </a:r>
            <a:r>
              <a:rPr sz="2000" spc="-15" dirty="0">
                <a:latin typeface="Times New Roman"/>
                <a:cs typeface="Times New Roman"/>
              </a:rPr>
              <a:t> </a:t>
            </a:r>
            <a:r>
              <a:rPr sz="2000" spc="-10" dirty="0">
                <a:latin typeface="Times New Roman"/>
                <a:cs typeface="Times New Roman"/>
              </a:rPr>
              <a:t>called</a:t>
            </a:r>
            <a:endParaRPr sz="2000" dirty="0">
              <a:latin typeface="Times New Roman"/>
              <a:cs typeface="Times New Roman"/>
            </a:endParaRPr>
          </a:p>
          <a:p>
            <a:pPr marL="287020" indent="-274320">
              <a:lnSpc>
                <a:spcPct val="100000"/>
              </a:lnSpc>
              <a:spcBef>
                <a:spcPts val="865"/>
              </a:spcBef>
              <a:buClr>
                <a:srgbClr val="D24717"/>
              </a:buClr>
              <a:buSzPct val="85000"/>
              <a:buFont typeface="Segoe UI Symbol"/>
              <a:buChar char="⚫"/>
              <a:tabLst>
                <a:tab pos="287020" algn="l"/>
              </a:tabLst>
            </a:pPr>
            <a:r>
              <a:rPr sz="2000" dirty="0">
                <a:latin typeface="Times New Roman"/>
                <a:cs typeface="Times New Roman"/>
              </a:rPr>
              <a:t>Insert</a:t>
            </a:r>
            <a:r>
              <a:rPr sz="2000" spc="-25" dirty="0">
                <a:latin typeface="Times New Roman"/>
                <a:cs typeface="Times New Roman"/>
              </a:rPr>
              <a:t> </a:t>
            </a:r>
            <a:r>
              <a:rPr sz="2000" dirty="0">
                <a:latin typeface="Times New Roman"/>
                <a:cs typeface="Times New Roman"/>
              </a:rPr>
              <a:t>many</a:t>
            </a:r>
            <a:r>
              <a:rPr sz="2000" spc="-15" dirty="0">
                <a:latin typeface="Times New Roman"/>
                <a:cs typeface="Times New Roman"/>
              </a:rPr>
              <a:t> </a:t>
            </a:r>
            <a:r>
              <a:rPr sz="2000" dirty="0">
                <a:latin typeface="Times New Roman"/>
                <a:cs typeface="Times New Roman"/>
              </a:rPr>
              <a:t>NOPs</a:t>
            </a:r>
            <a:r>
              <a:rPr sz="2000" spc="-15" dirty="0">
                <a:latin typeface="Times New Roman"/>
                <a:cs typeface="Times New Roman"/>
              </a:rPr>
              <a:t> </a:t>
            </a:r>
            <a:r>
              <a:rPr sz="2000" dirty="0">
                <a:latin typeface="Times New Roman"/>
                <a:cs typeface="Times New Roman"/>
              </a:rPr>
              <a:t>before</a:t>
            </a:r>
            <a:r>
              <a:rPr sz="2000" spc="-50" dirty="0">
                <a:latin typeface="Times New Roman"/>
                <a:cs typeface="Times New Roman"/>
              </a:rPr>
              <a:t> </a:t>
            </a:r>
            <a:r>
              <a:rPr sz="2000" dirty="0">
                <a:latin typeface="Times New Roman"/>
                <a:cs typeface="Times New Roman"/>
              </a:rPr>
              <a:t>program</a:t>
            </a:r>
            <a:r>
              <a:rPr sz="2000" spc="-55" dirty="0">
                <a:latin typeface="Times New Roman"/>
                <a:cs typeface="Times New Roman"/>
              </a:rPr>
              <a:t> </a:t>
            </a:r>
            <a:r>
              <a:rPr sz="2000" spc="-25" dirty="0">
                <a:latin typeface="Times New Roman"/>
                <a:cs typeface="Times New Roman"/>
              </a:rPr>
              <a:t>P:</a:t>
            </a:r>
            <a:endParaRPr sz="2000" dirty="0">
              <a:latin typeface="Times New Roman"/>
              <a:cs typeface="Times New Roman"/>
            </a:endParaRPr>
          </a:p>
        </p:txBody>
      </p:sp>
      <p:sp>
        <p:nvSpPr>
          <p:cNvPr id="6" name="object 6"/>
          <p:cNvSpPr txBox="1"/>
          <p:nvPr/>
        </p:nvSpPr>
        <p:spPr>
          <a:xfrm>
            <a:off x="352643" y="3446823"/>
            <a:ext cx="4798060" cy="1694814"/>
          </a:xfrm>
          <a:prstGeom prst="rect">
            <a:avLst/>
          </a:prstGeom>
        </p:spPr>
        <p:txBody>
          <a:bodyPr vert="horz" wrap="square" lIns="0" tIns="50800" rIns="0" bIns="0" rtlCol="0">
            <a:spAutoFit/>
          </a:bodyPr>
          <a:lstStyle/>
          <a:p>
            <a:pPr marL="927735">
              <a:lnSpc>
                <a:spcPct val="100000"/>
              </a:lnSpc>
              <a:spcBef>
                <a:spcPts val="400"/>
              </a:spcBef>
              <a:tabLst>
                <a:tab pos="1499870" algn="l"/>
                <a:tab pos="1818005" algn="l"/>
                <a:tab pos="3307079" algn="l"/>
                <a:tab pos="3624579" algn="l"/>
              </a:tabLst>
            </a:pPr>
            <a:r>
              <a:rPr sz="2000" spc="-25" dirty="0">
                <a:latin typeface="Times New Roman"/>
                <a:cs typeface="Times New Roman"/>
              </a:rPr>
              <a:t>nop</a:t>
            </a:r>
            <a:r>
              <a:rPr sz="2000" dirty="0">
                <a:latin typeface="Times New Roman"/>
                <a:cs typeface="Times New Roman"/>
              </a:rPr>
              <a:t>	</a:t>
            </a:r>
            <a:r>
              <a:rPr sz="2000" spc="-50" dirty="0">
                <a:latin typeface="Times New Roman"/>
                <a:cs typeface="Times New Roman"/>
              </a:rPr>
              <a:t>,</a:t>
            </a:r>
            <a:r>
              <a:rPr sz="2000" dirty="0">
                <a:latin typeface="Times New Roman"/>
                <a:cs typeface="Times New Roman"/>
              </a:rPr>
              <a:t>	xor</a:t>
            </a:r>
            <a:r>
              <a:rPr sz="2000" spc="-20" dirty="0">
                <a:latin typeface="Times New Roman"/>
                <a:cs typeface="Times New Roman"/>
              </a:rPr>
              <a:t> </a:t>
            </a:r>
            <a:r>
              <a:rPr sz="2000" spc="-10" dirty="0">
                <a:latin typeface="Times New Roman"/>
                <a:cs typeface="Times New Roman"/>
              </a:rPr>
              <a:t>eax,eax</a:t>
            </a:r>
            <a:r>
              <a:rPr sz="2000" dirty="0">
                <a:latin typeface="Times New Roman"/>
                <a:cs typeface="Times New Roman"/>
              </a:rPr>
              <a:t>	</a:t>
            </a:r>
            <a:r>
              <a:rPr sz="2000" spc="-50" dirty="0">
                <a:latin typeface="Times New Roman"/>
                <a:cs typeface="Times New Roman"/>
              </a:rPr>
              <a:t>,</a:t>
            </a:r>
            <a:r>
              <a:rPr sz="2000" dirty="0">
                <a:latin typeface="Times New Roman"/>
                <a:cs typeface="Times New Roman"/>
              </a:rPr>
              <a:t>	inc</a:t>
            </a:r>
            <a:r>
              <a:rPr sz="2000" spc="-20" dirty="0">
                <a:latin typeface="Times New Roman"/>
                <a:cs typeface="Times New Roman"/>
              </a:rPr>
              <a:t> </a:t>
            </a:r>
            <a:r>
              <a:rPr sz="2000" spc="-25" dirty="0">
                <a:latin typeface="Times New Roman"/>
                <a:cs typeface="Times New Roman"/>
              </a:rPr>
              <a:t>ax</a:t>
            </a:r>
            <a:endParaRPr sz="2000" dirty="0">
              <a:latin typeface="Times New Roman"/>
              <a:cs typeface="Times New Roman"/>
            </a:endParaRPr>
          </a:p>
          <a:p>
            <a:pPr marL="287020" indent="-274320">
              <a:lnSpc>
                <a:spcPct val="100000"/>
              </a:lnSpc>
              <a:spcBef>
                <a:spcPts val="305"/>
              </a:spcBef>
              <a:buClr>
                <a:srgbClr val="D24717"/>
              </a:buClr>
              <a:buSzPct val="85000"/>
              <a:buFont typeface="Segoe UI Symbol"/>
              <a:buChar char="⚫"/>
              <a:tabLst>
                <a:tab pos="287020" algn="l"/>
              </a:tabLst>
            </a:pPr>
            <a:r>
              <a:rPr sz="2000" dirty="0">
                <a:latin typeface="Times New Roman"/>
                <a:cs typeface="Times New Roman"/>
              </a:rPr>
              <a:t>nop:</a:t>
            </a:r>
            <a:r>
              <a:rPr sz="2000" spc="-40" dirty="0">
                <a:latin typeface="Times New Roman"/>
                <a:cs typeface="Times New Roman"/>
              </a:rPr>
              <a:t> </a:t>
            </a:r>
            <a:r>
              <a:rPr sz="2000" dirty="0">
                <a:latin typeface="Times New Roman"/>
                <a:cs typeface="Times New Roman"/>
              </a:rPr>
              <a:t>Basic </a:t>
            </a:r>
            <a:r>
              <a:rPr sz="2000" spc="-20" dirty="0">
                <a:latin typeface="Times New Roman"/>
                <a:cs typeface="Times New Roman"/>
              </a:rPr>
              <a:t>no-</a:t>
            </a:r>
            <a:r>
              <a:rPr sz="2000" dirty="0">
                <a:latin typeface="Times New Roman"/>
                <a:cs typeface="Times New Roman"/>
              </a:rPr>
              <a:t>operation</a:t>
            </a:r>
            <a:r>
              <a:rPr sz="2000" spc="-45" dirty="0">
                <a:latin typeface="Times New Roman"/>
                <a:cs typeface="Times New Roman"/>
              </a:rPr>
              <a:t> </a:t>
            </a:r>
            <a:r>
              <a:rPr sz="2000" spc="-10" dirty="0">
                <a:latin typeface="Times New Roman"/>
                <a:cs typeface="Times New Roman"/>
              </a:rPr>
              <a:t>instruction.</a:t>
            </a:r>
            <a:endParaRPr sz="2000" dirty="0">
              <a:latin typeface="Times New Roman"/>
              <a:cs typeface="Times New Roman"/>
            </a:endParaRPr>
          </a:p>
          <a:p>
            <a:pPr marL="287020" marR="5080" indent="-274955">
              <a:lnSpc>
                <a:spcPts val="2180"/>
              </a:lnSpc>
              <a:spcBef>
                <a:spcPts val="630"/>
              </a:spcBef>
              <a:buClr>
                <a:srgbClr val="D24717"/>
              </a:buClr>
              <a:buSzPct val="85000"/>
              <a:buFont typeface="Segoe UI Symbol"/>
              <a:buChar char="⚫"/>
              <a:tabLst>
                <a:tab pos="287020" algn="l"/>
              </a:tabLst>
            </a:pPr>
            <a:r>
              <a:rPr sz="2000" dirty="0">
                <a:latin typeface="Times New Roman"/>
                <a:cs typeface="Times New Roman"/>
              </a:rPr>
              <a:t>xor</a:t>
            </a:r>
            <a:r>
              <a:rPr sz="2000" spc="-60" dirty="0">
                <a:latin typeface="Times New Roman"/>
                <a:cs typeface="Times New Roman"/>
              </a:rPr>
              <a:t> </a:t>
            </a:r>
            <a:r>
              <a:rPr sz="2000" dirty="0">
                <a:latin typeface="Times New Roman"/>
                <a:cs typeface="Times New Roman"/>
              </a:rPr>
              <a:t>eax,</a:t>
            </a:r>
            <a:r>
              <a:rPr sz="2000" spc="-25" dirty="0">
                <a:latin typeface="Times New Roman"/>
                <a:cs typeface="Times New Roman"/>
              </a:rPr>
              <a:t> </a:t>
            </a:r>
            <a:r>
              <a:rPr sz="2000" dirty="0">
                <a:latin typeface="Times New Roman"/>
                <a:cs typeface="Times New Roman"/>
              </a:rPr>
              <a:t>eax:</a:t>
            </a:r>
            <a:r>
              <a:rPr sz="2000" spc="-95" dirty="0">
                <a:latin typeface="Times New Roman"/>
                <a:cs typeface="Times New Roman"/>
              </a:rPr>
              <a:t> </a:t>
            </a:r>
            <a:r>
              <a:rPr sz="2000" dirty="0">
                <a:latin typeface="Times New Roman"/>
                <a:cs typeface="Times New Roman"/>
              </a:rPr>
              <a:t>A</a:t>
            </a:r>
            <a:r>
              <a:rPr sz="2000" spc="-165" dirty="0">
                <a:latin typeface="Times New Roman"/>
                <a:cs typeface="Times New Roman"/>
              </a:rPr>
              <a:t> </a:t>
            </a:r>
            <a:r>
              <a:rPr sz="2000" dirty="0">
                <a:latin typeface="Times New Roman"/>
                <a:cs typeface="Times New Roman"/>
              </a:rPr>
              <a:t>harmless</a:t>
            </a:r>
            <a:r>
              <a:rPr sz="2000" spc="-30" dirty="0">
                <a:latin typeface="Times New Roman"/>
                <a:cs typeface="Times New Roman"/>
              </a:rPr>
              <a:t> </a:t>
            </a:r>
            <a:r>
              <a:rPr sz="2000" dirty="0">
                <a:latin typeface="Times New Roman"/>
                <a:cs typeface="Times New Roman"/>
              </a:rPr>
              <a:t>operation</a:t>
            </a:r>
            <a:r>
              <a:rPr sz="2000" spc="-25" dirty="0">
                <a:latin typeface="Times New Roman"/>
                <a:cs typeface="Times New Roman"/>
              </a:rPr>
              <a:t> </a:t>
            </a:r>
            <a:r>
              <a:rPr sz="2000" dirty="0">
                <a:latin typeface="Times New Roman"/>
                <a:cs typeface="Times New Roman"/>
              </a:rPr>
              <a:t>that</a:t>
            </a:r>
            <a:r>
              <a:rPr sz="2000" spc="-25" dirty="0">
                <a:latin typeface="Times New Roman"/>
                <a:cs typeface="Times New Roman"/>
              </a:rPr>
              <a:t> </a:t>
            </a:r>
            <a:r>
              <a:rPr sz="2000" spc="-20" dirty="0">
                <a:latin typeface="Times New Roman"/>
                <a:cs typeface="Times New Roman"/>
              </a:rPr>
              <a:t>does </a:t>
            </a:r>
            <a:r>
              <a:rPr sz="2000" dirty="0">
                <a:latin typeface="Times New Roman"/>
                <a:cs typeface="Times New Roman"/>
              </a:rPr>
              <a:t>nothing</a:t>
            </a:r>
            <a:r>
              <a:rPr sz="2000" spc="-35" dirty="0">
                <a:latin typeface="Times New Roman"/>
                <a:cs typeface="Times New Roman"/>
              </a:rPr>
              <a:t> </a:t>
            </a:r>
            <a:r>
              <a:rPr sz="2000" dirty="0">
                <a:latin typeface="Times New Roman"/>
                <a:cs typeface="Times New Roman"/>
              </a:rPr>
              <a:t>significant</a:t>
            </a:r>
            <a:r>
              <a:rPr sz="2000" spc="-35" dirty="0">
                <a:latin typeface="Times New Roman"/>
                <a:cs typeface="Times New Roman"/>
              </a:rPr>
              <a:t> </a:t>
            </a:r>
            <a:r>
              <a:rPr sz="2000" dirty="0">
                <a:latin typeface="Times New Roman"/>
                <a:cs typeface="Times New Roman"/>
              </a:rPr>
              <a:t>but</a:t>
            </a:r>
            <a:r>
              <a:rPr sz="2000" spc="-35" dirty="0">
                <a:latin typeface="Times New Roman"/>
                <a:cs typeface="Times New Roman"/>
              </a:rPr>
              <a:t> </a:t>
            </a:r>
            <a:r>
              <a:rPr sz="2000" dirty="0">
                <a:latin typeface="Times New Roman"/>
                <a:cs typeface="Times New Roman"/>
              </a:rPr>
              <a:t>consumes</a:t>
            </a:r>
            <a:r>
              <a:rPr sz="2000" spc="-30" dirty="0">
                <a:latin typeface="Times New Roman"/>
                <a:cs typeface="Times New Roman"/>
              </a:rPr>
              <a:t> </a:t>
            </a:r>
            <a:r>
              <a:rPr sz="2000" dirty="0">
                <a:latin typeface="Times New Roman"/>
                <a:cs typeface="Times New Roman"/>
              </a:rPr>
              <a:t>CPU</a:t>
            </a:r>
            <a:r>
              <a:rPr sz="2000" spc="-30" dirty="0">
                <a:latin typeface="Times New Roman"/>
                <a:cs typeface="Times New Roman"/>
              </a:rPr>
              <a:t> </a:t>
            </a:r>
            <a:r>
              <a:rPr sz="2000" spc="-10" dirty="0">
                <a:latin typeface="Times New Roman"/>
                <a:cs typeface="Times New Roman"/>
              </a:rPr>
              <a:t>time.</a:t>
            </a:r>
            <a:endParaRPr sz="2000" dirty="0">
              <a:latin typeface="Times New Roman"/>
              <a:cs typeface="Times New Roman"/>
            </a:endParaRPr>
          </a:p>
          <a:p>
            <a:pPr marL="287020" indent="-274320">
              <a:lnSpc>
                <a:spcPct val="100000"/>
              </a:lnSpc>
              <a:spcBef>
                <a:spcPts val="345"/>
              </a:spcBef>
              <a:buClr>
                <a:srgbClr val="D24717"/>
              </a:buClr>
              <a:buSzPct val="85000"/>
              <a:buFont typeface="Segoe UI Symbol"/>
              <a:buChar char="⚫"/>
              <a:tabLst>
                <a:tab pos="287020" algn="l"/>
              </a:tabLst>
            </a:pPr>
            <a:r>
              <a:rPr sz="2000" dirty="0">
                <a:latin typeface="Times New Roman"/>
                <a:cs typeface="Times New Roman"/>
              </a:rPr>
              <a:t>inc</a:t>
            </a:r>
            <a:r>
              <a:rPr sz="2000" spc="-55" dirty="0">
                <a:latin typeface="Times New Roman"/>
                <a:cs typeface="Times New Roman"/>
              </a:rPr>
              <a:t> </a:t>
            </a:r>
            <a:r>
              <a:rPr sz="2000" dirty="0">
                <a:latin typeface="Times New Roman"/>
                <a:cs typeface="Times New Roman"/>
              </a:rPr>
              <a:t>ax:</a:t>
            </a:r>
            <a:r>
              <a:rPr sz="2000" spc="-100" dirty="0">
                <a:latin typeface="Times New Roman"/>
                <a:cs typeface="Times New Roman"/>
              </a:rPr>
              <a:t> </a:t>
            </a:r>
            <a:r>
              <a:rPr sz="2000" dirty="0">
                <a:latin typeface="Times New Roman"/>
                <a:cs typeface="Times New Roman"/>
              </a:rPr>
              <a:t>A</a:t>
            </a:r>
            <a:r>
              <a:rPr sz="2000" spc="-160" dirty="0">
                <a:latin typeface="Times New Roman"/>
                <a:cs typeface="Times New Roman"/>
              </a:rPr>
              <a:t> </a:t>
            </a:r>
            <a:r>
              <a:rPr sz="2000" dirty="0">
                <a:latin typeface="Times New Roman"/>
                <a:cs typeface="Times New Roman"/>
              </a:rPr>
              <a:t>lightweight</a:t>
            </a:r>
            <a:r>
              <a:rPr sz="2000" spc="-25" dirty="0">
                <a:latin typeface="Times New Roman"/>
                <a:cs typeface="Times New Roman"/>
              </a:rPr>
              <a:t> </a:t>
            </a:r>
            <a:r>
              <a:rPr sz="2000" dirty="0">
                <a:latin typeface="Times New Roman"/>
                <a:cs typeface="Times New Roman"/>
              </a:rPr>
              <a:t>arithmetic</a:t>
            </a:r>
            <a:r>
              <a:rPr sz="2000" spc="-60" dirty="0">
                <a:latin typeface="Times New Roman"/>
                <a:cs typeface="Times New Roman"/>
              </a:rPr>
              <a:t> </a:t>
            </a:r>
            <a:r>
              <a:rPr sz="2000" spc="-10" dirty="0">
                <a:latin typeface="Times New Roman"/>
                <a:cs typeface="Times New Roman"/>
              </a:rPr>
              <a:t>instruction.</a:t>
            </a:r>
            <a:endParaRPr sz="2000" dirty="0">
              <a:latin typeface="Times New Roman"/>
              <a:cs typeface="Times New Roman"/>
            </a:endParaRPr>
          </a:p>
        </p:txBody>
      </p:sp>
      <p:grpSp>
        <p:nvGrpSpPr>
          <p:cNvPr id="7" name="object 7"/>
          <p:cNvGrpSpPr/>
          <p:nvPr/>
        </p:nvGrpSpPr>
        <p:grpSpPr>
          <a:xfrm>
            <a:off x="5524563" y="3352863"/>
            <a:ext cx="2695575" cy="2857500"/>
            <a:chOff x="5524563" y="3352863"/>
            <a:chExt cx="2695575" cy="2857500"/>
          </a:xfrm>
        </p:grpSpPr>
        <p:sp>
          <p:nvSpPr>
            <p:cNvPr id="8" name="object 8"/>
            <p:cNvSpPr/>
            <p:nvPr/>
          </p:nvSpPr>
          <p:spPr>
            <a:xfrm>
              <a:off x="5548376" y="3357626"/>
              <a:ext cx="2667000" cy="457200"/>
            </a:xfrm>
            <a:custGeom>
              <a:avLst/>
              <a:gdLst/>
              <a:ahLst/>
              <a:cxnLst/>
              <a:rect l="l" t="t" r="r" b="b"/>
              <a:pathLst>
                <a:path w="2667000" h="457200">
                  <a:moveTo>
                    <a:pt x="2667000" y="0"/>
                  </a:moveTo>
                  <a:lnTo>
                    <a:pt x="0" y="0"/>
                  </a:lnTo>
                  <a:lnTo>
                    <a:pt x="0" y="457200"/>
                  </a:lnTo>
                  <a:lnTo>
                    <a:pt x="2667000" y="457200"/>
                  </a:lnTo>
                  <a:lnTo>
                    <a:pt x="2667000" y="0"/>
                  </a:lnTo>
                  <a:close/>
                </a:path>
              </a:pathLst>
            </a:custGeom>
            <a:solidFill>
              <a:srgbClr val="006FC0"/>
            </a:solidFill>
          </p:spPr>
          <p:txBody>
            <a:bodyPr wrap="square" lIns="0" tIns="0" rIns="0" bIns="0" rtlCol="0"/>
            <a:lstStyle/>
            <a:p>
              <a:endParaRPr/>
            </a:p>
          </p:txBody>
        </p:sp>
        <p:sp>
          <p:nvSpPr>
            <p:cNvPr id="9" name="object 9"/>
            <p:cNvSpPr/>
            <p:nvPr/>
          </p:nvSpPr>
          <p:spPr>
            <a:xfrm>
              <a:off x="5548376" y="3357626"/>
              <a:ext cx="2667000" cy="457200"/>
            </a:xfrm>
            <a:custGeom>
              <a:avLst/>
              <a:gdLst/>
              <a:ahLst/>
              <a:cxnLst/>
              <a:rect l="l" t="t" r="r" b="b"/>
              <a:pathLst>
                <a:path w="2667000" h="457200">
                  <a:moveTo>
                    <a:pt x="0" y="457200"/>
                  </a:moveTo>
                  <a:lnTo>
                    <a:pt x="2667000" y="457200"/>
                  </a:lnTo>
                  <a:lnTo>
                    <a:pt x="2667000" y="0"/>
                  </a:lnTo>
                  <a:lnTo>
                    <a:pt x="0" y="0"/>
                  </a:lnTo>
                  <a:lnTo>
                    <a:pt x="0" y="457200"/>
                  </a:lnTo>
                  <a:close/>
                </a:path>
              </a:pathLst>
            </a:custGeom>
            <a:ln w="9525">
              <a:solidFill>
                <a:srgbClr val="000000"/>
              </a:solidFill>
            </a:ln>
          </p:spPr>
          <p:txBody>
            <a:bodyPr wrap="square" lIns="0" tIns="0" rIns="0" bIns="0" rtlCol="0"/>
            <a:lstStyle/>
            <a:p>
              <a:endParaRPr/>
            </a:p>
          </p:txBody>
        </p:sp>
        <p:sp>
          <p:nvSpPr>
            <p:cNvPr id="10" name="object 10"/>
            <p:cNvSpPr/>
            <p:nvPr/>
          </p:nvSpPr>
          <p:spPr>
            <a:xfrm>
              <a:off x="5529326" y="4681537"/>
              <a:ext cx="19050" cy="871855"/>
            </a:xfrm>
            <a:custGeom>
              <a:avLst/>
              <a:gdLst/>
              <a:ahLst/>
              <a:cxnLst/>
              <a:rect l="l" t="t" r="r" b="b"/>
              <a:pathLst>
                <a:path w="19050" h="871854">
                  <a:moveTo>
                    <a:pt x="0" y="871537"/>
                  </a:moveTo>
                  <a:lnTo>
                    <a:pt x="19050" y="871537"/>
                  </a:lnTo>
                  <a:lnTo>
                    <a:pt x="19050" y="0"/>
                  </a:lnTo>
                  <a:lnTo>
                    <a:pt x="0" y="0"/>
                  </a:lnTo>
                  <a:lnTo>
                    <a:pt x="0" y="871537"/>
                  </a:lnTo>
                  <a:close/>
                </a:path>
              </a:pathLst>
            </a:custGeom>
            <a:solidFill>
              <a:srgbClr val="FF0000"/>
            </a:solidFill>
          </p:spPr>
          <p:txBody>
            <a:bodyPr wrap="square" lIns="0" tIns="0" rIns="0" bIns="0" rtlCol="0"/>
            <a:lstStyle/>
            <a:p>
              <a:endParaRPr/>
            </a:p>
          </p:txBody>
        </p:sp>
        <p:sp>
          <p:nvSpPr>
            <p:cNvPr id="11" name="object 11"/>
            <p:cNvSpPr/>
            <p:nvPr/>
          </p:nvSpPr>
          <p:spPr>
            <a:xfrm>
              <a:off x="5529326" y="4681537"/>
              <a:ext cx="2667000" cy="1524000"/>
            </a:xfrm>
            <a:custGeom>
              <a:avLst/>
              <a:gdLst/>
              <a:ahLst/>
              <a:cxnLst/>
              <a:rect l="l" t="t" r="r" b="b"/>
              <a:pathLst>
                <a:path w="2667000" h="1524000">
                  <a:moveTo>
                    <a:pt x="0" y="1524000"/>
                  </a:moveTo>
                  <a:lnTo>
                    <a:pt x="2667000" y="1524000"/>
                  </a:lnTo>
                  <a:lnTo>
                    <a:pt x="2667000" y="0"/>
                  </a:lnTo>
                  <a:lnTo>
                    <a:pt x="0" y="0"/>
                  </a:lnTo>
                  <a:lnTo>
                    <a:pt x="0" y="1524000"/>
                  </a:lnTo>
                  <a:close/>
                </a:path>
              </a:pathLst>
            </a:custGeom>
            <a:ln w="9525">
              <a:solidFill>
                <a:srgbClr val="000000"/>
              </a:solidFill>
            </a:ln>
          </p:spPr>
          <p:txBody>
            <a:bodyPr wrap="square" lIns="0" tIns="0" rIns="0" bIns="0" rtlCol="0"/>
            <a:lstStyle/>
            <a:p>
              <a:endParaRPr/>
            </a:p>
          </p:txBody>
        </p:sp>
        <p:sp>
          <p:nvSpPr>
            <p:cNvPr id="12" name="object 12"/>
            <p:cNvSpPr/>
            <p:nvPr/>
          </p:nvSpPr>
          <p:spPr>
            <a:xfrm>
              <a:off x="5548376" y="4681537"/>
              <a:ext cx="2667000" cy="1524000"/>
            </a:xfrm>
            <a:custGeom>
              <a:avLst/>
              <a:gdLst/>
              <a:ahLst/>
              <a:cxnLst/>
              <a:rect l="l" t="t" r="r" b="b"/>
              <a:pathLst>
                <a:path w="2667000" h="1524000">
                  <a:moveTo>
                    <a:pt x="2614549" y="1500187"/>
                  </a:moveTo>
                  <a:lnTo>
                    <a:pt x="14224" y="1500187"/>
                  </a:lnTo>
                  <a:lnTo>
                    <a:pt x="14224" y="1524000"/>
                  </a:lnTo>
                  <a:lnTo>
                    <a:pt x="2614549" y="1524000"/>
                  </a:lnTo>
                  <a:lnTo>
                    <a:pt x="2614549" y="1500187"/>
                  </a:lnTo>
                  <a:close/>
                </a:path>
                <a:path w="2667000" h="1524000">
                  <a:moveTo>
                    <a:pt x="2667000" y="0"/>
                  </a:moveTo>
                  <a:lnTo>
                    <a:pt x="0" y="0"/>
                  </a:lnTo>
                  <a:lnTo>
                    <a:pt x="0" y="1423987"/>
                  </a:lnTo>
                  <a:lnTo>
                    <a:pt x="2667000" y="1423987"/>
                  </a:lnTo>
                  <a:lnTo>
                    <a:pt x="2667000" y="0"/>
                  </a:lnTo>
                  <a:close/>
                </a:path>
              </a:pathLst>
            </a:custGeom>
            <a:solidFill>
              <a:srgbClr val="006FC0"/>
            </a:solidFill>
          </p:spPr>
          <p:txBody>
            <a:bodyPr wrap="square" lIns="0" tIns="0" rIns="0" bIns="0" rtlCol="0"/>
            <a:lstStyle/>
            <a:p>
              <a:endParaRPr/>
            </a:p>
          </p:txBody>
        </p:sp>
        <p:sp>
          <p:nvSpPr>
            <p:cNvPr id="13" name="object 13"/>
            <p:cNvSpPr/>
            <p:nvPr/>
          </p:nvSpPr>
          <p:spPr>
            <a:xfrm>
              <a:off x="5548376" y="4681537"/>
              <a:ext cx="2667000" cy="1524000"/>
            </a:xfrm>
            <a:custGeom>
              <a:avLst/>
              <a:gdLst/>
              <a:ahLst/>
              <a:cxnLst/>
              <a:rect l="l" t="t" r="r" b="b"/>
              <a:pathLst>
                <a:path w="2667000" h="1524000">
                  <a:moveTo>
                    <a:pt x="0" y="1524000"/>
                  </a:moveTo>
                  <a:lnTo>
                    <a:pt x="2667000" y="1524000"/>
                  </a:lnTo>
                  <a:lnTo>
                    <a:pt x="2667000" y="0"/>
                  </a:lnTo>
                  <a:lnTo>
                    <a:pt x="0" y="0"/>
                  </a:lnTo>
                  <a:lnTo>
                    <a:pt x="0" y="1524000"/>
                  </a:lnTo>
                  <a:close/>
                </a:path>
              </a:pathLst>
            </a:custGeom>
            <a:ln w="9525">
              <a:solidFill>
                <a:srgbClr val="000000"/>
              </a:solidFill>
            </a:ln>
          </p:spPr>
          <p:txBody>
            <a:bodyPr wrap="square" lIns="0" tIns="0" rIns="0" bIns="0" rtlCol="0"/>
            <a:lstStyle/>
            <a:p>
              <a:endParaRPr/>
            </a:p>
          </p:txBody>
        </p:sp>
      </p:grpSp>
      <p:sp>
        <p:nvSpPr>
          <p:cNvPr id="14" name="object 14"/>
          <p:cNvSpPr txBox="1"/>
          <p:nvPr/>
        </p:nvSpPr>
        <p:spPr>
          <a:xfrm>
            <a:off x="5572125" y="5239702"/>
            <a:ext cx="2595880" cy="334645"/>
          </a:xfrm>
          <a:prstGeom prst="rect">
            <a:avLst/>
          </a:prstGeom>
        </p:spPr>
        <p:txBody>
          <a:bodyPr vert="horz" wrap="square" lIns="0" tIns="15875" rIns="0" bIns="0" rtlCol="0">
            <a:spAutoFit/>
          </a:bodyPr>
          <a:lstStyle/>
          <a:p>
            <a:pPr marL="700405">
              <a:lnSpc>
                <a:spcPct val="100000"/>
              </a:lnSpc>
              <a:spcBef>
                <a:spcPts val="125"/>
              </a:spcBef>
            </a:pPr>
            <a:r>
              <a:rPr sz="2000" spc="-95" dirty="0">
                <a:solidFill>
                  <a:srgbClr val="EDEBE0"/>
                </a:solidFill>
                <a:latin typeface="Times New Roman"/>
                <a:cs typeface="Times New Roman"/>
              </a:rPr>
              <a:t>char</a:t>
            </a:r>
            <a:r>
              <a:rPr sz="2000" spc="-30" dirty="0">
                <a:solidFill>
                  <a:srgbClr val="EDEBE0"/>
                </a:solidFill>
                <a:latin typeface="Times New Roman"/>
                <a:cs typeface="Times New Roman"/>
              </a:rPr>
              <a:t> </a:t>
            </a:r>
            <a:r>
              <a:rPr sz="2000" spc="-10" dirty="0">
                <a:solidFill>
                  <a:srgbClr val="EDEBE0"/>
                </a:solidFill>
                <a:latin typeface="Times New Roman"/>
                <a:cs typeface="Times New Roman"/>
              </a:rPr>
              <a:t>buf[128]</a:t>
            </a:r>
            <a:endParaRPr sz="2000">
              <a:latin typeface="Times New Roman"/>
              <a:cs typeface="Times New Roman"/>
            </a:endParaRPr>
          </a:p>
        </p:txBody>
      </p:sp>
      <p:grpSp>
        <p:nvGrpSpPr>
          <p:cNvPr id="15" name="object 15"/>
          <p:cNvGrpSpPr/>
          <p:nvPr/>
        </p:nvGrpSpPr>
        <p:grpSpPr>
          <a:xfrm>
            <a:off x="5543613" y="3810063"/>
            <a:ext cx="2676525" cy="466725"/>
            <a:chOff x="5543613" y="3810063"/>
            <a:chExt cx="2676525" cy="466725"/>
          </a:xfrm>
        </p:grpSpPr>
        <p:sp>
          <p:nvSpPr>
            <p:cNvPr id="16" name="object 16"/>
            <p:cNvSpPr/>
            <p:nvPr/>
          </p:nvSpPr>
          <p:spPr>
            <a:xfrm>
              <a:off x="5548376" y="3814826"/>
              <a:ext cx="2667000" cy="457200"/>
            </a:xfrm>
            <a:custGeom>
              <a:avLst/>
              <a:gdLst/>
              <a:ahLst/>
              <a:cxnLst/>
              <a:rect l="l" t="t" r="r" b="b"/>
              <a:pathLst>
                <a:path w="2667000" h="457200">
                  <a:moveTo>
                    <a:pt x="2667000" y="0"/>
                  </a:moveTo>
                  <a:lnTo>
                    <a:pt x="0" y="0"/>
                  </a:lnTo>
                  <a:lnTo>
                    <a:pt x="0" y="457200"/>
                  </a:lnTo>
                  <a:lnTo>
                    <a:pt x="2667000" y="457200"/>
                  </a:lnTo>
                  <a:lnTo>
                    <a:pt x="2667000" y="0"/>
                  </a:lnTo>
                  <a:close/>
                </a:path>
              </a:pathLst>
            </a:custGeom>
            <a:solidFill>
              <a:srgbClr val="006FC0"/>
            </a:solidFill>
          </p:spPr>
          <p:txBody>
            <a:bodyPr wrap="square" lIns="0" tIns="0" rIns="0" bIns="0" rtlCol="0"/>
            <a:lstStyle/>
            <a:p>
              <a:endParaRPr/>
            </a:p>
          </p:txBody>
        </p:sp>
        <p:sp>
          <p:nvSpPr>
            <p:cNvPr id="17" name="object 17"/>
            <p:cNvSpPr/>
            <p:nvPr/>
          </p:nvSpPr>
          <p:spPr>
            <a:xfrm>
              <a:off x="5548376" y="3814826"/>
              <a:ext cx="2667000" cy="457200"/>
            </a:xfrm>
            <a:custGeom>
              <a:avLst/>
              <a:gdLst/>
              <a:ahLst/>
              <a:cxnLst/>
              <a:rect l="l" t="t" r="r" b="b"/>
              <a:pathLst>
                <a:path w="2667000" h="457200">
                  <a:moveTo>
                    <a:pt x="0" y="457200"/>
                  </a:moveTo>
                  <a:lnTo>
                    <a:pt x="2667000" y="457200"/>
                  </a:lnTo>
                  <a:lnTo>
                    <a:pt x="2667000" y="0"/>
                  </a:lnTo>
                  <a:lnTo>
                    <a:pt x="0" y="0"/>
                  </a:lnTo>
                  <a:lnTo>
                    <a:pt x="0" y="457200"/>
                  </a:lnTo>
                  <a:close/>
                </a:path>
              </a:pathLst>
            </a:custGeom>
            <a:ln w="9525">
              <a:solidFill>
                <a:srgbClr val="000000"/>
              </a:solidFill>
            </a:ln>
          </p:spPr>
          <p:txBody>
            <a:bodyPr wrap="square" lIns="0" tIns="0" rIns="0" bIns="0" rtlCol="0"/>
            <a:lstStyle/>
            <a:p>
              <a:endParaRPr/>
            </a:p>
          </p:txBody>
        </p:sp>
      </p:grpSp>
      <p:sp>
        <p:nvSpPr>
          <p:cNvPr id="18" name="object 18"/>
          <p:cNvSpPr txBox="1"/>
          <p:nvPr/>
        </p:nvSpPr>
        <p:spPr>
          <a:xfrm>
            <a:off x="5572125" y="3840797"/>
            <a:ext cx="2600325" cy="334645"/>
          </a:xfrm>
          <a:prstGeom prst="rect">
            <a:avLst/>
          </a:prstGeom>
        </p:spPr>
        <p:txBody>
          <a:bodyPr vert="horz" wrap="square" lIns="0" tIns="15875" rIns="0" bIns="0" rtlCol="0">
            <a:spAutoFit/>
          </a:bodyPr>
          <a:lstStyle/>
          <a:p>
            <a:pPr marL="655320">
              <a:lnSpc>
                <a:spcPct val="100000"/>
              </a:lnSpc>
              <a:spcBef>
                <a:spcPts val="125"/>
              </a:spcBef>
            </a:pPr>
            <a:r>
              <a:rPr sz="2000" spc="-20" dirty="0">
                <a:solidFill>
                  <a:srgbClr val="E9E4DC"/>
                </a:solidFill>
                <a:latin typeface="Times New Roman"/>
                <a:cs typeface="Times New Roman"/>
              </a:rPr>
              <a:t>return</a:t>
            </a:r>
            <a:r>
              <a:rPr sz="2000" spc="-85" dirty="0">
                <a:solidFill>
                  <a:srgbClr val="E9E4DC"/>
                </a:solidFill>
                <a:latin typeface="Times New Roman"/>
                <a:cs typeface="Times New Roman"/>
              </a:rPr>
              <a:t> </a:t>
            </a:r>
            <a:r>
              <a:rPr sz="2000" spc="-10" dirty="0">
                <a:solidFill>
                  <a:srgbClr val="E9E4DC"/>
                </a:solidFill>
                <a:latin typeface="Times New Roman"/>
                <a:cs typeface="Times New Roman"/>
              </a:rPr>
              <a:t>address</a:t>
            </a:r>
            <a:endParaRPr sz="2000">
              <a:latin typeface="Times New Roman"/>
              <a:cs typeface="Times New Roman"/>
            </a:endParaRPr>
          </a:p>
        </p:txBody>
      </p:sp>
      <p:grpSp>
        <p:nvGrpSpPr>
          <p:cNvPr id="19" name="object 19"/>
          <p:cNvGrpSpPr/>
          <p:nvPr/>
        </p:nvGrpSpPr>
        <p:grpSpPr>
          <a:xfrm>
            <a:off x="5181600" y="2114486"/>
            <a:ext cx="3248025" cy="4210685"/>
            <a:chOff x="5181600" y="2114486"/>
            <a:chExt cx="3248025" cy="4210685"/>
          </a:xfrm>
        </p:grpSpPr>
        <p:sp>
          <p:nvSpPr>
            <p:cNvPr id="20" name="object 20"/>
            <p:cNvSpPr/>
            <p:nvPr/>
          </p:nvSpPr>
          <p:spPr>
            <a:xfrm>
              <a:off x="5548375" y="4224400"/>
              <a:ext cx="2667000" cy="457200"/>
            </a:xfrm>
            <a:custGeom>
              <a:avLst/>
              <a:gdLst/>
              <a:ahLst/>
              <a:cxnLst/>
              <a:rect l="l" t="t" r="r" b="b"/>
              <a:pathLst>
                <a:path w="2667000" h="457200">
                  <a:moveTo>
                    <a:pt x="2667000" y="0"/>
                  </a:moveTo>
                  <a:lnTo>
                    <a:pt x="0" y="0"/>
                  </a:lnTo>
                  <a:lnTo>
                    <a:pt x="0" y="457200"/>
                  </a:lnTo>
                  <a:lnTo>
                    <a:pt x="2667000" y="457200"/>
                  </a:lnTo>
                  <a:lnTo>
                    <a:pt x="2667000" y="0"/>
                  </a:lnTo>
                  <a:close/>
                </a:path>
              </a:pathLst>
            </a:custGeom>
            <a:solidFill>
              <a:srgbClr val="006FC0"/>
            </a:solidFill>
          </p:spPr>
          <p:txBody>
            <a:bodyPr wrap="square" lIns="0" tIns="0" rIns="0" bIns="0" rtlCol="0"/>
            <a:lstStyle/>
            <a:p>
              <a:endParaRPr/>
            </a:p>
          </p:txBody>
        </p:sp>
        <p:sp>
          <p:nvSpPr>
            <p:cNvPr id="21" name="object 21"/>
            <p:cNvSpPr/>
            <p:nvPr/>
          </p:nvSpPr>
          <p:spPr>
            <a:xfrm>
              <a:off x="5548375" y="4224400"/>
              <a:ext cx="2667000" cy="457200"/>
            </a:xfrm>
            <a:custGeom>
              <a:avLst/>
              <a:gdLst/>
              <a:ahLst/>
              <a:cxnLst/>
              <a:rect l="l" t="t" r="r" b="b"/>
              <a:pathLst>
                <a:path w="2667000" h="457200">
                  <a:moveTo>
                    <a:pt x="0" y="457200"/>
                  </a:moveTo>
                  <a:lnTo>
                    <a:pt x="2667000" y="457200"/>
                  </a:lnTo>
                  <a:lnTo>
                    <a:pt x="2667000" y="0"/>
                  </a:lnTo>
                  <a:lnTo>
                    <a:pt x="0" y="0"/>
                  </a:lnTo>
                  <a:lnTo>
                    <a:pt x="0" y="457200"/>
                  </a:lnTo>
                  <a:close/>
                </a:path>
              </a:pathLst>
            </a:custGeom>
            <a:ln w="9525">
              <a:solidFill>
                <a:srgbClr val="000000"/>
              </a:solidFill>
            </a:ln>
          </p:spPr>
          <p:txBody>
            <a:bodyPr wrap="square" lIns="0" tIns="0" rIns="0" bIns="0" rtlCol="0"/>
            <a:lstStyle/>
            <a:p>
              <a:endParaRPr/>
            </a:p>
          </p:txBody>
        </p:sp>
        <p:sp>
          <p:nvSpPr>
            <p:cNvPr id="22" name="object 22"/>
            <p:cNvSpPr/>
            <p:nvPr/>
          </p:nvSpPr>
          <p:spPr>
            <a:xfrm>
              <a:off x="5219700" y="3305174"/>
              <a:ext cx="3171825" cy="2838450"/>
            </a:xfrm>
            <a:custGeom>
              <a:avLst/>
              <a:gdLst/>
              <a:ahLst/>
              <a:cxnLst/>
              <a:rect l="l" t="t" r="r" b="b"/>
              <a:pathLst>
                <a:path w="3171825" h="2838450">
                  <a:moveTo>
                    <a:pt x="0" y="2838450"/>
                  </a:moveTo>
                  <a:lnTo>
                    <a:pt x="3067050" y="2838450"/>
                  </a:lnTo>
                </a:path>
                <a:path w="3171825" h="2838450">
                  <a:moveTo>
                    <a:pt x="47625" y="0"/>
                  </a:moveTo>
                  <a:lnTo>
                    <a:pt x="3171825" y="0"/>
                  </a:lnTo>
                </a:path>
              </a:pathLst>
            </a:custGeom>
            <a:ln w="76200">
              <a:solidFill>
                <a:srgbClr val="000000"/>
              </a:solidFill>
            </a:ln>
          </p:spPr>
          <p:txBody>
            <a:bodyPr wrap="square" lIns="0" tIns="0" rIns="0" bIns="0" rtlCol="0"/>
            <a:lstStyle/>
            <a:p>
              <a:endParaRPr/>
            </a:p>
          </p:txBody>
        </p:sp>
        <p:sp>
          <p:nvSpPr>
            <p:cNvPr id="23" name="object 23"/>
            <p:cNvSpPr/>
            <p:nvPr/>
          </p:nvSpPr>
          <p:spPr>
            <a:xfrm>
              <a:off x="5524500" y="5581650"/>
              <a:ext cx="9525" cy="714375"/>
            </a:xfrm>
            <a:custGeom>
              <a:avLst/>
              <a:gdLst/>
              <a:ahLst/>
              <a:cxnLst/>
              <a:rect l="l" t="t" r="r" b="b"/>
              <a:pathLst>
                <a:path w="9525" h="714375">
                  <a:moveTo>
                    <a:pt x="9525" y="0"/>
                  </a:moveTo>
                  <a:lnTo>
                    <a:pt x="0" y="714375"/>
                  </a:lnTo>
                </a:path>
              </a:pathLst>
            </a:custGeom>
            <a:ln w="57150">
              <a:solidFill>
                <a:srgbClr val="000000"/>
              </a:solidFill>
            </a:ln>
          </p:spPr>
          <p:txBody>
            <a:bodyPr wrap="square" lIns="0" tIns="0" rIns="0" bIns="0" rtlCol="0"/>
            <a:lstStyle/>
            <a:p>
              <a:endParaRPr/>
            </a:p>
          </p:txBody>
        </p:sp>
        <p:pic>
          <p:nvPicPr>
            <p:cNvPr id="24" name="object 24"/>
            <p:cNvPicPr/>
            <p:nvPr/>
          </p:nvPicPr>
          <p:blipFill>
            <a:blip r:embed="rId2" cstate="print"/>
            <a:stretch>
              <a:fillRect/>
            </a:stretch>
          </p:blipFill>
          <p:spPr>
            <a:xfrm>
              <a:off x="5495925" y="2114486"/>
              <a:ext cx="2767076" cy="1214437"/>
            </a:xfrm>
            <a:prstGeom prst="rect">
              <a:avLst/>
            </a:prstGeom>
          </p:spPr>
        </p:pic>
        <p:sp>
          <p:nvSpPr>
            <p:cNvPr id="25" name="object 25"/>
            <p:cNvSpPr/>
            <p:nvPr/>
          </p:nvSpPr>
          <p:spPr>
            <a:xfrm>
              <a:off x="5572125" y="2138425"/>
              <a:ext cx="2590800" cy="1114425"/>
            </a:xfrm>
            <a:custGeom>
              <a:avLst/>
              <a:gdLst/>
              <a:ahLst/>
              <a:cxnLst/>
              <a:rect l="l" t="t" r="r" b="b"/>
              <a:pathLst>
                <a:path w="2590800" h="1114425">
                  <a:moveTo>
                    <a:pt x="0" y="1114425"/>
                  </a:moveTo>
                  <a:lnTo>
                    <a:pt x="2590800" y="1114425"/>
                  </a:lnTo>
                  <a:lnTo>
                    <a:pt x="2590800" y="0"/>
                  </a:lnTo>
                  <a:lnTo>
                    <a:pt x="0" y="0"/>
                  </a:lnTo>
                  <a:lnTo>
                    <a:pt x="0" y="1114425"/>
                  </a:lnTo>
                  <a:close/>
                </a:path>
              </a:pathLst>
            </a:custGeom>
            <a:solidFill>
              <a:srgbClr val="006FC0"/>
            </a:solidFill>
          </p:spPr>
          <p:txBody>
            <a:bodyPr wrap="square" lIns="0" tIns="0" rIns="0" bIns="0" rtlCol="0"/>
            <a:lstStyle/>
            <a:p>
              <a:endParaRPr/>
            </a:p>
          </p:txBody>
        </p:sp>
        <p:sp>
          <p:nvSpPr>
            <p:cNvPr id="26" name="object 26"/>
            <p:cNvSpPr/>
            <p:nvPr/>
          </p:nvSpPr>
          <p:spPr>
            <a:xfrm>
              <a:off x="5548375" y="2138425"/>
              <a:ext cx="2667000" cy="1114425"/>
            </a:xfrm>
            <a:custGeom>
              <a:avLst/>
              <a:gdLst/>
              <a:ahLst/>
              <a:cxnLst/>
              <a:rect l="l" t="t" r="r" b="b"/>
              <a:pathLst>
                <a:path w="2667000" h="1114425">
                  <a:moveTo>
                    <a:pt x="0" y="1114425"/>
                  </a:moveTo>
                  <a:lnTo>
                    <a:pt x="2667000" y="1114425"/>
                  </a:lnTo>
                  <a:lnTo>
                    <a:pt x="2667000" y="0"/>
                  </a:lnTo>
                  <a:lnTo>
                    <a:pt x="0" y="0"/>
                  </a:lnTo>
                  <a:lnTo>
                    <a:pt x="0" y="1114425"/>
                  </a:lnTo>
                  <a:close/>
                </a:path>
              </a:pathLst>
            </a:custGeom>
            <a:ln w="9525">
              <a:solidFill>
                <a:srgbClr val="AE3408"/>
              </a:solidFill>
            </a:ln>
          </p:spPr>
          <p:txBody>
            <a:bodyPr wrap="square" lIns="0" tIns="0" rIns="0" bIns="0" rtlCol="0"/>
            <a:lstStyle/>
            <a:p>
              <a:endParaRPr/>
            </a:p>
          </p:txBody>
        </p:sp>
      </p:grpSp>
      <p:sp>
        <p:nvSpPr>
          <p:cNvPr id="27" name="object 27"/>
          <p:cNvSpPr txBox="1"/>
          <p:nvPr/>
        </p:nvSpPr>
        <p:spPr>
          <a:xfrm>
            <a:off x="5572125" y="2492692"/>
            <a:ext cx="2590800" cy="334645"/>
          </a:xfrm>
          <a:prstGeom prst="rect">
            <a:avLst/>
          </a:prstGeom>
        </p:spPr>
        <p:txBody>
          <a:bodyPr vert="horz" wrap="square" lIns="0" tIns="15875" rIns="0" bIns="0" rtlCol="0">
            <a:spAutoFit/>
          </a:bodyPr>
          <a:lstStyle/>
          <a:p>
            <a:pPr marL="775335">
              <a:lnSpc>
                <a:spcPct val="100000"/>
              </a:lnSpc>
              <a:spcBef>
                <a:spcPts val="125"/>
              </a:spcBef>
            </a:pPr>
            <a:r>
              <a:rPr sz="2000" b="1" spc="-135" dirty="0">
                <a:solidFill>
                  <a:srgbClr val="EDEBE0"/>
                </a:solidFill>
                <a:latin typeface="Times New Roman"/>
                <a:cs typeface="Times New Roman"/>
              </a:rPr>
              <a:t>NOP</a:t>
            </a:r>
            <a:r>
              <a:rPr sz="2000" b="1" spc="-10" dirty="0">
                <a:solidFill>
                  <a:srgbClr val="EDEBE0"/>
                </a:solidFill>
                <a:latin typeface="Times New Roman"/>
                <a:cs typeface="Times New Roman"/>
              </a:rPr>
              <a:t> Slide</a:t>
            </a:r>
            <a:endParaRPr sz="2000">
              <a:latin typeface="Times New Roman"/>
              <a:cs typeface="Times New Roman"/>
            </a:endParaRPr>
          </a:p>
        </p:txBody>
      </p:sp>
      <p:grpSp>
        <p:nvGrpSpPr>
          <p:cNvPr id="28" name="object 28"/>
          <p:cNvGrpSpPr/>
          <p:nvPr/>
        </p:nvGrpSpPr>
        <p:grpSpPr>
          <a:xfrm>
            <a:off x="5495925" y="790575"/>
            <a:ext cx="2767330" cy="1424305"/>
            <a:chOff x="5495925" y="790575"/>
            <a:chExt cx="2767330" cy="1424305"/>
          </a:xfrm>
        </p:grpSpPr>
        <p:pic>
          <p:nvPicPr>
            <p:cNvPr id="29" name="object 29"/>
            <p:cNvPicPr/>
            <p:nvPr/>
          </p:nvPicPr>
          <p:blipFill>
            <a:blip r:embed="rId3" cstate="print"/>
            <a:stretch>
              <a:fillRect/>
            </a:stretch>
          </p:blipFill>
          <p:spPr>
            <a:xfrm>
              <a:off x="5495925" y="790575"/>
              <a:ext cx="2767076" cy="1423924"/>
            </a:xfrm>
            <a:prstGeom prst="rect">
              <a:avLst/>
            </a:prstGeom>
          </p:spPr>
        </p:pic>
        <p:sp>
          <p:nvSpPr>
            <p:cNvPr id="30" name="object 30"/>
            <p:cNvSpPr/>
            <p:nvPr/>
          </p:nvSpPr>
          <p:spPr>
            <a:xfrm>
              <a:off x="5572125" y="814450"/>
              <a:ext cx="2590800" cy="1323975"/>
            </a:xfrm>
            <a:custGeom>
              <a:avLst/>
              <a:gdLst/>
              <a:ahLst/>
              <a:cxnLst/>
              <a:rect l="l" t="t" r="r" b="b"/>
              <a:pathLst>
                <a:path w="2590800" h="1323975">
                  <a:moveTo>
                    <a:pt x="0" y="1323975"/>
                  </a:moveTo>
                  <a:lnTo>
                    <a:pt x="2590800" y="1323975"/>
                  </a:lnTo>
                  <a:lnTo>
                    <a:pt x="2590800" y="0"/>
                  </a:lnTo>
                  <a:lnTo>
                    <a:pt x="0" y="0"/>
                  </a:lnTo>
                  <a:lnTo>
                    <a:pt x="0" y="1323975"/>
                  </a:lnTo>
                  <a:close/>
                </a:path>
              </a:pathLst>
            </a:custGeom>
            <a:solidFill>
              <a:srgbClr val="006FC0"/>
            </a:solidFill>
          </p:spPr>
          <p:txBody>
            <a:bodyPr wrap="square" lIns="0" tIns="0" rIns="0" bIns="0" rtlCol="0"/>
            <a:lstStyle/>
            <a:p>
              <a:endParaRPr/>
            </a:p>
          </p:txBody>
        </p:sp>
        <p:sp>
          <p:nvSpPr>
            <p:cNvPr id="31" name="object 31"/>
            <p:cNvSpPr/>
            <p:nvPr/>
          </p:nvSpPr>
          <p:spPr>
            <a:xfrm>
              <a:off x="5548376" y="814450"/>
              <a:ext cx="2667000" cy="1323975"/>
            </a:xfrm>
            <a:custGeom>
              <a:avLst/>
              <a:gdLst/>
              <a:ahLst/>
              <a:cxnLst/>
              <a:rect l="l" t="t" r="r" b="b"/>
              <a:pathLst>
                <a:path w="2667000" h="1323975">
                  <a:moveTo>
                    <a:pt x="0" y="1323975"/>
                  </a:moveTo>
                  <a:lnTo>
                    <a:pt x="2667000" y="1323975"/>
                  </a:lnTo>
                  <a:lnTo>
                    <a:pt x="2667000" y="0"/>
                  </a:lnTo>
                  <a:lnTo>
                    <a:pt x="0" y="0"/>
                  </a:lnTo>
                  <a:lnTo>
                    <a:pt x="0" y="1323975"/>
                  </a:lnTo>
                  <a:close/>
                </a:path>
              </a:pathLst>
            </a:custGeom>
            <a:ln w="9525">
              <a:solidFill>
                <a:srgbClr val="AE3408"/>
              </a:solidFill>
            </a:ln>
          </p:spPr>
          <p:txBody>
            <a:bodyPr wrap="square" lIns="0" tIns="0" rIns="0" bIns="0" rtlCol="0"/>
            <a:lstStyle/>
            <a:p>
              <a:endParaRPr/>
            </a:p>
          </p:txBody>
        </p:sp>
      </p:grpSp>
      <p:sp>
        <p:nvSpPr>
          <p:cNvPr id="32" name="object 32"/>
          <p:cNvSpPr txBox="1"/>
          <p:nvPr/>
        </p:nvSpPr>
        <p:spPr>
          <a:xfrm>
            <a:off x="5572125" y="1271841"/>
            <a:ext cx="2590800" cy="334645"/>
          </a:xfrm>
          <a:prstGeom prst="rect">
            <a:avLst/>
          </a:prstGeom>
        </p:spPr>
        <p:txBody>
          <a:bodyPr vert="horz" wrap="square" lIns="0" tIns="15875" rIns="0" bIns="0" rtlCol="0">
            <a:spAutoFit/>
          </a:bodyPr>
          <a:lstStyle/>
          <a:p>
            <a:pPr marL="747395">
              <a:lnSpc>
                <a:spcPct val="100000"/>
              </a:lnSpc>
              <a:spcBef>
                <a:spcPts val="125"/>
              </a:spcBef>
            </a:pPr>
            <a:r>
              <a:rPr sz="2000" b="1" spc="-50" dirty="0">
                <a:solidFill>
                  <a:srgbClr val="EDEBE0"/>
                </a:solidFill>
                <a:latin typeface="Times New Roman"/>
                <a:cs typeface="Times New Roman"/>
              </a:rPr>
              <a:t>Program</a:t>
            </a:r>
            <a:r>
              <a:rPr sz="2000" b="1" spc="-80" dirty="0">
                <a:solidFill>
                  <a:srgbClr val="EDEBE0"/>
                </a:solidFill>
                <a:latin typeface="Times New Roman"/>
                <a:cs typeface="Times New Roman"/>
              </a:rPr>
              <a:t> </a:t>
            </a:r>
            <a:r>
              <a:rPr sz="2000" b="1" spc="-50" dirty="0">
                <a:solidFill>
                  <a:srgbClr val="EDEBE0"/>
                </a:solidFill>
                <a:latin typeface="Times New Roman"/>
                <a:cs typeface="Times New Roman"/>
              </a:rPr>
              <a:t>P</a:t>
            </a:r>
            <a:endParaRPr sz="2000">
              <a:latin typeface="Times New Roman"/>
              <a:cs typeface="Times New Roman"/>
            </a:endParaRPr>
          </a:p>
        </p:txBody>
      </p:sp>
      <p:grpSp>
        <p:nvGrpSpPr>
          <p:cNvPr id="33" name="object 33"/>
          <p:cNvGrpSpPr/>
          <p:nvPr/>
        </p:nvGrpSpPr>
        <p:grpSpPr>
          <a:xfrm>
            <a:off x="4724400" y="581025"/>
            <a:ext cx="4081779" cy="5743575"/>
            <a:chOff x="4724400" y="581025"/>
            <a:chExt cx="4081779" cy="5743575"/>
          </a:xfrm>
        </p:grpSpPr>
        <p:sp>
          <p:nvSpPr>
            <p:cNvPr id="34" name="object 34"/>
            <p:cNvSpPr/>
            <p:nvPr/>
          </p:nvSpPr>
          <p:spPr>
            <a:xfrm>
              <a:off x="5524500" y="609600"/>
              <a:ext cx="19050" cy="2790825"/>
            </a:xfrm>
            <a:custGeom>
              <a:avLst/>
              <a:gdLst/>
              <a:ahLst/>
              <a:cxnLst/>
              <a:rect l="l" t="t" r="r" b="b"/>
              <a:pathLst>
                <a:path w="19050" h="2790825">
                  <a:moveTo>
                    <a:pt x="19050" y="0"/>
                  </a:moveTo>
                  <a:lnTo>
                    <a:pt x="0" y="2790825"/>
                  </a:lnTo>
                </a:path>
              </a:pathLst>
            </a:custGeom>
            <a:ln w="57150">
              <a:solidFill>
                <a:srgbClr val="000000"/>
              </a:solidFill>
            </a:ln>
          </p:spPr>
          <p:txBody>
            <a:bodyPr wrap="square" lIns="0" tIns="0" rIns="0" bIns="0" rtlCol="0"/>
            <a:lstStyle/>
            <a:p>
              <a:endParaRPr/>
            </a:p>
          </p:txBody>
        </p:sp>
        <p:pic>
          <p:nvPicPr>
            <p:cNvPr id="35" name="object 35"/>
            <p:cNvPicPr/>
            <p:nvPr/>
          </p:nvPicPr>
          <p:blipFill>
            <a:blip r:embed="rId4" cstate="print"/>
            <a:stretch>
              <a:fillRect/>
            </a:stretch>
          </p:blipFill>
          <p:spPr>
            <a:xfrm>
              <a:off x="4724400" y="2447798"/>
              <a:ext cx="900112" cy="1681226"/>
            </a:xfrm>
            <a:prstGeom prst="rect">
              <a:avLst/>
            </a:prstGeom>
          </p:spPr>
        </p:pic>
        <p:sp>
          <p:nvSpPr>
            <p:cNvPr id="36" name="object 36"/>
            <p:cNvSpPr/>
            <p:nvPr/>
          </p:nvSpPr>
          <p:spPr>
            <a:xfrm>
              <a:off x="4772278" y="2607310"/>
              <a:ext cx="780415" cy="1453515"/>
            </a:xfrm>
            <a:custGeom>
              <a:avLst/>
              <a:gdLst/>
              <a:ahLst/>
              <a:cxnLst/>
              <a:rect l="l" t="t" r="r" b="b"/>
              <a:pathLst>
                <a:path w="780414" h="1453514">
                  <a:moveTo>
                    <a:pt x="462470" y="54635"/>
                  </a:moveTo>
                  <a:lnTo>
                    <a:pt x="392430" y="79501"/>
                  </a:lnTo>
                  <a:lnTo>
                    <a:pt x="345694" y="97662"/>
                  </a:lnTo>
                  <a:lnTo>
                    <a:pt x="299338" y="116966"/>
                  </a:lnTo>
                  <a:lnTo>
                    <a:pt x="253492" y="137794"/>
                  </a:lnTo>
                  <a:lnTo>
                    <a:pt x="209804" y="159765"/>
                  </a:lnTo>
                  <a:lnTo>
                    <a:pt x="169418" y="183006"/>
                  </a:lnTo>
                  <a:lnTo>
                    <a:pt x="133223" y="207390"/>
                  </a:lnTo>
                  <a:lnTo>
                    <a:pt x="101854" y="233425"/>
                  </a:lnTo>
                  <a:lnTo>
                    <a:pt x="68072" y="274827"/>
                  </a:lnTo>
                  <a:lnTo>
                    <a:pt x="43942" y="319531"/>
                  </a:lnTo>
                  <a:lnTo>
                    <a:pt x="20574" y="384937"/>
                  </a:lnTo>
                  <a:lnTo>
                    <a:pt x="6223" y="455422"/>
                  </a:lnTo>
                  <a:lnTo>
                    <a:pt x="126" y="529081"/>
                  </a:lnTo>
                  <a:lnTo>
                    <a:pt x="0" y="566419"/>
                  </a:lnTo>
                  <a:lnTo>
                    <a:pt x="1650" y="603757"/>
                  </a:lnTo>
                  <a:lnTo>
                    <a:pt x="10668" y="677417"/>
                  </a:lnTo>
                  <a:lnTo>
                    <a:pt x="26670" y="747776"/>
                  </a:lnTo>
                  <a:lnTo>
                    <a:pt x="49657" y="812418"/>
                  </a:lnTo>
                  <a:lnTo>
                    <a:pt x="74549" y="859281"/>
                  </a:lnTo>
                  <a:lnTo>
                    <a:pt x="106934" y="903859"/>
                  </a:lnTo>
                  <a:lnTo>
                    <a:pt x="145161" y="946912"/>
                  </a:lnTo>
                  <a:lnTo>
                    <a:pt x="187960" y="988313"/>
                  </a:lnTo>
                  <a:lnTo>
                    <a:pt x="218059" y="1014983"/>
                  </a:lnTo>
                  <a:lnTo>
                    <a:pt x="249047" y="1041019"/>
                  </a:lnTo>
                  <a:lnTo>
                    <a:pt x="280543" y="1066419"/>
                  </a:lnTo>
                  <a:lnTo>
                    <a:pt x="311785" y="1090929"/>
                  </a:lnTo>
                  <a:lnTo>
                    <a:pt x="401700" y="1160145"/>
                  </a:lnTo>
                  <a:lnTo>
                    <a:pt x="428625" y="1181608"/>
                  </a:lnTo>
                  <a:lnTo>
                    <a:pt x="441325" y="1191895"/>
                  </a:lnTo>
                  <a:lnTo>
                    <a:pt x="464693" y="1211707"/>
                  </a:lnTo>
                  <a:lnTo>
                    <a:pt x="475615" y="1221485"/>
                  </a:lnTo>
                  <a:lnTo>
                    <a:pt x="496697" y="1240916"/>
                  </a:lnTo>
                  <a:lnTo>
                    <a:pt x="555244" y="1293621"/>
                  </a:lnTo>
                  <a:lnTo>
                    <a:pt x="607695" y="1339469"/>
                  </a:lnTo>
                  <a:lnTo>
                    <a:pt x="655701" y="1380363"/>
                  </a:lnTo>
                  <a:lnTo>
                    <a:pt x="714883" y="1429765"/>
                  </a:lnTo>
                  <a:lnTo>
                    <a:pt x="743585" y="1453388"/>
                  </a:lnTo>
                  <a:lnTo>
                    <a:pt x="779907" y="1409191"/>
                  </a:lnTo>
                  <a:lnTo>
                    <a:pt x="722249" y="1361566"/>
                  </a:lnTo>
                  <a:lnTo>
                    <a:pt x="692404" y="1336547"/>
                  </a:lnTo>
                  <a:lnTo>
                    <a:pt x="644906" y="1296034"/>
                  </a:lnTo>
                  <a:lnTo>
                    <a:pt x="610870" y="1266444"/>
                  </a:lnTo>
                  <a:lnTo>
                    <a:pt x="592963" y="1250695"/>
                  </a:lnTo>
                  <a:lnTo>
                    <a:pt x="574675" y="1234185"/>
                  </a:lnTo>
                  <a:lnTo>
                    <a:pt x="555117" y="1216787"/>
                  </a:lnTo>
                  <a:lnTo>
                    <a:pt x="503047" y="1169289"/>
                  </a:lnTo>
                  <a:lnTo>
                    <a:pt x="464820" y="1137284"/>
                  </a:lnTo>
                  <a:lnTo>
                    <a:pt x="315595" y="1021333"/>
                  </a:lnTo>
                  <a:lnTo>
                    <a:pt x="284988" y="996568"/>
                  </a:lnTo>
                  <a:lnTo>
                    <a:pt x="254762" y="971295"/>
                  </a:lnTo>
                  <a:lnTo>
                    <a:pt x="225933" y="945514"/>
                  </a:lnTo>
                  <a:lnTo>
                    <a:pt x="185800" y="906652"/>
                  </a:lnTo>
                  <a:lnTo>
                    <a:pt x="150622" y="867155"/>
                  </a:lnTo>
                  <a:lnTo>
                    <a:pt x="122047" y="827531"/>
                  </a:lnTo>
                  <a:lnTo>
                    <a:pt x="101473" y="788415"/>
                  </a:lnTo>
                  <a:lnTo>
                    <a:pt x="81153" y="730376"/>
                  </a:lnTo>
                  <a:lnTo>
                    <a:pt x="66675" y="666241"/>
                  </a:lnTo>
                  <a:lnTo>
                    <a:pt x="58547" y="598297"/>
                  </a:lnTo>
                  <a:lnTo>
                    <a:pt x="57135" y="566419"/>
                  </a:lnTo>
                  <a:lnTo>
                    <a:pt x="57023" y="563879"/>
                  </a:lnTo>
                  <a:lnTo>
                    <a:pt x="59182" y="495300"/>
                  </a:lnTo>
                  <a:lnTo>
                    <a:pt x="68707" y="429387"/>
                  </a:lnTo>
                  <a:lnTo>
                    <a:pt x="85598" y="368680"/>
                  </a:lnTo>
                  <a:lnTo>
                    <a:pt x="102997" y="328675"/>
                  </a:lnTo>
                  <a:lnTo>
                    <a:pt x="124587" y="293497"/>
                  </a:lnTo>
                  <a:lnTo>
                    <a:pt x="154559" y="263016"/>
                  </a:lnTo>
                  <a:lnTo>
                    <a:pt x="200279" y="231139"/>
                  </a:lnTo>
                  <a:lnTo>
                    <a:pt x="237490" y="209676"/>
                  </a:lnTo>
                  <a:lnTo>
                    <a:pt x="278638" y="189102"/>
                  </a:lnTo>
                  <a:lnTo>
                    <a:pt x="322325" y="169290"/>
                  </a:lnTo>
                  <a:lnTo>
                    <a:pt x="367792" y="150367"/>
                  </a:lnTo>
                  <a:lnTo>
                    <a:pt x="413004" y="132841"/>
                  </a:lnTo>
                  <a:lnTo>
                    <a:pt x="457454" y="116712"/>
                  </a:lnTo>
                  <a:lnTo>
                    <a:pt x="479390" y="109161"/>
                  </a:lnTo>
                  <a:lnTo>
                    <a:pt x="462470" y="54635"/>
                  </a:lnTo>
                  <a:close/>
                </a:path>
                <a:path w="780414" h="1453514">
                  <a:moveTo>
                    <a:pt x="618987" y="46100"/>
                  </a:moveTo>
                  <a:lnTo>
                    <a:pt x="489712" y="46100"/>
                  </a:lnTo>
                  <a:lnTo>
                    <a:pt x="506730" y="100711"/>
                  </a:lnTo>
                  <a:lnTo>
                    <a:pt x="479390" y="109161"/>
                  </a:lnTo>
                  <a:lnTo>
                    <a:pt x="496316" y="163702"/>
                  </a:lnTo>
                  <a:lnTo>
                    <a:pt x="618987" y="46100"/>
                  </a:lnTo>
                  <a:close/>
                </a:path>
                <a:path w="780414" h="1453514">
                  <a:moveTo>
                    <a:pt x="489712" y="46100"/>
                  </a:moveTo>
                  <a:lnTo>
                    <a:pt x="462470" y="54635"/>
                  </a:lnTo>
                  <a:lnTo>
                    <a:pt x="479390" y="109161"/>
                  </a:lnTo>
                  <a:lnTo>
                    <a:pt x="506730" y="100711"/>
                  </a:lnTo>
                  <a:lnTo>
                    <a:pt x="489712" y="46100"/>
                  </a:lnTo>
                  <a:close/>
                </a:path>
                <a:path w="780414" h="1453514">
                  <a:moveTo>
                    <a:pt x="445516" y="0"/>
                  </a:moveTo>
                  <a:lnTo>
                    <a:pt x="462470" y="54635"/>
                  </a:lnTo>
                  <a:lnTo>
                    <a:pt x="489712" y="46100"/>
                  </a:lnTo>
                  <a:lnTo>
                    <a:pt x="618987" y="46100"/>
                  </a:lnTo>
                  <a:lnTo>
                    <a:pt x="634619" y="31114"/>
                  </a:lnTo>
                  <a:lnTo>
                    <a:pt x="445516" y="0"/>
                  </a:lnTo>
                  <a:close/>
                </a:path>
              </a:pathLst>
            </a:custGeom>
            <a:solidFill>
              <a:srgbClr val="000090"/>
            </a:solidFill>
          </p:spPr>
          <p:txBody>
            <a:bodyPr wrap="square" lIns="0" tIns="0" rIns="0" bIns="0" rtlCol="0"/>
            <a:lstStyle/>
            <a:p>
              <a:endParaRPr/>
            </a:p>
          </p:txBody>
        </p:sp>
        <p:sp>
          <p:nvSpPr>
            <p:cNvPr id="37" name="object 37"/>
            <p:cNvSpPr/>
            <p:nvPr/>
          </p:nvSpPr>
          <p:spPr>
            <a:xfrm>
              <a:off x="5524500" y="3305175"/>
              <a:ext cx="2667000" cy="2838450"/>
            </a:xfrm>
            <a:custGeom>
              <a:avLst/>
              <a:gdLst/>
              <a:ahLst/>
              <a:cxnLst/>
              <a:rect l="l" t="t" r="r" b="b"/>
              <a:pathLst>
                <a:path w="2667000" h="2838450">
                  <a:moveTo>
                    <a:pt x="0" y="2838450"/>
                  </a:moveTo>
                  <a:lnTo>
                    <a:pt x="2667000" y="2838450"/>
                  </a:lnTo>
                  <a:lnTo>
                    <a:pt x="2667000" y="0"/>
                  </a:lnTo>
                  <a:lnTo>
                    <a:pt x="0" y="0"/>
                  </a:lnTo>
                  <a:lnTo>
                    <a:pt x="0" y="2838450"/>
                  </a:lnTo>
                  <a:close/>
                </a:path>
              </a:pathLst>
            </a:custGeom>
            <a:ln w="57150">
              <a:solidFill>
                <a:srgbClr val="000000"/>
              </a:solidFill>
            </a:ln>
          </p:spPr>
          <p:txBody>
            <a:bodyPr wrap="square" lIns="0" tIns="0" rIns="0" bIns="0" rtlCol="0"/>
            <a:lstStyle/>
            <a:p>
              <a:endParaRPr/>
            </a:p>
          </p:txBody>
        </p:sp>
        <p:sp>
          <p:nvSpPr>
            <p:cNvPr id="38" name="object 38"/>
            <p:cNvSpPr/>
            <p:nvPr/>
          </p:nvSpPr>
          <p:spPr>
            <a:xfrm>
              <a:off x="8191500" y="609600"/>
              <a:ext cx="19050" cy="5686425"/>
            </a:xfrm>
            <a:custGeom>
              <a:avLst/>
              <a:gdLst/>
              <a:ahLst/>
              <a:cxnLst/>
              <a:rect l="l" t="t" r="r" b="b"/>
              <a:pathLst>
                <a:path w="19050" h="5686425">
                  <a:moveTo>
                    <a:pt x="9525" y="4972050"/>
                  </a:moveTo>
                  <a:lnTo>
                    <a:pt x="0" y="5686425"/>
                  </a:lnTo>
                </a:path>
                <a:path w="19050" h="5686425">
                  <a:moveTo>
                    <a:pt x="19050" y="0"/>
                  </a:moveTo>
                  <a:lnTo>
                    <a:pt x="0" y="2790825"/>
                  </a:lnTo>
                </a:path>
              </a:pathLst>
            </a:custGeom>
            <a:ln w="57150">
              <a:solidFill>
                <a:srgbClr val="000000"/>
              </a:solidFill>
            </a:ln>
          </p:spPr>
          <p:txBody>
            <a:bodyPr wrap="square" lIns="0" tIns="0" rIns="0" bIns="0" rtlCol="0"/>
            <a:lstStyle/>
            <a:p>
              <a:endParaRPr/>
            </a:p>
          </p:txBody>
        </p:sp>
        <p:pic>
          <p:nvPicPr>
            <p:cNvPr id="39" name="object 39"/>
            <p:cNvPicPr/>
            <p:nvPr/>
          </p:nvPicPr>
          <p:blipFill>
            <a:blip r:embed="rId5" cstate="print"/>
            <a:stretch>
              <a:fillRect/>
            </a:stretch>
          </p:blipFill>
          <p:spPr>
            <a:xfrm>
              <a:off x="8372475" y="923861"/>
              <a:ext cx="433387" cy="5138801"/>
            </a:xfrm>
            <a:prstGeom prst="rect">
              <a:avLst/>
            </a:prstGeom>
          </p:spPr>
        </p:pic>
        <p:sp>
          <p:nvSpPr>
            <p:cNvPr id="40" name="object 40"/>
            <p:cNvSpPr/>
            <p:nvPr/>
          </p:nvSpPr>
          <p:spPr>
            <a:xfrm>
              <a:off x="8505971" y="1114298"/>
              <a:ext cx="171450" cy="4877435"/>
            </a:xfrm>
            <a:custGeom>
              <a:avLst/>
              <a:gdLst/>
              <a:ahLst/>
              <a:cxnLst/>
              <a:rect l="l" t="t" r="r" b="b"/>
              <a:pathLst>
                <a:path w="171450" h="4877435">
                  <a:moveTo>
                    <a:pt x="85578" y="75800"/>
                  </a:moveTo>
                  <a:lnTo>
                    <a:pt x="66528" y="108457"/>
                  </a:lnTo>
                  <a:lnTo>
                    <a:pt x="66528" y="4876927"/>
                  </a:lnTo>
                  <a:lnTo>
                    <a:pt x="104628" y="4876927"/>
                  </a:lnTo>
                  <a:lnTo>
                    <a:pt x="104628" y="108457"/>
                  </a:lnTo>
                  <a:lnTo>
                    <a:pt x="85578" y="75800"/>
                  </a:lnTo>
                  <a:close/>
                </a:path>
                <a:path w="171450" h="4877435">
                  <a:moveTo>
                    <a:pt x="85578" y="0"/>
                  </a:moveTo>
                  <a:lnTo>
                    <a:pt x="2393" y="142493"/>
                  </a:lnTo>
                  <a:lnTo>
                    <a:pt x="0" y="149689"/>
                  </a:lnTo>
                  <a:lnTo>
                    <a:pt x="488" y="157003"/>
                  </a:lnTo>
                  <a:lnTo>
                    <a:pt x="3643" y="163603"/>
                  </a:lnTo>
                  <a:lnTo>
                    <a:pt x="9251" y="168655"/>
                  </a:lnTo>
                  <a:lnTo>
                    <a:pt x="16446" y="171049"/>
                  </a:lnTo>
                  <a:lnTo>
                    <a:pt x="23760" y="170561"/>
                  </a:lnTo>
                  <a:lnTo>
                    <a:pt x="30360" y="167405"/>
                  </a:lnTo>
                  <a:lnTo>
                    <a:pt x="35413" y="161798"/>
                  </a:lnTo>
                  <a:lnTo>
                    <a:pt x="66528" y="108457"/>
                  </a:lnTo>
                  <a:lnTo>
                    <a:pt x="66528" y="37846"/>
                  </a:lnTo>
                  <a:lnTo>
                    <a:pt x="107671" y="37846"/>
                  </a:lnTo>
                  <a:lnTo>
                    <a:pt x="85578" y="0"/>
                  </a:lnTo>
                  <a:close/>
                </a:path>
                <a:path w="171450" h="4877435">
                  <a:moveTo>
                    <a:pt x="107671" y="37846"/>
                  </a:moveTo>
                  <a:lnTo>
                    <a:pt x="104628" y="37846"/>
                  </a:lnTo>
                  <a:lnTo>
                    <a:pt x="104628" y="108457"/>
                  </a:lnTo>
                  <a:lnTo>
                    <a:pt x="135743" y="161798"/>
                  </a:lnTo>
                  <a:lnTo>
                    <a:pt x="140795" y="167405"/>
                  </a:lnTo>
                  <a:lnTo>
                    <a:pt x="147395" y="170561"/>
                  </a:lnTo>
                  <a:lnTo>
                    <a:pt x="154709" y="171049"/>
                  </a:lnTo>
                  <a:lnTo>
                    <a:pt x="161905" y="168655"/>
                  </a:lnTo>
                  <a:lnTo>
                    <a:pt x="167513" y="163603"/>
                  </a:lnTo>
                  <a:lnTo>
                    <a:pt x="170668" y="157003"/>
                  </a:lnTo>
                  <a:lnTo>
                    <a:pt x="171156" y="149689"/>
                  </a:lnTo>
                  <a:lnTo>
                    <a:pt x="168763" y="142493"/>
                  </a:lnTo>
                  <a:lnTo>
                    <a:pt x="107671" y="37846"/>
                  </a:lnTo>
                  <a:close/>
                </a:path>
                <a:path w="171450" h="4877435">
                  <a:moveTo>
                    <a:pt x="104628" y="37846"/>
                  </a:moveTo>
                  <a:lnTo>
                    <a:pt x="66528" y="37846"/>
                  </a:lnTo>
                  <a:lnTo>
                    <a:pt x="66528" y="108457"/>
                  </a:lnTo>
                  <a:lnTo>
                    <a:pt x="85578" y="75800"/>
                  </a:lnTo>
                  <a:lnTo>
                    <a:pt x="69068" y="47498"/>
                  </a:lnTo>
                  <a:lnTo>
                    <a:pt x="104628" y="47498"/>
                  </a:lnTo>
                  <a:lnTo>
                    <a:pt x="104628" y="37846"/>
                  </a:lnTo>
                  <a:close/>
                </a:path>
                <a:path w="171450" h="4877435">
                  <a:moveTo>
                    <a:pt x="104628" y="47498"/>
                  </a:moveTo>
                  <a:lnTo>
                    <a:pt x="102088" y="47498"/>
                  </a:lnTo>
                  <a:lnTo>
                    <a:pt x="85578" y="75800"/>
                  </a:lnTo>
                  <a:lnTo>
                    <a:pt x="104628" y="108457"/>
                  </a:lnTo>
                  <a:lnTo>
                    <a:pt x="104628" y="47498"/>
                  </a:lnTo>
                  <a:close/>
                </a:path>
                <a:path w="171450" h="4877435">
                  <a:moveTo>
                    <a:pt x="102088" y="47498"/>
                  </a:moveTo>
                  <a:lnTo>
                    <a:pt x="69068" y="47498"/>
                  </a:lnTo>
                  <a:lnTo>
                    <a:pt x="85578" y="75800"/>
                  </a:lnTo>
                  <a:lnTo>
                    <a:pt x="102088" y="47498"/>
                  </a:lnTo>
                  <a:close/>
                </a:path>
              </a:pathLst>
            </a:custGeom>
            <a:solidFill>
              <a:srgbClr val="0000FF"/>
            </a:solidFill>
          </p:spPr>
          <p:txBody>
            <a:bodyPr wrap="square" lIns="0" tIns="0" rIns="0" bIns="0" rtlCol="0"/>
            <a:lstStyle/>
            <a:p>
              <a:endParaRPr/>
            </a:p>
          </p:txBody>
        </p:sp>
      </p:grpSp>
      <p:sp>
        <p:nvSpPr>
          <p:cNvPr id="41" name="object 41"/>
          <p:cNvSpPr txBox="1"/>
          <p:nvPr/>
        </p:nvSpPr>
        <p:spPr>
          <a:xfrm>
            <a:off x="8385809" y="5905500"/>
            <a:ext cx="330835" cy="300355"/>
          </a:xfrm>
          <a:prstGeom prst="rect">
            <a:avLst/>
          </a:prstGeom>
        </p:spPr>
        <p:txBody>
          <a:bodyPr vert="horz" wrap="square" lIns="0" tIns="12700" rIns="0" bIns="0" rtlCol="0">
            <a:spAutoFit/>
          </a:bodyPr>
          <a:lstStyle/>
          <a:p>
            <a:pPr marL="12700">
              <a:lnSpc>
                <a:spcPct val="100000"/>
              </a:lnSpc>
              <a:spcBef>
                <a:spcPts val="100"/>
              </a:spcBef>
            </a:pPr>
            <a:r>
              <a:rPr sz="1800" spc="-90" dirty="0">
                <a:latin typeface="Times New Roman"/>
                <a:cs typeface="Times New Roman"/>
              </a:rPr>
              <a:t>low</a:t>
            </a:r>
            <a:endParaRPr sz="1800">
              <a:latin typeface="Times New Roman"/>
              <a:cs typeface="Times New Roman"/>
            </a:endParaRPr>
          </a:p>
        </p:txBody>
      </p:sp>
      <p:sp>
        <p:nvSpPr>
          <p:cNvPr id="42" name="object 42"/>
          <p:cNvSpPr txBox="1"/>
          <p:nvPr/>
        </p:nvSpPr>
        <p:spPr>
          <a:xfrm>
            <a:off x="8385809" y="716597"/>
            <a:ext cx="374015" cy="300355"/>
          </a:xfrm>
          <a:prstGeom prst="rect">
            <a:avLst/>
          </a:prstGeom>
        </p:spPr>
        <p:txBody>
          <a:bodyPr vert="horz" wrap="square" lIns="0" tIns="12700" rIns="0" bIns="0" rtlCol="0">
            <a:spAutoFit/>
          </a:bodyPr>
          <a:lstStyle/>
          <a:p>
            <a:pPr marL="12700">
              <a:lnSpc>
                <a:spcPct val="100000"/>
              </a:lnSpc>
              <a:spcBef>
                <a:spcPts val="100"/>
              </a:spcBef>
            </a:pPr>
            <a:r>
              <a:rPr sz="1800" spc="-110" dirty="0">
                <a:latin typeface="Times New Roman"/>
                <a:cs typeface="Times New Roman"/>
              </a:rPr>
              <a:t>high</a:t>
            </a:r>
            <a:endParaRPr sz="1800">
              <a:latin typeface="Times New Roman"/>
              <a:cs typeface="Times New Roman"/>
            </a:endParaRPr>
          </a:p>
        </p:txBody>
      </p:sp>
      <p:pic>
        <p:nvPicPr>
          <p:cNvPr id="43" name="object 43"/>
          <p:cNvPicPr/>
          <p:nvPr/>
        </p:nvPicPr>
        <p:blipFill>
          <a:blip r:embed="rId6" cstate="print"/>
          <a:stretch>
            <a:fillRect/>
          </a:stretch>
        </p:blipFill>
        <p:spPr>
          <a:xfrm>
            <a:off x="457200" y="6248400"/>
            <a:ext cx="476250" cy="381000"/>
          </a:xfrm>
          <a:prstGeom prst="rect">
            <a:avLst/>
          </a:prstGeom>
        </p:spPr>
      </p:pic>
      <p:sp>
        <p:nvSpPr>
          <p:cNvPr id="44" name="object 44"/>
          <p:cNvSpPr txBox="1">
            <a:spLocks noGrp="1"/>
          </p:cNvSpPr>
          <p:nvPr>
            <p:ph type="ftr" sz="quarter" idx="5"/>
          </p:nvPr>
        </p:nvSpPr>
        <p:spPr>
          <a:prstGeom prst="rect">
            <a:avLst/>
          </a:prstGeom>
        </p:spPr>
        <p:txBody>
          <a:bodyPr vert="horz" wrap="square" lIns="0" tIns="76200" rIns="0" bIns="0" rtlCol="0">
            <a:spAutoFit/>
          </a:bodyPr>
          <a:lstStyle/>
          <a:p>
            <a:pPr marL="165100">
              <a:lnSpc>
                <a:spcPts val="1550"/>
              </a:lnSpc>
            </a:pPr>
            <a:r>
              <a:rPr spc="-180" dirty="0"/>
              <a:t>FAST-</a:t>
            </a:r>
            <a:r>
              <a:rPr spc="-100" dirty="0"/>
              <a:t>NUCES</a:t>
            </a:r>
          </a:p>
        </p:txBody>
      </p:sp>
      <p:sp>
        <p:nvSpPr>
          <p:cNvPr id="50" name="TextBox 49">
            <a:extLst>
              <a:ext uri="{FF2B5EF4-FFF2-40B4-BE49-F238E27FC236}">
                <a16:creationId xmlns:a16="http://schemas.microsoft.com/office/drawing/2014/main" id="{B8A33BAB-2990-6A7A-C1BF-FD875FCEADFB}"/>
              </a:ext>
            </a:extLst>
          </p:cNvPr>
          <p:cNvSpPr txBox="1"/>
          <p:nvPr/>
        </p:nvSpPr>
        <p:spPr>
          <a:xfrm>
            <a:off x="150912" y="5147849"/>
            <a:ext cx="10212287" cy="1754326"/>
          </a:xfrm>
          <a:prstGeom prst="rect">
            <a:avLst/>
          </a:prstGeom>
          <a:noFill/>
        </p:spPr>
        <p:txBody>
          <a:bodyPr wrap="square">
            <a:spAutoFit/>
          </a:bodyPr>
          <a:lstStyle/>
          <a:p>
            <a:pPr marL="285750" indent="-285750">
              <a:buFont typeface="Arial" panose="020B0604020202020204" pitchFamily="34" charset="0"/>
              <a:buChar char="•"/>
            </a:pPr>
            <a:r>
              <a:rPr lang="en-US" dirty="0">
                <a:highlight>
                  <a:srgbClr val="FFFF00"/>
                </a:highlight>
              </a:rPr>
              <a:t>Attacker cannot precisely estimate stack address.</a:t>
            </a:r>
          </a:p>
          <a:p>
            <a:pPr marL="285750" indent="-285750">
              <a:buFont typeface="Arial" panose="020B0604020202020204" pitchFamily="34" charset="0"/>
              <a:buChar char="•"/>
            </a:pPr>
            <a:r>
              <a:rPr lang="en-US" dirty="0">
                <a:highlight>
                  <a:srgbClr val="FFFF00"/>
                </a:highlight>
              </a:rPr>
              <a:t>So they insert:</a:t>
            </a:r>
          </a:p>
          <a:p>
            <a:pPr marL="285750" lvl="1" indent="-285750">
              <a:buFont typeface="Arial" panose="020B0604020202020204" pitchFamily="34" charset="0"/>
              <a:buChar char="•"/>
            </a:pPr>
            <a:r>
              <a:rPr lang="en-US" dirty="0">
                <a:highlight>
                  <a:srgbClr val="FFFF00"/>
                </a:highlight>
              </a:rPr>
              <a:t>Long </a:t>
            </a:r>
            <a:r>
              <a:rPr lang="en-US" b="1" dirty="0">
                <a:highlight>
                  <a:srgbClr val="FFFF00"/>
                </a:highlight>
              </a:rPr>
              <a:t>NOP sled</a:t>
            </a:r>
            <a:r>
              <a:rPr lang="en-US" dirty="0">
                <a:highlight>
                  <a:srgbClr val="FFFF00"/>
                </a:highlight>
              </a:rPr>
              <a:t> before shellcode</a:t>
            </a:r>
          </a:p>
          <a:p>
            <a:pPr lvl="1"/>
            <a:r>
              <a:rPr lang="en-US" dirty="0">
                <a:highlight>
                  <a:srgbClr val="FFFF00"/>
                </a:highlight>
              </a:rPr>
              <a:t>Return address anywhere into that slide</a:t>
            </a:r>
          </a:p>
          <a:p>
            <a:r>
              <a:rPr lang="en-US" dirty="0">
                <a:highlight>
                  <a:srgbClr val="FFFF00"/>
                </a:highlight>
              </a:rPr>
              <a:t>CPU </a:t>
            </a:r>
            <a:r>
              <a:rPr lang="en-US" b="1" dirty="0">
                <a:highlight>
                  <a:srgbClr val="FFFF00"/>
                </a:highlight>
              </a:rPr>
              <a:t>slides</a:t>
            </a:r>
            <a:r>
              <a:rPr lang="en-US" dirty="0">
                <a:highlight>
                  <a:srgbClr val="FFFF00"/>
                </a:highlight>
              </a:rPr>
              <a:t> down into the real shellcode.</a:t>
            </a:r>
          </a:p>
          <a:p>
            <a:r>
              <a:rPr lang="en-US" dirty="0">
                <a:highlight>
                  <a:srgbClr val="FFFF00"/>
                </a:highlight>
              </a:rPr>
              <a:t>Increases success rate without knowing exact address.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65989" rIns="0" bIns="0" rtlCol="0">
            <a:spAutoFit/>
          </a:bodyPr>
          <a:lstStyle/>
          <a:p>
            <a:pPr marL="165100">
              <a:lnSpc>
                <a:spcPct val="100000"/>
              </a:lnSpc>
              <a:spcBef>
                <a:spcPts val="105"/>
              </a:spcBef>
            </a:pPr>
            <a:r>
              <a:rPr dirty="0"/>
              <a:t>Details</a:t>
            </a:r>
            <a:r>
              <a:rPr spc="-25" dirty="0"/>
              <a:t> </a:t>
            </a:r>
            <a:r>
              <a:rPr dirty="0"/>
              <a:t>and</a:t>
            </a:r>
            <a:r>
              <a:rPr spc="-25" dirty="0"/>
              <a:t> </a:t>
            </a:r>
            <a:r>
              <a:rPr spc="-10" dirty="0"/>
              <a:t>examples</a:t>
            </a:r>
          </a:p>
        </p:txBody>
      </p:sp>
      <p:sp>
        <p:nvSpPr>
          <p:cNvPr id="3" name="object 3"/>
          <p:cNvSpPr txBox="1"/>
          <p:nvPr/>
        </p:nvSpPr>
        <p:spPr>
          <a:xfrm>
            <a:off x="383857" y="1259035"/>
            <a:ext cx="7604759" cy="1789592"/>
          </a:xfrm>
          <a:prstGeom prst="rect">
            <a:avLst/>
          </a:prstGeom>
        </p:spPr>
        <p:txBody>
          <a:bodyPr vert="horz" wrap="square" lIns="0" tIns="78105" rIns="0" bIns="0" rtlCol="0">
            <a:spAutoFit/>
          </a:bodyPr>
          <a:lstStyle/>
          <a:p>
            <a:pPr marL="287655" indent="-274955">
              <a:lnSpc>
                <a:spcPct val="100000"/>
              </a:lnSpc>
              <a:spcBef>
                <a:spcPts val="615"/>
              </a:spcBef>
              <a:buClr>
                <a:srgbClr val="D24717"/>
              </a:buClr>
              <a:buSzPct val="87272"/>
              <a:buFont typeface="Segoe UI Symbol"/>
              <a:buChar char="⚫"/>
              <a:tabLst>
                <a:tab pos="287655" algn="l"/>
              </a:tabLst>
            </a:pPr>
            <a:r>
              <a:rPr sz="2750" dirty="0">
                <a:latin typeface="Times New Roman"/>
                <a:cs typeface="Times New Roman"/>
              </a:rPr>
              <a:t>Some</a:t>
            </a:r>
            <a:r>
              <a:rPr sz="2750" spc="70" dirty="0">
                <a:latin typeface="Times New Roman"/>
                <a:cs typeface="Times New Roman"/>
              </a:rPr>
              <a:t> </a:t>
            </a:r>
            <a:r>
              <a:rPr sz="2750" spc="-10" dirty="0">
                <a:latin typeface="Times New Roman"/>
                <a:cs typeface="Times New Roman"/>
              </a:rPr>
              <a:t>complications:</a:t>
            </a:r>
            <a:endParaRPr sz="2750" dirty="0">
              <a:latin typeface="Times New Roman"/>
              <a:cs typeface="Times New Roman"/>
            </a:endParaRPr>
          </a:p>
          <a:p>
            <a:pPr marL="561340" lvl="1" indent="-228600">
              <a:lnSpc>
                <a:spcPct val="100000"/>
              </a:lnSpc>
              <a:spcBef>
                <a:spcPts val="430"/>
              </a:spcBef>
              <a:buClr>
                <a:srgbClr val="9B2C1F"/>
              </a:buClr>
              <a:buSzPct val="83333"/>
              <a:buFont typeface="Segoe UI Symbol"/>
              <a:buChar char="⚫"/>
              <a:tabLst>
                <a:tab pos="561340" algn="l"/>
                <a:tab pos="1838325" algn="l"/>
                <a:tab pos="2153920" algn="l"/>
                <a:tab pos="5496560" algn="l"/>
              </a:tabLst>
            </a:pPr>
            <a:r>
              <a:rPr sz="2400" spc="-10" dirty="0">
                <a:latin typeface="Times New Roman"/>
                <a:cs typeface="Times New Roman"/>
              </a:rPr>
              <a:t>Program</a:t>
            </a:r>
            <a:r>
              <a:rPr sz="2400" dirty="0">
                <a:latin typeface="Times New Roman"/>
                <a:cs typeface="Times New Roman"/>
              </a:rPr>
              <a:t>	</a:t>
            </a:r>
            <a:r>
              <a:rPr sz="2400" spc="-50" dirty="0">
                <a:latin typeface="Times New Roman"/>
                <a:cs typeface="Times New Roman"/>
              </a:rPr>
              <a:t>P</a:t>
            </a:r>
            <a:r>
              <a:rPr sz="2400" dirty="0">
                <a:latin typeface="Times New Roman"/>
                <a:cs typeface="Times New Roman"/>
              </a:rPr>
              <a:t>	should</a:t>
            </a:r>
            <a:r>
              <a:rPr sz="2400" spc="-20" dirty="0">
                <a:latin typeface="Times New Roman"/>
                <a:cs typeface="Times New Roman"/>
              </a:rPr>
              <a:t> </a:t>
            </a:r>
            <a:r>
              <a:rPr sz="2400" dirty="0">
                <a:latin typeface="Times New Roman"/>
                <a:cs typeface="Times New Roman"/>
              </a:rPr>
              <a:t>not</a:t>
            </a:r>
            <a:r>
              <a:rPr sz="2400" spc="-5" dirty="0">
                <a:latin typeface="Times New Roman"/>
                <a:cs typeface="Times New Roman"/>
              </a:rPr>
              <a:t> </a:t>
            </a:r>
            <a:r>
              <a:rPr sz="2400" dirty="0">
                <a:latin typeface="Times New Roman"/>
                <a:cs typeface="Times New Roman"/>
              </a:rPr>
              <a:t>contain</a:t>
            </a:r>
            <a:r>
              <a:rPr sz="2400" spc="-20" dirty="0">
                <a:latin typeface="Times New Roman"/>
                <a:cs typeface="Times New Roman"/>
              </a:rPr>
              <a:t> </a:t>
            </a:r>
            <a:r>
              <a:rPr sz="2400" dirty="0">
                <a:latin typeface="Times New Roman"/>
                <a:cs typeface="Times New Roman"/>
              </a:rPr>
              <a:t>the</a:t>
            </a:r>
            <a:r>
              <a:rPr sz="2400" spc="-30" dirty="0">
                <a:latin typeface="Times New Roman"/>
                <a:cs typeface="Times New Roman"/>
              </a:rPr>
              <a:t> </a:t>
            </a:r>
            <a:r>
              <a:rPr sz="2400" spc="-20" dirty="0">
                <a:latin typeface="Times New Roman"/>
                <a:cs typeface="Times New Roman"/>
              </a:rPr>
              <a:t>‘\0’</a:t>
            </a:r>
            <a:r>
              <a:rPr sz="2400" dirty="0">
                <a:latin typeface="Times New Roman"/>
                <a:cs typeface="Times New Roman"/>
              </a:rPr>
              <a:t>	</a:t>
            </a:r>
            <a:r>
              <a:rPr sz="2400" spc="-10" dirty="0">
                <a:latin typeface="Times New Roman"/>
                <a:cs typeface="Times New Roman"/>
              </a:rPr>
              <a:t>character.</a:t>
            </a:r>
            <a:endParaRPr sz="2400" dirty="0">
              <a:latin typeface="Times New Roman"/>
              <a:cs typeface="Times New Roman"/>
            </a:endParaRPr>
          </a:p>
          <a:p>
            <a:pPr marL="561340" lvl="1" indent="-228600">
              <a:lnSpc>
                <a:spcPct val="100000"/>
              </a:lnSpc>
              <a:spcBef>
                <a:spcPts val="420"/>
              </a:spcBef>
              <a:buClr>
                <a:srgbClr val="9B2C1F"/>
              </a:buClr>
              <a:buSzPct val="83333"/>
              <a:buFont typeface="Segoe UI Symbol"/>
              <a:buChar char="⚫"/>
              <a:tabLst>
                <a:tab pos="561340" algn="l"/>
                <a:tab pos="5923280" algn="l"/>
                <a:tab pos="6817995" algn="l"/>
              </a:tabLst>
            </a:pPr>
            <a:r>
              <a:rPr sz="2400" dirty="0">
                <a:latin typeface="Times New Roman"/>
                <a:cs typeface="Times New Roman"/>
              </a:rPr>
              <a:t>Overflow</a:t>
            </a:r>
            <a:r>
              <a:rPr sz="2400" spc="-25" dirty="0">
                <a:latin typeface="Times New Roman"/>
                <a:cs typeface="Times New Roman"/>
              </a:rPr>
              <a:t> </a:t>
            </a:r>
            <a:r>
              <a:rPr sz="2400" dirty="0">
                <a:latin typeface="Times New Roman"/>
                <a:cs typeface="Times New Roman"/>
              </a:rPr>
              <a:t>should</a:t>
            </a:r>
            <a:r>
              <a:rPr sz="2400" spc="-10" dirty="0">
                <a:latin typeface="Times New Roman"/>
                <a:cs typeface="Times New Roman"/>
              </a:rPr>
              <a:t> </a:t>
            </a:r>
            <a:r>
              <a:rPr sz="2400" dirty="0">
                <a:latin typeface="Times New Roman"/>
                <a:cs typeface="Times New Roman"/>
              </a:rPr>
              <a:t>not</a:t>
            </a:r>
            <a:r>
              <a:rPr sz="2400" spc="-10" dirty="0">
                <a:latin typeface="Times New Roman"/>
                <a:cs typeface="Times New Roman"/>
              </a:rPr>
              <a:t> </a:t>
            </a:r>
            <a:r>
              <a:rPr sz="2400" dirty="0">
                <a:latin typeface="Times New Roman"/>
                <a:cs typeface="Times New Roman"/>
              </a:rPr>
              <a:t>crash</a:t>
            </a:r>
            <a:r>
              <a:rPr sz="2400" spc="-10" dirty="0">
                <a:latin typeface="Times New Roman"/>
                <a:cs typeface="Times New Roman"/>
              </a:rPr>
              <a:t> </a:t>
            </a:r>
            <a:r>
              <a:rPr sz="2400" dirty="0">
                <a:latin typeface="Times New Roman"/>
                <a:cs typeface="Times New Roman"/>
              </a:rPr>
              <a:t>program</a:t>
            </a:r>
            <a:r>
              <a:rPr sz="2400" spc="-10" dirty="0">
                <a:latin typeface="Times New Roman"/>
                <a:cs typeface="Times New Roman"/>
              </a:rPr>
              <a:t> before</a:t>
            </a:r>
            <a:r>
              <a:rPr sz="2400" dirty="0">
                <a:latin typeface="Times New Roman"/>
                <a:cs typeface="Times New Roman"/>
              </a:rPr>
              <a:t>	</a:t>
            </a:r>
            <a:r>
              <a:rPr sz="2400" spc="-10" dirty="0">
                <a:latin typeface="Times New Roman"/>
                <a:cs typeface="Times New Roman"/>
              </a:rPr>
              <a:t>func()</a:t>
            </a:r>
            <a:r>
              <a:rPr sz="2400" dirty="0">
                <a:latin typeface="Times New Roman"/>
                <a:cs typeface="Times New Roman"/>
              </a:rPr>
              <a:t>	</a:t>
            </a:r>
            <a:r>
              <a:rPr sz="2400" spc="-10" dirty="0">
                <a:latin typeface="Times New Roman"/>
                <a:cs typeface="Times New Roman"/>
              </a:rPr>
              <a:t>exists.</a:t>
            </a:r>
            <a:endParaRPr sz="2400" dirty="0">
              <a:latin typeface="Times New Roman"/>
              <a:cs typeface="Times New Roman"/>
            </a:endParaRPr>
          </a:p>
          <a:p>
            <a:pPr lvl="1">
              <a:lnSpc>
                <a:spcPct val="100000"/>
              </a:lnSpc>
              <a:spcBef>
                <a:spcPts val="620"/>
              </a:spcBef>
              <a:buClr>
                <a:srgbClr val="9B2C1F"/>
              </a:buClr>
              <a:buFont typeface="Segoe UI Symbol"/>
              <a:buChar char="⚫"/>
            </a:pPr>
            <a:endParaRPr sz="2400" dirty="0">
              <a:latin typeface="Times New Roman"/>
              <a:cs typeface="Times New Roman"/>
            </a:endParaRPr>
          </a:p>
        </p:txBody>
      </p:sp>
      <p:pic>
        <p:nvPicPr>
          <p:cNvPr id="4" name="object 4"/>
          <p:cNvPicPr/>
          <p:nvPr/>
        </p:nvPicPr>
        <p:blipFill>
          <a:blip r:embed="rId2" cstate="print"/>
          <a:stretch>
            <a:fillRect/>
          </a:stretch>
        </p:blipFill>
        <p:spPr>
          <a:xfrm>
            <a:off x="457200" y="6248400"/>
            <a:ext cx="476250" cy="381000"/>
          </a:xfrm>
          <a:prstGeom prst="rect">
            <a:avLst/>
          </a:prstGeom>
        </p:spPr>
      </p:pic>
      <p:sp>
        <p:nvSpPr>
          <p:cNvPr id="5" name="object 5"/>
          <p:cNvSpPr txBox="1">
            <a:spLocks noGrp="1"/>
          </p:cNvSpPr>
          <p:nvPr>
            <p:ph type="ftr" sz="quarter" idx="5"/>
          </p:nvPr>
        </p:nvSpPr>
        <p:spPr>
          <a:prstGeom prst="rect">
            <a:avLst/>
          </a:prstGeom>
        </p:spPr>
        <p:txBody>
          <a:bodyPr vert="horz" wrap="square" lIns="0" tIns="76200" rIns="0" bIns="0" rtlCol="0">
            <a:spAutoFit/>
          </a:bodyPr>
          <a:lstStyle/>
          <a:p>
            <a:pPr marL="165100">
              <a:lnSpc>
                <a:spcPts val="1550"/>
              </a:lnSpc>
            </a:pPr>
            <a:r>
              <a:rPr spc="-180" dirty="0"/>
              <a:t>FAST-</a:t>
            </a:r>
            <a:r>
              <a:rPr spc="-100" dirty="0"/>
              <a:t>NUCES</a:t>
            </a:r>
          </a:p>
        </p:txBody>
      </p:sp>
      <p:sp>
        <p:nvSpPr>
          <p:cNvPr id="7" name="TextBox 6">
            <a:extLst>
              <a:ext uri="{FF2B5EF4-FFF2-40B4-BE49-F238E27FC236}">
                <a16:creationId xmlns:a16="http://schemas.microsoft.com/office/drawing/2014/main" id="{F15CB218-D712-65A4-1C21-FBFDBAE24CDD}"/>
              </a:ext>
            </a:extLst>
          </p:cNvPr>
          <p:cNvSpPr txBox="1"/>
          <p:nvPr/>
        </p:nvSpPr>
        <p:spPr>
          <a:xfrm>
            <a:off x="354954" y="3171185"/>
            <a:ext cx="8331846" cy="923330"/>
          </a:xfrm>
          <a:prstGeom prst="rect">
            <a:avLst/>
          </a:prstGeom>
          <a:noFill/>
        </p:spPr>
        <p:txBody>
          <a:bodyPr wrap="square">
            <a:spAutoFit/>
          </a:bodyPr>
          <a:lstStyle/>
          <a:p>
            <a:pPr marL="285750" indent="-285750">
              <a:buFont typeface="Arial" panose="020B0604020202020204" pitchFamily="34" charset="0"/>
              <a:buChar char="•"/>
            </a:pPr>
            <a:r>
              <a:rPr lang="en-US" dirty="0">
                <a:highlight>
                  <a:srgbClr val="FFFF00"/>
                </a:highlight>
              </a:rPr>
              <a:t>Shellcode must avoid </a:t>
            </a:r>
            <a:r>
              <a:rPr lang="en-US" b="1" dirty="0">
                <a:highlight>
                  <a:srgbClr val="FFFF00"/>
                </a:highlight>
              </a:rPr>
              <a:t>null char (</a:t>
            </a:r>
            <a:r>
              <a:rPr lang="en-US" b="1" dirty="0">
                <a:highlight>
                  <a:srgbClr val="FFFF00"/>
                </a:highlight>
                <a:latin typeface="Courier New" panose="02070309020205020404" pitchFamily="49" charset="0"/>
              </a:rPr>
              <a:t>\0</a:t>
            </a:r>
            <a:r>
              <a:rPr lang="en-US" b="1" dirty="0">
                <a:highlight>
                  <a:srgbClr val="FFFF00"/>
                </a:highlight>
              </a:rPr>
              <a:t>)</a:t>
            </a:r>
            <a:r>
              <a:rPr lang="en-US" dirty="0">
                <a:highlight>
                  <a:srgbClr val="FFFF00"/>
                </a:highlight>
              </a:rPr>
              <a:t> → terminates string.</a:t>
            </a:r>
          </a:p>
          <a:p>
            <a:pPr marL="285750" indent="-285750">
              <a:buFont typeface="Arial" panose="020B0604020202020204" pitchFamily="34" charset="0"/>
              <a:buChar char="•"/>
            </a:pPr>
            <a:r>
              <a:rPr lang="en-US" dirty="0">
                <a:highlight>
                  <a:srgbClr val="FFFF00"/>
                </a:highlight>
              </a:rPr>
              <a:t>Overflow must be controlled so program doesn’t crash </a:t>
            </a:r>
            <a:r>
              <a:rPr lang="en-US" b="1" dirty="0">
                <a:highlight>
                  <a:srgbClr val="FFFF00"/>
                </a:highlight>
              </a:rPr>
              <a:t>before return</a:t>
            </a:r>
            <a:r>
              <a:rPr lang="en-US" dirty="0">
                <a:highlight>
                  <a:srgbClr val="FFFF00"/>
                </a:highlight>
              </a:rPr>
              <a:t>.</a:t>
            </a:r>
          </a:p>
          <a:p>
            <a:pPr marL="285750" indent="-285750">
              <a:buFont typeface="Arial" panose="020B0604020202020204" pitchFamily="34" charset="0"/>
              <a:buChar char="•"/>
            </a:pPr>
            <a:r>
              <a:rPr lang="en-US" dirty="0">
                <a:highlight>
                  <a:srgbClr val="FFFF00"/>
                </a:highlight>
              </a:rPr>
              <a:t>Attack must allow function to continue running until hijack moment.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40589" rIns="0" bIns="0" rtlCol="0">
            <a:spAutoFit/>
          </a:bodyPr>
          <a:lstStyle/>
          <a:p>
            <a:pPr marL="165100">
              <a:lnSpc>
                <a:spcPct val="100000"/>
              </a:lnSpc>
              <a:spcBef>
                <a:spcPts val="105"/>
              </a:spcBef>
            </a:pPr>
            <a:r>
              <a:rPr dirty="0"/>
              <a:t>Many</a:t>
            </a:r>
            <a:r>
              <a:rPr spc="-10" dirty="0"/>
              <a:t> </a:t>
            </a:r>
            <a:r>
              <a:rPr dirty="0"/>
              <a:t>unsafe</a:t>
            </a:r>
            <a:r>
              <a:rPr spc="-5" dirty="0"/>
              <a:t> </a:t>
            </a:r>
            <a:r>
              <a:rPr dirty="0"/>
              <a:t>libc</a:t>
            </a:r>
            <a:r>
              <a:rPr spc="-25" dirty="0"/>
              <a:t> </a:t>
            </a:r>
            <a:r>
              <a:rPr spc="-10" dirty="0"/>
              <a:t>functions</a:t>
            </a:r>
          </a:p>
        </p:txBody>
      </p:sp>
      <p:sp>
        <p:nvSpPr>
          <p:cNvPr id="3" name="object 3"/>
          <p:cNvSpPr txBox="1"/>
          <p:nvPr/>
        </p:nvSpPr>
        <p:spPr>
          <a:xfrm>
            <a:off x="582294" y="1146365"/>
            <a:ext cx="4352925" cy="1790064"/>
          </a:xfrm>
          <a:prstGeom prst="rect">
            <a:avLst/>
          </a:prstGeom>
        </p:spPr>
        <p:txBody>
          <a:bodyPr vert="horz" wrap="square" lIns="0" tIns="7620" rIns="0" bIns="0" rtlCol="0">
            <a:spAutoFit/>
          </a:bodyPr>
          <a:lstStyle/>
          <a:p>
            <a:pPr marL="12700" marR="5080">
              <a:lnSpc>
                <a:spcPct val="121300"/>
              </a:lnSpc>
              <a:spcBef>
                <a:spcPts val="60"/>
              </a:spcBef>
              <a:tabLst>
                <a:tab pos="2408555" algn="l"/>
              </a:tabLst>
            </a:pPr>
            <a:r>
              <a:rPr sz="2400" dirty="0">
                <a:solidFill>
                  <a:srgbClr val="000090"/>
                </a:solidFill>
                <a:latin typeface="Times New Roman"/>
                <a:cs typeface="Times New Roman"/>
              </a:rPr>
              <a:t>strcpy</a:t>
            </a:r>
            <a:r>
              <a:rPr sz="2400" spc="-15" dirty="0">
                <a:solidFill>
                  <a:srgbClr val="000090"/>
                </a:solidFill>
                <a:latin typeface="Times New Roman"/>
                <a:cs typeface="Times New Roman"/>
              </a:rPr>
              <a:t> </a:t>
            </a:r>
            <a:r>
              <a:rPr sz="2400" dirty="0">
                <a:latin typeface="Times New Roman"/>
                <a:cs typeface="Times New Roman"/>
              </a:rPr>
              <a:t>(char</a:t>
            </a:r>
            <a:r>
              <a:rPr sz="2400" spc="-10" dirty="0">
                <a:latin typeface="Times New Roman"/>
                <a:cs typeface="Times New Roman"/>
              </a:rPr>
              <a:t> *dest,</a:t>
            </a:r>
            <a:r>
              <a:rPr sz="2400" dirty="0">
                <a:latin typeface="Times New Roman"/>
                <a:cs typeface="Times New Roman"/>
              </a:rPr>
              <a:t>	const</a:t>
            </a:r>
            <a:r>
              <a:rPr sz="2400" spc="-55" dirty="0">
                <a:latin typeface="Times New Roman"/>
                <a:cs typeface="Times New Roman"/>
              </a:rPr>
              <a:t> </a:t>
            </a:r>
            <a:r>
              <a:rPr sz="2400" dirty="0">
                <a:latin typeface="Times New Roman"/>
                <a:cs typeface="Times New Roman"/>
              </a:rPr>
              <a:t>char</a:t>
            </a:r>
            <a:r>
              <a:rPr sz="2400" spc="-10" dirty="0">
                <a:latin typeface="Times New Roman"/>
                <a:cs typeface="Times New Roman"/>
              </a:rPr>
              <a:t> *src) </a:t>
            </a:r>
            <a:r>
              <a:rPr sz="2400" dirty="0">
                <a:solidFill>
                  <a:srgbClr val="000090"/>
                </a:solidFill>
                <a:latin typeface="Times New Roman"/>
                <a:cs typeface="Times New Roman"/>
              </a:rPr>
              <a:t>strcat</a:t>
            </a:r>
            <a:r>
              <a:rPr sz="2400" spc="-15" dirty="0">
                <a:solidFill>
                  <a:srgbClr val="000090"/>
                </a:solidFill>
                <a:latin typeface="Times New Roman"/>
                <a:cs typeface="Times New Roman"/>
              </a:rPr>
              <a:t> </a:t>
            </a:r>
            <a:r>
              <a:rPr sz="2400" dirty="0">
                <a:latin typeface="Times New Roman"/>
                <a:cs typeface="Times New Roman"/>
              </a:rPr>
              <a:t>(char</a:t>
            </a:r>
            <a:r>
              <a:rPr sz="2400" spc="-15" dirty="0">
                <a:latin typeface="Times New Roman"/>
                <a:cs typeface="Times New Roman"/>
              </a:rPr>
              <a:t> </a:t>
            </a:r>
            <a:r>
              <a:rPr sz="2400" dirty="0">
                <a:latin typeface="Times New Roman"/>
                <a:cs typeface="Times New Roman"/>
              </a:rPr>
              <a:t>*dest,</a:t>
            </a:r>
            <a:r>
              <a:rPr sz="2400" spc="-45" dirty="0">
                <a:latin typeface="Times New Roman"/>
                <a:cs typeface="Times New Roman"/>
              </a:rPr>
              <a:t> </a:t>
            </a:r>
            <a:r>
              <a:rPr sz="2400" dirty="0">
                <a:latin typeface="Times New Roman"/>
                <a:cs typeface="Times New Roman"/>
              </a:rPr>
              <a:t>const</a:t>
            </a:r>
            <a:r>
              <a:rPr sz="2400" spc="-60" dirty="0">
                <a:latin typeface="Times New Roman"/>
                <a:cs typeface="Times New Roman"/>
              </a:rPr>
              <a:t> </a:t>
            </a:r>
            <a:r>
              <a:rPr sz="2400" dirty="0">
                <a:latin typeface="Times New Roman"/>
                <a:cs typeface="Times New Roman"/>
              </a:rPr>
              <a:t>char</a:t>
            </a:r>
            <a:r>
              <a:rPr sz="2400" spc="-20" dirty="0">
                <a:latin typeface="Times New Roman"/>
                <a:cs typeface="Times New Roman"/>
              </a:rPr>
              <a:t> </a:t>
            </a:r>
            <a:r>
              <a:rPr sz="2400" spc="-10" dirty="0">
                <a:latin typeface="Times New Roman"/>
                <a:cs typeface="Times New Roman"/>
              </a:rPr>
              <a:t>*src) </a:t>
            </a:r>
            <a:r>
              <a:rPr sz="2400" dirty="0">
                <a:solidFill>
                  <a:srgbClr val="000090"/>
                </a:solidFill>
                <a:latin typeface="Times New Roman"/>
                <a:cs typeface="Times New Roman"/>
              </a:rPr>
              <a:t>gets</a:t>
            </a:r>
            <a:r>
              <a:rPr sz="2400" spc="-15" dirty="0">
                <a:solidFill>
                  <a:srgbClr val="000090"/>
                </a:solidFill>
                <a:latin typeface="Times New Roman"/>
                <a:cs typeface="Times New Roman"/>
              </a:rPr>
              <a:t> </a:t>
            </a:r>
            <a:r>
              <a:rPr sz="2400" dirty="0">
                <a:latin typeface="Times New Roman"/>
                <a:cs typeface="Times New Roman"/>
              </a:rPr>
              <a:t>(char </a:t>
            </a:r>
            <a:r>
              <a:rPr sz="2400" spc="-25" dirty="0">
                <a:latin typeface="Times New Roman"/>
                <a:cs typeface="Times New Roman"/>
              </a:rPr>
              <a:t>*s)</a:t>
            </a:r>
            <a:endParaRPr sz="2400">
              <a:latin typeface="Times New Roman"/>
              <a:cs typeface="Times New Roman"/>
            </a:endParaRPr>
          </a:p>
          <a:p>
            <a:pPr marL="12700">
              <a:lnSpc>
                <a:spcPct val="100000"/>
              </a:lnSpc>
              <a:spcBef>
                <a:spcPts val="575"/>
              </a:spcBef>
            </a:pPr>
            <a:r>
              <a:rPr sz="2400" dirty="0">
                <a:solidFill>
                  <a:srgbClr val="000090"/>
                </a:solidFill>
                <a:latin typeface="Times New Roman"/>
                <a:cs typeface="Times New Roman"/>
              </a:rPr>
              <a:t>scanf</a:t>
            </a:r>
            <a:r>
              <a:rPr sz="2400" spc="-25" dirty="0">
                <a:solidFill>
                  <a:srgbClr val="000090"/>
                </a:solidFill>
                <a:latin typeface="Times New Roman"/>
                <a:cs typeface="Times New Roman"/>
              </a:rPr>
              <a:t> </a:t>
            </a:r>
            <a:r>
              <a:rPr sz="2400" dirty="0">
                <a:latin typeface="Times New Roman"/>
                <a:cs typeface="Times New Roman"/>
              </a:rPr>
              <a:t>(</a:t>
            </a:r>
            <a:r>
              <a:rPr sz="2400" spc="-15" dirty="0">
                <a:latin typeface="Times New Roman"/>
                <a:cs typeface="Times New Roman"/>
              </a:rPr>
              <a:t> </a:t>
            </a:r>
            <a:r>
              <a:rPr sz="2400" dirty="0">
                <a:latin typeface="Times New Roman"/>
                <a:cs typeface="Times New Roman"/>
              </a:rPr>
              <a:t>const</a:t>
            </a:r>
            <a:r>
              <a:rPr sz="2400" spc="-40" dirty="0">
                <a:latin typeface="Times New Roman"/>
                <a:cs typeface="Times New Roman"/>
              </a:rPr>
              <a:t> </a:t>
            </a:r>
            <a:r>
              <a:rPr sz="2400" dirty="0">
                <a:latin typeface="Times New Roman"/>
                <a:cs typeface="Times New Roman"/>
              </a:rPr>
              <a:t>char</a:t>
            </a:r>
            <a:r>
              <a:rPr sz="2400" spc="10" dirty="0">
                <a:latin typeface="Times New Roman"/>
                <a:cs typeface="Times New Roman"/>
              </a:rPr>
              <a:t> </a:t>
            </a:r>
            <a:r>
              <a:rPr sz="2400" dirty="0">
                <a:latin typeface="Times New Roman"/>
                <a:cs typeface="Times New Roman"/>
              </a:rPr>
              <a:t>*format,</a:t>
            </a:r>
            <a:r>
              <a:rPr sz="2400" spc="-15" dirty="0">
                <a:latin typeface="Times New Roman"/>
                <a:cs typeface="Times New Roman"/>
              </a:rPr>
              <a:t> </a:t>
            </a:r>
            <a:r>
              <a:rPr sz="2400" dirty="0">
                <a:latin typeface="Times New Roman"/>
                <a:cs typeface="Times New Roman"/>
              </a:rPr>
              <a:t>…</a:t>
            </a:r>
            <a:r>
              <a:rPr sz="2400" spc="-10" dirty="0">
                <a:latin typeface="Times New Roman"/>
                <a:cs typeface="Times New Roman"/>
              </a:rPr>
              <a:t> </a:t>
            </a:r>
            <a:r>
              <a:rPr sz="2400" spc="-50" dirty="0">
                <a:latin typeface="Times New Roman"/>
                <a:cs typeface="Times New Roman"/>
              </a:rPr>
              <a:t>)</a:t>
            </a:r>
            <a:endParaRPr sz="2400">
              <a:latin typeface="Times New Roman"/>
              <a:cs typeface="Times New Roman"/>
            </a:endParaRPr>
          </a:p>
        </p:txBody>
      </p:sp>
      <p:sp>
        <p:nvSpPr>
          <p:cNvPr id="4" name="object 4"/>
          <p:cNvSpPr txBox="1"/>
          <p:nvPr/>
        </p:nvSpPr>
        <p:spPr>
          <a:xfrm>
            <a:off x="5242444" y="2544444"/>
            <a:ext cx="2000250" cy="392430"/>
          </a:xfrm>
          <a:prstGeom prst="rect">
            <a:avLst/>
          </a:prstGeom>
        </p:spPr>
        <p:txBody>
          <a:bodyPr vert="horz" wrap="square" lIns="0" tIns="13335" rIns="0" bIns="0" rtlCol="0">
            <a:spAutoFit/>
          </a:bodyPr>
          <a:lstStyle/>
          <a:p>
            <a:pPr marL="12700">
              <a:lnSpc>
                <a:spcPct val="100000"/>
              </a:lnSpc>
              <a:spcBef>
                <a:spcPts val="105"/>
              </a:spcBef>
            </a:pPr>
            <a:r>
              <a:rPr sz="2400" dirty="0">
                <a:latin typeface="Times New Roman"/>
                <a:cs typeface="Times New Roman"/>
              </a:rPr>
              <a:t>and</a:t>
            </a:r>
            <a:r>
              <a:rPr sz="2400" spc="-20" dirty="0">
                <a:latin typeface="Times New Roman"/>
                <a:cs typeface="Times New Roman"/>
              </a:rPr>
              <a:t> </a:t>
            </a:r>
            <a:r>
              <a:rPr sz="2400" dirty="0">
                <a:latin typeface="Times New Roman"/>
                <a:cs typeface="Times New Roman"/>
              </a:rPr>
              <a:t>many</a:t>
            </a:r>
            <a:r>
              <a:rPr sz="2400" spc="-15" dirty="0">
                <a:latin typeface="Times New Roman"/>
                <a:cs typeface="Times New Roman"/>
              </a:rPr>
              <a:t> </a:t>
            </a:r>
            <a:r>
              <a:rPr sz="2400" spc="-20" dirty="0">
                <a:latin typeface="Times New Roman"/>
                <a:cs typeface="Times New Roman"/>
              </a:rPr>
              <a:t>more.</a:t>
            </a:r>
            <a:endParaRPr sz="2400">
              <a:latin typeface="Times New Roman"/>
              <a:cs typeface="Times New Roman"/>
            </a:endParaRPr>
          </a:p>
        </p:txBody>
      </p:sp>
      <p:sp>
        <p:nvSpPr>
          <p:cNvPr id="5" name="object 5"/>
          <p:cNvSpPr txBox="1"/>
          <p:nvPr/>
        </p:nvSpPr>
        <p:spPr>
          <a:xfrm>
            <a:off x="307657" y="3101784"/>
            <a:ext cx="7096125" cy="864869"/>
          </a:xfrm>
          <a:prstGeom prst="rect">
            <a:avLst/>
          </a:prstGeom>
        </p:spPr>
        <p:txBody>
          <a:bodyPr vert="horz" wrap="square" lIns="0" tIns="66675" rIns="0" bIns="0" rtlCol="0">
            <a:spAutoFit/>
          </a:bodyPr>
          <a:lstStyle/>
          <a:p>
            <a:pPr marL="287020" indent="-274320">
              <a:lnSpc>
                <a:spcPct val="100000"/>
              </a:lnSpc>
              <a:spcBef>
                <a:spcPts val="525"/>
              </a:spcBef>
              <a:buClr>
                <a:srgbClr val="D24717"/>
              </a:buClr>
              <a:buSzPct val="83333"/>
              <a:buFont typeface="Segoe UI Symbol"/>
              <a:buChar char="⚫"/>
              <a:tabLst>
                <a:tab pos="287020" algn="l"/>
                <a:tab pos="2877185" algn="l"/>
                <a:tab pos="5299075" algn="l"/>
              </a:tabLst>
            </a:pPr>
            <a:r>
              <a:rPr sz="2400" dirty="0">
                <a:latin typeface="Times New Roman"/>
                <a:cs typeface="Times New Roman"/>
              </a:rPr>
              <a:t>“Safe”</a:t>
            </a:r>
            <a:r>
              <a:rPr sz="2400" spc="-15" dirty="0">
                <a:latin typeface="Times New Roman"/>
                <a:cs typeface="Times New Roman"/>
              </a:rPr>
              <a:t> </a:t>
            </a:r>
            <a:r>
              <a:rPr sz="2400" dirty="0">
                <a:latin typeface="Times New Roman"/>
                <a:cs typeface="Times New Roman"/>
              </a:rPr>
              <a:t>libc</a:t>
            </a:r>
            <a:r>
              <a:rPr sz="2400" spc="-40" dirty="0">
                <a:latin typeface="Times New Roman"/>
                <a:cs typeface="Times New Roman"/>
              </a:rPr>
              <a:t> </a:t>
            </a:r>
            <a:r>
              <a:rPr sz="2400" spc="-10" dirty="0">
                <a:latin typeface="Times New Roman"/>
                <a:cs typeface="Times New Roman"/>
              </a:rPr>
              <a:t>versions</a:t>
            </a:r>
            <a:r>
              <a:rPr sz="2400" dirty="0">
                <a:latin typeface="Times New Roman"/>
                <a:cs typeface="Times New Roman"/>
              </a:rPr>
              <a:t>	</a:t>
            </a:r>
            <a:r>
              <a:rPr sz="2400" dirty="0">
                <a:solidFill>
                  <a:srgbClr val="000090"/>
                </a:solidFill>
                <a:latin typeface="Times New Roman"/>
                <a:cs typeface="Times New Roman"/>
              </a:rPr>
              <a:t>strncpy(),</a:t>
            </a:r>
            <a:r>
              <a:rPr sz="2400" spc="-30" dirty="0">
                <a:solidFill>
                  <a:srgbClr val="000090"/>
                </a:solidFill>
                <a:latin typeface="Times New Roman"/>
                <a:cs typeface="Times New Roman"/>
              </a:rPr>
              <a:t> </a:t>
            </a:r>
            <a:r>
              <a:rPr sz="2400" spc="-10" dirty="0">
                <a:solidFill>
                  <a:srgbClr val="000090"/>
                </a:solidFill>
                <a:latin typeface="Times New Roman"/>
                <a:cs typeface="Times New Roman"/>
              </a:rPr>
              <a:t>strncat()</a:t>
            </a:r>
            <a:r>
              <a:rPr sz="2400" dirty="0">
                <a:solidFill>
                  <a:srgbClr val="000090"/>
                </a:solidFill>
                <a:latin typeface="Times New Roman"/>
                <a:cs typeface="Times New Roman"/>
              </a:rPr>
              <a:t>	</a:t>
            </a:r>
            <a:r>
              <a:rPr sz="2400" dirty="0">
                <a:latin typeface="Times New Roman"/>
                <a:cs typeface="Times New Roman"/>
              </a:rPr>
              <a:t>are</a:t>
            </a:r>
            <a:r>
              <a:rPr sz="2400" spc="-20" dirty="0">
                <a:latin typeface="Times New Roman"/>
                <a:cs typeface="Times New Roman"/>
              </a:rPr>
              <a:t> </a:t>
            </a:r>
            <a:r>
              <a:rPr sz="2400" spc="-10" dirty="0">
                <a:latin typeface="Times New Roman"/>
                <a:cs typeface="Times New Roman"/>
              </a:rPr>
              <a:t>misleading</a:t>
            </a:r>
            <a:endParaRPr sz="2400">
              <a:latin typeface="Times New Roman"/>
              <a:cs typeface="Times New Roman"/>
            </a:endParaRPr>
          </a:p>
          <a:p>
            <a:pPr marL="561340" lvl="1" indent="-228600">
              <a:lnSpc>
                <a:spcPct val="100000"/>
              </a:lnSpc>
              <a:spcBef>
                <a:spcPts val="425"/>
              </a:spcBef>
              <a:buClr>
                <a:srgbClr val="9B2C1F"/>
              </a:buClr>
              <a:buSzPct val="83333"/>
              <a:buFont typeface="Segoe UI Symbol"/>
              <a:buChar char="⚫"/>
              <a:tabLst>
                <a:tab pos="561340" algn="l"/>
                <a:tab pos="1154430" algn="l"/>
                <a:tab pos="2484755" algn="l"/>
              </a:tabLst>
            </a:pPr>
            <a:r>
              <a:rPr sz="2400" spc="-20" dirty="0">
                <a:latin typeface="Times New Roman"/>
                <a:cs typeface="Times New Roman"/>
              </a:rPr>
              <a:t>e.g.</a:t>
            </a:r>
            <a:r>
              <a:rPr sz="2400" dirty="0">
                <a:latin typeface="Times New Roman"/>
                <a:cs typeface="Times New Roman"/>
              </a:rPr>
              <a:t>	</a:t>
            </a:r>
            <a:r>
              <a:rPr sz="2400" spc="-10" dirty="0">
                <a:solidFill>
                  <a:srgbClr val="000090"/>
                </a:solidFill>
                <a:latin typeface="Times New Roman"/>
                <a:cs typeface="Times New Roman"/>
              </a:rPr>
              <a:t>strncpy()</a:t>
            </a:r>
            <a:r>
              <a:rPr sz="2400" dirty="0">
                <a:solidFill>
                  <a:srgbClr val="000090"/>
                </a:solidFill>
                <a:latin typeface="Times New Roman"/>
                <a:cs typeface="Times New Roman"/>
              </a:rPr>
              <a:t>	</a:t>
            </a:r>
            <a:r>
              <a:rPr sz="2400" dirty="0">
                <a:latin typeface="Times New Roman"/>
                <a:cs typeface="Times New Roman"/>
              </a:rPr>
              <a:t>may</a:t>
            </a:r>
            <a:r>
              <a:rPr sz="2400" spc="-20" dirty="0">
                <a:latin typeface="Times New Roman"/>
                <a:cs typeface="Times New Roman"/>
              </a:rPr>
              <a:t> </a:t>
            </a:r>
            <a:r>
              <a:rPr sz="2400" dirty="0">
                <a:latin typeface="Times New Roman"/>
                <a:cs typeface="Times New Roman"/>
              </a:rPr>
              <a:t>leave</a:t>
            </a:r>
            <a:r>
              <a:rPr sz="2400" spc="-35" dirty="0">
                <a:latin typeface="Times New Roman"/>
                <a:cs typeface="Times New Roman"/>
              </a:rPr>
              <a:t> </a:t>
            </a:r>
            <a:r>
              <a:rPr sz="2400" dirty="0">
                <a:latin typeface="Times New Roman"/>
                <a:cs typeface="Times New Roman"/>
              </a:rPr>
              <a:t>string</a:t>
            </a:r>
            <a:r>
              <a:rPr sz="2400" spc="5" dirty="0">
                <a:latin typeface="Times New Roman"/>
                <a:cs typeface="Times New Roman"/>
              </a:rPr>
              <a:t> </a:t>
            </a:r>
            <a:r>
              <a:rPr sz="2400" spc="-10" dirty="0">
                <a:latin typeface="Times New Roman"/>
                <a:cs typeface="Times New Roman"/>
              </a:rPr>
              <a:t>unterminated.</a:t>
            </a:r>
            <a:endParaRPr sz="2400">
              <a:latin typeface="Times New Roman"/>
              <a:cs typeface="Times New Roman"/>
            </a:endParaRPr>
          </a:p>
        </p:txBody>
      </p:sp>
      <p:sp>
        <p:nvSpPr>
          <p:cNvPr id="6" name="object 6"/>
          <p:cNvSpPr txBox="1"/>
          <p:nvPr/>
        </p:nvSpPr>
        <p:spPr>
          <a:xfrm>
            <a:off x="307657" y="4170108"/>
            <a:ext cx="4497070" cy="902969"/>
          </a:xfrm>
          <a:prstGeom prst="rect">
            <a:avLst/>
          </a:prstGeom>
        </p:spPr>
        <p:txBody>
          <a:bodyPr vert="horz" wrap="square" lIns="0" tIns="85725" rIns="0" bIns="0" rtlCol="0">
            <a:spAutoFit/>
          </a:bodyPr>
          <a:lstStyle/>
          <a:p>
            <a:pPr marL="287020" indent="-274320">
              <a:lnSpc>
                <a:spcPct val="100000"/>
              </a:lnSpc>
              <a:spcBef>
                <a:spcPts val="675"/>
              </a:spcBef>
              <a:buClr>
                <a:srgbClr val="D24717"/>
              </a:buClr>
              <a:buSzPct val="83333"/>
              <a:buFont typeface="Segoe UI Symbol"/>
              <a:buChar char="⚫"/>
              <a:tabLst>
                <a:tab pos="287020" algn="l"/>
                <a:tab pos="2973070" algn="l"/>
              </a:tabLst>
            </a:pPr>
            <a:r>
              <a:rPr sz="2400" spc="-10" dirty="0">
                <a:latin typeface="Times New Roman"/>
                <a:cs typeface="Times New Roman"/>
              </a:rPr>
              <a:t>Windows</a:t>
            </a:r>
            <a:r>
              <a:rPr sz="2400" spc="-75" dirty="0">
                <a:latin typeface="Times New Roman"/>
                <a:cs typeface="Times New Roman"/>
              </a:rPr>
              <a:t> </a:t>
            </a:r>
            <a:r>
              <a:rPr sz="2400" dirty="0">
                <a:latin typeface="Times New Roman"/>
                <a:cs typeface="Times New Roman"/>
              </a:rPr>
              <a:t>C</a:t>
            </a:r>
            <a:r>
              <a:rPr sz="2400" spc="5" dirty="0">
                <a:latin typeface="Times New Roman"/>
                <a:cs typeface="Times New Roman"/>
              </a:rPr>
              <a:t> </a:t>
            </a:r>
            <a:r>
              <a:rPr sz="2400" dirty="0">
                <a:latin typeface="Times New Roman"/>
                <a:cs typeface="Times New Roman"/>
              </a:rPr>
              <a:t>run</a:t>
            </a:r>
            <a:r>
              <a:rPr sz="2400" spc="-30" dirty="0">
                <a:latin typeface="Times New Roman"/>
                <a:cs typeface="Times New Roman"/>
              </a:rPr>
              <a:t> </a:t>
            </a:r>
            <a:r>
              <a:rPr sz="2400" spc="-20" dirty="0">
                <a:latin typeface="Times New Roman"/>
                <a:cs typeface="Times New Roman"/>
              </a:rPr>
              <a:t>time</a:t>
            </a:r>
            <a:r>
              <a:rPr sz="2400" dirty="0">
                <a:latin typeface="Times New Roman"/>
                <a:cs typeface="Times New Roman"/>
              </a:rPr>
              <a:t>	</a:t>
            </a:r>
            <a:r>
              <a:rPr sz="2400" spc="-10" dirty="0">
                <a:latin typeface="Times New Roman"/>
                <a:cs typeface="Times New Roman"/>
              </a:rPr>
              <a:t>(CRT):</a:t>
            </a:r>
            <a:endParaRPr sz="2400">
              <a:latin typeface="Times New Roman"/>
              <a:cs typeface="Times New Roman"/>
            </a:endParaRPr>
          </a:p>
          <a:p>
            <a:pPr marL="561340" lvl="1" indent="-228600">
              <a:lnSpc>
                <a:spcPct val="100000"/>
              </a:lnSpc>
              <a:spcBef>
                <a:spcPts val="575"/>
              </a:spcBef>
              <a:buClr>
                <a:srgbClr val="9B2C1F"/>
              </a:buClr>
              <a:buSzPct val="83333"/>
              <a:buFont typeface="Segoe UI Symbol"/>
              <a:buChar char="⚫"/>
              <a:tabLst>
                <a:tab pos="561340" algn="l"/>
              </a:tabLst>
            </a:pPr>
            <a:r>
              <a:rPr sz="2400" dirty="0">
                <a:solidFill>
                  <a:srgbClr val="000090"/>
                </a:solidFill>
                <a:latin typeface="Times New Roman"/>
                <a:cs typeface="Times New Roman"/>
              </a:rPr>
              <a:t>strcpy_s</a:t>
            </a:r>
            <a:r>
              <a:rPr sz="2400" spc="-25" dirty="0">
                <a:solidFill>
                  <a:srgbClr val="000090"/>
                </a:solidFill>
                <a:latin typeface="Times New Roman"/>
                <a:cs typeface="Times New Roman"/>
              </a:rPr>
              <a:t> </a:t>
            </a:r>
            <a:r>
              <a:rPr sz="2400" dirty="0">
                <a:solidFill>
                  <a:srgbClr val="000090"/>
                </a:solidFill>
                <a:latin typeface="Times New Roman"/>
                <a:cs typeface="Times New Roman"/>
              </a:rPr>
              <a:t>(*dest,</a:t>
            </a:r>
            <a:r>
              <a:rPr sz="2400" spc="-45" dirty="0">
                <a:solidFill>
                  <a:srgbClr val="000090"/>
                </a:solidFill>
                <a:latin typeface="Times New Roman"/>
                <a:cs typeface="Times New Roman"/>
              </a:rPr>
              <a:t> </a:t>
            </a:r>
            <a:r>
              <a:rPr sz="2400" dirty="0">
                <a:solidFill>
                  <a:srgbClr val="000090"/>
                </a:solidFill>
                <a:latin typeface="Times New Roman"/>
                <a:cs typeface="Times New Roman"/>
              </a:rPr>
              <a:t>DestSize,</a:t>
            </a:r>
            <a:r>
              <a:rPr sz="2400" spc="-50" dirty="0">
                <a:solidFill>
                  <a:srgbClr val="000090"/>
                </a:solidFill>
                <a:latin typeface="Times New Roman"/>
                <a:cs typeface="Times New Roman"/>
              </a:rPr>
              <a:t> </a:t>
            </a:r>
            <a:r>
              <a:rPr sz="2400" spc="-10" dirty="0">
                <a:solidFill>
                  <a:srgbClr val="000090"/>
                </a:solidFill>
                <a:latin typeface="Times New Roman"/>
                <a:cs typeface="Times New Roman"/>
              </a:rPr>
              <a:t>*src)</a:t>
            </a:r>
            <a:r>
              <a:rPr sz="2400" spc="-10" dirty="0">
                <a:latin typeface="Times New Roman"/>
                <a:cs typeface="Times New Roman"/>
              </a:rPr>
              <a:t>:</a:t>
            </a:r>
            <a:endParaRPr sz="2400">
              <a:latin typeface="Times New Roman"/>
              <a:cs typeface="Times New Roman"/>
            </a:endParaRPr>
          </a:p>
        </p:txBody>
      </p:sp>
      <p:sp>
        <p:nvSpPr>
          <p:cNvPr id="7" name="object 7"/>
          <p:cNvSpPr txBox="1"/>
          <p:nvPr/>
        </p:nvSpPr>
        <p:spPr>
          <a:xfrm>
            <a:off x="5009131" y="4681537"/>
            <a:ext cx="3298190" cy="391795"/>
          </a:xfrm>
          <a:prstGeom prst="rect">
            <a:avLst/>
          </a:prstGeom>
        </p:spPr>
        <p:txBody>
          <a:bodyPr vert="horz" wrap="square" lIns="0" tIns="12700" rIns="0" bIns="0" rtlCol="0">
            <a:spAutoFit/>
          </a:bodyPr>
          <a:lstStyle/>
          <a:p>
            <a:pPr marL="12700">
              <a:lnSpc>
                <a:spcPct val="100000"/>
              </a:lnSpc>
              <a:spcBef>
                <a:spcPts val="100"/>
              </a:spcBef>
            </a:pPr>
            <a:r>
              <a:rPr sz="2400" dirty="0">
                <a:latin typeface="Times New Roman"/>
                <a:cs typeface="Times New Roman"/>
              </a:rPr>
              <a:t>ensures</a:t>
            </a:r>
            <a:r>
              <a:rPr sz="2400" spc="5" dirty="0">
                <a:latin typeface="Times New Roman"/>
                <a:cs typeface="Times New Roman"/>
              </a:rPr>
              <a:t> </a:t>
            </a:r>
            <a:r>
              <a:rPr sz="2400" dirty="0">
                <a:latin typeface="Times New Roman"/>
                <a:cs typeface="Times New Roman"/>
              </a:rPr>
              <a:t>proper</a:t>
            </a:r>
            <a:r>
              <a:rPr sz="2400" spc="-80" dirty="0">
                <a:latin typeface="Times New Roman"/>
                <a:cs typeface="Times New Roman"/>
              </a:rPr>
              <a:t> </a:t>
            </a:r>
            <a:r>
              <a:rPr sz="2400" spc="-10" dirty="0">
                <a:latin typeface="Times New Roman"/>
                <a:cs typeface="Times New Roman"/>
              </a:rPr>
              <a:t>termination</a:t>
            </a:r>
            <a:endParaRPr sz="2400">
              <a:latin typeface="Times New Roman"/>
              <a:cs typeface="Times New Roman"/>
            </a:endParaRPr>
          </a:p>
        </p:txBody>
      </p:sp>
      <p:grpSp>
        <p:nvGrpSpPr>
          <p:cNvPr id="8" name="object 8"/>
          <p:cNvGrpSpPr/>
          <p:nvPr/>
        </p:nvGrpSpPr>
        <p:grpSpPr>
          <a:xfrm>
            <a:off x="200019" y="3037978"/>
            <a:ext cx="8749030" cy="81915"/>
            <a:chOff x="200019" y="3037978"/>
            <a:chExt cx="8749030" cy="81915"/>
          </a:xfrm>
        </p:grpSpPr>
        <p:pic>
          <p:nvPicPr>
            <p:cNvPr id="9" name="object 9"/>
            <p:cNvPicPr/>
            <p:nvPr/>
          </p:nvPicPr>
          <p:blipFill>
            <a:blip r:embed="rId2" cstate="print"/>
            <a:stretch>
              <a:fillRect/>
            </a:stretch>
          </p:blipFill>
          <p:spPr>
            <a:xfrm>
              <a:off x="200019" y="3037978"/>
              <a:ext cx="8748791" cy="81828"/>
            </a:xfrm>
            <a:prstGeom prst="rect">
              <a:avLst/>
            </a:prstGeom>
          </p:spPr>
        </p:pic>
        <p:sp>
          <p:nvSpPr>
            <p:cNvPr id="10" name="object 10"/>
            <p:cNvSpPr/>
            <p:nvPr/>
          </p:nvSpPr>
          <p:spPr>
            <a:xfrm>
              <a:off x="233362" y="3052825"/>
              <a:ext cx="8687435" cy="0"/>
            </a:xfrm>
            <a:custGeom>
              <a:avLst/>
              <a:gdLst/>
              <a:ahLst/>
              <a:cxnLst/>
              <a:rect l="l" t="t" r="r" b="b"/>
              <a:pathLst>
                <a:path w="8687435">
                  <a:moveTo>
                    <a:pt x="0" y="0"/>
                  </a:moveTo>
                  <a:lnTo>
                    <a:pt x="8686863" y="0"/>
                  </a:lnTo>
                </a:path>
              </a:pathLst>
            </a:custGeom>
            <a:ln w="12700">
              <a:solidFill>
                <a:srgbClr val="D24717"/>
              </a:solidFill>
            </a:ln>
          </p:spPr>
          <p:txBody>
            <a:bodyPr wrap="square" lIns="0" tIns="0" rIns="0" bIns="0" rtlCol="0"/>
            <a:lstStyle/>
            <a:p>
              <a:endParaRPr/>
            </a:p>
          </p:txBody>
        </p:sp>
      </p:grpSp>
      <p:grpSp>
        <p:nvGrpSpPr>
          <p:cNvPr id="11" name="object 11"/>
          <p:cNvGrpSpPr/>
          <p:nvPr/>
        </p:nvGrpSpPr>
        <p:grpSpPr>
          <a:xfrm>
            <a:off x="200019" y="4104778"/>
            <a:ext cx="8749030" cy="81915"/>
            <a:chOff x="200019" y="4104778"/>
            <a:chExt cx="8749030" cy="81915"/>
          </a:xfrm>
        </p:grpSpPr>
        <p:pic>
          <p:nvPicPr>
            <p:cNvPr id="12" name="object 12"/>
            <p:cNvPicPr/>
            <p:nvPr/>
          </p:nvPicPr>
          <p:blipFill>
            <a:blip r:embed="rId2" cstate="print"/>
            <a:stretch>
              <a:fillRect/>
            </a:stretch>
          </p:blipFill>
          <p:spPr>
            <a:xfrm>
              <a:off x="200019" y="4104778"/>
              <a:ext cx="8748791" cy="81828"/>
            </a:xfrm>
            <a:prstGeom prst="rect">
              <a:avLst/>
            </a:prstGeom>
          </p:spPr>
        </p:pic>
        <p:sp>
          <p:nvSpPr>
            <p:cNvPr id="13" name="object 13"/>
            <p:cNvSpPr/>
            <p:nvPr/>
          </p:nvSpPr>
          <p:spPr>
            <a:xfrm>
              <a:off x="233362" y="4119625"/>
              <a:ext cx="8687435" cy="0"/>
            </a:xfrm>
            <a:custGeom>
              <a:avLst/>
              <a:gdLst/>
              <a:ahLst/>
              <a:cxnLst/>
              <a:rect l="l" t="t" r="r" b="b"/>
              <a:pathLst>
                <a:path w="8687435">
                  <a:moveTo>
                    <a:pt x="0" y="0"/>
                  </a:moveTo>
                  <a:lnTo>
                    <a:pt x="8686863" y="0"/>
                  </a:lnTo>
                </a:path>
              </a:pathLst>
            </a:custGeom>
            <a:ln w="12700">
              <a:solidFill>
                <a:srgbClr val="D24717"/>
              </a:solidFill>
            </a:ln>
          </p:spPr>
          <p:txBody>
            <a:bodyPr wrap="square" lIns="0" tIns="0" rIns="0" bIns="0" rtlCol="0"/>
            <a:lstStyle/>
            <a:p>
              <a:endParaRPr/>
            </a:p>
          </p:txBody>
        </p:sp>
      </p:grpSp>
      <p:pic>
        <p:nvPicPr>
          <p:cNvPr id="14" name="object 14"/>
          <p:cNvPicPr/>
          <p:nvPr/>
        </p:nvPicPr>
        <p:blipFill>
          <a:blip r:embed="rId3" cstate="print"/>
          <a:stretch>
            <a:fillRect/>
          </a:stretch>
        </p:blipFill>
        <p:spPr>
          <a:xfrm>
            <a:off x="457200" y="6248400"/>
            <a:ext cx="476250" cy="381000"/>
          </a:xfrm>
          <a:prstGeom prst="rect">
            <a:avLst/>
          </a:prstGeom>
        </p:spPr>
      </p:pic>
      <p:sp>
        <p:nvSpPr>
          <p:cNvPr id="15" name="object 15"/>
          <p:cNvSpPr txBox="1">
            <a:spLocks noGrp="1"/>
          </p:cNvSpPr>
          <p:nvPr>
            <p:ph type="ftr" sz="quarter" idx="5"/>
          </p:nvPr>
        </p:nvSpPr>
        <p:spPr>
          <a:prstGeom prst="rect">
            <a:avLst/>
          </a:prstGeom>
        </p:spPr>
        <p:txBody>
          <a:bodyPr vert="horz" wrap="square" lIns="0" tIns="76200" rIns="0" bIns="0" rtlCol="0">
            <a:spAutoFit/>
          </a:bodyPr>
          <a:lstStyle/>
          <a:p>
            <a:pPr marL="165100">
              <a:lnSpc>
                <a:spcPts val="1550"/>
              </a:lnSpc>
            </a:pPr>
            <a:r>
              <a:rPr spc="-180" dirty="0"/>
              <a:t>FAST-</a:t>
            </a:r>
            <a:r>
              <a:rPr spc="-100" dirty="0"/>
              <a:t>NUCES</a:t>
            </a:r>
          </a:p>
        </p:txBody>
      </p:sp>
      <p:sp>
        <p:nvSpPr>
          <p:cNvPr id="17" name="TextBox 16">
            <a:extLst>
              <a:ext uri="{FF2B5EF4-FFF2-40B4-BE49-F238E27FC236}">
                <a16:creationId xmlns:a16="http://schemas.microsoft.com/office/drawing/2014/main" id="{D5B0EC19-FDCA-81BB-7D68-0551FA287EF4}"/>
              </a:ext>
            </a:extLst>
          </p:cNvPr>
          <p:cNvSpPr txBox="1"/>
          <p:nvPr/>
        </p:nvSpPr>
        <p:spPr>
          <a:xfrm>
            <a:off x="1828800" y="5357335"/>
            <a:ext cx="6600574" cy="923330"/>
          </a:xfrm>
          <a:prstGeom prst="rect">
            <a:avLst/>
          </a:prstGeom>
          <a:noFill/>
        </p:spPr>
        <p:txBody>
          <a:bodyPr wrap="square">
            <a:spAutoFit/>
          </a:bodyPr>
          <a:lstStyle/>
          <a:p>
            <a:r>
              <a:rPr lang="en-US" dirty="0">
                <a:highlight>
                  <a:srgbClr val="FFFF00"/>
                </a:highlight>
              </a:rPr>
              <a:t>Functions like </a:t>
            </a:r>
            <a:r>
              <a:rPr lang="en-US" dirty="0">
                <a:highlight>
                  <a:srgbClr val="FFFF00"/>
                </a:highlight>
                <a:latin typeface="Courier New" panose="02070309020205020404" pitchFamily="49" charset="0"/>
              </a:rPr>
              <a:t>gets()</a:t>
            </a:r>
            <a:r>
              <a:rPr lang="en-US" dirty="0">
                <a:highlight>
                  <a:srgbClr val="FFFF00"/>
                </a:highlight>
              </a:rPr>
              <a:t>, </a:t>
            </a:r>
            <a:r>
              <a:rPr lang="en-US" dirty="0" err="1">
                <a:highlight>
                  <a:srgbClr val="FFFF00"/>
                </a:highlight>
                <a:latin typeface="Courier New" panose="02070309020205020404" pitchFamily="49" charset="0"/>
              </a:rPr>
              <a:t>strcpy</a:t>
            </a:r>
            <a:r>
              <a:rPr lang="en-US" dirty="0">
                <a:highlight>
                  <a:srgbClr val="FFFF00"/>
                </a:highlight>
                <a:latin typeface="Courier New" panose="02070309020205020404" pitchFamily="49" charset="0"/>
              </a:rPr>
              <a:t>()</a:t>
            </a:r>
            <a:r>
              <a:rPr lang="en-US" dirty="0">
                <a:highlight>
                  <a:srgbClr val="FFFF00"/>
                </a:highlight>
              </a:rPr>
              <a:t>, and </a:t>
            </a:r>
            <a:r>
              <a:rPr lang="en-US" dirty="0" err="1">
                <a:highlight>
                  <a:srgbClr val="FFFF00"/>
                </a:highlight>
                <a:latin typeface="Courier New" panose="02070309020205020404" pitchFamily="49" charset="0"/>
              </a:rPr>
              <a:t>scanf</a:t>
            </a:r>
            <a:r>
              <a:rPr lang="en-US" dirty="0">
                <a:highlight>
                  <a:srgbClr val="FFFF00"/>
                </a:highlight>
                <a:latin typeface="Courier New" panose="02070309020205020404" pitchFamily="49" charset="0"/>
              </a:rPr>
              <a:t>()</a:t>
            </a:r>
            <a:r>
              <a:rPr lang="en-US" dirty="0">
                <a:highlight>
                  <a:srgbClr val="FFFF00"/>
                </a:highlight>
              </a:rPr>
              <a:t> are extremely dangerous because they do not check input length.</a:t>
            </a:r>
            <a:br>
              <a:rPr lang="en-US" dirty="0">
                <a:highlight>
                  <a:srgbClr val="FFFF00"/>
                </a:highlight>
              </a:rPr>
            </a:br>
            <a:r>
              <a:rPr lang="en-US" dirty="0">
                <a:highlight>
                  <a:srgbClr val="FFFF00"/>
                </a:highlight>
              </a:rPr>
              <a:t>Always prefer safer functions or manual bounds checking.</a:t>
            </a:r>
            <a:endParaRPr lang="en-PK" dirty="0">
              <a:highlight>
                <a:srgbClr val="FFFF00"/>
              </a:high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42189" rIns="0" bIns="0" rtlCol="0">
            <a:spAutoFit/>
          </a:bodyPr>
          <a:lstStyle/>
          <a:p>
            <a:pPr marL="165100">
              <a:lnSpc>
                <a:spcPct val="100000"/>
              </a:lnSpc>
              <a:spcBef>
                <a:spcPts val="105"/>
              </a:spcBef>
            </a:pPr>
            <a:r>
              <a:rPr dirty="0"/>
              <a:t>Finding</a:t>
            </a:r>
            <a:r>
              <a:rPr spc="-40" dirty="0"/>
              <a:t> </a:t>
            </a:r>
            <a:r>
              <a:rPr dirty="0"/>
              <a:t>buffer</a:t>
            </a:r>
            <a:r>
              <a:rPr spc="-30" dirty="0"/>
              <a:t> </a:t>
            </a:r>
            <a:r>
              <a:rPr spc="-10" dirty="0"/>
              <a:t>overflows</a:t>
            </a:r>
          </a:p>
        </p:txBody>
      </p:sp>
      <p:sp>
        <p:nvSpPr>
          <p:cNvPr id="3" name="object 3"/>
          <p:cNvSpPr txBox="1"/>
          <p:nvPr/>
        </p:nvSpPr>
        <p:spPr>
          <a:xfrm>
            <a:off x="307657" y="1432623"/>
            <a:ext cx="7232650" cy="2419985"/>
          </a:xfrm>
          <a:prstGeom prst="rect">
            <a:avLst/>
          </a:prstGeom>
        </p:spPr>
        <p:txBody>
          <a:bodyPr vert="horz" wrap="square" lIns="0" tIns="66675" rIns="0" bIns="0" rtlCol="0">
            <a:spAutoFit/>
          </a:bodyPr>
          <a:lstStyle/>
          <a:p>
            <a:pPr marL="294005" indent="-281305">
              <a:lnSpc>
                <a:spcPct val="100000"/>
              </a:lnSpc>
              <a:spcBef>
                <a:spcPts val="525"/>
              </a:spcBef>
              <a:buClr>
                <a:srgbClr val="D24717"/>
              </a:buClr>
              <a:buSzPct val="83333"/>
              <a:buFont typeface="Segoe UI Symbol"/>
              <a:buChar char="⚫"/>
              <a:tabLst>
                <a:tab pos="294005" algn="l"/>
              </a:tabLst>
            </a:pPr>
            <a:r>
              <a:rPr sz="2400" spc="-265" dirty="0">
                <a:latin typeface="Times New Roman"/>
                <a:cs typeface="Times New Roman"/>
              </a:rPr>
              <a:t>To</a:t>
            </a:r>
            <a:r>
              <a:rPr sz="2400" spc="-45" dirty="0">
                <a:latin typeface="Times New Roman"/>
                <a:cs typeface="Times New Roman"/>
              </a:rPr>
              <a:t> </a:t>
            </a:r>
            <a:r>
              <a:rPr sz="2400" spc="-140" dirty="0">
                <a:latin typeface="Times New Roman"/>
                <a:cs typeface="Times New Roman"/>
              </a:rPr>
              <a:t>find</a:t>
            </a:r>
            <a:r>
              <a:rPr sz="2400" spc="-40" dirty="0">
                <a:latin typeface="Times New Roman"/>
                <a:cs typeface="Times New Roman"/>
              </a:rPr>
              <a:t> </a:t>
            </a:r>
            <a:r>
              <a:rPr sz="2400" spc="-10" dirty="0">
                <a:latin typeface="Times New Roman"/>
                <a:cs typeface="Times New Roman"/>
              </a:rPr>
              <a:t>overflow:</a:t>
            </a:r>
            <a:endParaRPr sz="2400" dirty="0">
              <a:latin typeface="Times New Roman"/>
              <a:cs typeface="Times New Roman"/>
            </a:endParaRPr>
          </a:p>
          <a:p>
            <a:pPr marL="638175" lvl="1" indent="-230504">
              <a:lnSpc>
                <a:spcPct val="100000"/>
              </a:lnSpc>
              <a:spcBef>
                <a:spcPts val="425"/>
              </a:spcBef>
              <a:buClr>
                <a:srgbClr val="9B2C1F"/>
              </a:buClr>
              <a:buSzPct val="83333"/>
              <a:buFont typeface="Segoe UI Symbol"/>
              <a:buChar char="⚫"/>
              <a:tabLst>
                <a:tab pos="638175" algn="l"/>
              </a:tabLst>
            </a:pPr>
            <a:r>
              <a:rPr sz="2400" spc="-125" dirty="0">
                <a:latin typeface="Times New Roman"/>
                <a:cs typeface="Times New Roman"/>
              </a:rPr>
              <a:t>Run</a:t>
            </a:r>
            <a:r>
              <a:rPr sz="2400" spc="-30" dirty="0">
                <a:latin typeface="Times New Roman"/>
                <a:cs typeface="Times New Roman"/>
              </a:rPr>
              <a:t> </a:t>
            </a:r>
            <a:r>
              <a:rPr sz="2400" spc="-165" dirty="0">
                <a:latin typeface="Times New Roman"/>
                <a:cs typeface="Times New Roman"/>
              </a:rPr>
              <a:t>web</a:t>
            </a:r>
            <a:r>
              <a:rPr sz="2400" spc="-75" dirty="0">
                <a:latin typeface="Times New Roman"/>
                <a:cs typeface="Times New Roman"/>
              </a:rPr>
              <a:t> </a:t>
            </a:r>
            <a:r>
              <a:rPr sz="2400" spc="-95" dirty="0">
                <a:latin typeface="Times New Roman"/>
                <a:cs typeface="Times New Roman"/>
              </a:rPr>
              <a:t>server</a:t>
            </a:r>
            <a:r>
              <a:rPr sz="2400" spc="-55" dirty="0">
                <a:latin typeface="Times New Roman"/>
                <a:cs typeface="Times New Roman"/>
              </a:rPr>
              <a:t> </a:t>
            </a:r>
            <a:r>
              <a:rPr sz="2400" spc="-100" dirty="0">
                <a:latin typeface="Times New Roman"/>
                <a:cs typeface="Times New Roman"/>
              </a:rPr>
              <a:t>on</a:t>
            </a:r>
            <a:r>
              <a:rPr sz="2400" spc="-30" dirty="0">
                <a:latin typeface="Times New Roman"/>
                <a:cs typeface="Times New Roman"/>
              </a:rPr>
              <a:t> </a:t>
            </a:r>
            <a:r>
              <a:rPr sz="2400" spc="-135" dirty="0">
                <a:latin typeface="Times New Roman"/>
                <a:cs typeface="Times New Roman"/>
              </a:rPr>
              <a:t>local</a:t>
            </a:r>
            <a:r>
              <a:rPr sz="2400" spc="-30" dirty="0">
                <a:latin typeface="Times New Roman"/>
                <a:cs typeface="Times New Roman"/>
              </a:rPr>
              <a:t> </a:t>
            </a:r>
            <a:r>
              <a:rPr sz="2400" spc="-10" dirty="0">
                <a:latin typeface="Times New Roman"/>
                <a:cs typeface="Times New Roman"/>
              </a:rPr>
              <a:t>machine</a:t>
            </a:r>
            <a:endParaRPr sz="2400" dirty="0">
              <a:latin typeface="Times New Roman"/>
              <a:cs typeface="Times New Roman"/>
            </a:endParaRPr>
          </a:p>
          <a:p>
            <a:pPr marL="638175" lvl="1" indent="-230504">
              <a:lnSpc>
                <a:spcPct val="100000"/>
              </a:lnSpc>
              <a:spcBef>
                <a:spcPts val="425"/>
              </a:spcBef>
              <a:buClr>
                <a:srgbClr val="9B2C1F"/>
              </a:buClr>
              <a:buSzPct val="83333"/>
              <a:buFont typeface="Segoe UI Symbol"/>
              <a:buChar char="⚫"/>
              <a:tabLst>
                <a:tab pos="638175" algn="l"/>
                <a:tab pos="5097780" algn="l"/>
              </a:tabLst>
            </a:pPr>
            <a:r>
              <a:rPr sz="2400" spc="-160" dirty="0">
                <a:latin typeface="Times New Roman"/>
                <a:cs typeface="Times New Roman"/>
              </a:rPr>
              <a:t>Issue</a:t>
            </a:r>
            <a:r>
              <a:rPr sz="2400" spc="-25" dirty="0">
                <a:latin typeface="Times New Roman"/>
                <a:cs typeface="Times New Roman"/>
              </a:rPr>
              <a:t> </a:t>
            </a:r>
            <a:r>
              <a:rPr sz="2400" spc="-114" dirty="0">
                <a:latin typeface="Times New Roman"/>
                <a:cs typeface="Times New Roman"/>
              </a:rPr>
              <a:t>malformed</a:t>
            </a:r>
            <a:r>
              <a:rPr sz="2400" spc="5" dirty="0">
                <a:latin typeface="Times New Roman"/>
                <a:cs typeface="Times New Roman"/>
              </a:rPr>
              <a:t> </a:t>
            </a:r>
            <a:r>
              <a:rPr sz="2400" spc="-105" dirty="0">
                <a:latin typeface="Times New Roman"/>
                <a:cs typeface="Times New Roman"/>
              </a:rPr>
              <a:t>requests</a:t>
            </a:r>
            <a:r>
              <a:rPr sz="2400" spc="-25" dirty="0">
                <a:latin typeface="Times New Roman"/>
                <a:cs typeface="Times New Roman"/>
              </a:rPr>
              <a:t> </a:t>
            </a:r>
            <a:r>
              <a:rPr sz="2400" spc="-114" dirty="0">
                <a:latin typeface="Times New Roman"/>
                <a:cs typeface="Times New Roman"/>
              </a:rPr>
              <a:t>(ending</a:t>
            </a:r>
            <a:r>
              <a:rPr sz="2400" spc="-50" dirty="0">
                <a:latin typeface="Times New Roman"/>
                <a:cs typeface="Times New Roman"/>
              </a:rPr>
              <a:t> </a:t>
            </a:r>
            <a:r>
              <a:rPr sz="2400" spc="-20" dirty="0">
                <a:latin typeface="Times New Roman"/>
                <a:cs typeface="Times New Roman"/>
              </a:rPr>
              <a:t>with</a:t>
            </a:r>
            <a:r>
              <a:rPr sz="2400" dirty="0">
                <a:latin typeface="Times New Roman"/>
                <a:cs typeface="Times New Roman"/>
              </a:rPr>
              <a:t>	</a:t>
            </a:r>
            <a:r>
              <a:rPr sz="2400" spc="-185" dirty="0">
                <a:latin typeface="Times New Roman"/>
                <a:cs typeface="Times New Roman"/>
              </a:rPr>
              <a:t>“$$$$$”</a:t>
            </a:r>
            <a:r>
              <a:rPr sz="2400" spc="-90" dirty="0">
                <a:latin typeface="Times New Roman"/>
                <a:cs typeface="Times New Roman"/>
              </a:rPr>
              <a:t> </a:t>
            </a:r>
            <a:r>
              <a:rPr sz="2400" spc="-50" dirty="0">
                <a:latin typeface="Times New Roman"/>
                <a:cs typeface="Times New Roman"/>
              </a:rPr>
              <a:t>)</a:t>
            </a:r>
            <a:endParaRPr sz="2400" dirty="0">
              <a:latin typeface="Times New Roman"/>
              <a:cs typeface="Times New Roman"/>
            </a:endParaRPr>
          </a:p>
          <a:p>
            <a:pPr marL="1037590" lvl="2" indent="-229235">
              <a:lnSpc>
                <a:spcPct val="100000"/>
              </a:lnSpc>
              <a:spcBef>
                <a:spcPts val="445"/>
              </a:spcBef>
              <a:buClr>
                <a:srgbClr val="E6B0AB"/>
              </a:buClr>
              <a:buSzPct val="85000"/>
              <a:buFont typeface="Segoe UI Symbol"/>
              <a:buChar char="⚫"/>
              <a:tabLst>
                <a:tab pos="1037590" algn="l"/>
              </a:tabLst>
            </a:pPr>
            <a:r>
              <a:rPr sz="2000" spc="-180" dirty="0">
                <a:latin typeface="Times New Roman"/>
                <a:cs typeface="Times New Roman"/>
              </a:rPr>
              <a:t>Many</a:t>
            </a:r>
            <a:r>
              <a:rPr sz="2000" spc="-65" dirty="0">
                <a:latin typeface="Times New Roman"/>
                <a:cs typeface="Times New Roman"/>
              </a:rPr>
              <a:t> </a:t>
            </a:r>
            <a:r>
              <a:rPr sz="2000" spc="-95" dirty="0">
                <a:latin typeface="Times New Roman"/>
                <a:cs typeface="Times New Roman"/>
              </a:rPr>
              <a:t>automated</a:t>
            </a:r>
            <a:r>
              <a:rPr sz="2000" spc="-70" dirty="0">
                <a:latin typeface="Times New Roman"/>
                <a:cs typeface="Times New Roman"/>
              </a:rPr>
              <a:t> </a:t>
            </a:r>
            <a:r>
              <a:rPr sz="2000" spc="-80" dirty="0">
                <a:latin typeface="Times New Roman"/>
                <a:cs typeface="Times New Roman"/>
              </a:rPr>
              <a:t>tools </a:t>
            </a:r>
            <a:r>
              <a:rPr sz="2000" spc="-20" dirty="0">
                <a:latin typeface="Times New Roman"/>
                <a:cs typeface="Times New Roman"/>
              </a:rPr>
              <a:t>exist</a:t>
            </a:r>
            <a:r>
              <a:rPr sz="2000" spc="150" dirty="0">
                <a:latin typeface="Times New Roman"/>
                <a:cs typeface="Times New Roman"/>
              </a:rPr>
              <a:t> </a:t>
            </a:r>
            <a:r>
              <a:rPr sz="2000" spc="-55" dirty="0">
                <a:latin typeface="Times New Roman"/>
                <a:cs typeface="Times New Roman"/>
              </a:rPr>
              <a:t>(called</a:t>
            </a:r>
            <a:r>
              <a:rPr sz="2000" spc="315" dirty="0">
                <a:latin typeface="Times New Roman"/>
                <a:cs typeface="Times New Roman"/>
              </a:rPr>
              <a:t> </a:t>
            </a:r>
            <a:r>
              <a:rPr sz="2000" spc="-114" dirty="0">
                <a:latin typeface="Times New Roman"/>
                <a:cs typeface="Times New Roman"/>
              </a:rPr>
              <a:t>fuzzers</a:t>
            </a:r>
            <a:r>
              <a:rPr sz="2000" spc="-50" dirty="0">
                <a:latin typeface="Times New Roman"/>
                <a:cs typeface="Times New Roman"/>
              </a:rPr>
              <a:t> </a:t>
            </a:r>
            <a:r>
              <a:rPr sz="2000" dirty="0">
                <a:latin typeface="Times New Roman"/>
                <a:cs typeface="Times New Roman"/>
              </a:rPr>
              <a:t>–</a:t>
            </a:r>
            <a:r>
              <a:rPr sz="2000" spc="-95" dirty="0">
                <a:latin typeface="Times New Roman"/>
                <a:cs typeface="Times New Roman"/>
              </a:rPr>
              <a:t> </a:t>
            </a:r>
            <a:r>
              <a:rPr sz="2000" spc="-60" dirty="0">
                <a:latin typeface="Times New Roman"/>
                <a:cs typeface="Times New Roman"/>
              </a:rPr>
              <a:t>next</a:t>
            </a:r>
            <a:r>
              <a:rPr sz="2000" spc="-65" dirty="0">
                <a:latin typeface="Times New Roman"/>
                <a:cs typeface="Times New Roman"/>
              </a:rPr>
              <a:t> </a:t>
            </a:r>
            <a:r>
              <a:rPr sz="2000" spc="-10" dirty="0">
                <a:latin typeface="Times New Roman"/>
                <a:cs typeface="Times New Roman"/>
              </a:rPr>
              <a:t>module)</a:t>
            </a:r>
            <a:endParaRPr sz="2000" dirty="0">
              <a:latin typeface="Times New Roman"/>
              <a:cs typeface="Times New Roman"/>
            </a:endParaRPr>
          </a:p>
          <a:p>
            <a:pPr marL="638175" lvl="1" indent="-230504">
              <a:lnSpc>
                <a:spcPct val="100000"/>
              </a:lnSpc>
              <a:spcBef>
                <a:spcPts val="355"/>
              </a:spcBef>
              <a:buClr>
                <a:srgbClr val="9B2C1F"/>
              </a:buClr>
              <a:buSzPct val="83333"/>
              <a:buFont typeface="Segoe UI Symbol"/>
              <a:buChar char="⚫"/>
              <a:tabLst>
                <a:tab pos="638175" algn="l"/>
              </a:tabLst>
            </a:pPr>
            <a:r>
              <a:rPr sz="2400" spc="-195" dirty="0">
                <a:latin typeface="Times New Roman"/>
                <a:cs typeface="Times New Roman"/>
              </a:rPr>
              <a:t>If</a:t>
            </a:r>
            <a:r>
              <a:rPr sz="2400" dirty="0">
                <a:latin typeface="Times New Roman"/>
                <a:cs typeface="Times New Roman"/>
              </a:rPr>
              <a:t> </a:t>
            </a:r>
            <a:r>
              <a:rPr sz="2400" spc="-165" dirty="0">
                <a:latin typeface="Times New Roman"/>
                <a:cs typeface="Times New Roman"/>
              </a:rPr>
              <a:t>web</a:t>
            </a:r>
            <a:r>
              <a:rPr sz="2400" spc="5" dirty="0">
                <a:latin typeface="Times New Roman"/>
                <a:cs typeface="Times New Roman"/>
              </a:rPr>
              <a:t> </a:t>
            </a:r>
            <a:r>
              <a:rPr sz="2400" spc="-95" dirty="0">
                <a:latin typeface="Times New Roman"/>
                <a:cs typeface="Times New Roman"/>
              </a:rPr>
              <a:t>server</a:t>
            </a:r>
            <a:r>
              <a:rPr sz="2400" spc="-50" dirty="0">
                <a:latin typeface="Times New Roman"/>
                <a:cs typeface="Times New Roman"/>
              </a:rPr>
              <a:t> </a:t>
            </a:r>
            <a:r>
              <a:rPr sz="2400" spc="-10" dirty="0">
                <a:latin typeface="Times New Roman"/>
                <a:cs typeface="Times New Roman"/>
              </a:rPr>
              <a:t>crashes</a:t>
            </a:r>
            <a:endParaRPr sz="2400" dirty="0">
              <a:latin typeface="Times New Roman"/>
              <a:cs typeface="Times New Roman"/>
            </a:endParaRPr>
          </a:p>
          <a:p>
            <a:pPr marL="911225" lvl="2" indent="-229235">
              <a:lnSpc>
                <a:spcPct val="100000"/>
              </a:lnSpc>
              <a:spcBef>
                <a:spcPts val="450"/>
              </a:spcBef>
              <a:buClr>
                <a:srgbClr val="E6B0AB"/>
              </a:buClr>
              <a:buSzPct val="85000"/>
              <a:buFont typeface="Segoe UI Symbol"/>
              <a:buChar char="⚫"/>
              <a:tabLst>
                <a:tab pos="911225" algn="l"/>
              </a:tabLst>
            </a:pPr>
            <a:r>
              <a:rPr sz="2000" spc="-105" dirty="0">
                <a:latin typeface="Times New Roman"/>
                <a:cs typeface="Times New Roman"/>
              </a:rPr>
              <a:t>search</a:t>
            </a:r>
            <a:r>
              <a:rPr sz="2000" spc="-45" dirty="0">
                <a:latin typeface="Times New Roman"/>
                <a:cs typeface="Times New Roman"/>
              </a:rPr>
              <a:t> </a:t>
            </a:r>
            <a:r>
              <a:rPr sz="2000" spc="-80" dirty="0">
                <a:latin typeface="Times New Roman"/>
                <a:cs typeface="Times New Roman"/>
              </a:rPr>
              <a:t>core</a:t>
            </a:r>
            <a:r>
              <a:rPr sz="2000" spc="-40" dirty="0">
                <a:latin typeface="Times New Roman"/>
                <a:cs typeface="Times New Roman"/>
              </a:rPr>
              <a:t> </a:t>
            </a:r>
            <a:r>
              <a:rPr sz="2000" spc="-120" dirty="0">
                <a:latin typeface="Times New Roman"/>
                <a:cs typeface="Times New Roman"/>
              </a:rPr>
              <a:t>dump</a:t>
            </a:r>
            <a:r>
              <a:rPr sz="2000" spc="-75" dirty="0">
                <a:latin typeface="Times New Roman"/>
                <a:cs typeface="Times New Roman"/>
              </a:rPr>
              <a:t> </a:t>
            </a:r>
            <a:r>
              <a:rPr sz="2000" dirty="0">
                <a:latin typeface="Times New Roman"/>
                <a:cs typeface="Times New Roman"/>
              </a:rPr>
              <a:t>for</a:t>
            </a:r>
            <a:r>
              <a:rPr sz="2000" spc="305" dirty="0">
                <a:latin typeface="Times New Roman"/>
                <a:cs typeface="Times New Roman"/>
              </a:rPr>
              <a:t> </a:t>
            </a:r>
            <a:r>
              <a:rPr sz="2000" spc="-150" dirty="0">
                <a:latin typeface="Times New Roman"/>
                <a:cs typeface="Times New Roman"/>
              </a:rPr>
              <a:t>“$$$$$”</a:t>
            </a:r>
            <a:r>
              <a:rPr sz="2000" spc="-160" dirty="0">
                <a:latin typeface="Times New Roman"/>
                <a:cs typeface="Times New Roman"/>
              </a:rPr>
              <a:t> </a:t>
            </a:r>
            <a:r>
              <a:rPr sz="2000" dirty="0">
                <a:latin typeface="Times New Roman"/>
                <a:cs typeface="Times New Roman"/>
              </a:rPr>
              <a:t>to</a:t>
            </a:r>
            <a:r>
              <a:rPr sz="2000" spc="-75" dirty="0">
                <a:latin typeface="Times New Roman"/>
                <a:cs typeface="Times New Roman"/>
              </a:rPr>
              <a:t> </a:t>
            </a:r>
            <a:r>
              <a:rPr sz="2000" spc="-120" dirty="0">
                <a:latin typeface="Times New Roman"/>
                <a:cs typeface="Times New Roman"/>
              </a:rPr>
              <a:t>find</a:t>
            </a:r>
            <a:r>
              <a:rPr sz="2000" spc="-5" dirty="0">
                <a:latin typeface="Times New Roman"/>
                <a:cs typeface="Times New Roman"/>
              </a:rPr>
              <a:t> </a:t>
            </a:r>
            <a:r>
              <a:rPr sz="2000" spc="-125" dirty="0">
                <a:latin typeface="Times New Roman"/>
                <a:cs typeface="Times New Roman"/>
              </a:rPr>
              <a:t>overflow</a:t>
            </a:r>
            <a:r>
              <a:rPr sz="2000" spc="-55" dirty="0">
                <a:latin typeface="Times New Roman"/>
                <a:cs typeface="Times New Roman"/>
              </a:rPr>
              <a:t> </a:t>
            </a:r>
            <a:r>
              <a:rPr sz="2000" spc="-90" dirty="0">
                <a:latin typeface="Times New Roman"/>
                <a:cs typeface="Times New Roman"/>
              </a:rPr>
              <a:t>location</a:t>
            </a:r>
            <a:r>
              <a:rPr sz="2000" spc="-75" dirty="0">
                <a:latin typeface="Times New Roman"/>
                <a:cs typeface="Times New Roman"/>
              </a:rPr>
              <a:t> </a:t>
            </a:r>
            <a:r>
              <a:rPr sz="2000" spc="-90" dirty="0">
                <a:latin typeface="Times New Roman"/>
                <a:cs typeface="Times New Roman"/>
              </a:rPr>
              <a:t>(heap,</a:t>
            </a:r>
            <a:r>
              <a:rPr sz="2000" spc="-120" dirty="0">
                <a:latin typeface="Times New Roman"/>
                <a:cs typeface="Times New Roman"/>
              </a:rPr>
              <a:t> </a:t>
            </a:r>
            <a:r>
              <a:rPr sz="2000" spc="-10" dirty="0">
                <a:latin typeface="Times New Roman"/>
                <a:cs typeface="Times New Roman"/>
              </a:rPr>
              <a:t>stack)</a:t>
            </a:r>
            <a:endParaRPr sz="2000" dirty="0">
              <a:latin typeface="Times New Roman"/>
              <a:cs typeface="Times New Roman"/>
            </a:endParaRPr>
          </a:p>
        </p:txBody>
      </p:sp>
      <p:sp>
        <p:nvSpPr>
          <p:cNvPr id="4" name="object 4"/>
          <p:cNvSpPr txBox="1"/>
          <p:nvPr/>
        </p:nvSpPr>
        <p:spPr>
          <a:xfrm>
            <a:off x="307657" y="4337685"/>
            <a:ext cx="2261235" cy="392430"/>
          </a:xfrm>
          <a:prstGeom prst="rect">
            <a:avLst/>
          </a:prstGeom>
        </p:spPr>
        <p:txBody>
          <a:bodyPr vert="horz" wrap="square" lIns="0" tIns="13335" rIns="0" bIns="0" rtlCol="0">
            <a:spAutoFit/>
          </a:bodyPr>
          <a:lstStyle/>
          <a:p>
            <a:pPr marL="294005" indent="-281305">
              <a:lnSpc>
                <a:spcPct val="100000"/>
              </a:lnSpc>
              <a:spcBef>
                <a:spcPts val="105"/>
              </a:spcBef>
              <a:buClr>
                <a:srgbClr val="D24717"/>
              </a:buClr>
              <a:buSzPct val="83333"/>
              <a:buFont typeface="Segoe UI Symbol"/>
              <a:buChar char="⚫"/>
              <a:tabLst>
                <a:tab pos="294005" algn="l"/>
              </a:tabLst>
            </a:pPr>
            <a:r>
              <a:rPr sz="2400" spc="-80" dirty="0">
                <a:latin typeface="Times New Roman"/>
                <a:cs typeface="Times New Roman"/>
              </a:rPr>
              <a:t>Construct</a:t>
            </a:r>
            <a:r>
              <a:rPr sz="2400" spc="5" dirty="0">
                <a:latin typeface="Times New Roman"/>
                <a:cs typeface="Times New Roman"/>
              </a:rPr>
              <a:t> </a:t>
            </a:r>
            <a:r>
              <a:rPr sz="2400" spc="-70" dirty="0">
                <a:latin typeface="Times New Roman"/>
                <a:cs typeface="Times New Roman"/>
              </a:rPr>
              <a:t>exploit</a:t>
            </a:r>
            <a:endParaRPr sz="2400">
              <a:latin typeface="Times New Roman"/>
              <a:cs typeface="Times New Roman"/>
            </a:endParaRPr>
          </a:p>
        </p:txBody>
      </p:sp>
      <p:sp>
        <p:nvSpPr>
          <p:cNvPr id="5" name="object 5"/>
          <p:cNvSpPr txBox="1"/>
          <p:nvPr/>
        </p:nvSpPr>
        <p:spPr>
          <a:xfrm>
            <a:off x="2816860" y="4385627"/>
            <a:ext cx="2842260" cy="334645"/>
          </a:xfrm>
          <a:prstGeom prst="rect">
            <a:avLst/>
          </a:prstGeom>
        </p:spPr>
        <p:txBody>
          <a:bodyPr vert="horz" wrap="square" lIns="0" tIns="15875" rIns="0" bIns="0" rtlCol="0">
            <a:spAutoFit/>
          </a:bodyPr>
          <a:lstStyle/>
          <a:p>
            <a:pPr marL="12700">
              <a:lnSpc>
                <a:spcPct val="100000"/>
              </a:lnSpc>
              <a:spcBef>
                <a:spcPts val="125"/>
              </a:spcBef>
            </a:pPr>
            <a:r>
              <a:rPr sz="2000" spc="-40" dirty="0">
                <a:latin typeface="Times New Roman"/>
                <a:cs typeface="Times New Roman"/>
              </a:rPr>
              <a:t>(not</a:t>
            </a:r>
            <a:r>
              <a:rPr sz="2000" spc="-30" dirty="0">
                <a:latin typeface="Times New Roman"/>
                <a:cs typeface="Times New Roman"/>
              </a:rPr>
              <a:t> </a:t>
            </a:r>
            <a:r>
              <a:rPr sz="2000" spc="-165" dirty="0">
                <a:latin typeface="Times New Roman"/>
                <a:cs typeface="Times New Roman"/>
              </a:rPr>
              <a:t>easy</a:t>
            </a:r>
            <a:r>
              <a:rPr sz="2000" spc="20" dirty="0">
                <a:latin typeface="Times New Roman"/>
                <a:cs typeface="Times New Roman"/>
              </a:rPr>
              <a:t> </a:t>
            </a:r>
            <a:r>
              <a:rPr sz="2000" spc="-130" dirty="0">
                <a:latin typeface="Times New Roman"/>
                <a:cs typeface="Times New Roman"/>
              </a:rPr>
              <a:t>given</a:t>
            </a:r>
            <a:r>
              <a:rPr sz="2000" spc="-60" dirty="0">
                <a:latin typeface="Times New Roman"/>
                <a:cs typeface="Times New Roman"/>
              </a:rPr>
              <a:t> </a:t>
            </a:r>
            <a:r>
              <a:rPr sz="2000" spc="-75" dirty="0">
                <a:latin typeface="Times New Roman"/>
                <a:cs typeface="Times New Roman"/>
              </a:rPr>
              <a:t>latest</a:t>
            </a:r>
            <a:r>
              <a:rPr sz="2000" spc="-30" dirty="0">
                <a:latin typeface="Times New Roman"/>
                <a:cs typeface="Times New Roman"/>
              </a:rPr>
              <a:t> </a:t>
            </a:r>
            <a:r>
              <a:rPr sz="2000" spc="-85" dirty="0">
                <a:latin typeface="Times New Roman"/>
                <a:cs typeface="Times New Roman"/>
              </a:rPr>
              <a:t>defenses)</a:t>
            </a:r>
            <a:endParaRPr sz="2000">
              <a:latin typeface="Times New Roman"/>
              <a:cs typeface="Times New Roman"/>
            </a:endParaRPr>
          </a:p>
        </p:txBody>
      </p:sp>
      <p:pic>
        <p:nvPicPr>
          <p:cNvPr id="6" name="object 6"/>
          <p:cNvPicPr/>
          <p:nvPr/>
        </p:nvPicPr>
        <p:blipFill>
          <a:blip r:embed="rId2" cstate="print"/>
          <a:stretch>
            <a:fillRect/>
          </a:stretch>
        </p:blipFill>
        <p:spPr>
          <a:xfrm>
            <a:off x="457200" y="6248400"/>
            <a:ext cx="476250" cy="381000"/>
          </a:xfrm>
          <a:prstGeom prst="rect">
            <a:avLst/>
          </a:prstGeom>
        </p:spPr>
      </p:pic>
      <p:sp>
        <p:nvSpPr>
          <p:cNvPr id="7" name="object 7"/>
          <p:cNvSpPr txBox="1">
            <a:spLocks noGrp="1"/>
          </p:cNvSpPr>
          <p:nvPr>
            <p:ph type="ftr" sz="quarter" idx="5"/>
          </p:nvPr>
        </p:nvSpPr>
        <p:spPr>
          <a:prstGeom prst="rect">
            <a:avLst/>
          </a:prstGeom>
        </p:spPr>
        <p:txBody>
          <a:bodyPr vert="horz" wrap="square" lIns="0" tIns="76200" rIns="0" bIns="0" rtlCol="0">
            <a:spAutoFit/>
          </a:bodyPr>
          <a:lstStyle/>
          <a:p>
            <a:pPr marL="165100">
              <a:lnSpc>
                <a:spcPts val="1550"/>
              </a:lnSpc>
            </a:pPr>
            <a:r>
              <a:rPr spc="-180" dirty="0"/>
              <a:t>FAST-</a:t>
            </a:r>
            <a:r>
              <a:rPr spc="-100" dirty="0"/>
              <a:t>NUCES</a:t>
            </a:r>
          </a:p>
        </p:txBody>
      </p:sp>
      <p:sp>
        <p:nvSpPr>
          <p:cNvPr id="9" name="TextBox 8">
            <a:extLst>
              <a:ext uri="{FF2B5EF4-FFF2-40B4-BE49-F238E27FC236}">
                <a16:creationId xmlns:a16="http://schemas.microsoft.com/office/drawing/2014/main" id="{D280D852-B5DE-85B0-C566-74D77F560C71}"/>
              </a:ext>
            </a:extLst>
          </p:cNvPr>
          <p:cNvSpPr txBox="1"/>
          <p:nvPr/>
        </p:nvSpPr>
        <p:spPr>
          <a:xfrm>
            <a:off x="3730308" y="4801879"/>
            <a:ext cx="5185092" cy="1754326"/>
          </a:xfrm>
          <a:prstGeom prst="rect">
            <a:avLst/>
          </a:prstGeom>
          <a:noFill/>
        </p:spPr>
        <p:txBody>
          <a:bodyPr wrap="square">
            <a:spAutoFit/>
          </a:bodyPr>
          <a:lstStyle/>
          <a:p>
            <a:pPr marL="285750" indent="-285750">
              <a:buFont typeface="Arial" panose="020B0604020202020204" pitchFamily="34" charset="0"/>
              <a:buChar char="•"/>
            </a:pPr>
            <a:r>
              <a:rPr lang="en-US" dirty="0">
                <a:highlight>
                  <a:srgbClr val="FFFF00"/>
                </a:highlight>
              </a:rPr>
              <a:t>Use </a:t>
            </a:r>
            <a:r>
              <a:rPr lang="en-US" b="1" dirty="0" err="1">
                <a:highlight>
                  <a:srgbClr val="FFFF00"/>
                </a:highlight>
              </a:rPr>
              <a:t>Fuzzers</a:t>
            </a:r>
            <a:r>
              <a:rPr lang="en-US" dirty="0">
                <a:highlight>
                  <a:srgbClr val="FFFF00"/>
                </a:highlight>
              </a:rPr>
              <a:t>: send malformed long input like </a:t>
            </a:r>
            <a:r>
              <a:rPr lang="en-US" dirty="0">
                <a:highlight>
                  <a:srgbClr val="FFFF00"/>
                </a:highlight>
                <a:latin typeface="Courier New" panose="02070309020205020404" pitchFamily="49" charset="0"/>
              </a:rPr>
              <a:t>"$$$$$"</a:t>
            </a:r>
            <a:r>
              <a:rPr lang="en-US" dirty="0">
                <a:highlight>
                  <a:srgbClr val="FFFF00"/>
                </a:highlight>
              </a:rPr>
              <a:t>.</a:t>
            </a:r>
          </a:p>
          <a:p>
            <a:pPr marL="285750" indent="-285750">
              <a:buFont typeface="Arial" panose="020B0604020202020204" pitchFamily="34" charset="0"/>
              <a:buChar char="•"/>
            </a:pPr>
            <a:r>
              <a:rPr lang="en-US" dirty="0">
                <a:highlight>
                  <a:srgbClr val="FFFF00"/>
                </a:highlight>
              </a:rPr>
              <a:t>If crash → check memory dump → find where it overwrote.</a:t>
            </a:r>
          </a:p>
          <a:p>
            <a:pPr marL="285750" indent="-285750">
              <a:buFont typeface="Arial" panose="020B0604020202020204" pitchFamily="34" charset="0"/>
              <a:buChar char="•"/>
            </a:pPr>
            <a:r>
              <a:rPr lang="en-US" dirty="0">
                <a:highlight>
                  <a:srgbClr val="FFFF00"/>
                </a:highlight>
              </a:rPr>
              <a:t>Real-world vulnerability discovery starts exactly this way.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84401" y="3295015"/>
            <a:ext cx="5935980" cy="575310"/>
          </a:xfrm>
          <a:prstGeom prst="rect">
            <a:avLst/>
          </a:prstGeom>
        </p:spPr>
        <p:txBody>
          <a:bodyPr vert="horz" wrap="square" lIns="0" tIns="13335" rIns="0" bIns="0" rtlCol="0">
            <a:spAutoFit/>
          </a:bodyPr>
          <a:lstStyle/>
          <a:p>
            <a:pPr marL="12700">
              <a:lnSpc>
                <a:spcPct val="100000"/>
              </a:lnSpc>
              <a:spcBef>
                <a:spcPts val="105"/>
              </a:spcBef>
            </a:pPr>
            <a:r>
              <a:rPr u="sng" dirty="0">
                <a:solidFill>
                  <a:srgbClr val="D24717"/>
                </a:solidFill>
                <a:uFill>
                  <a:solidFill>
                    <a:srgbClr val="D24717"/>
                  </a:solidFill>
                </a:uFill>
              </a:rPr>
              <a:t>More</a:t>
            </a:r>
            <a:r>
              <a:rPr u="sng" spc="-15" dirty="0">
                <a:solidFill>
                  <a:srgbClr val="D24717"/>
                </a:solidFill>
                <a:uFill>
                  <a:solidFill>
                    <a:srgbClr val="D24717"/>
                  </a:solidFill>
                </a:uFill>
              </a:rPr>
              <a:t> </a:t>
            </a:r>
            <a:r>
              <a:rPr u="sng" dirty="0">
                <a:solidFill>
                  <a:srgbClr val="D24717"/>
                </a:solidFill>
                <a:uFill>
                  <a:solidFill>
                    <a:srgbClr val="D24717"/>
                  </a:solidFill>
                </a:uFill>
              </a:rPr>
              <a:t>Control</a:t>
            </a:r>
            <a:r>
              <a:rPr u="sng" spc="65" dirty="0">
                <a:solidFill>
                  <a:srgbClr val="D24717"/>
                </a:solidFill>
                <a:uFill>
                  <a:solidFill>
                    <a:srgbClr val="D24717"/>
                  </a:solidFill>
                </a:uFill>
              </a:rPr>
              <a:t> </a:t>
            </a:r>
            <a:r>
              <a:rPr u="sng" spc="-10" dirty="0">
                <a:solidFill>
                  <a:srgbClr val="D24717"/>
                </a:solidFill>
                <a:uFill>
                  <a:solidFill>
                    <a:srgbClr val="D24717"/>
                  </a:solidFill>
                </a:uFill>
              </a:rPr>
              <a:t>Hijacking</a:t>
            </a:r>
            <a:r>
              <a:rPr u="sng" spc="-210" dirty="0">
                <a:solidFill>
                  <a:srgbClr val="D24717"/>
                </a:solidFill>
                <a:uFill>
                  <a:solidFill>
                    <a:srgbClr val="D24717"/>
                  </a:solidFill>
                </a:uFill>
              </a:rPr>
              <a:t> </a:t>
            </a:r>
            <a:r>
              <a:rPr u="sng" spc="-10" dirty="0">
                <a:solidFill>
                  <a:srgbClr val="D24717"/>
                </a:solidFill>
                <a:uFill>
                  <a:solidFill>
                    <a:srgbClr val="D24717"/>
                  </a:solidFill>
                </a:uFill>
              </a:rPr>
              <a:t>Attacks</a:t>
            </a:r>
          </a:p>
        </p:txBody>
      </p:sp>
      <p:pic>
        <p:nvPicPr>
          <p:cNvPr id="3" name="object 3"/>
          <p:cNvPicPr/>
          <p:nvPr/>
        </p:nvPicPr>
        <p:blipFill>
          <a:blip r:embed="rId2" cstate="print"/>
          <a:stretch>
            <a:fillRect/>
          </a:stretch>
        </p:blipFill>
        <p:spPr>
          <a:xfrm>
            <a:off x="457200" y="6248400"/>
            <a:ext cx="476250" cy="381000"/>
          </a:xfrm>
          <a:prstGeom prst="rect">
            <a:avLst/>
          </a:prstGeom>
        </p:spPr>
      </p:pic>
      <p:sp>
        <p:nvSpPr>
          <p:cNvPr id="4" name="object 4"/>
          <p:cNvSpPr txBox="1">
            <a:spLocks noGrp="1"/>
          </p:cNvSpPr>
          <p:nvPr>
            <p:ph type="ftr" sz="quarter" idx="5"/>
          </p:nvPr>
        </p:nvSpPr>
        <p:spPr>
          <a:prstGeom prst="rect">
            <a:avLst/>
          </a:prstGeom>
        </p:spPr>
        <p:txBody>
          <a:bodyPr vert="horz" wrap="square" lIns="0" tIns="76200" rIns="0" bIns="0" rtlCol="0">
            <a:spAutoFit/>
          </a:bodyPr>
          <a:lstStyle/>
          <a:p>
            <a:pPr marL="165100">
              <a:lnSpc>
                <a:spcPts val="1550"/>
              </a:lnSpc>
            </a:pPr>
            <a:r>
              <a:rPr spc="-180" dirty="0"/>
              <a:t>FAST-</a:t>
            </a:r>
            <a:r>
              <a:rPr spc="-100" dirty="0"/>
              <a:t>NUCES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88670" rIns="0" bIns="0" rtlCol="0">
            <a:spAutoFit/>
          </a:bodyPr>
          <a:lstStyle/>
          <a:p>
            <a:pPr marL="241300">
              <a:lnSpc>
                <a:spcPct val="100000"/>
              </a:lnSpc>
              <a:spcBef>
                <a:spcPts val="105"/>
              </a:spcBef>
            </a:pPr>
            <a:r>
              <a:rPr dirty="0"/>
              <a:t>More</a:t>
            </a:r>
            <a:r>
              <a:rPr spc="-60" dirty="0"/>
              <a:t> </a:t>
            </a:r>
            <a:r>
              <a:rPr dirty="0"/>
              <a:t>Hijacking</a:t>
            </a:r>
            <a:r>
              <a:rPr spc="-15" dirty="0"/>
              <a:t> </a:t>
            </a:r>
            <a:r>
              <a:rPr spc="-10" dirty="0"/>
              <a:t>Opportunities</a:t>
            </a:r>
          </a:p>
        </p:txBody>
      </p:sp>
      <p:sp>
        <p:nvSpPr>
          <p:cNvPr id="3" name="object 3"/>
          <p:cNvSpPr txBox="1"/>
          <p:nvPr/>
        </p:nvSpPr>
        <p:spPr>
          <a:xfrm>
            <a:off x="462455" y="1752600"/>
            <a:ext cx="7468870" cy="3706143"/>
          </a:xfrm>
          <a:prstGeom prst="rect">
            <a:avLst/>
          </a:prstGeom>
        </p:spPr>
        <p:txBody>
          <a:bodyPr vert="horz" wrap="square" lIns="0" tIns="12700" rIns="0" bIns="0" rtlCol="0">
            <a:spAutoFit/>
          </a:bodyPr>
          <a:lstStyle/>
          <a:p>
            <a:pPr marL="287020" indent="-274320">
              <a:lnSpc>
                <a:spcPct val="100000"/>
              </a:lnSpc>
              <a:spcBef>
                <a:spcPts val="100"/>
              </a:spcBef>
              <a:buClr>
                <a:srgbClr val="D24717"/>
              </a:buClr>
              <a:buSzPct val="83333"/>
              <a:buFont typeface="Segoe UI Symbol"/>
              <a:buChar char="⚫"/>
              <a:tabLst>
                <a:tab pos="287020" algn="l"/>
                <a:tab pos="2797175" algn="l"/>
              </a:tabLst>
            </a:pPr>
            <a:r>
              <a:rPr sz="2400" b="1" dirty="0">
                <a:latin typeface="Times New Roman"/>
                <a:cs typeface="Times New Roman"/>
              </a:rPr>
              <a:t>Integer</a:t>
            </a:r>
            <a:r>
              <a:rPr sz="2400" b="1" spc="-95" dirty="0">
                <a:latin typeface="Times New Roman"/>
                <a:cs typeface="Times New Roman"/>
              </a:rPr>
              <a:t> </a:t>
            </a:r>
            <a:r>
              <a:rPr sz="2400" b="1" spc="-10" dirty="0">
                <a:latin typeface="Times New Roman"/>
                <a:cs typeface="Times New Roman"/>
              </a:rPr>
              <a:t>overflows</a:t>
            </a:r>
            <a:r>
              <a:rPr sz="2400" spc="-10" dirty="0">
                <a:latin typeface="Times New Roman"/>
                <a:cs typeface="Times New Roman"/>
              </a:rPr>
              <a:t>:</a:t>
            </a:r>
            <a:r>
              <a:rPr sz="2400" dirty="0">
                <a:latin typeface="Times New Roman"/>
                <a:cs typeface="Times New Roman"/>
              </a:rPr>
              <a:t>	</a:t>
            </a:r>
            <a:r>
              <a:rPr sz="2000" dirty="0">
                <a:latin typeface="Times New Roman"/>
                <a:cs typeface="Times New Roman"/>
              </a:rPr>
              <a:t>(e.g.</a:t>
            </a:r>
            <a:r>
              <a:rPr sz="2000" spc="440" dirty="0">
                <a:latin typeface="Times New Roman"/>
                <a:cs typeface="Times New Roman"/>
              </a:rPr>
              <a:t> </a:t>
            </a:r>
            <a:r>
              <a:rPr sz="2000" dirty="0">
                <a:latin typeface="Times New Roman"/>
                <a:cs typeface="Times New Roman"/>
              </a:rPr>
              <a:t>Use</a:t>
            </a:r>
            <a:r>
              <a:rPr sz="2000" spc="-5" dirty="0">
                <a:latin typeface="Times New Roman"/>
                <a:cs typeface="Times New Roman"/>
              </a:rPr>
              <a:t> </a:t>
            </a:r>
            <a:r>
              <a:rPr sz="2000" dirty="0">
                <a:latin typeface="Times New Roman"/>
                <a:cs typeface="Times New Roman"/>
              </a:rPr>
              <a:t>to</a:t>
            </a:r>
            <a:r>
              <a:rPr sz="2000" spc="-40" dirty="0">
                <a:latin typeface="Times New Roman"/>
                <a:cs typeface="Times New Roman"/>
              </a:rPr>
              <a:t> </a:t>
            </a:r>
            <a:r>
              <a:rPr sz="2000" dirty="0">
                <a:latin typeface="Times New Roman"/>
                <a:cs typeface="Times New Roman"/>
              </a:rPr>
              <a:t>attack</a:t>
            </a:r>
            <a:r>
              <a:rPr sz="2000" spc="-40" dirty="0">
                <a:latin typeface="Times New Roman"/>
                <a:cs typeface="Times New Roman"/>
              </a:rPr>
              <a:t> </a:t>
            </a:r>
            <a:r>
              <a:rPr sz="2000" dirty="0">
                <a:latin typeface="Times New Roman"/>
                <a:cs typeface="Times New Roman"/>
              </a:rPr>
              <a:t>MS</a:t>
            </a:r>
            <a:r>
              <a:rPr sz="2000" spc="-10" dirty="0">
                <a:latin typeface="Times New Roman"/>
                <a:cs typeface="Times New Roman"/>
              </a:rPr>
              <a:t> </a:t>
            </a:r>
            <a:r>
              <a:rPr sz="2000" dirty="0">
                <a:latin typeface="Times New Roman"/>
                <a:cs typeface="Times New Roman"/>
              </a:rPr>
              <a:t>DirectX</a:t>
            </a:r>
            <a:r>
              <a:rPr sz="2000" spc="-40" dirty="0">
                <a:latin typeface="Times New Roman"/>
                <a:cs typeface="Times New Roman"/>
              </a:rPr>
              <a:t> </a:t>
            </a:r>
            <a:r>
              <a:rPr sz="2000" dirty="0">
                <a:latin typeface="Times New Roman"/>
                <a:cs typeface="Times New Roman"/>
              </a:rPr>
              <a:t>MIDI</a:t>
            </a:r>
            <a:r>
              <a:rPr sz="2000" spc="-70" dirty="0">
                <a:latin typeface="Times New Roman"/>
                <a:cs typeface="Times New Roman"/>
              </a:rPr>
              <a:t> </a:t>
            </a:r>
            <a:r>
              <a:rPr sz="2000" spc="-20" dirty="0">
                <a:latin typeface="Times New Roman"/>
                <a:cs typeface="Times New Roman"/>
              </a:rPr>
              <a:t>Lib)</a:t>
            </a:r>
            <a:endParaRPr sz="2000" dirty="0">
              <a:latin typeface="Times New Roman"/>
              <a:cs typeface="Times New Roman"/>
            </a:endParaRPr>
          </a:p>
          <a:p>
            <a:pPr>
              <a:lnSpc>
                <a:spcPct val="100000"/>
              </a:lnSpc>
              <a:spcBef>
                <a:spcPts val="1200"/>
              </a:spcBef>
              <a:buClr>
                <a:srgbClr val="D24717"/>
              </a:buClr>
              <a:buFont typeface="Segoe UI Symbol"/>
              <a:buChar char="⚫"/>
            </a:pPr>
            <a:endParaRPr sz="2000" dirty="0">
              <a:latin typeface="Times New Roman"/>
              <a:cs typeface="Times New Roman"/>
            </a:endParaRPr>
          </a:p>
          <a:p>
            <a:r>
              <a:rPr sz="2400" b="1" dirty="0">
                <a:latin typeface="Times New Roman"/>
                <a:cs typeface="Times New Roman"/>
              </a:rPr>
              <a:t>Double</a:t>
            </a:r>
            <a:r>
              <a:rPr sz="2400" b="1" spc="-35" dirty="0">
                <a:latin typeface="Times New Roman"/>
                <a:cs typeface="Times New Roman"/>
              </a:rPr>
              <a:t> </a:t>
            </a:r>
            <a:r>
              <a:rPr sz="2400" b="1" spc="-20" dirty="0">
                <a:latin typeface="Times New Roman"/>
                <a:cs typeface="Times New Roman"/>
              </a:rPr>
              <a:t>free</a:t>
            </a:r>
            <a:r>
              <a:rPr sz="2400" spc="-20" dirty="0">
                <a:latin typeface="Times New Roman"/>
                <a:cs typeface="Times New Roman"/>
              </a:rPr>
              <a:t>:</a:t>
            </a:r>
            <a:r>
              <a:rPr sz="2400" dirty="0">
                <a:latin typeface="Times New Roman"/>
                <a:cs typeface="Times New Roman"/>
              </a:rPr>
              <a:t>	</a:t>
            </a:r>
            <a:endParaRPr lang="en-US" sz="2400" dirty="0">
              <a:effectLst/>
            </a:endParaRPr>
          </a:p>
          <a:p>
            <a:r>
              <a:rPr lang="en-US" dirty="0"/>
              <a:t>A </a:t>
            </a:r>
            <a:r>
              <a:rPr lang="en-US" b="1" dirty="0"/>
              <a:t>double free heap vulnerability</a:t>
            </a:r>
            <a:r>
              <a:rPr lang="en-US" dirty="0"/>
              <a:t> occurs when a program calls free() (or delete in C++) on the same memory address more than once. This memory management flaw corrupts the internal data structures of the heap memory manager, leading to unpredictable program behavior, such as crashes, data corruption, or, in the worst-case scenario, the execution of arbitrary code by an attacker.</a:t>
            </a:r>
            <a:br>
              <a:rPr lang="en-US" sz="2400" dirty="0">
                <a:latin typeface="Times New Roman"/>
                <a:cs typeface="Times New Roman"/>
              </a:rPr>
            </a:br>
            <a:endParaRPr sz="2400" dirty="0">
              <a:latin typeface="Times New Roman"/>
              <a:cs typeface="Times New Roman"/>
            </a:endParaRPr>
          </a:p>
          <a:p>
            <a:pPr marL="287020" indent="-274320">
              <a:lnSpc>
                <a:spcPct val="100000"/>
              </a:lnSpc>
              <a:spcBef>
                <a:spcPts val="5"/>
              </a:spcBef>
              <a:buClr>
                <a:srgbClr val="D24717"/>
              </a:buClr>
              <a:buSzPct val="83333"/>
              <a:buFont typeface="Segoe UI Symbol"/>
              <a:buChar char="⚫"/>
              <a:tabLst>
                <a:tab pos="287020" algn="l"/>
              </a:tabLst>
            </a:pPr>
            <a:r>
              <a:rPr sz="2400" b="1" dirty="0">
                <a:latin typeface="Times New Roman"/>
                <a:cs typeface="Times New Roman"/>
              </a:rPr>
              <a:t>Format</a:t>
            </a:r>
            <a:r>
              <a:rPr sz="2400" b="1" spc="-20" dirty="0">
                <a:latin typeface="Times New Roman"/>
                <a:cs typeface="Times New Roman"/>
              </a:rPr>
              <a:t> </a:t>
            </a:r>
            <a:r>
              <a:rPr sz="2400" b="1" dirty="0">
                <a:latin typeface="Times New Roman"/>
                <a:cs typeface="Times New Roman"/>
              </a:rPr>
              <a:t>string</a:t>
            </a:r>
            <a:r>
              <a:rPr sz="2400" b="1" spc="-35" dirty="0">
                <a:latin typeface="Times New Roman"/>
                <a:cs typeface="Times New Roman"/>
              </a:rPr>
              <a:t> </a:t>
            </a:r>
            <a:r>
              <a:rPr sz="2400" b="1" spc="-10" dirty="0">
                <a:latin typeface="Times New Roman"/>
                <a:cs typeface="Times New Roman"/>
              </a:rPr>
              <a:t>vulnerabilities</a:t>
            </a:r>
            <a:endParaRPr sz="2400" dirty="0">
              <a:latin typeface="Times New Roman"/>
              <a:cs typeface="Times New Roman"/>
            </a:endParaRPr>
          </a:p>
        </p:txBody>
      </p:sp>
      <p:pic>
        <p:nvPicPr>
          <p:cNvPr id="4" name="object 4"/>
          <p:cNvPicPr/>
          <p:nvPr/>
        </p:nvPicPr>
        <p:blipFill>
          <a:blip r:embed="rId2" cstate="print"/>
          <a:stretch>
            <a:fillRect/>
          </a:stretch>
        </p:blipFill>
        <p:spPr>
          <a:xfrm>
            <a:off x="457200" y="6248400"/>
            <a:ext cx="476250" cy="381000"/>
          </a:xfrm>
          <a:prstGeom prst="rect">
            <a:avLst/>
          </a:prstGeom>
        </p:spPr>
      </p:pic>
      <p:sp>
        <p:nvSpPr>
          <p:cNvPr id="5" name="object 5"/>
          <p:cNvSpPr txBox="1">
            <a:spLocks noGrp="1"/>
          </p:cNvSpPr>
          <p:nvPr>
            <p:ph type="ftr" sz="quarter" idx="5"/>
          </p:nvPr>
        </p:nvSpPr>
        <p:spPr>
          <a:prstGeom prst="rect">
            <a:avLst/>
          </a:prstGeom>
        </p:spPr>
        <p:txBody>
          <a:bodyPr vert="horz" wrap="square" lIns="0" tIns="76200" rIns="0" bIns="0" rtlCol="0">
            <a:spAutoFit/>
          </a:bodyPr>
          <a:lstStyle/>
          <a:p>
            <a:pPr marL="165100">
              <a:lnSpc>
                <a:spcPts val="1550"/>
              </a:lnSpc>
            </a:pPr>
            <a:r>
              <a:rPr spc="-180" dirty="0"/>
              <a:t>FAST-</a:t>
            </a:r>
            <a:r>
              <a:rPr spc="-100" dirty="0"/>
              <a:t>NUCES</a:t>
            </a:r>
          </a:p>
        </p:txBody>
      </p:sp>
      <p:sp>
        <p:nvSpPr>
          <p:cNvPr id="7" name="TextBox 6">
            <a:extLst>
              <a:ext uri="{FF2B5EF4-FFF2-40B4-BE49-F238E27FC236}">
                <a16:creationId xmlns:a16="http://schemas.microsoft.com/office/drawing/2014/main" id="{AAF126C3-4F82-5FF1-804D-81524054E98B}"/>
              </a:ext>
            </a:extLst>
          </p:cNvPr>
          <p:cNvSpPr txBox="1"/>
          <p:nvPr/>
        </p:nvSpPr>
        <p:spPr>
          <a:xfrm>
            <a:off x="414277" y="1024849"/>
            <a:ext cx="8315446" cy="369332"/>
          </a:xfrm>
          <a:prstGeom prst="rect">
            <a:avLst/>
          </a:prstGeom>
          <a:noFill/>
        </p:spPr>
        <p:txBody>
          <a:bodyPr wrap="square">
            <a:spAutoFit/>
          </a:bodyPr>
          <a:lstStyle/>
          <a:p>
            <a:r>
              <a:rPr lang="en-US" dirty="0">
                <a:highlight>
                  <a:srgbClr val="FFFF00"/>
                </a:highlight>
              </a:rPr>
              <a:t>Even if buffers are safe — other vulnerabilities still exist.</a:t>
            </a:r>
            <a:endParaRPr lang="en-PK" dirty="0">
              <a:highlight>
                <a:srgbClr val="FFFF00"/>
              </a:highligh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33400" y="538528"/>
            <a:ext cx="8077200" cy="4185761"/>
          </a:xfrm>
        </p:spPr>
        <p:txBody>
          <a:bodyPr/>
          <a:lstStyle/>
          <a:p>
            <a:r>
              <a:rPr lang="en-US" sz="2400" dirty="0"/>
              <a:t>An </a:t>
            </a:r>
            <a:r>
              <a:rPr lang="en-US" sz="3200" b="1" dirty="0"/>
              <a:t>integer overflow </a:t>
            </a:r>
            <a:r>
              <a:rPr lang="en-US" sz="2400" dirty="0"/>
              <a:t>vulnerability occurs when a program attempts to store a value in an integer variable that is outside the variable's maximum or minimum limits, leading to unexpected results like incorrect calculations, data corruption, and potentially more severe security issues like buffer overflows.</a:t>
            </a:r>
          </a:p>
          <a:p>
            <a:endParaRPr lang="en-US" sz="2400" dirty="0"/>
          </a:p>
          <a:p>
            <a:r>
              <a:rPr lang="en-US" sz="2400" dirty="0"/>
              <a:t>This happens because integers have a fixed size in memory (e.g., 32-bit or 64-bit), and when an operation exceeds these bounds, the value "wraps around" to a different value, such as subtracting 1 from 0 resulting in the maximum value for that data type.</a:t>
            </a:r>
          </a:p>
        </p:txBody>
      </p:sp>
      <p:sp>
        <p:nvSpPr>
          <p:cNvPr id="4" name="TextBox 3">
            <a:extLst>
              <a:ext uri="{FF2B5EF4-FFF2-40B4-BE49-F238E27FC236}">
                <a16:creationId xmlns:a16="http://schemas.microsoft.com/office/drawing/2014/main" id="{04D2B7BC-E9B8-FA60-E467-0D2FB17A2800}"/>
              </a:ext>
            </a:extLst>
          </p:cNvPr>
          <p:cNvSpPr txBox="1"/>
          <p:nvPr/>
        </p:nvSpPr>
        <p:spPr>
          <a:xfrm>
            <a:off x="685800" y="4953000"/>
            <a:ext cx="7315200" cy="1477328"/>
          </a:xfrm>
          <a:prstGeom prst="rect">
            <a:avLst/>
          </a:prstGeom>
          <a:noFill/>
        </p:spPr>
        <p:txBody>
          <a:bodyPr wrap="square">
            <a:spAutoFit/>
          </a:bodyPr>
          <a:lstStyle/>
          <a:p>
            <a:pPr marL="285750" indent="-285750">
              <a:buFont typeface="Arial" panose="020B0604020202020204" pitchFamily="34" charset="0"/>
              <a:buChar char="•"/>
            </a:pPr>
            <a:r>
              <a:rPr lang="en-US" dirty="0">
                <a:highlight>
                  <a:srgbClr val="FFFF00"/>
                </a:highlight>
              </a:rPr>
              <a:t>Fixed-size integers wrap around when max exceeded.</a:t>
            </a:r>
          </a:p>
          <a:p>
            <a:pPr marL="285750" indent="-285750">
              <a:buFont typeface="Arial" panose="020B0604020202020204" pitchFamily="34" charset="0"/>
              <a:buChar char="•"/>
            </a:pPr>
            <a:r>
              <a:rPr lang="en-US" dirty="0">
                <a:highlight>
                  <a:srgbClr val="FFFF00"/>
                </a:highlight>
              </a:rPr>
              <a:t>May bypass bounds checks → allow overflows.</a:t>
            </a:r>
          </a:p>
          <a:p>
            <a:pPr marL="285750" indent="-285750">
              <a:buFont typeface="Arial" panose="020B0604020202020204" pitchFamily="34" charset="0"/>
              <a:buChar char="•"/>
            </a:pPr>
            <a:r>
              <a:rPr lang="en-US" dirty="0">
                <a:highlight>
                  <a:srgbClr val="FFFF00"/>
                </a:highlight>
              </a:rPr>
              <a:t>Example:</a:t>
            </a:r>
            <a:br>
              <a:rPr lang="en-US" dirty="0">
                <a:highlight>
                  <a:srgbClr val="FFFF00"/>
                </a:highlight>
              </a:rPr>
            </a:br>
            <a:r>
              <a:rPr lang="en-US" dirty="0">
                <a:highlight>
                  <a:srgbClr val="FFFF00"/>
                </a:highlight>
                <a:latin typeface="Courier New" panose="02070309020205020404" pitchFamily="49" charset="0"/>
              </a:rPr>
              <a:t>2,147,483,647 + 1 → -2,147,483,648</a:t>
            </a:r>
            <a:endParaRPr lang="en-US" dirty="0">
              <a:highlight>
                <a:srgbClr val="FFFF00"/>
              </a:highlight>
            </a:endParaRPr>
          </a:p>
          <a:p>
            <a:pPr marL="285750" indent="-285750">
              <a:buFont typeface="Arial" panose="020B0604020202020204" pitchFamily="34" charset="0"/>
              <a:buChar char="•"/>
            </a:pPr>
            <a:r>
              <a:rPr lang="en-US" dirty="0">
                <a:highlight>
                  <a:srgbClr val="FFFF00"/>
                </a:highlight>
              </a:rPr>
              <a:t>Silent &amp; dangerous → developers often ignore.</a:t>
            </a:r>
          </a:p>
        </p:txBody>
      </p:sp>
    </p:spTree>
    <p:extLst>
      <p:ext uri="{BB962C8B-B14F-4D97-AF65-F5344CB8AC3E}">
        <p14:creationId xmlns:p14="http://schemas.microsoft.com/office/powerpoint/2010/main" val="6700453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33827ED-10A1-E75C-681D-43F566923665}"/>
              </a:ext>
            </a:extLst>
          </p:cNvPr>
          <p:cNvSpPr>
            <a:spLocks noGrp="1"/>
          </p:cNvSpPr>
          <p:nvPr>
            <p:ph type="body" idx="1"/>
          </p:nvPr>
        </p:nvSpPr>
        <p:spPr>
          <a:xfrm>
            <a:off x="457200" y="413085"/>
            <a:ext cx="8592185" cy="5539978"/>
          </a:xfrm>
        </p:spPr>
        <p:txBody>
          <a:bodyPr/>
          <a:lstStyle/>
          <a:p>
            <a:pPr lvl="0" algn="l" rtl="0" eaLnBrk="0" fontAlgn="base" hangingPunct="0">
              <a:spcBef>
                <a:spcPct val="0"/>
              </a:spcBef>
              <a:spcAft>
                <a:spcPct val="0"/>
              </a:spcAft>
            </a:pPr>
            <a:r>
              <a:rPr lang="en-PK" altLang="en-PK" sz="2000" dirty="0">
                <a:latin typeface="Google Sans Text"/>
              </a:rPr>
              <a:t>An </a:t>
            </a:r>
            <a:r>
              <a:rPr lang="en-PK" altLang="en-PK" sz="2000" b="1" dirty="0">
                <a:latin typeface="Google Sans Text"/>
              </a:rPr>
              <a:t>integer overflow</a:t>
            </a:r>
            <a:r>
              <a:rPr lang="en-PK" altLang="en-PK" sz="2000" dirty="0">
                <a:latin typeface="Google Sans Text"/>
              </a:rPr>
              <a:t> occurs when the result of an arithmetic operation exceeds the maximum value that can be stored in the integer variable's data type, causing the value to "wrap around" to the minimum value (or zero).</a:t>
            </a:r>
            <a:endParaRPr lang="en-US" altLang="en-PK" sz="2000" dirty="0">
              <a:latin typeface="Google Sans Text"/>
            </a:endParaRPr>
          </a:p>
          <a:p>
            <a:pPr lvl="0" algn="l" rtl="0" eaLnBrk="0" fontAlgn="base" hangingPunct="0">
              <a:spcBef>
                <a:spcPct val="0"/>
              </a:spcBef>
              <a:spcAft>
                <a:spcPct val="0"/>
              </a:spcAft>
            </a:pPr>
            <a:endParaRPr lang="en-PK" altLang="en-PK" sz="2000" dirty="0"/>
          </a:p>
          <a:p>
            <a:pPr lvl="0" algn="l" rtl="0" eaLnBrk="0" fontAlgn="base" hangingPunct="0">
              <a:spcBef>
                <a:spcPct val="0"/>
              </a:spcBef>
              <a:spcAft>
                <a:spcPct val="0"/>
              </a:spcAft>
              <a:buFontTx/>
              <a:buChar char="•"/>
            </a:pPr>
            <a:r>
              <a:rPr lang="en-PK" altLang="en-PK" sz="2000" b="1" dirty="0">
                <a:latin typeface="Google Sans Text"/>
              </a:rPr>
              <a:t>Problem:</a:t>
            </a:r>
            <a:r>
              <a:rPr lang="en-PK" altLang="en-PK" sz="2000" dirty="0">
                <a:latin typeface="Google Sans Text"/>
              </a:rPr>
              <a:t> Integer variables (char c, short s, int m) have a fixed bit size (8, 16, 32 bits, respectively). Adding numbers that exceed this limit wraps the result.</a:t>
            </a:r>
          </a:p>
          <a:p>
            <a:pPr lvl="1" algn="l" rtl="0" eaLnBrk="0" fontAlgn="base" hangingPunct="0">
              <a:spcBef>
                <a:spcPct val="0"/>
              </a:spcBef>
              <a:spcAft>
                <a:spcPct val="0"/>
              </a:spcAft>
              <a:buFontTx/>
              <a:buChar char="•"/>
            </a:pPr>
            <a:r>
              <a:rPr lang="en-PK" altLang="en-PK" sz="2000" b="1" dirty="0">
                <a:solidFill>
                  <a:schemeClr val="tx1"/>
                </a:solidFill>
                <a:latin typeface="Google Sans Text"/>
              </a:rPr>
              <a:t>Example :</a:t>
            </a:r>
            <a:r>
              <a:rPr lang="en-PK" altLang="en-PK" sz="2000" dirty="0">
                <a:solidFill>
                  <a:schemeClr val="tx1"/>
                </a:solidFill>
                <a:latin typeface="Google Sans Text"/>
              </a:rPr>
              <a:t> For an 8-bit signed char c, $128 + 128$ results in $0$ (or wraps to the minimum negative value, often interpreted as 0 in a security context).</a:t>
            </a:r>
            <a:endParaRPr lang="en-US" altLang="en-PK" sz="2000" dirty="0">
              <a:solidFill>
                <a:schemeClr val="tx1"/>
              </a:solidFill>
              <a:latin typeface="Google Sans Text"/>
            </a:endParaRPr>
          </a:p>
          <a:p>
            <a:pPr lvl="1" algn="l" rtl="0" eaLnBrk="0" fontAlgn="base" hangingPunct="0">
              <a:spcBef>
                <a:spcPct val="0"/>
              </a:spcBef>
              <a:spcAft>
                <a:spcPct val="0"/>
              </a:spcAft>
              <a:buFontTx/>
              <a:buChar char="•"/>
            </a:pPr>
            <a:endParaRPr lang="en-PK" altLang="en-PK" sz="2000" dirty="0">
              <a:solidFill>
                <a:schemeClr val="tx1"/>
              </a:solidFill>
              <a:latin typeface="Google Sans Text"/>
            </a:endParaRPr>
          </a:p>
          <a:p>
            <a:pPr lvl="0" algn="l" rtl="0" eaLnBrk="0" fontAlgn="base" hangingPunct="0">
              <a:spcBef>
                <a:spcPct val="0"/>
              </a:spcBef>
              <a:spcAft>
                <a:spcPct val="0"/>
              </a:spcAft>
              <a:buFontTx/>
              <a:buChar char="•"/>
            </a:pPr>
            <a:r>
              <a:rPr lang="en-PK" altLang="en-PK" sz="2000" b="1" dirty="0">
                <a:latin typeface="Google Sans Text"/>
              </a:rPr>
              <a:t>Exploitation:</a:t>
            </a:r>
            <a:r>
              <a:rPr lang="en-PK" altLang="en-PK" sz="2000" dirty="0">
                <a:latin typeface="Google Sans Text"/>
              </a:rPr>
              <a:t> An overflow can be exploited if:</a:t>
            </a:r>
          </a:p>
          <a:p>
            <a:pPr lvl="1" algn="l" rtl="0" eaLnBrk="0" fontAlgn="base" hangingPunct="0">
              <a:spcBef>
                <a:spcPct val="0"/>
              </a:spcBef>
              <a:spcAft>
                <a:spcPct val="0"/>
              </a:spcAft>
              <a:buFontTx/>
              <a:buChar char="•"/>
            </a:pPr>
            <a:r>
              <a:rPr lang="en-PK" altLang="en-PK" sz="2000" dirty="0">
                <a:solidFill>
                  <a:schemeClr val="tx1"/>
                </a:solidFill>
                <a:latin typeface="Google Sans Text"/>
              </a:rPr>
              <a:t>A program calculates a size or length based on user input.</a:t>
            </a:r>
          </a:p>
          <a:p>
            <a:pPr lvl="1" algn="l" rtl="0" eaLnBrk="0" fontAlgn="base" hangingPunct="0">
              <a:spcBef>
                <a:spcPct val="0"/>
              </a:spcBef>
              <a:spcAft>
                <a:spcPct val="0"/>
              </a:spcAft>
              <a:buFontTx/>
              <a:buChar char="•"/>
            </a:pPr>
            <a:r>
              <a:rPr lang="en-PK" altLang="en-PK" sz="2000" dirty="0">
                <a:solidFill>
                  <a:schemeClr val="tx1"/>
                </a:solidFill>
                <a:latin typeface="Google Sans Text"/>
              </a:rPr>
              <a:t>The integer overflow causes the calculated length to be a </a:t>
            </a:r>
            <a:r>
              <a:rPr lang="en-PK" altLang="en-PK" sz="2000" b="1" dirty="0">
                <a:solidFill>
                  <a:schemeClr val="tx1"/>
                </a:solidFill>
                <a:latin typeface="Google Sans Text"/>
              </a:rPr>
              <a:t>small positive number</a:t>
            </a:r>
            <a:r>
              <a:rPr lang="en-PK" altLang="en-PK" sz="2000" dirty="0">
                <a:solidFill>
                  <a:schemeClr val="tx1"/>
                </a:solidFill>
                <a:latin typeface="Google Sans Text"/>
              </a:rPr>
              <a:t> or </a:t>
            </a:r>
            <a:r>
              <a:rPr lang="en-PK" altLang="en-PK" sz="2000" b="1" dirty="0">
                <a:solidFill>
                  <a:schemeClr val="tx1"/>
                </a:solidFill>
                <a:latin typeface="Google Sans Text"/>
              </a:rPr>
              <a:t>zero</a:t>
            </a:r>
            <a:r>
              <a:rPr lang="en-PK" altLang="en-PK" sz="2000" dirty="0">
                <a:solidFill>
                  <a:schemeClr val="tx1"/>
                </a:solidFill>
                <a:latin typeface="Google Sans Text"/>
              </a:rPr>
              <a:t>, even if the actual input is </a:t>
            </a:r>
            <a:r>
              <a:rPr lang="en-PK" altLang="en-PK" sz="2000" b="1" dirty="0">
                <a:solidFill>
                  <a:schemeClr val="tx1"/>
                </a:solidFill>
                <a:latin typeface="Google Sans Text"/>
              </a:rPr>
              <a:t>huge</a:t>
            </a:r>
            <a:r>
              <a:rPr lang="en-PK" altLang="en-PK" sz="2000" dirty="0">
                <a:solidFill>
                  <a:schemeClr val="tx1"/>
                </a:solidFill>
                <a:latin typeface="Google Sans Text"/>
              </a:rPr>
              <a:t>.</a:t>
            </a:r>
          </a:p>
          <a:p>
            <a:pPr lvl="1" algn="l" rtl="0" eaLnBrk="0" fontAlgn="base" hangingPunct="0">
              <a:spcBef>
                <a:spcPct val="0"/>
              </a:spcBef>
              <a:spcAft>
                <a:spcPct val="0"/>
              </a:spcAft>
              <a:buFontTx/>
              <a:buChar char="•"/>
            </a:pPr>
            <a:r>
              <a:rPr lang="en-PK" altLang="en-PK" sz="2000" dirty="0">
                <a:solidFill>
                  <a:schemeClr val="tx1"/>
                </a:solidFill>
                <a:latin typeface="Google Sans Text"/>
              </a:rPr>
              <a:t>This small calculated length then </a:t>
            </a:r>
            <a:r>
              <a:rPr lang="en-PK" altLang="en-PK" sz="2000" b="1" dirty="0">
                <a:solidFill>
                  <a:schemeClr val="tx1"/>
                </a:solidFill>
                <a:latin typeface="Google Sans Text"/>
              </a:rPr>
              <a:t>fails length validation</a:t>
            </a:r>
            <a:r>
              <a:rPr lang="en-PK" altLang="en-PK" sz="2000" dirty="0">
                <a:solidFill>
                  <a:schemeClr val="tx1"/>
                </a:solidFill>
                <a:latin typeface="Google Sans Text"/>
              </a:rPr>
              <a:t>, allowing a subsequent operation (like </a:t>
            </a:r>
            <a:r>
              <a:rPr lang="en-PK" altLang="en-PK" sz="2000" dirty="0" err="1">
                <a:solidFill>
                  <a:schemeClr val="tx1"/>
                </a:solidFill>
                <a:latin typeface="Google Sans Text"/>
              </a:rPr>
              <a:t>memcpy</a:t>
            </a:r>
            <a:r>
              <a:rPr lang="en-PK" altLang="en-PK" sz="2000" dirty="0">
                <a:solidFill>
                  <a:schemeClr val="tx1"/>
                </a:solidFill>
                <a:latin typeface="Google Sans Text"/>
              </a:rPr>
              <a:t> or read) to write a huge amount of data into a small buffer, leading directly to a </a:t>
            </a:r>
            <a:r>
              <a:rPr lang="en-PK" altLang="en-PK" sz="2000" b="1" dirty="0">
                <a:solidFill>
                  <a:schemeClr val="tx1"/>
                </a:solidFill>
                <a:latin typeface="Google Sans Text"/>
              </a:rPr>
              <a:t>buffer overflow</a:t>
            </a:r>
            <a:r>
              <a:rPr lang="en-PK" altLang="en-PK" sz="2000" dirty="0">
                <a:solidFill>
                  <a:schemeClr val="tx1"/>
                </a:solidFill>
                <a:latin typeface="Google Sans Text"/>
              </a:rPr>
              <a:t> and potential code execution.</a:t>
            </a:r>
          </a:p>
          <a:p>
            <a:endParaRPr lang="en-PK" sz="2000" dirty="0"/>
          </a:p>
        </p:txBody>
      </p:sp>
    </p:spTree>
    <p:extLst>
      <p:ext uri="{BB962C8B-B14F-4D97-AF65-F5344CB8AC3E}">
        <p14:creationId xmlns:p14="http://schemas.microsoft.com/office/powerpoint/2010/main" val="34060232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33400" y="304800"/>
            <a:ext cx="8077200" cy="4739759"/>
          </a:xfrm>
        </p:spPr>
        <p:txBody>
          <a:bodyPr/>
          <a:lstStyle/>
          <a:p>
            <a:r>
              <a:rPr lang="en-US" sz="2800" b="1" dirty="0"/>
              <a:t>How it works </a:t>
            </a:r>
          </a:p>
          <a:p>
            <a:endParaRPr lang="en-US" sz="2000" dirty="0"/>
          </a:p>
          <a:p>
            <a:pPr marL="342900" indent="-342900">
              <a:buFont typeface="Arial" pitchFamily="34" charset="0"/>
              <a:buChar char="•"/>
            </a:pPr>
            <a:r>
              <a:rPr lang="en-US" sz="2000" b="1" dirty="0"/>
              <a:t>Fixed-size storage:</a:t>
            </a:r>
            <a:r>
              <a:rPr lang="en-US" sz="2000" dirty="0"/>
              <a:t> Programming languages allocate a specific, fixed amount of memory for integer data types. For example, a 32-bit unsigned integer can only hold values from 0 to 4,294,967,295.</a:t>
            </a:r>
            <a:br>
              <a:rPr lang="en-US" sz="2000" dirty="0"/>
            </a:br>
            <a:endParaRPr lang="en-US" sz="2000" dirty="0"/>
          </a:p>
          <a:p>
            <a:pPr marL="342900" indent="-342900" rtl="0">
              <a:buFont typeface="Arial" pitchFamily="34" charset="0"/>
              <a:buChar char="•"/>
            </a:pPr>
            <a:r>
              <a:rPr lang="en-US" sz="2000" b="1" dirty="0"/>
              <a:t>Exceeding the limit:</a:t>
            </a:r>
            <a:r>
              <a:rPr lang="en-US" sz="2000" dirty="0"/>
              <a:t> If an arithmetic operation tries to create a value larger than the maximum, an overflow occurs. For example, 2,147,483,647+1 in a 32-bit signed integer would not result in the expected value but rather a negative number due to a bit flip.</a:t>
            </a:r>
          </a:p>
          <a:p>
            <a:pPr marL="342900" indent="-342900" rtl="0">
              <a:buFont typeface="Arial" pitchFamily="34" charset="0"/>
              <a:buChar char="•"/>
            </a:pPr>
            <a:endParaRPr lang="en-US" sz="2000" dirty="0"/>
          </a:p>
          <a:p>
            <a:pPr marL="342900" indent="-342900">
              <a:buFont typeface="Arial" pitchFamily="34" charset="0"/>
              <a:buChar char="•"/>
            </a:pPr>
            <a:r>
              <a:rPr lang="en-US" sz="2000" b="1" dirty="0"/>
              <a:t>Underflow:</a:t>
            </a:r>
            <a:r>
              <a:rPr lang="en-US" sz="2000" dirty="0"/>
              <a:t> The same concept applies when an operation goes below the minimum value, such as subtracting 1 from 0 in an unsigned integer, which will "wrap around" to the maximum possible value for that type</a:t>
            </a:r>
          </a:p>
          <a:p>
            <a:endParaRPr lang="en-US" sz="2000" dirty="0"/>
          </a:p>
        </p:txBody>
      </p:sp>
    </p:spTree>
    <p:extLst>
      <p:ext uri="{BB962C8B-B14F-4D97-AF65-F5344CB8AC3E}">
        <p14:creationId xmlns:p14="http://schemas.microsoft.com/office/powerpoint/2010/main" val="973339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33400" y="304800"/>
            <a:ext cx="8077200" cy="5109091"/>
          </a:xfrm>
        </p:spPr>
        <p:txBody>
          <a:bodyPr/>
          <a:lstStyle/>
          <a:p>
            <a:r>
              <a:rPr lang="en-US" sz="3200" b="1"/>
              <a:t>Potential consequences</a:t>
            </a:r>
          </a:p>
          <a:p>
            <a:endParaRPr lang="en-US" sz="2000"/>
          </a:p>
          <a:p>
            <a:pPr marL="342900" indent="-342900">
              <a:buFont typeface="Arial" pitchFamily="34" charset="0"/>
              <a:buChar char="•"/>
            </a:pPr>
            <a:r>
              <a:rPr lang="en-US" sz="2000" b="1"/>
              <a:t>Unexpected behavior:</a:t>
            </a:r>
            <a:r>
              <a:rPr lang="en-US" sz="2000"/>
              <a:t> The most immediate effect is the program behaving in an unintended way.</a:t>
            </a:r>
          </a:p>
          <a:p>
            <a:pPr marL="342900" indent="-342900">
              <a:buFont typeface="Arial" pitchFamily="34" charset="0"/>
              <a:buChar char="•"/>
            </a:pPr>
            <a:endParaRPr lang="en-US" sz="2000"/>
          </a:p>
          <a:p>
            <a:pPr marL="342900" indent="-342900">
              <a:buFont typeface="Arial" pitchFamily="34" charset="0"/>
              <a:buChar char="•"/>
            </a:pPr>
            <a:r>
              <a:rPr lang="en-US" sz="2000" b="1"/>
              <a:t>Data corruption:</a:t>
            </a:r>
            <a:r>
              <a:rPr lang="en-US" sz="2000"/>
              <a:t> Overflows can lead to incorrect values being stored, which can corrupt important data.</a:t>
            </a:r>
          </a:p>
          <a:p>
            <a:pPr marL="342900" indent="-342900">
              <a:buFont typeface="Arial" pitchFamily="34" charset="0"/>
              <a:buChar char="•"/>
            </a:pPr>
            <a:endParaRPr lang="en-US" sz="2000"/>
          </a:p>
          <a:p>
            <a:pPr marL="342900" indent="-342900">
              <a:buFont typeface="Arial" pitchFamily="34" charset="0"/>
              <a:buChar char="•"/>
            </a:pPr>
            <a:r>
              <a:rPr lang="en-US" sz="2000" b="1"/>
              <a:t>Buffer overflow:</a:t>
            </a:r>
            <a:r>
              <a:rPr lang="en-US" sz="2000"/>
              <a:t> An integer overflow can be used to trigger a more critical buffer overflow vulnerability, where an attacker writes data past the intended buffer's boundaries, potentially leading to arbitrary code execution.</a:t>
            </a:r>
          </a:p>
          <a:p>
            <a:pPr marL="342900" indent="-342900">
              <a:buFont typeface="Arial" pitchFamily="34" charset="0"/>
              <a:buChar char="•"/>
            </a:pPr>
            <a:endParaRPr lang="en-US" sz="2000"/>
          </a:p>
          <a:p>
            <a:pPr marL="342900" indent="-342900">
              <a:buFont typeface="Arial" pitchFamily="34" charset="0"/>
              <a:buChar char="•"/>
            </a:pPr>
            <a:r>
              <a:rPr lang="en-US" sz="2000" b="1"/>
              <a:t>Other issues:</a:t>
            </a:r>
            <a:r>
              <a:rPr lang="en-US" sz="2000"/>
              <a:t> Exploitation can also result in infinite loops or application crashes. </a:t>
            </a:r>
          </a:p>
          <a:p>
            <a:pPr marL="342900" indent="-342900">
              <a:buFont typeface="Arial" pitchFamily="34" charset="0"/>
              <a:buChar char="•"/>
            </a:pPr>
            <a:endParaRPr lang="en-US" sz="2000" dirty="0"/>
          </a:p>
        </p:txBody>
      </p:sp>
    </p:spTree>
    <p:extLst>
      <p:ext uri="{BB962C8B-B14F-4D97-AF65-F5344CB8AC3E}">
        <p14:creationId xmlns:p14="http://schemas.microsoft.com/office/powerpoint/2010/main" val="36263295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990600"/>
            <a:ext cx="8077200" cy="4185761"/>
          </a:xfrm>
        </p:spPr>
        <p:txBody>
          <a:bodyPr/>
          <a:lstStyle/>
          <a:p>
            <a:r>
              <a:rPr lang="en-US" sz="3200" b="1" dirty="0"/>
              <a:t>Mitigation</a:t>
            </a:r>
          </a:p>
          <a:p>
            <a:endParaRPr lang="en-US" sz="2000" dirty="0"/>
          </a:p>
          <a:p>
            <a:pPr marL="342900" indent="-342900">
              <a:buFont typeface="Arial" pitchFamily="34" charset="0"/>
              <a:buChar char="•"/>
            </a:pPr>
            <a:r>
              <a:rPr lang="en-US" sz="2000" b="1" dirty="0"/>
              <a:t>Input validation:</a:t>
            </a:r>
            <a:r>
              <a:rPr lang="en-US" sz="2000" dirty="0"/>
              <a:t> Developers must check input values to ensure they are within expected ranges before performing operations.</a:t>
            </a:r>
          </a:p>
          <a:p>
            <a:pPr marL="342900" indent="-342900">
              <a:buFont typeface="Arial" pitchFamily="34" charset="0"/>
              <a:buChar char="•"/>
            </a:pPr>
            <a:endParaRPr lang="en-US" sz="2000" dirty="0"/>
          </a:p>
          <a:p>
            <a:pPr marL="342900" indent="-342900">
              <a:buFont typeface="Arial" pitchFamily="34" charset="0"/>
              <a:buChar char="•"/>
            </a:pPr>
            <a:r>
              <a:rPr lang="en-US" sz="2000" b="1" dirty="0"/>
              <a:t>Use larger data types:</a:t>
            </a:r>
            <a:r>
              <a:rPr lang="en-US" sz="2000" dirty="0"/>
              <a:t> Choosing a larger data type, such as a 64-bit integer instead of a 32-bit one, can help prevent overflow for a wider range of values.</a:t>
            </a:r>
          </a:p>
          <a:p>
            <a:pPr marL="342900" indent="-342900">
              <a:buFont typeface="Arial" pitchFamily="34" charset="0"/>
              <a:buChar char="•"/>
            </a:pPr>
            <a:endParaRPr lang="en-US" sz="2000" b="1" dirty="0"/>
          </a:p>
          <a:p>
            <a:pPr marL="342900" indent="-342900">
              <a:buFont typeface="Arial" pitchFamily="34" charset="0"/>
              <a:buChar char="•"/>
            </a:pPr>
            <a:r>
              <a:rPr lang="en-US" sz="2000" b="1" dirty="0"/>
              <a:t>Use safety mechanisms:</a:t>
            </a:r>
            <a:r>
              <a:rPr lang="en-US" sz="2000" dirty="0"/>
              <a:t> Some languages and libraries offer built-in functions or types that perform safe arithmetic, checking for overflow and underflow before proceeding. </a:t>
            </a:r>
          </a:p>
          <a:p>
            <a:pPr marL="342900" indent="-342900">
              <a:buFont typeface="Arial" pitchFamily="34" charset="0"/>
              <a:buChar char="•"/>
            </a:pPr>
            <a:endParaRPr lang="en-US" sz="2000" dirty="0"/>
          </a:p>
        </p:txBody>
      </p:sp>
    </p:spTree>
    <p:extLst>
      <p:ext uri="{BB962C8B-B14F-4D97-AF65-F5344CB8AC3E}">
        <p14:creationId xmlns:p14="http://schemas.microsoft.com/office/powerpoint/2010/main" val="21694046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88670" rIns="0" bIns="0" rtlCol="0">
            <a:spAutoFit/>
          </a:bodyPr>
          <a:lstStyle/>
          <a:p>
            <a:pPr marL="317500">
              <a:lnSpc>
                <a:spcPct val="100000"/>
              </a:lnSpc>
              <a:spcBef>
                <a:spcPts val="105"/>
              </a:spcBef>
            </a:pPr>
            <a:r>
              <a:rPr dirty="0"/>
              <a:t>Integer</a:t>
            </a:r>
            <a:r>
              <a:rPr spc="45" dirty="0"/>
              <a:t> </a:t>
            </a:r>
            <a:r>
              <a:rPr dirty="0"/>
              <a:t>Overflows</a:t>
            </a:r>
            <a:r>
              <a:rPr spc="70" dirty="0"/>
              <a:t> </a:t>
            </a:r>
            <a:r>
              <a:rPr sz="2150" dirty="0"/>
              <a:t>(Phrack</a:t>
            </a:r>
            <a:r>
              <a:rPr sz="2150" spc="50" dirty="0"/>
              <a:t> </a:t>
            </a:r>
            <a:r>
              <a:rPr sz="2150" dirty="0"/>
              <a:t>issue</a:t>
            </a:r>
            <a:r>
              <a:rPr sz="2150" spc="30" dirty="0"/>
              <a:t> </a:t>
            </a:r>
            <a:r>
              <a:rPr sz="2150" spc="-25" dirty="0"/>
              <a:t>60)</a:t>
            </a:r>
            <a:endParaRPr sz="2150"/>
          </a:p>
        </p:txBody>
      </p:sp>
      <p:sp>
        <p:nvSpPr>
          <p:cNvPr id="3" name="object 3"/>
          <p:cNvSpPr txBox="1"/>
          <p:nvPr/>
        </p:nvSpPr>
        <p:spPr>
          <a:xfrm>
            <a:off x="460375" y="1396745"/>
            <a:ext cx="6758940" cy="1078865"/>
          </a:xfrm>
          <a:prstGeom prst="rect">
            <a:avLst/>
          </a:prstGeom>
        </p:spPr>
        <p:txBody>
          <a:bodyPr vert="horz" wrap="square" lIns="0" tIns="13335" rIns="0" bIns="0" rtlCol="0">
            <a:spAutoFit/>
          </a:bodyPr>
          <a:lstStyle/>
          <a:p>
            <a:pPr marL="12700">
              <a:lnSpc>
                <a:spcPct val="100000"/>
              </a:lnSpc>
              <a:spcBef>
                <a:spcPts val="105"/>
              </a:spcBef>
              <a:tabLst>
                <a:tab pos="1430020" algn="l"/>
              </a:tabLst>
            </a:pPr>
            <a:r>
              <a:rPr sz="2400" spc="-10" dirty="0">
                <a:latin typeface="Times New Roman"/>
                <a:cs typeface="Times New Roman"/>
              </a:rPr>
              <a:t>Problem:</a:t>
            </a:r>
            <a:r>
              <a:rPr sz="2400" dirty="0">
                <a:latin typeface="Times New Roman"/>
                <a:cs typeface="Times New Roman"/>
              </a:rPr>
              <a:t>	what</a:t>
            </a:r>
            <a:r>
              <a:rPr sz="2400" spc="-65" dirty="0">
                <a:latin typeface="Times New Roman"/>
                <a:cs typeface="Times New Roman"/>
              </a:rPr>
              <a:t> </a:t>
            </a:r>
            <a:r>
              <a:rPr sz="2400" dirty="0">
                <a:latin typeface="Times New Roman"/>
                <a:cs typeface="Times New Roman"/>
              </a:rPr>
              <a:t>happens</a:t>
            </a:r>
            <a:r>
              <a:rPr sz="2400" spc="-35" dirty="0">
                <a:latin typeface="Times New Roman"/>
                <a:cs typeface="Times New Roman"/>
              </a:rPr>
              <a:t> </a:t>
            </a:r>
            <a:r>
              <a:rPr sz="2400" dirty="0">
                <a:latin typeface="Times New Roman"/>
                <a:cs typeface="Times New Roman"/>
              </a:rPr>
              <a:t>when</a:t>
            </a:r>
            <a:r>
              <a:rPr sz="2400" spc="5" dirty="0">
                <a:latin typeface="Times New Roman"/>
                <a:cs typeface="Times New Roman"/>
              </a:rPr>
              <a:t> </a:t>
            </a:r>
            <a:r>
              <a:rPr sz="2400" dirty="0">
                <a:latin typeface="Times New Roman"/>
                <a:cs typeface="Times New Roman"/>
              </a:rPr>
              <a:t>int</a:t>
            </a:r>
            <a:r>
              <a:rPr sz="2400" spc="-10" dirty="0">
                <a:latin typeface="Times New Roman"/>
                <a:cs typeface="Times New Roman"/>
              </a:rPr>
              <a:t> </a:t>
            </a:r>
            <a:r>
              <a:rPr sz="2400" dirty="0">
                <a:latin typeface="Times New Roman"/>
                <a:cs typeface="Times New Roman"/>
              </a:rPr>
              <a:t>exceeds</a:t>
            </a:r>
            <a:r>
              <a:rPr sz="2400" spc="-35" dirty="0">
                <a:latin typeface="Times New Roman"/>
                <a:cs typeface="Times New Roman"/>
              </a:rPr>
              <a:t> </a:t>
            </a:r>
            <a:r>
              <a:rPr sz="2400" dirty="0">
                <a:latin typeface="Times New Roman"/>
                <a:cs typeface="Times New Roman"/>
              </a:rPr>
              <a:t>max</a:t>
            </a:r>
            <a:r>
              <a:rPr sz="2400" spc="10" dirty="0">
                <a:latin typeface="Times New Roman"/>
                <a:cs typeface="Times New Roman"/>
              </a:rPr>
              <a:t> </a:t>
            </a:r>
            <a:r>
              <a:rPr sz="2400" spc="-10" dirty="0">
                <a:latin typeface="Times New Roman"/>
                <a:cs typeface="Times New Roman"/>
              </a:rPr>
              <a:t>value?</a:t>
            </a:r>
            <a:endParaRPr sz="2400">
              <a:latin typeface="Times New Roman"/>
              <a:cs typeface="Times New Roman"/>
            </a:endParaRPr>
          </a:p>
          <a:p>
            <a:pPr marL="12700">
              <a:lnSpc>
                <a:spcPct val="100000"/>
              </a:lnSpc>
              <a:spcBef>
                <a:spcPts val="2525"/>
              </a:spcBef>
              <a:tabLst>
                <a:tab pos="4272280" algn="l"/>
                <a:tab pos="5473065" algn="l"/>
              </a:tabLst>
            </a:pPr>
            <a:r>
              <a:rPr sz="2400" b="1" dirty="0">
                <a:solidFill>
                  <a:srgbClr val="006FC0"/>
                </a:solidFill>
                <a:latin typeface="Times New Roman"/>
                <a:cs typeface="Times New Roman"/>
              </a:rPr>
              <a:t>int</a:t>
            </a:r>
            <a:r>
              <a:rPr sz="2400" b="1" spc="-35" dirty="0">
                <a:solidFill>
                  <a:srgbClr val="006FC0"/>
                </a:solidFill>
                <a:latin typeface="Times New Roman"/>
                <a:cs typeface="Times New Roman"/>
              </a:rPr>
              <a:t> </a:t>
            </a:r>
            <a:r>
              <a:rPr sz="2400" b="1" dirty="0">
                <a:solidFill>
                  <a:srgbClr val="006FC0"/>
                </a:solidFill>
                <a:latin typeface="Times New Roman"/>
                <a:cs typeface="Times New Roman"/>
              </a:rPr>
              <a:t>m;</a:t>
            </a:r>
            <a:r>
              <a:rPr sz="2400" b="1" spc="-55" dirty="0">
                <a:solidFill>
                  <a:srgbClr val="006FC0"/>
                </a:solidFill>
                <a:latin typeface="Times New Roman"/>
                <a:cs typeface="Times New Roman"/>
              </a:rPr>
              <a:t> </a:t>
            </a:r>
            <a:r>
              <a:rPr sz="2400" b="1" dirty="0">
                <a:solidFill>
                  <a:srgbClr val="006FC0"/>
                </a:solidFill>
                <a:latin typeface="Times New Roman"/>
                <a:cs typeface="Times New Roman"/>
              </a:rPr>
              <a:t>(32</a:t>
            </a:r>
            <a:r>
              <a:rPr sz="2400" b="1" spc="-10" dirty="0">
                <a:solidFill>
                  <a:srgbClr val="006FC0"/>
                </a:solidFill>
                <a:latin typeface="Times New Roman"/>
                <a:cs typeface="Times New Roman"/>
              </a:rPr>
              <a:t> </a:t>
            </a:r>
            <a:r>
              <a:rPr sz="2400" b="1" dirty="0">
                <a:solidFill>
                  <a:srgbClr val="006FC0"/>
                </a:solidFill>
                <a:latin typeface="Times New Roman"/>
                <a:cs typeface="Times New Roman"/>
              </a:rPr>
              <a:t>bits)</a:t>
            </a:r>
            <a:r>
              <a:rPr sz="2400" b="1" spc="15" dirty="0">
                <a:solidFill>
                  <a:srgbClr val="006FC0"/>
                </a:solidFill>
                <a:latin typeface="Times New Roman"/>
                <a:cs typeface="Times New Roman"/>
              </a:rPr>
              <a:t> </a:t>
            </a:r>
            <a:r>
              <a:rPr sz="2400" b="1" dirty="0">
                <a:solidFill>
                  <a:srgbClr val="006FC0"/>
                </a:solidFill>
                <a:latin typeface="Times New Roman"/>
                <a:cs typeface="Times New Roman"/>
              </a:rPr>
              <a:t>short</a:t>
            </a:r>
            <a:r>
              <a:rPr sz="2400" b="1" spc="10" dirty="0">
                <a:solidFill>
                  <a:srgbClr val="006FC0"/>
                </a:solidFill>
                <a:latin typeface="Times New Roman"/>
                <a:cs typeface="Times New Roman"/>
              </a:rPr>
              <a:t> </a:t>
            </a:r>
            <a:r>
              <a:rPr sz="2400" b="1" dirty="0">
                <a:solidFill>
                  <a:srgbClr val="006FC0"/>
                </a:solidFill>
                <a:latin typeface="Times New Roman"/>
                <a:cs typeface="Times New Roman"/>
              </a:rPr>
              <a:t>s;</a:t>
            </a:r>
            <a:r>
              <a:rPr sz="2400" b="1" spc="10" dirty="0">
                <a:solidFill>
                  <a:srgbClr val="006FC0"/>
                </a:solidFill>
                <a:latin typeface="Times New Roman"/>
                <a:cs typeface="Times New Roman"/>
              </a:rPr>
              <a:t> </a:t>
            </a:r>
            <a:r>
              <a:rPr sz="2400" b="1" dirty="0">
                <a:solidFill>
                  <a:srgbClr val="006FC0"/>
                </a:solidFill>
                <a:latin typeface="Times New Roman"/>
                <a:cs typeface="Times New Roman"/>
              </a:rPr>
              <a:t>(16</a:t>
            </a:r>
            <a:r>
              <a:rPr sz="2400" b="1" spc="-5" dirty="0">
                <a:solidFill>
                  <a:srgbClr val="006FC0"/>
                </a:solidFill>
                <a:latin typeface="Times New Roman"/>
                <a:cs typeface="Times New Roman"/>
              </a:rPr>
              <a:t> </a:t>
            </a:r>
            <a:r>
              <a:rPr sz="2400" b="1" spc="-10" dirty="0">
                <a:solidFill>
                  <a:srgbClr val="006FC0"/>
                </a:solidFill>
                <a:latin typeface="Times New Roman"/>
                <a:cs typeface="Times New Roman"/>
              </a:rPr>
              <a:t>bits)</a:t>
            </a:r>
            <a:r>
              <a:rPr sz="2400" b="1" dirty="0">
                <a:solidFill>
                  <a:srgbClr val="006FC0"/>
                </a:solidFill>
                <a:latin typeface="Times New Roman"/>
                <a:cs typeface="Times New Roman"/>
              </a:rPr>
              <a:t>	char</a:t>
            </a:r>
            <a:r>
              <a:rPr sz="2400" b="1" spc="-30" dirty="0">
                <a:solidFill>
                  <a:srgbClr val="006FC0"/>
                </a:solidFill>
                <a:latin typeface="Times New Roman"/>
                <a:cs typeface="Times New Roman"/>
              </a:rPr>
              <a:t> </a:t>
            </a:r>
            <a:r>
              <a:rPr sz="2400" b="1" spc="-25" dirty="0">
                <a:solidFill>
                  <a:srgbClr val="006FC0"/>
                </a:solidFill>
                <a:latin typeface="Times New Roman"/>
                <a:cs typeface="Times New Roman"/>
              </a:rPr>
              <a:t>c;</a:t>
            </a:r>
            <a:r>
              <a:rPr sz="2400" b="1" dirty="0">
                <a:solidFill>
                  <a:srgbClr val="006FC0"/>
                </a:solidFill>
                <a:latin typeface="Times New Roman"/>
                <a:cs typeface="Times New Roman"/>
              </a:rPr>
              <a:t>	(8</a:t>
            </a:r>
            <a:r>
              <a:rPr sz="2400" b="1" spc="5" dirty="0">
                <a:solidFill>
                  <a:srgbClr val="006FC0"/>
                </a:solidFill>
                <a:latin typeface="Times New Roman"/>
                <a:cs typeface="Times New Roman"/>
              </a:rPr>
              <a:t> </a:t>
            </a:r>
            <a:r>
              <a:rPr sz="2400" b="1" spc="-10" dirty="0">
                <a:solidFill>
                  <a:srgbClr val="006FC0"/>
                </a:solidFill>
                <a:latin typeface="Times New Roman"/>
                <a:cs typeface="Times New Roman"/>
              </a:rPr>
              <a:t>bits)</a:t>
            </a:r>
            <a:endParaRPr sz="2400">
              <a:latin typeface="Times New Roman"/>
              <a:cs typeface="Times New Roman"/>
            </a:endParaRPr>
          </a:p>
        </p:txBody>
      </p:sp>
      <p:graphicFrame>
        <p:nvGraphicFramePr>
          <p:cNvPr id="4" name="object 4"/>
          <p:cNvGraphicFramePr>
            <a:graphicFrameLocks noGrp="1"/>
          </p:cNvGraphicFramePr>
          <p:nvPr/>
        </p:nvGraphicFramePr>
        <p:xfrm>
          <a:off x="1356741" y="2845320"/>
          <a:ext cx="6001384" cy="1435100"/>
        </p:xfrm>
        <a:graphic>
          <a:graphicData uri="http://schemas.openxmlformats.org/drawingml/2006/table">
            <a:tbl>
              <a:tblPr firstRow="1" bandRow="1">
                <a:tableStyleId>{2D5ABB26-0587-4C30-8999-92F81FD0307C}</a:tableStyleId>
              </a:tblPr>
              <a:tblGrid>
                <a:gridCol w="4101465">
                  <a:extLst>
                    <a:ext uri="{9D8B030D-6E8A-4147-A177-3AD203B41FA5}">
                      <a16:colId xmlns:a16="http://schemas.microsoft.com/office/drawing/2014/main" val="20000"/>
                    </a:ext>
                  </a:extLst>
                </a:gridCol>
                <a:gridCol w="962025">
                  <a:extLst>
                    <a:ext uri="{9D8B030D-6E8A-4147-A177-3AD203B41FA5}">
                      <a16:colId xmlns:a16="http://schemas.microsoft.com/office/drawing/2014/main" val="20001"/>
                    </a:ext>
                  </a:extLst>
                </a:gridCol>
                <a:gridCol w="937894">
                  <a:extLst>
                    <a:ext uri="{9D8B030D-6E8A-4147-A177-3AD203B41FA5}">
                      <a16:colId xmlns:a16="http://schemas.microsoft.com/office/drawing/2014/main" val="20002"/>
                    </a:ext>
                  </a:extLst>
                </a:gridCol>
              </a:tblGrid>
              <a:tr h="445770">
                <a:tc>
                  <a:txBody>
                    <a:bodyPr/>
                    <a:lstStyle/>
                    <a:p>
                      <a:pPr marL="31750">
                        <a:lnSpc>
                          <a:spcPts val="2620"/>
                        </a:lnSpc>
                      </a:pPr>
                      <a:r>
                        <a:rPr sz="2400" dirty="0">
                          <a:latin typeface="Times New Roman"/>
                          <a:cs typeface="Times New Roman"/>
                        </a:rPr>
                        <a:t>c</a:t>
                      </a:r>
                      <a:r>
                        <a:rPr sz="2400" spc="-25" dirty="0">
                          <a:latin typeface="Times New Roman"/>
                          <a:cs typeface="Times New Roman"/>
                        </a:rPr>
                        <a:t> </a:t>
                      </a:r>
                      <a:r>
                        <a:rPr sz="2400" dirty="0">
                          <a:latin typeface="Times New Roman"/>
                          <a:cs typeface="Times New Roman"/>
                        </a:rPr>
                        <a:t>= 0x80 +</a:t>
                      </a:r>
                      <a:r>
                        <a:rPr sz="2400" spc="-10" dirty="0">
                          <a:latin typeface="Times New Roman"/>
                          <a:cs typeface="Times New Roman"/>
                        </a:rPr>
                        <a:t> </a:t>
                      </a:r>
                      <a:r>
                        <a:rPr sz="2400" dirty="0">
                          <a:latin typeface="Times New Roman"/>
                          <a:cs typeface="Times New Roman"/>
                        </a:rPr>
                        <a:t>0x80</a:t>
                      </a:r>
                      <a:r>
                        <a:rPr sz="2400" spc="-5" dirty="0">
                          <a:latin typeface="Times New Roman"/>
                          <a:cs typeface="Times New Roman"/>
                        </a:rPr>
                        <a:t> </a:t>
                      </a:r>
                      <a:r>
                        <a:rPr sz="2400" dirty="0">
                          <a:latin typeface="Times New Roman"/>
                          <a:cs typeface="Times New Roman"/>
                        </a:rPr>
                        <a:t>=</a:t>
                      </a:r>
                      <a:r>
                        <a:rPr sz="2400" spc="-15" dirty="0">
                          <a:latin typeface="Times New Roman"/>
                          <a:cs typeface="Times New Roman"/>
                        </a:rPr>
                        <a:t> </a:t>
                      </a:r>
                      <a:r>
                        <a:rPr sz="2400" dirty="0">
                          <a:latin typeface="Times New Roman"/>
                          <a:cs typeface="Times New Roman"/>
                        </a:rPr>
                        <a:t>128 +</a:t>
                      </a:r>
                      <a:r>
                        <a:rPr sz="2400" spc="-10" dirty="0">
                          <a:latin typeface="Times New Roman"/>
                          <a:cs typeface="Times New Roman"/>
                        </a:rPr>
                        <a:t> </a:t>
                      </a:r>
                      <a:r>
                        <a:rPr sz="2400" spc="-25" dirty="0">
                          <a:latin typeface="Times New Roman"/>
                          <a:cs typeface="Times New Roman"/>
                        </a:rPr>
                        <a:t>128</a:t>
                      </a:r>
                      <a:endParaRPr sz="2400">
                        <a:latin typeface="Times New Roman"/>
                        <a:cs typeface="Times New Roman"/>
                      </a:endParaRPr>
                    </a:p>
                  </a:txBody>
                  <a:tcPr marL="0" marR="0" marT="0" marB="0"/>
                </a:tc>
                <a:tc>
                  <a:txBody>
                    <a:bodyPr/>
                    <a:lstStyle/>
                    <a:p>
                      <a:pPr marR="182880" algn="r">
                        <a:lnSpc>
                          <a:spcPts val="2620"/>
                        </a:lnSpc>
                      </a:pPr>
                      <a:r>
                        <a:rPr sz="2400" spc="-50" dirty="0">
                          <a:latin typeface="Cambria Math"/>
                          <a:cs typeface="Cambria Math"/>
                        </a:rPr>
                        <a:t>⇒</a:t>
                      </a:r>
                      <a:endParaRPr sz="2400">
                        <a:latin typeface="Cambria Math"/>
                        <a:cs typeface="Cambria Math"/>
                      </a:endParaRPr>
                    </a:p>
                  </a:txBody>
                  <a:tcPr marL="0" marR="0" marT="0" marB="0"/>
                </a:tc>
                <a:tc>
                  <a:txBody>
                    <a:bodyPr/>
                    <a:lstStyle/>
                    <a:p>
                      <a:pPr marL="190500">
                        <a:lnSpc>
                          <a:spcPts val="2620"/>
                        </a:lnSpc>
                      </a:pPr>
                      <a:r>
                        <a:rPr sz="2400" dirty="0">
                          <a:latin typeface="Times New Roman"/>
                          <a:cs typeface="Times New Roman"/>
                        </a:rPr>
                        <a:t>c</a:t>
                      </a:r>
                      <a:r>
                        <a:rPr sz="2400" spc="-20" dirty="0">
                          <a:latin typeface="Times New Roman"/>
                          <a:cs typeface="Times New Roman"/>
                        </a:rPr>
                        <a:t> </a:t>
                      </a:r>
                      <a:r>
                        <a:rPr sz="2400" dirty="0">
                          <a:latin typeface="Times New Roman"/>
                          <a:cs typeface="Times New Roman"/>
                        </a:rPr>
                        <a:t>= </a:t>
                      </a:r>
                      <a:r>
                        <a:rPr sz="2400" spc="-50" dirty="0">
                          <a:latin typeface="Times New Roman"/>
                          <a:cs typeface="Times New Roman"/>
                        </a:rPr>
                        <a:t>0</a:t>
                      </a:r>
                      <a:endParaRPr sz="2400">
                        <a:latin typeface="Times New Roman"/>
                        <a:cs typeface="Times New Roman"/>
                      </a:endParaRPr>
                    </a:p>
                  </a:txBody>
                  <a:tcPr marL="0" marR="0" marT="0" marB="0"/>
                </a:tc>
                <a:extLst>
                  <a:ext uri="{0D108BD9-81ED-4DB2-BD59-A6C34878D82A}">
                    <a16:rowId xmlns:a16="http://schemas.microsoft.com/office/drawing/2014/main" val="10000"/>
                  </a:ext>
                </a:extLst>
              </a:tr>
              <a:tr h="548005">
                <a:tc>
                  <a:txBody>
                    <a:bodyPr/>
                    <a:lstStyle/>
                    <a:p>
                      <a:pPr marL="31750">
                        <a:lnSpc>
                          <a:spcPct val="100000"/>
                        </a:lnSpc>
                        <a:spcBef>
                          <a:spcPts val="580"/>
                        </a:spcBef>
                      </a:pPr>
                      <a:r>
                        <a:rPr sz="2400" dirty="0">
                          <a:latin typeface="Times New Roman"/>
                          <a:cs typeface="Times New Roman"/>
                        </a:rPr>
                        <a:t>s =</a:t>
                      </a:r>
                      <a:r>
                        <a:rPr sz="2400" spc="-35" dirty="0">
                          <a:latin typeface="Times New Roman"/>
                          <a:cs typeface="Times New Roman"/>
                        </a:rPr>
                        <a:t> </a:t>
                      </a:r>
                      <a:r>
                        <a:rPr sz="2400" dirty="0">
                          <a:latin typeface="Times New Roman"/>
                          <a:cs typeface="Times New Roman"/>
                        </a:rPr>
                        <a:t>0xff80</a:t>
                      </a:r>
                      <a:r>
                        <a:rPr sz="2400" spc="-30" dirty="0">
                          <a:latin typeface="Times New Roman"/>
                          <a:cs typeface="Times New Roman"/>
                        </a:rPr>
                        <a:t> </a:t>
                      </a:r>
                      <a:r>
                        <a:rPr sz="2400" dirty="0">
                          <a:latin typeface="Times New Roman"/>
                          <a:cs typeface="Times New Roman"/>
                        </a:rPr>
                        <a:t>+</a:t>
                      </a:r>
                      <a:r>
                        <a:rPr sz="2400" spc="-40" dirty="0">
                          <a:latin typeface="Times New Roman"/>
                          <a:cs typeface="Times New Roman"/>
                        </a:rPr>
                        <a:t> </a:t>
                      </a:r>
                      <a:r>
                        <a:rPr sz="2400" spc="-20" dirty="0">
                          <a:latin typeface="Times New Roman"/>
                          <a:cs typeface="Times New Roman"/>
                        </a:rPr>
                        <a:t>0x80</a:t>
                      </a:r>
                      <a:endParaRPr sz="2400">
                        <a:latin typeface="Times New Roman"/>
                        <a:cs typeface="Times New Roman"/>
                      </a:endParaRPr>
                    </a:p>
                  </a:txBody>
                  <a:tcPr marL="0" marR="0" marT="73660" marB="0"/>
                </a:tc>
                <a:tc>
                  <a:txBody>
                    <a:bodyPr/>
                    <a:lstStyle/>
                    <a:p>
                      <a:pPr marR="182880" algn="r">
                        <a:lnSpc>
                          <a:spcPct val="100000"/>
                        </a:lnSpc>
                        <a:spcBef>
                          <a:spcPts val="580"/>
                        </a:spcBef>
                      </a:pPr>
                      <a:r>
                        <a:rPr sz="2400" spc="-50" dirty="0">
                          <a:latin typeface="Cambria Math"/>
                          <a:cs typeface="Cambria Math"/>
                        </a:rPr>
                        <a:t>⇒</a:t>
                      </a:r>
                      <a:endParaRPr sz="2400">
                        <a:latin typeface="Cambria Math"/>
                        <a:cs typeface="Cambria Math"/>
                      </a:endParaRPr>
                    </a:p>
                  </a:txBody>
                  <a:tcPr marL="0" marR="0" marT="73660" marB="0"/>
                </a:tc>
                <a:tc>
                  <a:txBody>
                    <a:bodyPr/>
                    <a:lstStyle/>
                    <a:p>
                      <a:pPr marL="190500">
                        <a:lnSpc>
                          <a:spcPct val="100000"/>
                        </a:lnSpc>
                        <a:spcBef>
                          <a:spcPts val="580"/>
                        </a:spcBef>
                      </a:pPr>
                      <a:r>
                        <a:rPr sz="2400" dirty="0">
                          <a:latin typeface="Times New Roman"/>
                          <a:cs typeface="Times New Roman"/>
                        </a:rPr>
                        <a:t>s</a:t>
                      </a:r>
                      <a:r>
                        <a:rPr sz="2400" spc="30" dirty="0">
                          <a:latin typeface="Times New Roman"/>
                          <a:cs typeface="Times New Roman"/>
                        </a:rPr>
                        <a:t> </a:t>
                      </a:r>
                      <a:r>
                        <a:rPr sz="2400" dirty="0">
                          <a:latin typeface="Times New Roman"/>
                          <a:cs typeface="Times New Roman"/>
                        </a:rPr>
                        <a:t>=</a:t>
                      </a:r>
                      <a:r>
                        <a:rPr sz="2400" spc="-5" dirty="0">
                          <a:latin typeface="Times New Roman"/>
                          <a:cs typeface="Times New Roman"/>
                        </a:rPr>
                        <a:t> </a:t>
                      </a:r>
                      <a:r>
                        <a:rPr sz="2400" spc="-50" dirty="0">
                          <a:latin typeface="Times New Roman"/>
                          <a:cs typeface="Times New Roman"/>
                        </a:rPr>
                        <a:t>0</a:t>
                      </a:r>
                      <a:endParaRPr sz="2400">
                        <a:latin typeface="Times New Roman"/>
                        <a:cs typeface="Times New Roman"/>
                      </a:endParaRPr>
                    </a:p>
                  </a:txBody>
                  <a:tcPr marL="0" marR="0" marT="73660" marB="0"/>
                </a:tc>
                <a:extLst>
                  <a:ext uri="{0D108BD9-81ED-4DB2-BD59-A6C34878D82A}">
                    <a16:rowId xmlns:a16="http://schemas.microsoft.com/office/drawing/2014/main" val="10001"/>
                  </a:ext>
                </a:extLst>
              </a:tr>
              <a:tr h="441325">
                <a:tc>
                  <a:txBody>
                    <a:bodyPr/>
                    <a:lstStyle/>
                    <a:p>
                      <a:pPr marL="31750">
                        <a:lnSpc>
                          <a:spcPts val="2835"/>
                        </a:lnSpc>
                        <a:spcBef>
                          <a:spcPts val="545"/>
                        </a:spcBef>
                      </a:pPr>
                      <a:r>
                        <a:rPr sz="2400" dirty="0">
                          <a:latin typeface="Times New Roman"/>
                          <a:cs typeface="Times New Roman"/>
                        </a:rPr>
                        <a:t>m</a:t>
                      </a:r>
                      <a:r>
                        <a:rPr sz="2400" spc="-20" dirty="0">
                          <a:latin typeface="Times New Roman"/>
                          <a:cs typeface="Times New Roman"/>
                        </a:rPr>
                        <a:t> </a:t>
                      </a:r>
                      <a:r>
                        <a:rPr sz="2400" dirty="0">
                          <a:latin typeface="Times New Roman"/>
                          <a:cs typeface="Times New Roman"/>
                        </a:rPr>
                        <a:t>=</a:t>
                      </a:r>
                      <a:r>
                        <a:rPr sz="2400" spc="-15" dirty="0">
                          <a:latin typeface="Times New Roman"/>
                          <a:cs typeface="Times New Roman"/>
                        </a:rPr>
                        <a:t> </a:t>
                      </a:r>
                      <a:r>
                        <a:rPr sz="2400" spc="-20" dirty="0">
                          <a:latin typeface="Times New Roman"/>
                          <a:cs typeface="Times New Roman"/>
                        </a:rPr>
                        <a:t>0xffffff80</a:t>
                      </a:r>
                      <a:r>
                        <a:rPr sz="2400" spc="-15" dirty="0">
                          <a:latin typeface="Times New Roman"/>
                          <a:cs typeface="Times New Roman"/>
                        </a:rPr>
                        <a:t> </a:t>
                      </a:r>
                      <a:r>
                        <a:rPr sz="2400" dirty="0">
                          <a:latin typeface="Times New Roman"/>
                          <a:cs typeface="Times New Roman"/>
                        </a:rPr>
                        <a:t>+</a:t>
                      </a:r>
                      <a:r>
                        <a:rPr sz="2400" spc="-30" dirty="0">
                          <a:latin typeface="Times New Roman"/>
                          <a:cs typeface="Times New Roman"/>
                        </a:rPr>
                        <a:t> </a:t>
                      </a:r>
                      <a:r>
                        <a:rPr sz="2400" spc="-20" dirty="0">
                          <a:latin typeface="Times New Roman"/>
                          <a:cs typeface="Times New Roman"/>
                        </a:rPr>
                        <a:t>0x80</a:t>
                      </a:r>
                      <a:endParaRPr sz="2400">
                        <a:latin typeface="Times New Roman"/>
                        <a:cs typeface="Times New Roman"/>
                      </a:endParaRPr>
                    </a:p>
                  </a:txBody>
                  <a:tcPr marL="0" marR="0" marT="69215" marB="0"/>
                </a:tc>
                <a:tc>
                  <a:txBody>
                    <a:bodyPr/>
                    <a:lstStyle/>
                    <a:p>
                      <a:pPr marR="182880" algn="r">
                        <a:lnSpc>
                          <a:spcPts val="2835"/>
                        </a:lnSpc>
                        <a:spcBef>
                          <a:spcPts val="545"/>
                        </a:spcBef>
                      </a:pPr>
                      <a:r>
                        <a:rPr sz="2400" spc="-50" dirty="0">
                          <a:latin typeface="Cambria Math"/>
                          <a:cs typeface="Cambria Math"/>
                        </a:rPr>
                        <a:t>⇒</a:t>
                      </a:r>
                      <a:endParaRPr sz="2400">
                        <a:latin typeface="Cambria Math"/>
                        <a:cs typeface="Cambria Math"/>
                      </a:endParaRPr>
                    </a:p>
                  </a:txBody>
                  <a:tcPr marL="0" marR="0" marT="69215" marB="0"/>
                </a:tc>
                <a:tc>
                  <a:txBody>
                    <a:bodyPr/>
                    <a:lstStyle/>
                    <a:p>
                      <a:pPr marL="190500">
                        <a:lnSpc>
                          <a:spcPts val="2835"/>
                        </a:lnSpc>
                        <a:spcBef>
                          <a:spcPts val="545"/>
                        </a:spcBef>
                      </a:pPr>
                      <a:r>
                        <a:rPr sz="2400" dirty="0">
                          <a:latin typeface="Times New Roman"/>
                          <a:cs typeface="Times New Roman"/>
                        </a:rPr>
                        <a:t>m = </a:t>
                      </a:r>
                      <a:r>
                        <a:rPr sz="2400" spc="-50" dirty="0">
                          <a:latin typeface="Times New Roman"/>
                          <a:cs typeface="Times New Roman"/>
                        </a:rPr>
                        <a:t>0</a:t>
                      </a:r>
                      <a:endParaRPr sz="2400">
                        <a:latin typeface="Times New Roman"/>
                        <a:cs typeface="Times New Roman"/>
                      </a:endParaRPr>
                    </a:p>
                  </a:txBody>
                  <a:tcPr marL="0" marR="0" marT="69215" marB="0"/>
                </a:tc>
                <a:extLst>
                  <a:ext uri="{0D108BD9-81ED-4DB2-BD59-A6C34878D82A}">
                    <a16:rowId xmlns:a16="http://schemas.microsoft.com/office/drawing/2014/main" val="10002"/>
                  </a:ext>
                </a:extLst>
              </a:tr>
            </a:tbl>
          </a:graphicData>
        </a:graphic>
      </p:graphicFrame>
      <p:sp>
        <p:nvSpPr>
          <p:cNvPr id="5" name="object 5"/>
          <p:cNvSpPr txBox="1"/>
          <p:nvPr/>
        </p:nvSpPr>
        <p:spPr>
          <a:xfrm>
            <a:off x="460375" y="4830445"/>
            <a:ext cx="2742565" cy="392430"/>
          </a:xfrm>
          <a:prstGeom prst="rect">
            <a:avLst/>
          </a:prstGeom>
        </p:spPr>
        <p:txBody>
          <a:bodyPr vert="horz" wrap="square" lIns="0" tIns="13335" rIns="0" bIns="0" rtlCol="0">
            <a:spAutoFit/>
          </a:bodyPr>
          <a:lstStyle/>
          <a:p>
            <a:pPr marL="12700">
              <a:lnSpc>
                <a:spcPct val="100000"/>
              </a:lnSpc>
              <a:spcBef>
                <a:spcPts val="105"/>
              </a:spcBef>
            </a:pPr>
            <a:r>
              <a:rPr sz="2400" dirty="0">
                <a:latin typeface="Times New Roman"/>
                <a:cs typeface="Times New Roman"/>
              </a:rPr>
              <a:t>Can</a:t>
            </a:r>
            <a:r>
              <a:rPr sz="2400" spc="-20" dirty="0">
                <a:latin typeface="Times New Roman"/>
                <a:cs typeface="Times New Roman"/>
              </a:rPr>
              <a:t> </a:t>
            </a:r>
            <a:r>
              <a:rPr sz="2400" dirty="0">
                <a:latin typeface="Times New Roman"/>
                <a:cs typeface="Times New Roman"/>
              </a:rPr>
              <a:t>this</a:t>
            </a:r>
            <a:r>
              <a:rPr sz="2400" spc="15" dirty="0">
                <a:latin typeface="Times New Roman"/>
                <a:cs typeface="Times New Roman"/>
              </a:rPr>
              <a:t> </a:t>
            </a:r>
            <a:r>
              <a:rPr sz="2400" dirty="0">
                <a:latin typeface="Times New Roman"/>
                <a:cs typeface="Times New Roman"/>
              </a:rPr>
              <a:t>be</a:t>
            </a:r>
            <a:r>
              <a:rPr sz="2400" spc="-35" dirty="0">
                <a:latin typeface="Times New Roman"/>
                <a:cs typeface="Times New Roman"/>
              </a:rPr>
              <a:t> </a:t>
            </a:r>
            <a:r>
              <a:rPr sz="2400" spc="-10" dirty="0">
                <a:latin typeface="Times New Roman"/>
                <a:cs typeface="Times New Roman"/>
              </a:rPr>
              <a:t>exploited?</a:t>
            </a:r>
            <a:endParaRPr sz="2400">
              <a:latin typeface="Times New Roman"/>
              <a:cs typeface="Times New Roman"/>
            </a:endParaRPr>
          </a:p>
        </p:txBody>
      </p:sp>
      <p:pic>
        <p:nvPicPr>
          <p:cNvPr id="6" name="object 6"/>
          <p:cNvPicPr/>
          <p:nvPr/>
        </p:nvPicPr>
        <p:blipFill>
          <a:blip r:embed="rId2" cstate="print"/>
          <a:stretch>
            <a:fillRect/>
          </a:stretch>
        </p:blipFill>
        <p:spPr>
          <a:xfrm>
            <a:off x="866775" y="2495423"/>
            <a:ext cx="7034276" cy="2233676"/>
          </a:xfrm>
          <a:prstGeom prst="rect">
            <a:avLst/>
          </a:prstGeom>
        </p:spPr>
      </p:pic>
      <p:sp>
        <p:nvSpPr>
          <p:cNvPr id="7" name="object 7"/>
          <p:cNvSpPr/>
          <p:nvPr/>
        </p:nvSpPr>
        <p:spPr>
          <a:xfrm>
            <a:off x="919162" y="2519426"/>
            <a:ext cx="6934200" cy="2133600"/>
          </a:xfrm>
          <a:custGeom>
            <a:avLst/>
            <a:gdLst/>
            <a:ahLst/>
            <a:cxnLst/>
            <a:rect l="l" t="t" r="r" b="b"/>
            <a:pathLst>
              <a:path w="6934200" h="2133600">
                <a:moveTo>
                  <a:pt x="0" y="2133600"/>
                </a:moveTo>
                <a:lnTo>
                  <a:pt x="6934200" y="2133600"/>
                </a:lnTo>
                <a:lnTo>
                  <a:pt x="6934200" y="0"/>
                </a:lnTo>
                <a:lnTo>
                  <a:pt x="0" y="0"/>
                </a:lnTo>
                <a:lnTo>
                  <a:pt x="0" y="2133600"/>
                </a:lnTo>
                <a:close/>
              </a:path>
            </a:pathLst>
          </a:custGeom>
          <a:ln w="9525">
            <a:solidFill>
              <a:srgbClr val="AE3408"/>
            </a:solidFill>
          </a:ln>
        </p:spPr>
        <p:txBody>
          <a:bodyPr wrap="square" lIns="0" tIns="0" rIns="0" bIns="0" rtlCol="0"/>
          <a:lstStyle/>
          <a:p>
            <a:endParaRPr/>
          </a:p>
        </p:txBody>
      </p:sp>
      <p:pic>
        <p:nvPicPr>
          <p:cNvPr id="8" name="object 8"/>
          <p:cNvPicPr/>
          <p:nvPr/>
        </p:nvPicPr>
        <p:blipFill>
          <a:blip r:embed="rId3" cstate="print"/>
          <a:stretch>
            <a:fillRect/>
          </a:stretch>
        </p:blipFill>
        <p:spPr>
          <a:xfrm>
            <a:off x="457200" y="6248400"/>
            <a:ext cx="476250" cy="381000"/>
          </a:xfrm>
          <a:prstGeom prst="rect">
            <a:avLst/>
          </a:prstGeom>
        </p:spPr>
      </p:pic>
      <p:sp>
        <p:nvSpPr>
          <p:cNvPr id="9" name="object 9"/>
          <p:cNvSpPr txBox="1">
            <a:spLocks noGrp="1"/>
          </p:cNvSpPr>
          <p:nvPr>
            <p:ph type="ftr" sz="quarter" idx="5"/>
          </p:nvPr>
        </p:nvSpPr>
        <p:spPr>
          <a:prstGeom prst="rect">
            <a:avLst/>
          </a:prstGeom>
        </p:spPr>
        <p:txBody>
          <a:bodyPr vert="horz" wrap="square" lIns="0" tIns="76200" rIns="0" bIns="0" rtlCol="0">
            <a:spAutoFit/>
          </a:bodyPr>
          <a:lstStyle/>
          <a:p>
            <a:pPr marL="165100">
              <a:lnSpc>
                <a:spcPts val="1550"/>
              </a:lnSpc>
            </a:pPr>
            <a:r>
              <a:rPr spc="-180" dirty="0"/>
              <a:t>FAST-</a:t>
            </a:r>
            <a:r>
              <a:rPr spc="-100" dirty="0"/>
              <a:t>NUCES</a:t>
            </a:r>
          </a:p>
        </p:txBody>
      </p:sp>
      <p:sp>
        <p:nvSpPr>
          <p:cNvPr id="10" name="TextBox 9">
            <a:extLst>
              <a:ext uri="{FF2B5EF4-FFF2-40B4-BE49-F238E27FC236}">
                <a16:creationId xmlns:a16="http://schemas.microsoft.com/office/drawing/2014/main" id="{17A985B9-AEA3-F714-DFA8-69374EADFC91}"/>
              </a:ext>
            </a:extLst>
          </p:cNvPr>
          <p:cNvSpPr txBox="1"/>
          <p:nvPr/>
        </p:nvSpPr>
        <p:spPr>
          <a:xfrm>
            <a:off x="2895600" y="5604431"/>
            <a:ext cx="5638800" cy="923330"/>
          </a:xfrm>
          <a:prstGeom prst="rect">
            <a:avLst/>
          </a:prstGeom>
          <a:noFill/>
        </p:spPr>
        <p:txBody>
          <a:bodyPr wrap="square">
            <a:spAutoFit/>
          </a:bodyPr>
          <a:lstStyle/>
          <a:p>
            <a:pPr marL="285750" indent="-285750">
              <a:buFont typeface="Arial" panose="020B0604020202020204" pitchFamily="34" charset="0"/>
              <a:buChar char="•"/>
            </a:pPr>
            <a:r>
              <a:rPr lang="en-US" dirty="0">
                <a:highlight>
                  <a:srgbClr val="FFFF00"/>
                </a:highlight>
              </a:rPr>
              <a:t>If program calculates size from user input</a:t>
            </a:r>
          </a:p>
          <a:p>
            <a:pPr marL="285750" indent="-285750">
              <a:buFont typeface="Arial" panose="020B0604020202020204" pitchFamily="34" charset="0"/>
              <a:buChar char="•"/>
            </a:pPr>
            <a:r>
              <a:rPr lang="en-US" dirty="0">
                <a:highlight>
                  <a:srgbClr val="FFFF00"/>
                </a:highlight>
              </a:rPr>
              <a:t>Overflow may make </a:t>
            </a:r>
            <a:r>
              <a:rPr lang="en-US" b="1" dirty="0">
                <a:highlight>
                  <a:srgbClr val="FFFF00"/>
                </a:highlight>
              </a:rPr>
              <a:t>huge</a:t>
            </a:r>
            <a:r>
              <a:rPr lang="en-US" dirty="0">
                <a:highlight>
                  <a:srgbClr val="FFFF00"/>
                </a:highlight>
              </a:rPr>
              <a:t> length look small.</a:t>
            </a:r>
          </a:p>
          <a:p>
            <a:pPr marL="285750" indent="-285750">
              <a:buFont typeface="Arial" panose="020B0604020202020204" pitchFamily="34" charset="0"/>
              <a:buChar char="•"/>
            </a:pPr>
            <a:r>
              <a:rPr lang="en-US" dirty="0">
                <a:highlight>
                  <a:srgbClr val="FFFF00"/>
                </a:highlight>
              </a:rPr>
              <a:t>Length validation fails → leading to buffer overflow.</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7970" rIns="0" bIns="0" rtlCol="0">
            <a:spAutoFit/>
          </a:bodyPr>
          <a:lstStyle/>
          <a:p>
            <a:pPr marL="317500">
              <a:lnSpc>
                <a:spcPct val="100000"/>
              </a:lnSpc>
              <a:spcBef>
                <a:spcPts val="105"/>
              </a:spcBef>
            </a:pPr>
            <a:r>
              <a:rPr dirty="0"/>
              <a:t>An</a:t>
            </a:r>
            <a:r>
              <a:rPr spc="20" dirty="0"/>
              <a:t> </a:t>
            </a:r>
            <a:r>
              <a:rPr spc="-10" dirty="0"/>
              <a:t>example</a:t>
            </a:r>
          </a:p>
        </p:txBody>
      </p:sp>
      <p:sp>
        <p:nvSpPr>
          <p:cNvPr id="3" name="object 3"/>
          <p:cNvSpPr/>
          <p:nvPr/>
        </p:nvSpPr>
        <p:spPr>
          <a:xfrm>
            <a:off x="1147762" y="1100074"/>
            <a:ext cx="7239000" cy="3448050"/>
          </a:xfrm>
          <a:custGeom>
            <a:avLst/>
            <a:gdLst/>
            <a:ahLst/>
            <a:cxnLst/>
            <a:rect l="l" t="t" r="r" b="b"/>
            <a:pathLst>
              <a:path w="7239000" h="3448050">
                <a:moveTo>
                  <a:pt x="0" y="3448050"/>
                </a:moveTo>
                <a:lnTo>
                  <a:pt x="7239000" y="3448050"/>
                </a:lnTo>
                <a:lnTo>
                  <a:pt x="7239000" y="0"/>
                </a:lnTo>
                <a:lnTo>
                  <a:pt x="0" y="0"/>
                </a:lnTo>
                <a:lnTo>
                  <a:pt x="0" y="3448050"/>
                </a:lnTo>
                <a:close/>
              </a:path>
            </a:pathLst>
          </a:custGeom>
          <a:ln w="9525">
            <a:solidFill>
              <a:srgbClr val="4F81BC"/>
            </a:solidFill>
          </a:ln>
        </p:spPr>
        <p:txBody>
          <a:bodyPr wrap="square" lIns="0" tIns="0" rIns="0" bIns="0" rtlCol="0"/>
          <a:lstStyle/>
          <a:p>
            <a:endParaRPr/>
          </a:p>
        </p:txBody>
      </p:sp>
      <p:sp>
        <p:nvSpPr>
          <p:cNvPr id="4" name="object 4"/>
          <p:cNvSpPr txBox="1"/>
          <p:nvPr/>
        </p:nvSpPr>
        <p:spPr>
          <a:xfrm>
            <a:off x="1235710" y="1044638"/>
            <a:ext cx="5908040" cy="788670"/>
          </a:xfrm>
          <a:prstGeom prst="rect">
            <a:avLst/>
          </a:prstGeom>
        </p:spPr>
        <p:txBody>
          <a:bodyPr vert="horz" wrap="square" lIns="0" tIns="12065" rIns="0" bIns="0" rtlCol="0">
            <a:spAutoFit/>
          </a:bodyPr>
          <a:lstStyle/>
          <a:p>
            <a:pPr marL="457834" marR="5080" indent="-457834">
              <a:lnSpc>
                <a:spcPct val="125200"/>
              </a:lnSpc>
              <a:spcBef>
                <a:spcPts val="95"/>
              </a:spcBef>
              <a:tabLst>
                <a:tab pos="3309620" algn="l"/>
              </a:tabLst>
            </a:pPr>
            <a:r>
              <a:rPr sz="2000" dirty="0">
                <a:latin typeface="Times New Roman"/>
                <a:cs typeface="Times New Roman"/>
              </a:rPr>
              <a:t>void</a:t>
            </a:r>
            <a:r>
              <a:rPr sz="2000" spc="465" dirty="0">
                <a:latin typeface="Times New Roman"/>
                <a:cs typeface="Times New Roman"/>
              </a:rPr>
              <a:t> </a:t>
            </a:r>
            <a:r>
              <a:rPr sz="2000" dirty="0">
                <a:latin typeface="Times New Roman"/>
                <a:cs typeface="Times New Roman"/>
              </a:rPr>
              <a:t>func(</a:t>
            </a:r>
            <a:r>
              <a:rPr sz="2000" spc="10" dirty="0">
                <a:latin typeface="Times New Roman"/>
                <a:cs typeface="Times New Roman"/>
              </a:rPr>
              <a:t> </a:t>
            </a:r>
            <a:r>
              <a:rPr sz="2000" dirty="0">
                <a:latin typeface="Times New Roman"/>
                <a:cs typeface="Times New Roman"/>
              </a:rPr>
              <a:t>char</a:t>
            </a:r>
            <a:r>
              <a:rPr sz="2000" spc="-60" dirty="0">
                <a:latin typeface="Times New Roman"/>
                <a:cs typeface="Times New Roman"/>
              </a:rPr>
              <a:t> </a:t>
            </a:r>
            <a:r>
              <a:rPr sz="2000" dirty="0">
                <a:latin typeface="Times New Roman"/>
                <a:cs typeface="Times New Roman"/>
              </a:rPr>
              <a:t>*buf1,</a:t>
            </a:r>
            <a:r>
              <a:rPr sz="2000" spc="25" dirty="0">
                <a:latin typeface="Times New Roman"/>
                <a:cs typeface="Times New Roman"/>
              </a:rPr>
              <a:t> </a:t>
            </a:r>
            <a:r>
              <a:rPr sz="2000" spc="-10" dirty="0">
                <a:latin typeface="Times New Roman"/>
                <a:cs typeface="Times New Roman"/>
              </a:rPr>
              <a:t>*buf2,</a:t>
            </a:r>
            <a:r>
              <a:rPr sz="2000" dirty="0">
                <a:latin typeface="Times New Roman"/>
                <a:cs typeface="Times New Roman"/>
              </a:rPr>
              <a:t>	unsigned</a:t>
            </a:r>
            <a:r>
              <a:rPr sz="2000" spc="-40" dirty="0">
                <a:latin typeface="Times New Roman"/>
                <a:cs typeface="Times New Roman"/>
              </a:rPr>
              <a:t> </a:t>
            </a:r>
            <a:r>
              <a:rPr sz="2000" dirty="0">
                <a:latin typeface="Times New Roman"/>
                <a:cs typeface="Times New Roman"/>
              </a:rPr>
              <a:t>int</a:t>
            </a:r>
            <a:r>
              <a:rPr sz="2000" spc="-35" dirty="0">
                <a:latin typeface="Times New Roman"/>
                <a:cs typeface="Times New Roman"/>
              </a:rPr>
              <a:t> </a:t>
            </a:r>
            <a:r>
              <a:rPr sz="2000" dirty="0">
                <a:latin typeface="Times New Roman"/>
                <a:cs typeface="Times New Roman"/>
              </a:rPr>
              <a:t>len1,</a:t>
            </a:r>
            <a:r>
              <a:rPr sz="2000" spc="-35" dirty="0">
                <a:latin typeface="Times New Roman"/>
                <a:cs typeface="Times New Roman"/>
              </a:rPr>
              <a:t> </a:t>
            </a:r>
            <a:r>
              <a:rPr sz="2000" dirty="0">
                <a:latin typeface="Times New Roman"/>
                <a:cs typeface="Times New Roman"/>
              </a:rPr>
              <a:t>len2)</a:t>
            </a:r>
            <a:r>
              <a:rPr sz="2000" spc="25" dirty="0">
                <a:latin typeface="Times New Roman"/>
                <a:cs typeface="Times New Roman"/>
              </a:rPr>
              <a:t> </a:t>
            </a:r>
            <a:r>
              <a:rPr sz="2000" spc="-50" dirty="0">
                <a:latin typeface="Times New Roman"/>
                <a:cs typeface="Times New Roman"/>
              </a:rPr>
              <a:t>{ </a:t>
            </a:r>
            <a:r>
              <a:rPr sz="2000" dirty="0">
                <a:latin typeface="Times New Roman"/>
                <a:cs typeface="Times New Roman"/>
              </a:rPr>
              <a:t>char</a:t>
            </a:r>
            <a:r>
              <a:rPr sz="2000" spc="10" dirty="0">
                <a:latin typeface="Times New Roman"/>
                <a:cs typeface="Times New Roman"/>
              </a:rPr>
              <a:t> </a:t>
            </a:r>
            <a:r>
              <a:rPr sz="2000" spc="-10" dirty="0">
                <a:latin typeface="Times New Roman"/>
                <a:cs typeface="Times New Roman"/>
              </a:rPr>
              <a:t>temp[256];</a:t>
            </a:r>
            <a:endParaRPr sz="2000" dirty="0">
              <a:latin typeface="Times New Roman"/>
              <a:cs typeface="Times New Roman"/>
            </a:endParaRPr>
          </a:p>
        </p:txBody>
      </p:sp>
      <p:sp>
        <p:nvSpPr>
          <p:cNvPr id="5" name="object 5"/>
          <p:cNvSpPr txBox="1"/>
          <p:nvPr/>
        </p:nvSpPr>
        <p:spPr>
          <a:xfrm>
            <a:off x="6269990" y="1807781"/>
            <a:ext cx="1506220" cy="788670"/>
          </a:xfrm>
          <a:prstGeom prst="rect">
            <a:avLst/>
          </a:prstGeom>
        </p:spPr>
        <p:txBody>
          <a:bodyPr vert="horz" wrap="square" lIns="0" tIns="88265" rIns="0" bIns="0" rtlCol="0">
            <a:spAutoFit/>
          </a:bodyPr>
          <a:lstStyle/>
          <a:p>
            <a:pPr>
              <a:lnSpc>
                <a:spcPct val="100000"/>
              </a:lnSpc>
              <a:spcBef>
                <a:spcPts val="695"/>
              </a:spcBef>
            </a:pPr>
            <a:r>
              <a:rPr sz="2000" dirty="0">
                <a:solidFill>
                  <a:srgbClr val="0000FF"/>
                </a:solidFill>
                <a:latin typeface="Times New Roman"/>
                <a:cs typeface="Times New Roman"/>
              </a:rPr>
              <a:t>// length</a:t>
            </a:r>
            <a:r>
              <a:rPr sz="2000" spc="5" dirty="0">
                <a:solidFill>
                  <a:srgbClr val="0000FF"/>
                </a:solidFill>
                <a:latin typeface="Times New Roman"/>
                <a:cs typeface="Times New Roman"/>
              </a:rPr>
              <a:t> </a:t>
            </a:r>
            <a:r>
              <a:rPr sz="2000" spc="-20" dirty="0">
                <a:solidFill>
                  <a:srgbClr val="0000FF"/>
                </a:solidFill>
                <a:latin typeface="Times New Roman"/>
                <a:cs typeface="Times New Roman"/>
              </a:rPr>
              <a:t>check</a:t>
            </a:r>
            <a:endParaRPr sz="2000">
              <a:latin typeface="Times New Roman"/>
              <a:cs typeface="Times New Roman"/>
            </a:endParaRPr>
          </a:p>
          <a:p>
            <a:pPr>
              <a:lnSpc>
                <a:spcPct val="100000"/>
              </a:lnSpc>
              <a:spcBef>
                <a:spcPts val="605"/>
              </a:spcBef>
            </a:pPr>
            <a:r>
              <a:rPr sz="2000" dirty="0">
                <a:solidFill>
                  <a:srgbClr val="0000FF"/>
                </a:solidFill>
                <a:latin typeface="Times New Roman"/>
                <a:cs typeface="Times New Roman"/>
              </a:rPr>
              <a:t>//</a:t>
            </a:r>
            <a:r>
              <a:rPr sz="2000" spc="-15" dirty="0">
                <a:solidFill>
                  <a:srgbClr val="0000FF"/>
                </a:solidFill>
                <a:latin typeface="Times New Roman"/>
                <a:cs typeface="Times New Roman"/>
              </a:rPr>
              <a:t> </a:t>
            </a:r>
            <a:r>
              <a:rPr sz="2000" dirty="0">
                <a:solidFill>
                  <a:srgbClr val="0000FF"/>
                </a:solidFill>
                <a:latin typeface="Times New Roman"/>
                <a:cs typeface="Times New Roman"/>
              </a:rPr>
              <a:t>cat</a:t>
            </a:r>
            <a:r>
              <a:rPr sz="2000" spc="-5" dirty="0">
                <a:solidFill>
                  <a:srgbClr val="0000FF"/>
                </a:solidFill>
                <a:latin typeface="Times New Roman"/>
                <a:cs typeface="Times New Roman"/>
              </a:rPr>
              <a:t> </a:t>
            </a:r>
            <a:r>
              <a:rPr sz="2000" spc="-10" dirty="0">
                <a:solidFill>
                  <a:srgbClr val="0000FF"/>
                </a:solidFill>
                <a:latin typeface="Times New Roman"/>
                <a:cs typeface="Times New Roman"/>
              </a:rPr>
              <a:t>buffers</a:t>
            </a:r>
            <a:endParaRPr sz="2000">
              <a:latin typeface="Times New Roman"/>
              <a:cs typeface="Times New Roman"/>
            </a:endParaRPr>
          </a:p>
        </p:txBody>
      </p:sp>
      <p:sp>
        <p:nvSpPr>
          <p:cNvPr id="6" name="object 6"/>
          <p:cNvSpPr txBox="1"/>
          <p:nvPr/>
        </p:nvSpPr>
        <p:spPr>
          <a:xfrm>
            <a:off x="1693545" y="1807781"/>
            <a:ext cx="3535679" cy="1551940"/>
          </a:xfrm>
          <a:prstGeom prst="rect">
            <a:avLst/>
          </a:prstGeom>
        </p:spPr>
        <p:txBody>
          <a:bodyPr vert="horz" wrap="square" lIns="0" tIns="11430" rIns="0" bIns="0" rtlCol="0">
            <a:spAutoFit/>
          </a:bodyPr>
          <a:lstStyle/>
          <a:p>
            <a:pPr marR="5080">
              <a:lnSpc>
                <a:spcPct val="125200"/>
              </a:lnSpc>
              <a:spcBef>
                <a:spcPts val="90"/>
              </a:spcBef>
              <a:tabLst>
                <a:tab pos="280670" algn="l"/>
              </a:tabLst>
            </a:pPr>
            <a:r>
              <a:rPr sz="2000" spc="-25" dirty="0">
                <a:latin typeface="Times New Roman"/>
                <a:cs typeface="Times New Roman"/>
              </a:rPr>
              <a:t>if</a:t>
            </a:r>
            <a:r>
              <a:rPr sz="2000" dirty="0">
                <a:latin typeface="Times New Roman"/>
                <a:cs typeface="Times New Roman"/>
              </a:rPr>
              <a:t>	</a:t>
            </a:r>
            <a:r>
              <a:rPr sz="2000" b="1" dirty="0">
                <a:solidFill>
                  <a:srgbClr val="0000FF"/>
                </a:solidFill>
                <a:latin typeface="Times New Roman"/>
                <a:cs typeface="Times New Roman"/>
              </a:rPr>
              <a:t>(len1</a:t>
            </a:r>
            <a:r>
              <a:rPr sz="2000" b="1" spc="-10" dirty="0">
                <a:solidFill>
                  <a:srgbClr val="0000FF"/>
                </a:solidFill>
                <a:latin typeface="Times New Roman"/>
                <a:cs typeface="Times New Roman"/>
              </a:rPr>
              <a:t> </a:t>
            </a:r>
            <a:r>
              <a:rPr sz="2000" b="1" dirty="0">
                <a:solidFill>
                  <a:srgbClr val="0000FF"/>
                </a:solidFill>
                <a:latin typeface="Times New Roman"/>
                <a:cs typeface="Times New Roman"/>
              </a:rPr>
              <a:t>+ len2</a:t>
            </a:r>
            <a:r>
              <a:rPr sz="2000" b="1" spc="-10" dirty="0">
                <a:solidFill>
                  <a:srgbClr val="0000FF"/>
                </a:solidFill>
                <a:latin typeface="Times New Roman"/>
                <a:cs typeface="Times New Roman"/>
              </a:rPr>
              <a:t> </a:t>
            </a:r>
            <a:r>
              <a:rPr sz="2000" b="1" dirty="0">
                <a:solidFill>
                  <a:srgbClr val="0000FF"/>
                </a:solidFill>
                <a:latin typeface="Times New Roman"/>
                <a:cs typeface="Times New Roman"/>
              </a:rPr>
              <a:t>&gt; 256)</a:t>
            </a:r>
            <a:r>
              <a:rPr sz="2000" b="1" spc="440" dirty="0">
                <a:solidFill>
                  <a:srgbClr val="0000FF"/>
                </a:solidFill>
                <a:latin typeface="Times New Roman"/>
                <a:cs typeface="Times New Roman"/>
              </a:rPr>
              <a:t> </a:t>
            </a:r>
            <a:r>
              <a:rPr sz="2000" dirty="0">
                <a:latin typeface="Times New Roman"/>
                <a:cs typeface="Times New Roman"/>
              </a:rPr>
              <a:t>{return</a:t>
            </a:r>
            <a:r>
              <a:rPr sz="2000" spc="-15" dirty="0">
                <a:latin typeface="Times New Roman"/>
                <a:cs typeface="Times New Roman"/>
              </a:rPr>
              <a:t> </a:t>
            </a:r>
            <a:r>
              <a:rPr sz="2000" spc="-10" dirty="0">
                <a:latin typeface="Times New Roman"/>
                <a:cs typeface="Times New Roman"/>
              </a:rPr>
              <a:t>-</a:t>
            </a:r>
            <a:r>
              <a:rPr sz="2000" spc="-25" dirty="0">
                <a:latin typeface="Times New Roman"/>
                <a:cs typeface="Times New Roman"/>
              </a:rPr>
              <a:t>1} </a:t>
            </a:r>
            <a:r>
              <a:rPr sz="2000" dirty="0">
                <a:latin typeface="Times New Roman"/>
                <a:cs typeface="Times New Roman"/>
              </a:rPr>
              <a:t>memcpy(temp,</a:t>
            </a:r>
            <a:r>
              <a:rPr sz="2000" spc="-50" dirty="0">
                <a:latin typeface="Times New Roman"/>
                <a:cs typeface="Times New Roman"/>
              </a:rPr>
              <a:t> </a:t>
            </a:r>
            <a:r>
              <a:rPr sz="2000" dirty="0">
                <a:latin typeface="Times New Roman"/>
                <a:cs typeface="Times New Roman"/>
              </a:rPr>
              <a:t>buf1,</a:t>
            </a:r>
            <a:r>
              <a:rPr sz="2000" spc="15" dirty="0">
                <a:latin typeface="Times New Roman"/>
                <a:cs typeface="Times New Roman"/>
              </a:rPr>
              <a:t> </a:t>
            </a:r>
            <a:r>
              <a:rPr sz="2000" spc="-10" dirty="0">
                <a:latin typeface="Times New Roman"/>
                <a:cs typeface="Times New Roman"/>
              </a:rPr>
              <a:t>len1); </a:t>
            </a:r>
            <a:r>
              <a:rPr sz="2000" dirty="0">
                <a:latin typeface="Times New Roman"/>
                <a:cs typeface="Times New Roman"/>
              </a:rPr>
              <a:t>memcpy(temp+len1,</a:t>
            </a:r>
            <a:r>
              <a:rPr sz="2000" spc="-60" dirty="0">
                <a:latin typeface="Times New Roman"/>
                <a:cs typeface="Times New Roman"/>
              </a:rPr>
              <a:t> </a:t>
            </a:r>
            <a:r>
              <a:rPr sz="2000" dirty="0">
                <a:latin typeface="Times New Roman"/>
                <a:cs typeface="Times New Roman"/>
              </a:rPr>
              <a:t>buf2,</a:t>
            </a:r>
            <a:r>
              <a:rPr sz="2000" spc="-55" dirty="0">
                <a:latin typeface="Times New Roman"/>
                <a:cs typeface="Times New Roman"/>
              </a:rPr>
              <a:t> </a:t>
            </a:r>
            <a:r>
              <a:rPr sz="2000" spc="-10" dirty="0">
                <a:latin typeface="Times New Roman"/>
                <a:cs typeface="Times New Roman"/>
              </a:rPr>
              <a:t>len2); do-something(temp);</a:t>
            </a:r>
            <a:endParaRPr sz="2000">
              <a:latin typeface="Times New Roman"/>
              <a:cs typeface="Times New Roman"/>
            </a:endParaRPr>
          </a:p>
        </p:txBody>
      </p:sp>
      <p:sp>
        <p:nvSpPr>
          <p:cNvPr id="7" name="object 7"/>
          <p:cNvSpPr txBox="1"/>
          <p:nvPr/>
        </p:nvSpPr>
        <p:spPr>
          <a:xfrm>
            <a:off x="6269990" y="3024822"/>
            <a:ext cx="995680" cy="334645"/>
          </a:xfrm>
          <a:prstGeom prst="rect">
            <a:avLst/>
          </a:prstGeom>
        </p:spPr>
        <p:txBody>
          <a:bodyPr vert="horz" wrap="square" lIns="0" tIns="15875" rIns="0" bIns="0" rtlCol="0">
            <a:spAutoFit/>
          </a:bodyPr>
          <a:lstStyle/>
          <a:p>
            <a:pPr>
              <a:lnSpc>
                <a:spcPct val="100000"/>
              </a:lnSpc>
              <a:spcBef>
                <a:spcPts val="125"/>
              </a:spcBef>
            </a:pPr>
            <a:r>
              <a:rPr sz="2000" dirty="0">
                <a:solidFill>
                  <a:srgbClr val="0000FF"/>
                </a:solidFill>
                <a:latin typeface="Times New Roman"/>
                <a:cs typeface="Times New Roman"/>
              </a:rPr>
              <a:t>// do</a:t>
            </a:r>
            <a:r>
              <a:rPr sz="2000" spc="5" dirty="0">
                <a:solidFill>
                  <a:srgbClr val="0000FF"/>
                </a:solidFill>
                <a:latin typeface="Times New Roman"/>
                <a:cs typeface="Times New Roman"/>
              </a:rPr>
              <a:t> </a:t>
            </a:r>
            <a:r>
              <a:rPr sz="2000" spc="-10" dirty="0">
                <a:solidFill>
                  <a:srgbClr val="0000FF"/>
                </a:solidFill>
                <a:latin typeface="Times New Roman"/>
                <a:cs typeface="Times New Roman"/>
              </a:rPr>
              <a:t>stuff</a:t>
            </a:r>
            <a:endParaRPr sz="2000">
              <a:latin typeface="Times New Roman"/>
              <a:cs typeface="Times New Roman"/>
            </a:endParaRPr>
          </a:p>
        </p:txBody>
      </p:sp>
      <p:sp>
        <p:nvSpPr>
          <p:cNvPr id="8" name="object 8"/>
          <p:cNvSpPr txBox="1"/>
          <p:nvPr/>
        </p:nvSpPr>
        <p:spPr>
          <a:xfrm>
            <a:off x="1235710" y="3406457"/>
            <a:ext cx="136525" cy="334645"/>
          </a:xfrm>
          <a:prstGeom prst="rect">
            <a:avLst/>
          </a:prstGeom>
        </p:spPr>
        <p:txBody>
          <a:bodyPr vert="horz" wrap="square" lIns="0" tIns="15875" rIns="0" bIns="0" rtlCol="0">
            <a:spAutoFit/>
          </a:bodyPr>
          <a:lstStyle/>
          <a:p>
            <a:pPr>
              <a:lnSpc>
                <a:spcPct val="100000"/>
              </a:lnSpc>
              <a:spcBef>
                <a:spcPts val="125"/>
              </a:spcBef>
            </a:pPr>
            <a:r>
              <a:rPr sz="2000" spc="-50" dirty="0">
                <a:latin typeface="Times New Roman"/>
                <a:cs typeface="Times New Roman"/>
              </a:rPr>
              <a:t>}</a:t>
            </a:r>
            <a:endParaRPr sz="2000">
              <a:latin typeface="Times New Roman"/>
              <a:cs typeface="Times New Roman"/>
            </a:endParaRPr>
          </a:p>
        </p:txBody>
      </p:sp>
      <p:graphicFrame>
        <p:nvGraphicFramePr>
          <p:cNvPr id="9" name="object 9"/>
          <p:cNvGraphicFramePr>
            <a:graphicFrameLocks noGrp="1"/>
          </p:cNvGraphicFramePr>
          <p:nvPr>
            <p:extLst>
              <p:ext uri="{D42A27DB-BD31-4B8C-83A1-F6EECF244321}">
                <p14:modId xmlns:p14="http://schemas.microsoft.com/office/powerpoint/2010/main" val="3519320469"/>
              </p:ext>
            </p:extLst>
          </p:nvPr>
        </p:nvGraphicFramePr>
        <p:xfrm>
          <a:off x="56515" y="4541856"/>
          <a:ext cx="5526405" cy="1233804"/>
        </p:xfrm>
        <a:graphic>
          <a:graphicData uri="http://schemas.openxmlformats.org/drawingml/2006/table">
            <a:tbl>
              <a:tblPr firstRow="1" bandRow="1">
                <a:tableStyleId>{2D5ABB26-0587-4C30-8999-92F81FD0307C}</a:tableStyleId>
              </a:tblPr>
              <a:tblGrid>
                <a:gridCol w="1018540">
                  <a:extLst>
                    <a:ext uri="{9D8B030D-6E8A-4147-A177-3AD203B41FA5}">
                      <a16:colId xmlns:a16="http://schemas.microsoft.com/office/drawing/2014/main" val="20000"/>
                    </a:ext>
                  </a:extLst>
                </a:gridCol>
                <a:gridCol w="4224655">
                  <a:extLst>
                    <a:ext uri="{9D8B030D-6E8A-4147-A177-3AD203B41FA5}">
                      <a16:colId xmlns:a16="http://schemas.microsoft.com/office/drawing/2014/main" val="20001"/>
                    </a:ext>
                  </a:extLst>
                </a:gridCol>
                <a:gridCol w="283210">
                  <a:extLst>
                    <a:ext uri="{9D8B030D-6E8A-4147-A177-3AD203B41FA5}">
                      <a16:colId xmlns:a16="http://schemas.microsoft.com/office/drawing/2014/main" val="20002"/>
                    </a:ext>
                  </a:extLst>
                </a:gridCol>
              </a:tblGrid>
              <a:tr h="368935">
                <a:tc>
                  <a:txBody>
                    <a:bodyPr/>
                    <a:lstStyle/>
                    <a:p>
                      <a:pPr marL="31750">
                        <a:lnSpc>
                          <a:spcPts val="2620"/>
                        </a:lnSpc>
                      </a:pPr>
                      <a:r>
                        <a:rPr sz="2400" dirty="0">
                          <a:latin typeface="Times New Roman"/>
                          <a:cs typeface="Times New Roman"/>
                        </a:rPr>
                        <a:t>What</a:t>
                      </a:r>
                      <a:r>
                        <a:rPr sz="2400" spc="-25" dirty="0">
                          <a:latin typeface="Times New Roman"/>
                          <a:cs typeface="Times New Roman"/>
                        </a:rPr>
                        <a:t> if</a:t>
                      </a:r>
                      <a:endParaRPr sz="2400" dirty="0">
                        <a:latin typeface="Times New Roman"/>
                        <a:cs typeface="Times New Roman"/>
                      </a:endParaRPr>
                    </a:p>
                  </a:txBody>
                  <a:tcPr marL="0" marR="0" marT="0" marB="0"/>
                </a:tc>
                <a:tc>
                  <a:txBody>
                    <a:bodyPr/>
                    <a:lstStyle/>
                    <a:p>
                      <a:pPr marL="163830">
                        <a:lnSpc>
                          <a:spcPts val="2620"/>
                        </a:lnSpc>
                        <a:tabLst>
                          <a:tab pos="2022475" algn="l"/>
                        </a:tabLst>
                      </a:pPr>
                      <a:r>
                        <a:rPr sz="2400" b="1" dirty="0">
                          <a:solidFill>
                            <a:srgbClr val="0000FF"/>
                          </a:solidFill>
                          <a:latin typeface="Times New Roman"/>
                          <a:cs typeface="Times New Roman"/>
                        </a:rPr>
                        <a:t>len1</a:t>
                      </a:r>
                      <a:r>
                        <a:rPr sz="2400" b="1" spc="-10" dirty="0">
                          <a:solidFill>
                            <a:srgbClr val="0000FF"/>
                          </a:solidFill>
                          <a:latin typeface="Times New Roman"/>
                          <a:cs typeface="Times New Roman"/>
                        </a:rPr>
                        <a:t> </a:t>
                      </a:r>
                      <a:r>
                        <a:rPr sz="2400" b="1" dirty="0">
                          <a:solidFill>
                            <a:srgbClr val="0000FF"/>
                          </a:solidFill>
                          <a:latin typeface="Times New Roman"/>
                          <a:cs typeface="Times New Roman"/>
                        </a:rPr>
                        <a:t>=</a:t>
                      </a:r>
                      <a:r>
                        <a:rPr sz="2400" b="1" spc="-25" dirty="0">
                          <a:solidFill>
                            <a:srgbClr val="0000FF"/>
                          </a:solidFill>
                          <a:latin typeface="Times New Roman"/>
                          <a:cs typeface="Times New Roman"/>
                        </a:rPr>
                        <a:t> </a:t>
                      </a:r>
                      <a:r>
                        <a:rPr sz="2400" b="1" spc="-10" dirty="0">
                          <a:solidFill>
                            <a:srgbClr val="0000FF"/>
                          </a:solidFill>
                          <a:latin typeface="Times New Roman"/>
                          <a:cs typeface="Times New Roman"/>
                        </a:rPr>
                        <a:t>0x80,</a:t>
                      </a:r>
                      <a:r>
                        <a:rPr sz="2400" b="1" dirty="0">
                          <a:solidFill>
                            <a:srgbClr val="0000FF"/>
                          </a:solidFill>
                          <a:latin typeface="Times New Roman"/>
                          <a:cs typeface="Times New Roman"/>
                        </a:rPr>
                        <a:t>	len2</a:t>
                      </a:r>
                      <a:r>
                        <a:rPr sz="2400" b="1" spc="-10" dirty="0">
                          <a:solidFill>
                            <a:srgbClr val="0000FF"/>
                          </a:solidFill>
                          <a:latin typeface="Times New Roman"/>
                          <a:cs typeface="Times New Roman"/>
                        </a:rPr>
                        <a:t> </a:t>
                      </a:r>
                      <a:r>
                        <a:rPr sz="2400" b="1" dirty="0">
                          <a:solidFill>
                            <a:srgbClr val="0000FF"/>
                          </a:solidFill>
                          <a:latin typeface="Times New Roman"/>
                          <a:cs typeface="Times New Roman"/>
                        </a:rPr>
                        <a:t>=</a:t>
                      </a:r>
                      <a:r>
                        <a:rPr sz="2400" b="1" spc="-30" dirty="0">
                          <a:solidFill>
                            <a:srgbClr val="0000FF"/>
                          </a:solidFill>
                          <a:latin typeface="Times New Roman"/>
                          <a:cs typeface="Times New Roman"/>
                        </a:rPr>
                        <a:t> </a:t>
                      </a:r>
                      <a:r>
                        <a:rPr sz="2400" b="1" spc="-10" dirty="0">
                          <a:solidFill>
                            <a:srgbClr val="0000FF"/>
                          </a:solidFill>
                          <a:latin typeface="Times New Roman"/>
                          <a:cs typeface="Times New Roman"/>
                        </a:rPr>
                        <a:t>0xffffff80</a:t>
                      </a:r>
                      <a:endParaRPr sz="2400">
                        <a:latin typeface="Times New Roman"/>
                        <a:cs typeface="Times New Roman"/>
                      </a:endParaRPr>
                    </a:p>
                  </a:txBody>
                  <a:tcPr marL="0" marR="0" marT="0" marB="0"/>
                </a:tc>
                <a:tc>
                  <a:txBody>
                    <a:bodyPr/>
                    <a:lstStyle/>
                    <a:p>
                      <a:pPr marL="115570">
                        <a:lnSpc>
                          <a:spcPts val="2620"/>
                        </a:lnSpc>
                      </a:pPr>
                      <a:r>
                        <a:rPr sz="2400" spc="-50" dirty="0">
                          <a:latin typeface="Times New Roman"/>
                          <a:cs typeface="Times New Roman"/>
                        </a:rPr>
                        <a:t>?</a:t>
                      </a:r>
                      <a:endParaRPr sz="2400">
                        <a:latin typeface="Times New Roman"/>
                        <a:cs typeface="Times New Roman"/>
                      </a:endParaRPr>
                    </a:p>
                  </a:txBody>
                  <a:tcPr marL="0" marR="0" marT="0" marB="0"/>
                </a:tc>
                <a:extLst>
                  <a:ext uri="{0D108BD9-81ED-4DB2-BD59-A6C34878D82A}">
                    <a16:rowId xmlns:a16="http://schemas.microsoft.com/office/drawing/2014/main" val="10000"/>
                  </a:ext>
                </a:extLst>
              </a:tr>
              <a:tr h="864869">
                <a:tc>
                  <a:txBody>
                    <a:bodyPr/>
                    <a:lstStyle/>
                    <a:p>
                      <a:pPr marL="641985">
                        <a:lnSpc>
                          <a:spcPts val="2870"/>
                        </a:lnSpc>
                      </a:pPr>
                      <a:r>
                        <a:rPr sz="2400" spc="-50" dirty="0">
                          <a:latin typeface="Cambria Math"/>
                          <a:cs typeface="Cambria Math"/>
                        </a:rPr>
                        <a:t>⇒</a:t>
                      </a:r>
                      <a:endParaRPr sz="2400">
                        <a:latin typeface="Cambria Math"/>
                        <a:cs typeface="Cambria Math"/>
                      </a:endParaRPr>
                    </a:p>
                    <a:p>
                      <a:pPr marL="31750">
                        <a:lnSpc>
                          <a:spcPts val="2820"/>
                        </a:lnSpc>
                        <a:spcBef>
                          <a:spcPts val="1025"/>
                        </a:spcBef>
                      </a:pPr>
                      <a:r>
                        <a:rPr sz="2400" spc="-10" dirty="0">
                          <a:latin typeface="Times New Roman"/>
                          <a:cs typeface="Times New Roman"/>
                        </a:rPr>
                        <a:t>Second</a:t>
                      </a:r>
                      <a:endParaRPr sz="2400">
                        <a:latin typeface="Times New Roman"/>
                        <a:cs typeface="Times New Roman"/>
                      </a:endParaRPr>
                    </a:p>
                  </a:txBody>
                  <a:tcPr marL="0" marR="0" marT="0" marB="0"/>
                </a:tc>
                <a:tc>
                  <a:txBody>
                    <a:bodyPr/>
                    <a:lstStyle/>
                    <a:p>
                      <a:pPr marL="116205">
                        <a:lnSpc>
                          <a:spcPts val="2870"/>
                        </a:lnSpc>
                      </a:pPr>
                      <a:r>
                        <a:rPr sz="2400" dirty="0">
                          <a:latin typeface="Times New Roman"/>
                          <a:cs typeface="Times New Roman"/>
                        </a:rPr>
                        <a:t>len1+len2</a:t>
                      </a:r>
                      <a:r>
                        <a:rPr sz="2400" spc="-20" dirty="0">
                          <a:latin typeface="Times New Roman"/>
                          <a:cs typeface="Times New Roman"/>
                        </a:rPr>
                        <a:t> </a:t>
                      </a:r>
                      <a:r>
                        <a:rPr sz="2400" dirty="0">
                          <a:latin typeface="Times New Roman"/>
                          <a:cs typeface="Times New Roman"/>
                        </a:rPr>
                        <a:t>=</a:t>
                      </a:r>
                      <a:r>
                        <a:rPr sz="2400" spc="-20" dirty="0">
                          <a:latin typeface="Times New Roman"/>
                          <a:cs typeface="Times New Roman"/>
                        </a:rPr>
                        <a:t> </a:t>
                      </a:r>
                      <a:r>
                        <a:rPr sz="2400" spc="-50" dirty="0">
                          <a:latin typeface="Times New Roman"/>
                          <a:cs typeface="Times New Roman"/>
                        </a:rPr>
                        <a:t>0</a:t>
                      </a:r>
                      <a:endParaRPr sz="2400" dirty="0">
                        <a:latin typeface="Times New Roman"/>
                        <a:cs typeface="Times New Roman"/>
                      </a:endParaRPr>
                    </a:p>
                    <a:p>
                      <a:pPr marL="63500">
                        <a:lnSpc>
                          <a:spcPts val="2820"/>
                        </a:lnSpc>
                        <a:spcBef>
                          <a:spcPts val="1025"/>
                        </a:spcBef>
                        <a:tabLst>
                          <a:tab pos="1464310" algn="l"/>
                        </a:tabLst>
                      </a:pPr>
                      <a:r>
                        <a:rPr sz="2400" spc="-10" dirty="0">
                          <a:latin typeface="Times New Roman"/>
                          <a:cs typeface="Times New Roman"/>
                        </a:rPr>
                        <a:t>memcpy()</a:t>
                      </a:r>
                      <a:r>
                        <a:rPr sz="2400" dirty="0">
                          <a:latin typeface="Times New Roman"/>
                          <a:cs typeface="Times New Roman"/>
                        </a:rPr>
                        <a:t>	will</a:t>
                      </a:r>
                      <a:r>
                        <a:rPr sz="2400" spc="-35" dirty="0">
                          <a:latin typeface="Times New Roman"/>
                          <a:cs typeface="Times New Roman"/>
                        </a:rPr>
                        <a:t> </a:t>
                      </a:r>
                      <a:r>
                        <a:rPr sz="2400" dirty="0">
                          <a:latin typeface="Times New Roman"/>
                          <a:cs typeface="Times New Roman"/>
                        </a:rPr>
                        <a:t>overflow</a:t>
                      </a:r>
                      <a:r>
                        <a:rPr sz="2400" spc="15" dirty="0">
                          <a:latin typeface="Times New Roman"/>
                          <a:cs typeface="Times New Roman"/>
                        </a:rPr>
                        <a:t> </a:t>
                      </a:r>
                      <a:r>
                        <a:rPr sz="2400" dirty="0">
                          <a:latin typeface="Times New Roman"/>
                          <a:cs typeface="Times New Roman"/>
                        </a:rPr>
                        <a:t>heap</a:t>
                      </a:r>
                      <a:r>
                        <a:rPr sz="2400" spc="-45" dirty="0">
                          <a:latin typeface="Times New Roman"/>
                          <a:cs typeface="Times New Roman"/>
                        </a:rPr>
                        <a:t> </a:t>
                      </a:r>
                      <a:r>
                        <a:rPr sz="2400" spc="-25" dirty="0">
                          <a:latin typeface="Times New Roman"/>
                          <a:cs typeface="Times New Roman"/>
                        </a:rPr>
                        <a:t>!!</a:t>
                      </a:r>
                      <a:endParaRPr sz="2400" dirty="0">
                        <a:latin typeface="Times New Roman"/>
                        <a:cs typeface="Times New Roman"/>
                      </a:endParaRPr>
                    </a:p>
                  </a:txBody>
                  <a:tcPr marL="0" marR="0" marT="0" marB="0"/>
                </a:tc>
                <a:tc>
                  <a:txBody>
                    <a:bodyPr/>
                    <a:lstStyle/>
                    <a:p>
                      <a:pPr>
                        <a:lnSpc>
                          <a:spcPct val="100000"/>
                        </a:lnSpc>
                      </a:pPr>
                      <a:endParaRPr sz="2100" dirty="0">
                        <a:latin typeface="Times New Roman"/>
                        <a:cs typeface="Times New Roman"/>
                      </a:endParaRPr>
                    </a:p>
                  </a:txBody>
                  <a:tcPr marL="0" marR="0" marT="0" marB="0"/>
                </a:tc>
                <a:extLst>
                  <a:ext uri="{0D108BD9-81ED-4DB2-BD59-A6C34878D82A}">
                    <a16:rowId xmlns:a16="http://schemas.microsoft.com/office/drawing/2014/main" val="10001"/>
                  </a:ext>
                </a:extLst>
              </a:tr>
            </a:tbl>
          </a:graphicData>
        </a:graphic>
      </p:graphicFrame>
      <p:pic>
        <p:nvPicPr>
          <p:cNvPr id="10" name="object 10"/>
          <p:cNvPicPr/>
          <p:nvPr/>
        </p:nvPicPr>
        <p:blipFill>
          <a:blip r:embed="rId2" cstate="print"/>
          <a:stretch>
            <a:fillRect/>
          </a:stretch>
        </p:blipFill>
        <p:spPr>
          <a:xfrm>
            <a:off x="457200" y="6248400"/>
            <a:ext cx="476250" cy="381000"/>
          </a:xfrm>
          <a:prstGeom prst="rect">
            <a:avLst/>
          </a:prstGeom>
        </p:spPr>
      </p:pic>
      <p:sp>
        <p:nvSpPr>
          <p:cNvPr id="11" name="object 11"/>
          <p:cNvSpPr txBox="1">
            <a:spLocks noGrp="1"/>
          </p:cNvSpPr>
          <p:nvPr>
            <p:ph type="ftr" sz="quarter" idx="5"/>
          </p:nvPr>
        </p:nvSpPr>
        <p:spPr>
          <a:prstGeom prst="rect">
            <a:avLst/>
          </a:prstGeom>
        </p:spPr>
        <p:txBody>
          <a:bodyPr vert="horz" wrap="square" lIns="0" tIns="76200" rIns="0" bIns="0" rtlCol="0">
            <a:spAutoFit/>
          </a:bodyPr>
          <a:lstStyle/>
          <a:p>
            <a:pPr marL="165100">
              <a:lnSpc>
                <a:spcPts val="1550"/>
              </a:lnSpc>
            </a:pPr>
            <a:r>
              <a:rPr spc="-180" dirty="0"/>
              <a:t>FAST-</a:t>
            </a:r>
            <a:r>
              <a:rPr spc="-100" dirty="0"/>
              <a:t>NUCES</a:t>
            </a:r>
          </a:p>
        </p:txBody>
      </p:sp>
      <p:sp>
        <p:nvSpPr>
          <p:cNvPr id="13" name="TextBox 12">
            <a:extLst>
              <a:ext uri="{FF2B5EF4-FFF2-40B4-BE49-F238E27FC236}">
                <a16:creationId xmlns:a16="http://schemas.microsoft.com/office/drawing/2014/main" id="{A0365362-1349-6A10-A0B4-2D0D270B7C92}"/>
              </a:ext>
            </a:extLst>
          </p:cNvPr>
          <p:cNvSpPr txBox="1"/>
          <p:nvPr/>
        </p:nvSpPr>
        <p:spPr>
          <a:xfrm>
            <a:off x="5443855" y="4033521"/>
            <a:ext cx="3643630" cy="2862322"/>
          </a:xfrm>
          <a:prstGeom prst="rect">
            <a:avLst/>
          </a:prstGeom>
          <a:noFill/>
        </p:spPr>
        <p:txBody>
          <a:bodyPr wrap="square">
            <a:spAutoFit/>
          </a:bodyPr>
          <a:lstStyle/>
          <a:p>
            <a:pPr marL="285750" indent="-285750">
              <a:buFont typeface="Arial" panose="020B0604020202020204" pitchFamily="34" charset="0"/>
              <a:buChar char="•"/>
            </a:pPr>
            <a:r>
              <a:rPr lang="en-US" dirty="0">
                <a:highlight>
                  <a:srgbClr val="FFFF00"/>
                </a:highlight>
              </a:rPr>
              <a:t>Condition:</a:t>
            </a:r>
            <a:br>
              <a:rPr lang="en-US" dirty="0">
                <a:highlight>
                  <a:srgbClr val="FFFF00"/>
                </a:highlight>
              </a:rPr>
            </a:br>
            <a:r>
              <a:rPr lang="en-US" dirty="0">
                <a:highlight>
                  <a:srgbClr val="FFFF00"/>
                </a:highlight>
                <a:latin typeface="Courier New" panose="02070309020205020404" pitchFamily="49" charset="0"/>
              </a:rPr>
              <a:t>if (len1 + len2 &gt; 256) return -1;</a:t>
            </a:r>
            <a:endParaRPr lang="en-US" dirty="0">
              <a:highlight>
                <a:srgbClr val="FFFF00"/>
              </a:highlight>
            </a:endParaRPr>
          </a:p>
          <a:p>
            <a:pPr marL="285750" indent="-285750">
              <a:buFont typeface="Arial" panose="020B0604020202020204" pitchFamily="34" charset="0"/>
              <a:buChar char="•"/>
            </a:pPr>
            <a:r>
              <a:rPr lang="en-US" dirty="0">
                <a:highlight>
                  <a:srgbClr val="FFFF00"/>
                </a:highlight>
              </a:rPr>
              <a:t>If int overflow occurs → sum becomes small → check passes</a:t>
            </a:r>
          </a:p>
          <a:p>
            <a:pPr marL="285750" indent="-285750">
              <a:buFont typeface="Arial" panose="020B0604020202020204" pitchFamily="34" charset="0"/>
              <a:buChar char="•"/>
            </a:pPr>
            <a:r>
              <a:rPr lang="en-US" dirty="0">
                <a:highlight>
                  <a:srgbClr val="FFFF00"/>
                </a:highlight>
              </a:rPr>
              <a:t>Then </a:t>
            </a:r>
            <a:r>
              <a:rPr lang="en-US" dirty="0" err="1">
                <a:highlight>
                  <a:srgbClr val="FFFF00"/>
                </a:highlight>
                <a:latin typeface="Courier New" panose="02070309020205020404" pitchFamily="49" charset="0"/>
              </a:rPr>
              <a:t>memcpy</a:t>
            </a:r>
            <a:r>
              <a:rPr lang="en-US" dirty="0">
                <a:highlight>
                  <a:srgbClr val="FFFF00"/>
                </a:highlight>
                <a:latin typeface="Courier New" panose="02070309020205020404" pitchFamily="49" charset="0"/>
              </a:rPr>
              <a:t>()</a:t>
            </a:r>
            <a:r>
              <a:rPr lang="en-US" dirty="0">
                <a:highlight>
                  <a:srgbClr val="FFFF00"/>
                </a:highlight>
              </a:rPr>
              <a:t> copies </a:t>
            </a:r>
            <a:r>
              <a:rPr lang="en-US" b="1" dirty="0">
                <a:highlight>
                  <a:srgbClr val="FFFF00"/>
                </a:highlight>
              </a:rPr>
              <a:t>huge data</a:t>
            </a:r>
            <a:r>
              <a:rPr lang="en-US" dirty="0">
                <a:highlight>
                  <a:srgbClr val="FFFF00"/>
                </a:highlight>
              </a:rPr>
              <a:t> → overflow</a:t>
            </a:r>
          </a:p>
          <a:p>
            <a:pPr marL="285750" indent="-285750">
              <a:buFont typeface="Arial" panose="020B0604020202020204" pitchFamily="34" charset="0"/>
              <a:buChar char="•"/>
            </a:pPr>
            <a:r>
              <a:rPr lang="en-US" dirty="0">
                <a:highlight>
                  <a:srgbClr val="FFFF00"/>
                </a:highlight>
              </a:rPr>
              <a:t>Integer overflow often → buffer overflow.</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24175" y="3295015"/>
            <a:ext cx="3456304" cy="575310"/>
          </a:xfrm>
          <a:prstGeom prst="rect">
            <a:avLst/>
          </a:prstGeom>
        </p:spPr>
        <p:txBody>
          <a:bodyPr vert="horz" wrap="square" lIns="0" tIns="13335" rIns="0" bIns="0" rtlCol="0">
            <a:spAutoFit/>
          </a:bodyPr>
          <a:lstStyle/>
          <a:p>
            <a:pPr marL="12700">
              <a:lnSpc>
                <a:spcPct val="100000"/>
              </a:lnSpc>
              <a:spcBef>
                <a:spcPts val="105"/>
              </a:spcBef>
            </a:pPr>
            <a:r>
              <a:rPr u="sng" dirty="0">
                <a:solidFill>
                  <a:srgbClr val="D24717"/>
                </a:solidFill>
                <a:uFill>
                  <a:solidFill>
                    <a:srgbClr val="D24717"/>
                  </a:solidFill>
                </a:uFill>
              </a:rPr>
              <a:t>Format String</a:t>
            </a:r>
            <a:r>
              <a:rPr u="sng" spc="-40" dirty="0">
                <a:solidFill>
                  <a:srgbClr val="D24717"/>
                </a:solidFill>
                <a:uFill>
                  <a:solidFill>
                    <a:srgbClr val="D24717"/>
                  </a:solidFill>
                </a:uFill>
              </a:rPr>
              <a:t> </a:t>
            </a:r>
            <a:r>
              <a:rPr u="sng" spc="-25" dirty="0">
                <a:solidFill>
                  <a:srgbClr val="D24717"/>
                </a:solidFill>
                <a:uFill>
                  <a:solidFill>
                    <a:srgbClr val="D24717"/>
                  </a:solidFill>
                </a:uFill>
              </a:rPr>
              <a:t>Bug</a:t>
            </a:r>
          </a:p>
        </p:txBody>
      </p:sp>
      <p:pic>
        <p:nvPicPr>
          <p:cNvPr id="3" name="object 3"/>
          <p:cNvPicPr/>
          <p:nvPr/>
        </p:nvPicPr>
        <p:blipFill>
          <a:blip r:embed="rId2" cstate="print"/>
          <a:stretch>
            <a:fillRect/>
          </a:stretch>
        </p:blipFill>
        <p:spPr>
          <a:xfrm>
            <a:off x="457200" y="6248400"/>
            <a:ext cx="476250" cy="381000"/>
          </a:xfrm>
          <a:prstGeom prst="rect">
            <a:avLst/>
          </a:prstGeom>
        </p:spPr>
      </p:pic>
      <p:sp>
        <p:nvSpPr>
          <p:cNvPr id="4" name="object 4"/>
          <p:cNvSpPr txBox="1">
            <a:spLocks noGrp="1"/>
          </p:cNvSpPr>
          <p:nvPr>
            <p:ph type="ftr" sz="quarter" idx="5"/>
          </p:nvPr>
        </p:nvSpPr>
        <p:spPr>
          <a:prstGeom prst="rect">
            <a:avLst/>
          </a:prstGeom>
        </p:spPr>
        <p:txBody>
          <a:bodyPr vert="horz" wrap="square" lIns="0" tIns="76200" rIns="0" bIns="0" rtlCol="0">
            <a:spAutoFit/>
          </a:bodyPr>
          <a:lstStyle/>
          <a:p>
            <a:pPr marL="165100">
              <a:lnSpc>
                <a:spcPts val="1550"/>
              </a:lnSpc>
            </a:pPr>
            <a:r>
              <a:rPr spc="-180" dirty="0"/>
              <a:t>FAST-</a:t>
            </a:r>
            <a:r>
              <a:rPr spc="-100" dirty="0"/>
              <a:t>NUCES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
          </p:nvPr>
        </p:nvSpPr>
        <p:spPr>
          <a:xfrm>
            <a:off x="533400" y="990600"/>
            <a:ext cx="8077200" cy="4801314"/>
          </a:xfrm>
        </p:spPr>
        <p:txBody>
          <a:bodyPr/>
          <a:lstStyle/>
          <a:p>
            <a:r>
              <a:rPr lang="en-US" sz="2400" dirty="0"/>
              <a:t>A format string vulnerability is a security flaw that occurs when a</a:t>
            </a:r>
          </a:p>
          <a:p>
            <a:r>
              <a:rPr lang="en-US" sz="2400" dirty="0" err="1"/>
              <a:t>printf</a:t>
            </a:r>
            <a:r>
              <a:rPr lang="en-US" sz="2400" dirty="0"/>
              <a:t> (or similar function, like </a:t>
            </a:r>
            <a:r>
              <a:rPr lang="en-US" sz="2400" dirty="0" err="1"/>
              <a:t>sprintf</a:t>
            </a:r>
            <a:r>
              <a:rPr lang="en-US" sz="2400" dirty="0"/>
              <a:t>, </a:t>
            </a:r>
            <a:r>
              <a:rPr lang="en-US" sz="2400" dirty="0" err="1"/>
              <a:t>fprintf</a:t>
            </a:r>
            <a:r>
              <a:rPr lang="en-US" sz="2400" dirty="0"/>
              <a:t>, etc.) is used with a user-controlled, non-constant string as the format argument without proper handling of additional arguments. </a:t>
            </a:r>
          </a:p>
          <a:p>
            <a:endParaRPr lang="en-US" sz="2400" dirty="0"/>
          </a:p>
          <a:p>
            <a:r>
              <a:rPr lang="en-US" sz="2400" dirty="0"/>
              <a:t>The vulnerability does not lie in the </a:t>
            </a:r>
            <a:r>
              <a:rPr lang="en-US" sz="2400" dirty="0" err="1"/>
              <a:t>specifiers</a:t>
            </a:r>
            <a:r>
              <a:rPr lang="en-US" sz="2400" dirty="0"/>
              <a:t> themselves, but in their misuse, which allows an attacker to control the function's behavior. </a:t>
            </a:r>
            <a:br>
              <a:rPr lang="en-US" sz="2400" dirty="0"/>
            </a:br>
            <a:endParaRPr lang="en-US" sz="2400" dirty="0"/>
          </a:p>
          <a:p>
            <a:r>
              <a:rPr lang="en-US" sz="2400" dirty="0"/>
              <a:t>All format </a:t>
            </a:r>
            <a:r>
              <a:rPr lang="en-US" sz="2400" dirty="0" err="1"/>
              <a:t>specifiers</a:t>
            </a:r>
            <a:r>
              <a:rPr lang="en-US" sz="2400" dirty="0"/>
              <a:t> can be considered "vulnerable" in the context of an exploitable format string bug, as they allow an attacker to read data from the stack if more </a:t>
            </a:r>
            <a:r>
              <a:rPr lang="en-US" sz="2400" dirty="0" err="1"/>
              <a:t>specifiers</a:t>
            </a:r>
            <a:r>
              <a:rPr lang="en-US" sz="2400" dirty="0"/>
              <a:t> are provided than arguments. </a:t>
            </a:r>
          </a:p>
        </p:txBody>
      </p:sp>
    </p:spTree>
    <p:extLst>
      <p:ext uri="{BB962C8B-B14F-4D97-AF65-F5344CB8AC3E}">
        <p14:creationId xmlns:p14="http://schemas.microsoft.com/office/powerpoint/2010/main" val="39427516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
          </p:nvPr>
        </p:nvSpPr>
        <p:spPr>
          <a:xfrm>
            <a:off x="533400" y="685801"/>
            <a:ext cx="8077200" cy="5943599"/>
          </a:xfrm>
        </p:spPr>
        <p:txBody>
          <a:bodyPr/>
          <a:lstStyle/>
          <a:p>
            <a:r>
              <a:rPr lang="en-US" sz="2000" dirty="0"/>
              <a:t>However, some </a:t>
            </a:r>
            <a:r>
              <a:rPr lang="en-US" sz="2000" dirty="0" err="1"/>
              <a:t>specifiers</a:t>
            </a:r>
            <a:r>
              <a:rPr lang="en-US" sz="2000" dirty="0"/>
              <a:t> are particularly dangerous because they allow for more severe exploits: </a:t>
            </a:r>
          </a:p>
          <a:p>
            <a:pPr marL="342900" indent="-342900">
              <a:buFont typeface="Arial" pitchFamily="34" charset="0"/>
              <a:buChar char="•"/>
            </a:pPr>
            <a:r>
              <a:rPr lang="en-US" sz="2000" b="1" dirty="0"/>
              <a:t>%n</a:t>
            </a:r>
            <a:r>
              <a:rPr lang="en-US" sz="2000" dirty="0"/>
              <a:t>: This is the most dangerous </a:t>
            </a:r>
            <a:r>
              <a:rPr lang="en-US" sz="2000" dirty="0" err="1"/>
              <a:t>specifier</a:t>
            </a:r>
            <a:r>
              <a:rPr lang="en-US" sz="2000" dirty="0"/>
              <a:t>. Instead of reading a value, it </a:t>
            </a:r>
            <a:r>
              <a:rPr lang="en-US" sz="2000" b="1" dirty="0"/>
              <a:t>writes</a:t>
            </a:r>
            <a:r>
              <a:rPr lang="en-US" sz="2000" dirty="0"/>
              <a:t> the number of characters printed so far to an integer variable whose address is expected as an argument. This allows an attacker to write arbitrary values to arbitrary memory locations, which can be used to overwrite function pointers or return addresses, leading to </a:t>
            </a:r>
            <a:r>
              <a:rPr lang="en-US" sz="2000" b="1" dirty="0"/>
              <a:t>arbitrary code execution</a:t>
            </a:r>
            <a:r>
              <a:rPr lang="en-US" sz="2000" dirty="0"/>
              <a:t>.</a:t>
            </a:r>
          </a:p>
          <a:p>
            <a:pPr marL="342900" indent="-342900">
              <a:buFont typeface="Arial" pitchFamily="34" charset="0"/>
              <a:buChar char="•"/>
            </a:pPr>
            <a:r>
              <a:rPr lang="en-US" sz="2000" b="1" dirty="0"/>
              <a:t>%x or %p</a:t>
            </a:r>
            <a:r>
              <a:rPr lang="en-US" sz="2000" dirty="0"/>
              <a:t>: These </a:t>
            </a:r>
            <a:r>
              <a:rPr lang="en-US" sz="2000" dirty="0" err="1"/>
              <a:t>specifiers</a:t>
            </a:r>
            <a:r>
              <a:rPr lang="en-US" sz="2000" dirty="0"/>
              <a:t> print data from the stack in hexadecimal format (%p prints a pointer address). Attackers can use multiple of these </a:t>
            </a:r>
            <a:r>
              <a:rPr lang="en-US" sz="2000" dirty="0" err="1"/>
              <a:t>specifiers</a:t>
            </a:r>
            <a:r>
              <a:rPr lang="en-US" sz="2000" dirty="0"/>
              <a:t> (e.g., "%</a:t>
            </a:r>
            <a:r>
              <a:rPr lang="en-US" sz="2000" dirty="0" err="1"/>
              <a:t>x.%x.%x.%x</a:t>
            </a:r>
            <a:r>
              <a:rPr lang="en-US" sz="2000" dirty="0"/>
              <a:t>") to "walk the stack" and </a:t>
            </a:r>
            <a:r>
              <a:rPr lang="en-US" sz="2000" b="1" dirty="0"/>
              <a:t>leak sensitive information</a:t>
            </a:r>
            <a:r>
              <a:rPr lang="en-US" sz="2000" dirty="0"/>
              <a:t> from the program's memory, such as local variables, saved registers, or memory addresses (which can bypass security measures like ASLR).</a:t>
            </a:r>
          </a:p>
          <a:p>
            <a:pPr marL="342900" indent="-342900">
              <a:buFont typeface="Arial" pitchFamily="34" charset="0"/>
              <a:buChar char="•"/>
            </a:pPr>
            <a:r>
              <a:rPr lang="en-US" sz="2000" b="1" dirty="0"/>
              <a:t>%s</a:t>
            </a:r>
            <a:r>
              <a:rPr lang="en-US" sz="2000" dirty="0"/>
              <a:t>: This </a:t>
            </a:r>
            <a:r>
              <a:rPr lang="en-US" sz="2000" dirty="0" err="1"/>
              <a:t>specifier</a:t>
            </a:r>
            <a:r>
              <a:rPr lang="en-US" sz="2000" dirty="0"/>
              <a:t> treats the corresponding argument as a pointer to a string and prints the string at that memory address. An attacker can manipulate the stack to make %s dereference an arbitrary memory address, potentially leading to </a:t>
            </a:r>
            <a:r>
              <a:rPr lang="en-US" sz="2000" b="1" dirty="0"/>
              <a:t>information leaks</a:t>
            </a:r>
            <a:r>
              <a:rPr lang="en-US" sz="2000" dirty="0"/>
              <a:t> or a </a:t>
            </a:r>
            <a:r>
              <a:rPr lang="en-US" sz="2000" b="1" dirty="0"/>
              <a:t>program crash</a:t>
            </a:r>
            <a:r>
              <a:rPr lang="en-US" sz="2000" dirty="0"/>
              <a:t> (segmentation fault) if an invalid address is accessed. </a:t>
            </a:r>
          </a:p>
        </p:txBody>
      </p:sp>
    </p:spTree>
    <p:extLst>
      <p:ext uri="{BB962C8B-B14F-4D97-AF65-F5344CB8AC3E}">
        <p14:creationId xmlns:p14="http://schemas.microsoft.com/office/powerpoint/2010/main" val="31936221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
          </p:nvPr>
        </p:nvSpPr>
        <p:spPr>
          <a:xfrm>
            <a:off x="533400" y="685801"/>
            <a:ext cx="8077200" cy="4616648"/>
          </a:xfrm>
        </p:spPr>
        <p:txBody>
          <a:bodyPr/>
          <a:lstStyle/>
          <a:p>
            <a:r>
              <a:rPr lang="en-US" sz="4000" dirty="0"/>
              <a:t>Mitigation</a:t>
            </a:r>
          </a:p>
          <a:p>
            <a:endParaRPr lang="en-US" sz="2000" dirty="0"/>
          </a:p>
          <a:p>
            <a:r>
              <a:rPr lang="en-US" sz="2000" dirty="0"/>
              <a:t>To prevent format string vulnerabilities, you should:</a:t>
            </a:r>
          </a:p>
          <a:p>
            <a:endParaRPr lang="en-US" sz="2000" dirty="0"/>
          </a:p>
          <a:p>
            <a:pPr marL="342900" indent="-342900">
              <a:buFont typeface="Arial" pitchFamily="34" charset="0"/>
              <a:buChar char="•"/>
            </a:pPr>
            <a:r>
              <a:rPr lang="en-US" sz="2000" b="1" dirty="0"/>
              <a:t>Never use user-provided input directly as the format string</a:t>
            </a:r>
            <a:r>
              <a:rPr lang="en-US" sz="2000" dirty="0"/>
              <a:t> in any </a:t>
            </a:r>
            <a:r>
              <a:rPr lang="en-US" sz="2000" dirty="0" err="1"/>
              <a:t>printf</a:t>
            </a:r>
            <a:r>
              <a:rPr lang="en-US" sz="2000" dirty="0"/>
              <a:t>-family function.</a:t>
            </a:r>
          </a:p>
          <a:p>
            <a:pPr marL="342900" indent="-342900">
              <a:buFont typeface="Arial" pitchFamily="34" charset="0"/>
              <a:buChar char="•"/>
            </a:pPr>
            <a:endParaRPr lang="en-US" sz="2000" dirty="0"/>
          </a:p>
          <a:p>
            <a:pPr marL="342900" indent="-342900">
              <a:buFont typeface="Arial" pitchFamily="34" charset="0"/>
              <a:buChar char="•"/>
            </a:pPr>
            <a:r>
              <a:rPr lang="en-US" sz="2000" b="1" dirty="0"/>
              <a:t>Always use a constant format string</a:t>
            </a:r>
            <a:r>
              <a:rPr lang="en-US" sz="2000" dirty="0"/>
              <a:t> and pass the user input as a separate argument with the %s </a:t>
            </a:r>
            <a:r>
              <a:rPr lang="en-US" sz="2000" dirty="0" err="1"/>
              <a:t>specifier</a:t>
            </a:r>
            <a:r>
              <a:rPr lang="en-US" sz="2000" dirty="0"/>
              <a:t> (e.g., </a:t>
            </a:r>
            <a:r>
              <a:rPr lang="en-US" sz="2000" dirty="0" err="1"/>
              <a:t>printf</a:t>
            </a:r>
            <a:r>
              <a:rPr lang="en-US" sz="2000" dirty="0"/>
              <a:t>("User input: %s\n", </a:t>
            </a:r>
            <a:r>
              <a:rPr lang="en-US" sz="2000" dirty="0" err="1"/>
              <a:t>user_input</a:t>
            </a:r>
            <a:r>
              <a:rPr lang="en-US" sz="2000" dirty="0"/>
              <a:t>);).</a:t>
            </a:r>
          </a:p>
          <a:p>
            <a:pPr marL="342900" indent="-342900">
              <a:buFont typeface="Arial" pitchFamily="34" charset="0"/>
              <a:buChar char="•"/>
            </a:pPr>
            <a:endParaRPr lang="en-US" sz="2000" dirty="0"/>
          </a:p>
          <a:p>
            <a:pPr marL="342900" indent="-342900">
              <a:buFont typeface="Arial" pitchFamily="34" charset="0"/>
              <a:buChar char="•"/>
            </a:pPr>
            <a:r>
              <a:rPr lang="en-US" sz="2000" b="1" dirty="0"/>
              <a:t>Use compiler flags</a:t>
            </a:r>
            <a:r>
              <a:rPr lang="en-US" sz="2000" dirty="0"/>
              <a:t> like -</a:t>
            </a:r>
            <a:r>
              <a:rPr lang="en-US" sz="2000" dirty="0" err="1"/>
              <a:t>Wformat</a:t>
            </a:r>
            <a:r>
              <a:rPr lang="en-US" sz="2000" dirty="0"/>
              <a:t>-security (in GCC or Clang) to get warnings for potential format string issues. </a:t>
            </a:r>
          </a:p>
          <a:p>
            <a:pPr marL="342900" indent="-342900">
              <a:buFont typeface="Arial" pitchFamily="34" charset="0"/>
              <a:buChar char="•"/>
            </a:pPr>
            <a:endParaRPr lang="en-US" sz="2000" dirty="0"/>
          </a:p>
        </p:txBody>
      </p:sp>
    </p:spTree>
    <p:extLst>
      <p:ext uri="{BB962C8B-B14F-4D97-AF65-F5344CB8AC3E}">
        <p14:creationId xmlns:p14="http://schemas.microsoft.com/office/powerpoint/2010/main" val="15903810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93370" rIns="0" bIns="0" rtlCol="0">
            <a:spAutoFit/>
          </a:bodyPr>
          <a:lstStyle/>
          <a:p>
            <a:pPr marL="165100">
              <a:lnSpc>
                <a:spcPct val="100000"/>
              </a:lnSpc>
              <a:spcBef>
                <a:spcPts val="105"/>
              </a:spcBef>
            </a:pPr>
            <a:r>
              <a:rPr dirty="0"/>
              <a:t>Format string</a:t>
            </a:r>
            <a:r>
              <a:rPr spc="-30" dirty="0"/>
              <a:t> </a:t>
            </a:r>
            <a:r>
              <a:rPr spc="-10" dirty="0"/>
              <a:t>problem</a:t>
            </a:r>
          </a:p>
        </p:txBody>
      </p:sp>
      <p:sp>
        <p:nvSpPr>
          <p:cNvPr id="3" name="object 3"/>
          <p:cNvSpPr txBox="1"/>
          <p:nvPr/>
        </p:nvSpPr>
        <p:spPr>
          <a:xfrm>
            <a:off x="536575" y="1146365"/>
            <a:ext cx="8049259" cy="4394200"/>
          </a:xfrm>
          <a:prstGeom prst="rect">
            <a:avLst/>
          </a:prstGeom>
        </p:spPr>
        <p:txBody>
          <a:bodyPr vert="horz" wrap="square" lIns="0" tIns="12700" rIns="0" bIns="0" rtlCol="0">
            <a:spAutoFit/>
          </a:bodyPr>
          <a:lstStyle/>
          <a:p>
            <a:pPr marL="1995805" marR="3323590" indent="-152400">
              <a:lnSpc>
                <a:spcPct val="120000"/>
              </a:lnSpc>
              <a:spcBef>
                <a:spcPts val="100"/>
              </a:spcBef>
              <a:tabLst>
                <a:tab pos="4585335" algn="l"/>
              </a:tabLst>
            </a:pPr>
            <a:r>
              <a:rPr sz="2400" b="1" dirty="0">
                <a:solidFill>
                  <a:srgbClr val="000090"/>
                </a:solidFill>
                <a:latin typeface="Times New Roman"/>
                <a:cs typeface="Times New Roman"/>
              </a:rPr>
              <a:t>int</a:t>
            </a:r>
            <a:r>
              <a:rPr sz="2400" b="1" spc="-35" dirty="0">
                <a:solidFill>
                  <a:srgbClr val="000090"/>
                </a:solidFill>
                <a:latin typeface="Times New Roman"/>
                <a:cs typeface="Times New Roman"/>
              </a:rPr>
              <a:t> </a:t>
            </a:r>
            <a:r>
              <a:rPr sz="2400" b="1" dirty="0">
                <a:solidFill>
                  <a:srgbClr val="000090"/>
                </a:solidFill>
                <a:latin typeface="Times New Roman"/>
                <a:cs typeface="Times New Roman"/>
              </a:rPr>
              <a:t>func(char</a:t>
            </a:r>
            <a:r>
              <a:rPr sz="2400" b="1" spc="-110" dirty="0">
                <a:solidFill>
                  <a:srgbClr val="000090"/>
                </a:solidFill>
                <a:latin typeface="Times New Roman"/>
                <a:cs typeface="Times New Roman"/>
              </a:rPr>
              <a:t> </a:t>
            </a:r>
            <a:r>
              <a:rPr sz="2400" b="1" spc="-10" dirty="0">
                <a:solidFill>
                  <a:srgbClr val="000090"/>
                </a:solidFill>
                <a:latin typeface="Times New Roman"/>
                <a:cs typeface="Times New Roman"/>
              </a:rPr>
              <a:t>*user)</a:t>
            </a:r>
            <a:r>
              <a:rPr sz="2400" b="1" dirty="0">
                <a:solidFill>
                  <a:srgbClr val="000090"/>
                </a:solidFill>
                <a:latin typeface="Times New Roman"/>
                <a:cs typeface="Times New Roman"/>
              </a:rPr>
              <a:t>	</a:t>
            </a:r>
            <a:r>
              <a:rPr sz="2400" b="1" spc="-50" dirty="0">
                <a:solidFill>
                  <a:srgbClr val="000090"/>
                </a:solidFill>
                <a:latin typeface="Times New Roman"/>
                <a:cs typeface="Times New Roman"/>
              </a:rPr>
              <a:t>{ </a:t>
            </a:r>
            <a:r>
              <a:rPr sz="2400" b="1" dirty="0">
                <a:solidFill>
                  <a:srgbClr val="000090"/>
                </a:solidFill>
                <a:latin typeface="Times New Roman"/>
                <a:cs typeface="Times New Roman"/>
              </a:rPr>
              <a:t>fprintf(</a:t>
            </a:r>
            <a:r>
              <a:rPr sz="2400" b="1" spc="-70" dirty="0">
                <a:solidFill>
                  <a:srgbClr val="000090"/>
                </a:solidFill>
                <a:latin typeface="Times New Roman"/>
                <a:cs typeface="Times New Roman"/>
              </a:rPr>
              <a:t> </a:t>
            </a:r>
            <a:r>
              <a:rPr sz="2400" b="1" spc="-25" dirty="0">
                <a:solidFill>
                  <a:srgbClr val="000090"/>
                </a:solidFill>
                <a:latin typeface="Times New Roman"/>
                <a:cs typeface="Times New Roman"/>
              </a:rPr>
              <a:t>stderr,</a:t>
            </a:r>
            <a:r>
              <a:rPr sz="2400" b="1" spc="-65" dirty="0">
                <a:solidFill>
                  <a:srgbClr val="000090"/>
                </a:solidFill>
                <a:latin typeface="Times New Roman"/>
                <a:cs typeface="Times New Roman"/>
              </a:rPr>
              <a:t> </a:t>
            </a:r>
            <a:r>
              <a:rPr sz="2400" b="1" spc="-10" dirty="0">
                <a:solidFill>
                  <a:srgbClr val="000090"/>
                </a:solidFill>
                <a:latin typeface="Times New Roman"/>
                <a:cs typeface="Times New Roman"/>
              </a:rPr>
              <a:t>user);</a:t>
            </a:r>
            <a:endParaRPr sz="2400">
              <a:latin typeface="Times New Roman"/>
              <a:cs typeface="Times New Roman"/>
            </a:endParaRPr>
          </a:p>
          <a:p>
            <a:pPr marL="1843405">
              <a:lnSpc>
                <a:spcPct val="100000"/>
              </a:lnSpc>
              <a:spcBef>
                <a:spcPts val="120"/>
              </a:spcBef>
            </a:pPr>
            <a:r>
              <a:rPr sz="2400" b="1" spc="-50" dirty="0">
                <a:solidFill>
                  <a:srgbClr val="000090"/>
                </a:solidFill>
                <a:latin typeface="Times New Roman"/>
                <a:cs typeface="Times New Roman"/>
              </a:rPr>
              <a:t>}</a:t>
            </a:r>
            <a:endParaRPr sz="2400">
              <a:latin typeface="Times New Roman"/>
              <a:cs typeface="Times New Roman"/>
            </a:endParaRPr>
          </a:p>
          <a:p>
            <a:pPr marL="12700">
              <a:lnSpc>
                <a:spcPct val="100000"/>
              </a:lnSpc>
              <a:spcBef>
                <a:spcPts val="2250"/>
              </a:spcBef>
              <a:tabLst>
                <a:tab pos="1580515" algn="l"/>
                <a:tab pos="2846705" algn="l"/>
                <a:tab pos="7536815" algn="l"/>
              </a:tabLst>
            </a:pPr>
            <a:r>
              <a:rPr sz="2750" u="sng" spc="-10" dirty="0">
                <a:uFill>
                  <a:solidFill>
                    <a:srgbClr val="000000"/>
                  </a:solidFill>
                </a:uFill>
                <a:latin typeface="Times New Roman"/>
                <a:cs typeface="Times New Roman"/>
              </a:rPr>
              <a:t>Problem</a:t>
            </a:r>
            <a:r>
              <a:rPr sz="2750" spc="-10" dirty="0">
                <a:latin typeface="Times New Roman"/>
                <a:cs typeface="Times New Roman"/>
              </a:rPr>
              <a:t>:</a:t>
            </a:r>
            <a:r>
              <a:rPr sz="2750" dirty="0">
                <a:latin typeface="Times New Roman"/>
                <a:cs typeface="Times New Roman"/>
              </a:rPr>
              <a:t>	what</a:t>
            </a:r>
            <a:r>
              <a:rPr sz="2750" spc="85" dirty="0">
                <a:latin typeface="Times New Roman"/>
                <a:cs typeface="Times New Roman"/>
              </a:rPr>
              <a:t> </a:t>
            </a:r>
            <a:r>
              <a:rPr sz="2750" spc="-25" dirty="0">
                <a:latin typeface="Times New Roman"/>
                <a:cs typeface="Times New Roman"/>
              </a:rPr>
              <a:t>if</a:t>
            </a:r>
            <a:r>
              <a:rPr sz="2750" dirty="0">
                <a:latin typeface="Times New Roman"/>
                <a:cs typeface="Times New Roman"/>
              </a:rPr>
              <a:t>	*user</a:t>
            </a:r>
            <a:r>
              <a:rPr sz="2750" spc="60" dirty="0">
                <a:latin typeface="Times New Roman"/>
                <a:cs typeface="Times New Roman"/>
              </a:rPr>
              <a:t> </a:t>
            </a:r>
            <a:r>
              <a:rPr sz="2750" dirty="0">
                <a:latin typeface="Times New Roman"/>
                <a:cs typeface="Times New Roman"/>
              </a:rPr>
              <a:t>=</a:t>
            </a:r>
            <a:r>
              <a:rPr sz="2750" spc="85" dirty="0">
                <a:latin typeface="Times New Roman"/>
                <a:cs typeface="Times New Roman"/>
              </a:rPr>
              <a:t> </a:t>
            </a:r>
            <a:r>
              <a:rPr sz="2750" spc="-10" dirty="0">
                <a:latin typeface="Times New Roman"/>
                <a:cs typeface="Times New Roman"/>
              </a:rPr>
              <a:t>“%s%s%s%s%s%s%s”</a:t>
            </a:r>
            <a:r>
              <a:rPr sz="2750" dirty="0">
                <a:latin typeface="Times New Roman"/>
                <a:cs typeface="Times New Roman"/>
              </a:rPr>
              <a:t>	</a:t>
            </a:r>
            <a:r>
              <a:rPr sz="2750" spc="-25" dirty="0">
                <a:latin typeface="Times New Roman"/>
                <a:cs typeface="Times New Roman"/>
              </a:rPr>
              <a:t>??</a:t>
            </a:r>
            <a:endParaRPr sz="2750">
              <a:latin typeface="Times New Roman"/>
              <a:cs typeface="Times New Roman"/>
            </a:endParaRPr>
          </a:p>
          <a:p>
            <a:pPr marL="561340" indent="-228600">
              <a:lnSpc>
                <a:spcPct val="100000"/>
              </a:lnSpc>
              <a:spcBef>
                <a:spcPts val="1035"/>
              </a:spcBef>
              <a:buClr>
                <a:srgbClr val="9B2C1F"/>
              </a:buClr>
              <a:buSzPct val="83333"/>
              <a:buFont typeface="Segoe UI Symbol"/>
              <a:buChar char="⚫"/>
              <a:tabLst>
                <a:tab pos="561340" algn="l"/>
                <a:tab pos="4650105" algn="l"/>
              </a:tabLst>
            </a:pPr>
            <a:r>
              <a:rPr sz="2400" dirty="0">
                <a:latin typeface="Times New Roman"/>
                <a:cs typeface="Times New Roman"/>
              </a:rPr>
              <a:t>Most</a:t>
            </a:r>
            <a:r>
              <a:rPr sz="2400" spc="-25" dirty="0">
                <a:latin typeface="Times New Roman"/>
                <a:cs typeface="Times New Roman"/>
              </a:rPr>
              <a:t> </a:t>
            </a:r>
            <a:r>
              <a:rPr sz="2400" dirty="0">
                <a:latin typeface="Times New Roman"/>
                <a:cs typeface="Times New Roman"/>
              </a:rPr>
              <a:t>likely</a:t>
            </a:r>
            <a:r>
              <a:rPr sz="2400" spc="-25" dirty="0">
                <a:latin typeface="Times New Roman"/>
                <a:cs typeface="Times New Roman"/>
              </a:rPr>
              <a:t> </a:t>
            </a:r>
            <a:r>
              <a:rPr sz="2400" dirty="0">
                <a:latin typeface="Times New Roman"/>
                <a:cs typeface="Times New Roman"/>
              </a:rPr>
              <a:t>program</a:t>
            </a:r>
            <a:r>
              <a:rPr sz="2400" spc="-25" dirty="0">
                <a:latin typeface="Times New Roman"/>
                <a:cs typeface="Times New Roman"/>
              </a:rPr>
              <a:t> </a:t>
            </a:r>
            <a:r>
              <a:rPr sz="2400" dirty="0">
                <a:latin typeface="Times New Roman"/>
                <a:cs typeface="Times New Roman"/>
              </a:rPr>
              <a:t>will</a:t>
            </a:r>
            <a:r>
              <a:rPr sz="2400" spc="-25" dirty="0">
                <a:latin typeface="Times New Roman"/>
                <a:cs typeface="Times New Roman"/>
              </a:rPr>
              <a:t> </a:t>
            </a:r>
            <a:r>
              <a:rPr sz="2400" spc="-10" dirty="0">
                <a:latin typeface="Times New Roman"/>
                <a:cs typeface="Times New Roman"/>
              </a:rPr>
              <a:t>crash:</a:t>
            </a:r>
            <a:r>
              <a:rPr sz="2400" dirty="0">
                <a:latin typeface="Times New Roman"/>
                <a:cs typeface="Times New Roman"/>
              </a:rPr>
              <a:t>	</a:t>
            </a:r>
            <a:r>
              <a:rPr sz="2400" spc="-20" dirty="0">
                <a:latin typeface="Times New Roman"/>
                <a:cs typeface="Times New Roman"/>
              </a:rPr>
              <a:t>DoS.</a:t>
            </a:r>
            <a:endParaRPr sz="2400">
              <a:latin typeface="Times New Roman"/>
              <a:cs typeface="Times New Roman"/>
            </a:endParaRPr>
          </a:p>
          <a:p>
            <a:pPr marL="561340" indent="-228600">
              <a:lnSpc>
                <a:spcPct val="100000"/>
              </a:lnSpc>
              <a:spcBef>
                <a:spcPts val="1025"/>
              </a:spcBef>
              <a:buClr>
                <a:srgbClr val="9B2C1F"/>
              </a:buClr>
              <a:buSzPct val="83333"/>
              <a:buFont typeface="Segoe UI Symbol"/>
              <a:buChar char="⚫"/>
              <a:tabLst>
                <a:tab pos="561340" algn="l"/>
                <a:tab pos="6026150" algn="l"/>
              </a:tabLst>
            </a:pPr>
            <a:r>
              <a:rPr sz="2400" dirty="0">
                <a:latin typeface="Times New Roman"/>
                <a:cs typeface="Times New Roman"/>
              </a:rPr>
              <a:t>If</a:t>
            </a:r>
            <a:r>
              <a:rPr sz="2400" spc="-75" dirty="0">
                <a:latin typeface="Times New Roman"/>
                <a:cs typeface="Times New Roman"/>
              </a:rPr>
              <a:t> </a:t>
            </a:r>
            <a:r>
              <a:rPr sz="2400" dirty="0">
                <a:latin typeface="Times New Roman"/>
                <a:cs typeface="Times New Roman"/>
              </a:rPr>
              <a:t>not,</a:t>
            </a:r>
            <a:r>
              <a:rPr sz="2400" spc="-10" dirty="0">
                <a:latin typeface="Times New Roman"/>
                <a:cs typeface="Times New Roman"/>
              </a:rPr>
              <a:t> </a:t>
            </a:r>
            <a:r>
              <a:rPr sz="2400" dirty="0">
                <a:latin typeface="Times New Roman"/>
                <a:cs typeface="Times New Roman"/>
              </a:rPr>
              <a:t>program</a:t>
            </a:r>
            <a:r>
              <a:rPr sz="2400" spc="-10" dirty="0">
                <a:latin typeface="Times New Roman"/>
                <a:cs typeface="Times New Roman"/>
              </a:rPr>
              <a:t> </a:t>
            </a:r>
            <a:r>
              <a:rPr sz="2400" dirty="0">
                <a:latin typeface="Times New Roman"/>
                <a:cs typeface="Times New Roman"/>
              </a:rPr>
              <a:t>will</a:t>
            </a:r>
            <a:r>
              <a:rPr sz="2400" spc="-15" dirty="0">
                <a:latin typeface="Times New Roman"/>
                <a:cs typeface="Times New Roman"/>
              </a:rPr>
              <a:t> </a:t>
            </a:r>
            <a:r>
              <a:rPr sz="2400" dirty="0">
                <a:latin typeface="Times New Roman"/>
                <a:cs typeface="Times New Roman"/>
              </a:rPr>
              <a:t>print memory</a:t>
            </a:r>
            <a:r>
              <a:rPr sz="2400" spc="-10" dirty="0">
                <a:latin typeface="Times New Roman"/>
                <a:cs typeface="Times New Roman"/>
              </a:rPr>
              <a:t> contents.</a:t>
            </a:r>
            <a:r>
              <a:rPr sz="2400" dirty="0">
                <a:latin typeface="Times New Roman"/>
                <a:cs typeface="Times New Roman"/>
              </a:rPr>
              <a:t>	</a:t>
            </a:r>
            <a:r>
              <a:rPr sz="2400" spc="-10" dirty="0">
                <a:latin typeface="Times New Roman"/>
                <a:cs typeface="Times New Roman"/>
              </a:rPr>
              <a:t>Privacy?</a:t>
            </a:r>
            <a:endParaRPr sz="2400">
              <a:latin typeface="Times New Roman"/>
              <a:cs typeface="Times New Roman"/>
            </a:endParaRPr>
          </a:p>
          <a:p>
            <a:pPr marL="561340" indent="-228600">
              <a:lnSpc>
                <a:spcPct val="100000"/>
              </a:lnSpc>
              <a:spcBef>
                <a:spcPts val="950"/>
              </a:spcBef>
              <a:buClr>
                <a:srgbClr val="9B2C1F"/>
              </a:buClr>
              <a:buSzPct val="83333"/>
              <a:buFont typeface="Segoe UI Symbol"/>
              <a:buChar char="⚫"/>
              <a:tabLst>
                <a:tab pos="561340" algn="l"/>
                <a:tab pos="2940050" algn="l"/>
              </a:tabLst>
            </a:pPr>
            <a:r>
              <a:rPr sz="2400" dirty="0">
                <a:latin typeface="Times New Roman"/>
                <a:cs typeface="Times New Roman"/>
              </a:rPr>
              <a:t>Full</a:t>
            </a:r>
            <a:r>
              <a:rPr sz="2400" spc="-35" dirty="0">
                <a:latin typeface="Times New Roman"/>
                <a:cs typeface="Times New Roman"/>
              </a:rPr>
              <a:t> </a:t>
            </a:r>
            <a:r>
              <a:rPr sz="2400" dirty="0">
                <a:latin typeface="Times New Roman"/>
                <a:cs typeface="Times New Roman"/>
              </a:rPr>
              <a:t>exploit</a:t>
            </a:r>
            <a:r>
              <a:rPr sz="2400" spc="-45" dirty="0">
                <a:latin typeface="Times New Roman"/>
                <a:cs typeface="Times New Roman"/>
              </a:rPr>
              <a:t> </a:t>
            </a:r>
            <a:r>
              <a:rPr sz="2400" spc="-20" dirty="0">
                <a:latin typeface="Times New Roman"/>
                <a:cs typeface="Times New Roman"/>
              </a:rPr>
              <a:t>using</a:t>
            </a:r>
            <a:r>
              <a:rPr sz="2400" dirty="0">
                <a:latin typeface="Times New Roman"/>
                <a:cs typeface="Times New Roman"/>
              </a:rPr>
              <a:t>	</a:t>
            </a:r>
            <a:r>
              <a:rPr sz="2400" dirty="0">
                <a:solidFill>
                  <a:srgbClr val="000090"/>
                </a:solidFill>
                <a:latin typeface="Times New Roman"/>
                <a:cs typeface="Times New Roman"/>
              </a:rPr>
              <a:t>user</a:t>
            </a:r>
            <a:r>
              <a:rPr sz="2400" spc="-70" dirty="0">
                <a:solidFill>
                  <a:srgbClr val="000090"/>
                </a:solidFill>
                <a:latin typeface="Times New Roman"/>
                <a:cs typeface="Times New Roman"/>
              </a:rPr>
              <a:t> </a:t>
            </a:r>
            <a:r>
              <a:rPr sz="2400" dirty="0">
                <a:solidFill>
                  <a:srgbClr val="000090"/>
                </a:solidFill>
                <a:latin typeface="Times New Roman"/>
                <a:cs typeface="Times New Roman"/>
              </a:rPr>
              <a:t>=</a:t>
            </a:r>
            <a:r>
              <a:rPr sz="2400" spc="-15" dirty="0">
                <a:solidFill>
                  <a:srgbClr val="000090"/>
                </a:solidFill>
                <a:latin typeface="Times New Roman"/>
                <a:cs typeface="Times New Roman"/>
              </a:rPr>
              <a:t> </a:t>
            </a:r>
            <a:r>
              <a:rPr sz="2400" dirty="0">
                <a:solidFill>
                  <a:srgbClr val="000090"/>
                </a:solidFill>
                <a:latin typeface="Times New Roman"/>
                <a:cs typeface="Times New Roman"/>
              </a:rPr>
              <a:t>“%n”</a:t>
            </a:r>
            <a:r>
              <a:rPr sz="2400" spc="-35" dirty="0">
                <a:solidFill>
                  <a:srgbClr val="000090"/>
                </a:solidFill>
                <a:latin typeface="Times New Roman"/>
                <a:cs typeface="Times New Roman"/>
              </a:rPr>
              <a:t> </a:t>
            </a:r>
            <a:r>
              <a:rPr sz="2400" dirty="0">
                <a:solidFill>
                  <a:srgbClr val="000090"/>
                </a:solidFill>
                <a:latin typeface="Times New Roman"/>
                <a:cs typeface="Times New Roman"/>
              </a:rPr>
              <a:t>(directive</a:t>
            </a:r>
            <a:r>
              <a:rPr sz="2400" spc="-30" dirty="0">
                <a:solidFill>
                  <a:srgbClr val="000090"/>
                </a:solidFill>
                <a:latin typeface="Times New Roman"/>
                <a:cs typeface="Times New Roman"/>
              </a:rPr>
              <a:t> </a:t>
            </a:r>
            <a:r>
              <a:rPr sz="2400" dirty="0">
                <a:solidFill>
                  <a:srgbClr val="000090"/>
                </a:solidFill>
                <a:latin typeface="Times New Roman"/>
                <a:cs typeface="Times New Roman"/>
              </a:rPr>
              <a:t>to</a:t>
            </a:r>
            <a:r>
              <a:rPr sz="2400" spc="-15" dirty="0">
                <a:solidFill>
                  <a:srgbClr val="000090"/>
                </a:solidFill>
                <a:latin typeface="Times New Roman"/>
                <a:cs typeface="Times New Roman"/>
              </a:rPr>
              <a:t> </a:t>
            </a:r>
            <a:r>
              <a:rPr sz="2400" dirty="0">
                <a:solidFill>
                  <a:srgbClr val="000090"/>
                </a:solidFill>
                <a:latin typeface="Times New Roman"/>
                <a:cs typeface="Times New Roman"/>
              </a:rPr>
              <a:t>allow</a:t>
            </a:r>
            <a:r>
              <a:rPr sz="2400" spc="45" dirty="0">
                <a:solidFill>
                  <a:srgbClr val="000090"/>
                </a:solidFill>
                <a:latin typeface="Times New Roman"/>
                <a:cs typeface="Times New Roman"/>
              </a:rPr>
              <a:t> </a:t>
            </a:r>
            <a:r>
              <a:rPr sz="2400" dirty="0">
                <a:solidFill>
                  <a:srgbClr val="000090"/>
                </a:solidFill>
                <a:latin typeface="Times New Roman"/>
                <a:cs typeface="Times New Roman"/>
              </a:rPr>
              <a:t>writing</a:t>
            </a:r>
            <a:r>
              <a:rPr sz="2400" spc="-20" dirty="0">
                <a:solidFill>
                  <a:srgbClr val="000090"/>
                </a:solidFill>
                <a:latin typeface="Times New Roman"/>
                <a:cs typeface="Times New Roman"/>
              </a:rPr>
              <a:t> </a:t>
            </a:r>
            <a:r>
              <a:rPr sz="2400" spc="-25" dirty="0">
                <a:solidFill>
                  <a:srgbClr val="000090"/>
                </a:solidFill>
                <a:latin typeface="Times New Roman"/>
                <a:cs typeface="Times New Roman"/>
              </a:rPr>
              <a:t>in</a:t>
            </a:r>
            <a:endParaRPr sz="2400">
              <a:latin typeface="Times New Roman"/>
              <a:cs typeface="Times New Roman"/>
            </a:endParaRPr>
          </a:p>
          <a:p>
            <a:pPr marL="561975">
              <a:lnSpc>
                <a:spcPct val="100000"/>
              </a:lnSpc>
              <a:spcBef>
                <a:spcPts val="45"/>
              </a:spcBef>
            </a:pPr>
            <a:r>
              <a:rPr sz="2400" spc="-10" dirty="0">
                <a:solidFill>
                  <a:srgbClr val="000090"/>
                </a:solidFill>
                <a:latin typeface="Times New Roman"/>
                <a:cs typeface="Times New Roman"/>
              </a:rPr>
              <a:t>memory)</a:t>
            </a:r>
            <a:endParaRPr sz="2400">
              <a:latin typeface="Times New Roman"/>
              <a:cs typeface="Times New Roman"/>
            </a:endParaRPr>
          </a:p>
          <a:p>
            <a:pPr marL="561340" indent="-269875">
              <a:lnSpc>
                <a:spcPct val="100000"/>
              </a:lnSpc>
              <a:spcBef>
                <a:spcPts val="1055"/>
              </a:spcBef>
              <a:buClr>
                <a:srgbClr val="9B2C1F"/>
              </a:buClr>
              <a:buSzPct val="87272"/>
              <a:buFont typeface="Segoe UI Symbol"/>
              <a:buChar char="⚫"/>
              <a:tabLst>
                <a:tab pos="561340" algn="l"/>
              </a:tabLst>
            </a:pPr>
            <a:r>
              <a:rPr sz="2750" u="sng" dirty="0">
                <a:uFill>
                  <a:solidFill>
                    <a:srgbClr val="000000"/>
                  </a:solidFill>
                </a:uFill>
                <a:latin typeface="Times New Roman"/>
                <a:cs typeface="Times New Roman"/>
              </a:rPr>
              <a:t>Correct</a:t>
            </a:r>
            <a:r>
              <a:rPr sz="2750" u="sng" spc="25" dirty="0">
                <a:uFill>
                  <a:solidFill>
                    <a:srgbClr val="000000"/>
                  </a:solidFill>
                </a:uFill>
                <a:latin typeface="Times New Roman"/>
                <a:cs typeface="Times New Roman"/>
              </a:rPr>
              <a:t> </a:t>
            </a:r>
            <a:r>
              <a:rPr sz="2750" u="sng" dirty="0">
                <a:uFill>
                  <a:solidFill>
                    <a:srgbClr val="000000"/>
                  </a:solidFill>
                </a:uFill>
                <a:latin typeface="Times New Roman"/>
                <a:cs typeface="Times New Roman"/>
              </a:rPr>
              <a:t>form</a:t>
            </a:r>
            <a:r>
              <a:rPr sz="2750" u="sng" spc="65" dirty="0">
                <a:uFill>
                  <a:solidFill>
                    <a:srgbClr val="000000"/>
                  </a:solidFill>
                </a:uFill>
                <a:latin typeface="Times New Roman"/>
                <a:cs typeface="Times New Roman"/>
              </a:rPr>
              <a:t> </a:t>
            </a:r>
            <a:r>
              <a:rPr sz="2750" u="sng" dirty="0">
                <a:uFill>
                  <a:solidFill>
                    <a:srgbClr val="000000"/>
                  </a:solidFill>
                </a:uFill>
                <a:latin typeface="Times New Roman"/>
                <a:cs typeface="Times New Roman"/>
              </a:rPr>
              <a:t>(always</a:t>
            </a:r>
            <a:r>
              <a:rPr sz="2750" u="sng" spc="100" dirty="0">
                <a:uFill>
                  <a:solidFill>
                    <a:srgbClr val="000000"/>
                  </a:solidFill>
                </a:uFill>
                <a:latin typeface="Times New Roman"/>
                <a:cs typeface="Times New Roman"/>
              </a:rPr>
              <a:t> </a:t>
            </a:r>
            <a:r>
              <a:rPr sz="2750" u="sng" dirty="0">
                <a:uFill>
                  <a:solidFill>
                    <a:srgbClr val="000000"/>
                  </a:solidFill>
                </a:uFill>
                <a:latin typeface="Times New Roman"/>
                <a:cs typeface="Times New Roman"/>
              </a:rPr>
              <a:t>be</a:t>
            </a:r>
            <a:r>
              <a:rPr sz="2750" u="sng" spc="95" dirty="0">
                <a:uFill>
                  <a:solidFill>
                    <a:srgbClr val="000000"/>
                  </a:solidFill>
                </a:uFill>
                <a:latin typeface="Times New Roman"/>
                <a:cs typeface="Times New Roman"/>
              </a:rPr>
              <a:t> </a:t>
            </a:r>
            <a:r>
              <a:rPr sz="2750" u="sng" dirty="0">
                <a:uFill>
                  <a:solidFill>
                    <a:srgbClr val="000000"/>
                  </a:solidFill>
                </a:uFill>
                <a:latin typeface="Times New Roman"/>
                <a:cs typeface="Times New Roman"/>
              </a:rPr>
              <a:t>explicit</a:t>
            </a:r>
            <a:r>
              <a:rPr sz="2750" u="sng" spc="110" dirty="0">
                <a:uFill>
                  <a:solidFill>
                    <a:srgbClr val="000000"/>
                  </a:solidFill>
                </a:uFill>
                <a:latin typeface="Times New Roman"/>
                <a:cs typeface="Times New Roman"/>
              </a:rPr>
              <a:t> </a:t>
            </a:r>
            <a:r>
              <a:rPr sz="2750" u="sng" dirty="0">
                <a:uFill>
                  <a:solidFill>
                    <a:srgbClr val="000000"/>
                  </a:solidFill>
                </a:uFill>
                <a:latin typeface="Times New Roman"/>
                <a:cs typeface="Times New Roman"/>
              </a:rPr>
              <a:t>about</a:t>
            </a:r>
            <a:r>
              <a:rPr sz="2750" u="sng" spc="35" dirty="0">
                <a:uFill>
                  <a:solidFill>
                    <a:srgbClr val="000000"/>
                  </a:solidFill>
                </a:uFill>
                <a:latin typeface="Times New Roman"/>
                <a:cs typeface="Times New Roman"/>
              </a:rPr>
              <a:t> </a:t>
            </a:r>
            <a:r>
              <a:rPr sz="2750" u="sng" dirty="0">
                <a:uFill>
                  <a:solidFill>
                    <a:srgbClr val="000000"/>
                  </a:solidFill>
                </a:uFill>
                <a:latin typeface="Times New Roman"/>
                <a:cs typeface="Times New Roman"/>
              </a:rPr>
              <a:t>your</a:t>
            </a:r>
            <a:r>
              <a:rPr sz="2750" u="sng" spc="105" dirty="0">
                <a:uFill>
                  <a:solidFill>
                    <a:srgbClr val="000000"/>
                  </a:solidFill>
                </a:uFill>
                <a:latin typeface="Times New Roman"/>
                <a:cs typeface="Times New Roman"/>
              </a:rPr>
              <a:t> </a:t>
            </a:r>
            <a:r>
              <a:rPr sz="2750" u="sng" spc="-10" dirty="0">
                <a:uFill>
                  <a:solidFill>
                    <a:srgbClr val="000000"/>
                  </a:solidFill>
                </a:uFill>
                <a:latin typeface="Times New Roman"/>
                <a:cs typeface="Times New Roman"/>
              </a:rPr>
              <a:t>format</a:t>
            </a:r>
            <a:endParaRPr sz="2750">
              <a:latin typeface="Times New Roman"/>
              <a:cs typeface="Times New Roman"/>
            </a:endParaRPr>
          </a:p>
        </p:txBody>
      </p:sp>
      <p:sp>
        <p:nvSpPr>
          <p:cNvPr id="4" name="object 4"/>
          <p:cNvSpPr txBox="1"/>
          <p:nvPr/>
        </p:nvSpPr>
        <p:spPr>
          <a:xfrm>
            <a:off x="1085850" y="5521007"/>
            <a:ext cx="1142365" cy="448945"/>
          </a:xfrm>
          <a:prstGeom prst="rect">
            <a:avLst/>
          </a:prstGeom>
        </p:spPr>
        <p:txBody>
          <a:bodyPr vert="horz" wrap="square" lIns="0" tIns="15875" rIns="0" bIns="0" rtlCol="0">
            <a:spAutoFit/>
          </a:bodyPr>
          <a:lstStyle/>
          <a:p>
            <a:pPr marL="12700">
              <a:lnSpc>
                <a:spcPct val="100000"/>
              </a:lnSpc>
              <a:spcBef>
                <a:spcPts val="125"/>
              </a:spcBef>
            </a:pPr>
            <a:r>
              <a:rPr sz="2750" u="sng" dirty="0">
                <a:uFill>
                  <a:solidFill>
                    <a:srgbClr val="000000"/>
                  </a:solidFill>
                </a:uFill>
                <a:latin typeface="Times New Roman"/>
                <a:cs typeface="Times New Roman"/>
              </a:rPr>
              <a:t>string</a:t>
            </a:r>
            <a:r>
              <a:rPr sz="2750" u="sng" spc="70" dirty="0">
                <a:uFill>
                  <a:solidFill>
                    <a:srgbClr val="000000"/>
                  </a:solidFill>
                </a:uFill>
                <a:latin typeface="Times New Roman"/>
                <a:cs typeface="Times New Roman"/>
              </a:rPr>
              <a:t> </a:t>
            </a:r>
            <a:r>
              <a:rPr sz="2750" u="sng" spc="-25" dirty="0">
                <a:uFill>
                  <a:solidFill>
                    <a:srgbClr val="000000"/>
                  </a:solidFill>
                </a:uFill>
                <a:latin typeface="Times New Roman"/>
                <a:cs typeface="Times New Roman"/>
              </a:rPr>
              <a:t>)</a:t>
            </a:r>
            <a:r>
              <a:rPr sz="2750" spc="-25" dirty="0">
                <a:latin typeface="Times New Roman"/>
                <a:cs typeface="Times New Roman"/>
              </a:rPr>
              <a:t>:</a:t>
            </a:r>
            <a:endParaRPr sz="2750">
              <a:latin typeface="Times New Roman"/>
              <a:cs typeface="Times New Roman"/>
            </a:endParaRPr>
          </a:p>
        </p:txBody>
      </p:sp>
      <p:sp>
        <p:nvSpPr>
          <p:cNvPr id="5" name="object 5"/>
          <p:cNvSpPr txBox="1"/>
          <p:nvPr/>
        </p:nvSpPr>
        <p:spPr>
          <a:xfrm>
            <a:off x="2635250" y="5568632"/>
            <a:ext cx="3679825" cy="391795"/>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000090"/>
                </a:solidFill>
                <a:latin typeface="Times New Roman"/>
                <a:cs typeface="Times New Roman"/>
              </a:rPr>
              <a:t>fprintf(</a:t>
            </a:r>
            <a:r>
              <a:rPr sz="2400" b="1" spc="-25" dirty="0">
                <a:solidFill>
                  <a:srgbClr val="000090"/>
                </a:solidFill>
                <a:latin typeface="Times New Roman"/>
                <a:cs typeface="Times New Roman"/>
              </a:rPr>
              <a:t> </a:t>
            </a:r>
            <a:r>
              <a:rPr sz="2400" b="1" dirty="0">
                <a:solidFill>
                  <a:srgbClr val="000090"/>
                </a:solidFill>
                <a:latin typeface="Times New Roman"/>
                <a:cs typeface="Times New Roman"/>
              </a:rPr>
              <a:t>stdout,</a:t>
            </a:r>
            <a:r>
              <a:rPr sz="2400" b="1" spc="-20" dirty="0">
                <a:solidFill>
                  <a:srgbClr val="000090"/>
                </a:solidFill>
                <a:latin typeface="Times New Roman"/>
                <a:cs typeface="Times New Roman"/>
              </a:rPr>
              <a:t> </a:t>
            </a:r>
            <a:r>
              <a:rPr sz="2400" b="1" dirty="0">
                <a:solidFill>
                  <a:srgbClr val="000090"/>
                </a:solidFill>
                <a:latin typeface="Times New Roman"/>
                <a:cs typeface="Times New Roman"/>
              </a:rPr>
              <a:t>“%s”,</a:t>
            </a:r>
            <a:r>
              <a:rPr sz="2400" b="1" spc="-25" dirty="0">
                <a:solidFill>
                  <a:srgbClr val="000090"/>
                </a:solidFill>
                <a:latin typeface="Times New Roman"/>
                <a:cs typeface="Times New Roman"/>
              </a:rPr>
              <a:t> </a:t>
            </a:r>
            <a:r>
              <a:rPr sz="2400" b="1" spc="-10" dirty="0">
                <a:solidFill>
                  <a:srgbClr val="000090"/>
                </a:solidFill>
                <a:latin typeface="Times New Roman"/>
                <a:cs typeface="Times New Roman"/>
              </a:rPr>
              <a:t>user);</a:t>
            </a:r>
            <a:endParaRPr sz="2400">
              <a:latin typeface="Times New Roman"/>
              <a:cs typeface="Times New Roman"/>
            </a:endParaRPr>
          </a:p>
        </p:txBody>
      </p:sp>
      <p:pic>
        <p:nvPicPr>
          <p:cNvPr id="6" name="object 6"/>
          <p:cNvPicPr/>
          <p:nvPr/>
        </p:nvPicPr>
        <p:blipFill>
          <a:blip r:embed="rId2" cstate="print"/>
          <a:stretch>
            <a:fillRect/>
          </a:stretch>
        </p:blipFill>
        <p:spPr>
          <a:xfrm>
            <a:off x="457200" y="6248400"/>
            <a:ext cx="476250" cy="381000"/>
          </a:xfrm>
          <a:prstGeom prst="rect">
            <a:avLst/>
          </a:prstGeom>
        </p:spPr>
      </p:pic>
      <p:sp>
        <p:nvSpPr>
          <p:cNvPr id="7" name="object 7"/>
          <p:cNvSpPr txBox="1">
            <a:spLocks noGrp="1"/>
          </p:cNvSpPr>
          <p:nvPr>
            <p:ph type="ftr" sz="quarter" idx="5"/>
          </p:nvPr>
        </p:nvSpPr>
        <p:spPr>
          <a:prstGeom prst="rect">
            <a:avLst/>
          </a:prstGeom>
        </p:spPr>
        <p:txBody>
          <a:bodyPr vert="horz" wrap="square" lIns="0" tIns="76200" rIns="0" bIns="0" rtlCol="0">
            <a:spAutoFit/>
          </a:bodyPr>
          <a:lstStyle/>
          <a:p>
            <a:pPr marL="165100">
              <a:lnSpc>
                <a:spcPts val="1550"/>
              </a:lnSpc>
            </a:pPr>
            <a:r>
              <a:rPr spc="-180" dirty="0"/>
              <a:t>FAST-</a:t>
            </a:r>
            <a:r>
              <a:rPr spc="-100" dirty="0"/>
              <a:t>NUCES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7C5FF-305E-2F25-723F-68A5062184DD}"/>
              </a:ext>
            </a:extLst>
          </p:cNvPr>
          <p:cNvSpPr>
            <a:spLocks noGrp="1"/>
          </p:cNvSpPr>
          <p:nvPr>
            <p:ph type="title"/>
          </p:nvPr>
        </p:nvSpPr>
        <p:spPr>
          <a:xfrm>
            <a:off x="231457" y="90169"/>
            <a:ext cx="7790180" cy="1107996"/>
          </a:xfrm>
        </p:spPr>
        <p:txBody>
          <a:bodyPr/>
          <a:lstStyle/>
          <a:p>
            <a:r>
              <a:rPr lang="en-US" b="1" dirty="0"/>
              <a:t> Format String Problem</a:t>
            </a:r>
            <a:br>
              <a:rPr lang="en-US" b="1" dirty="0"/>
            </a:br>
            <a:endParaRPr lang="en-PK" dirty="0"/>
          </a:p>
        </p:txBody>
      </p:sp>
      <p:sp>
        <p:nvSpPr>
          <p:cNvPr id="3" name="Text Placeholder 2">
            <a:extLst>
              <a:ext uri="{FF2B5EF4-FFF2-40B4-BE49-F238E27FC236}">
                <a16:creationId xmlns:a16="http://schemas.microsoft.com/office/drawing/2014/main" id="{D8872236-A94F-7347-AC0E-16165EE77921}"/>
              </a:ext>
            </a:extLst>
          </p:cNvPr>
          <p:cNvSpPr>
            <a:spLocks noGrp="1"/>
          </p:cNvSpPr>
          <p:nvPr>
            <p:ph type="body" idx="1"/>
          </p:nvPr>
        </p:nvSpPr>
        <p:spPr>
          <a:xfrm>
            <a:off x="381000" y="945514"/>
            <a:ext cx="8130159" cy="5539978"/>
          </a:xfrm>
        </p:spPr>
        <p:txBody>
          <a:bodyPr/>
          <a:lstStyle/>
          <a:p>
            <a:pPr marL="285750" indent="-285750">
              <a:buFont typeface="Arial" panose="020B0604020202020204" pitchFamily="34" charset="0"/>
              <a:buChar char="•"/>
            </a:pPr>
            <a:r>
              <a:rPr lang="en-US" dirty="0"/>
              <a:t>This vulnerability arises from the </a:t>
            </a:r>
            <a:r>
              <a:rPr lang="en-US" b="1" dirty="0"/>
              <a:t>unsafe use of functions</a:t>
            </a:r>
            <a:r>
              <a:rPr lang="en-US" dirty="0"/>
              <a:t> that process format strings (like </a:t>
            </a:r>
            <a:r>
              <a:rPr lang="en-US" dirty="0" err="1"/>
              <a:t>printf</a:t>
            </a:r>
            <a:r>
              <a:rPr lang="en-US" dirty="0"/>
              <a:t>, </a:t>
            </a:r>
            <a:r>
              <a:rPr lang="en-US" dirty="0" err="1"/>
              <a:t>fprintf</a:t>
            </a:r>
            <a:r>
              <a:rPr lang="en-US" dirty="0"/>
              <a:t>, </a:t>
            </a:r>
            <a:r>
              <a:rPr lang="en-US" dirty="0" err="1"/>
              <a:t>sprintf</a:t>
            </a:r>
            <a:r>
              <a:rPr lang="en-US" dirty="0"/>
              <a:t>), where </a:t>
            </a:r>
            <a:r>
              <a:rPr lang="en-US" b="1" dirty="0"/>
              <a:t>user input is used directly as the format string</a:t>
            </a:r>
            <a:r>
              <a:rPr lang="en-US" dirty="0"/>
              <a:t>.</a:t>
            </a:r>
          </a:p>
          <a:p>
            <a:pPr marL="285750" indent="-285750">
              <a:buFont typeface="Arial" panose="020B0604020202020204" pitchFamily="34" charset="0"/>
              <a:buChar char="•"/>
            </a:pPr>
            <a:r>
              <a:rPr lang="en-US" b="1" dirty="0"/>
              <a:t>Vulnerability:</a:t>
            </a:r>
            <a:r>
              <a:rPr lang="en-US" dirty="0"/>
              <a:t> A function call like </a:t>
            </a:r>
            <a:r>
              <a:rPr lang="en-US" dirty="0" err="1"/>
              <a:t>fprintf</a:t>
            </a:r>
            <a:r>
              <a:rPr lang="en-US" dirty="0"/>
              <a:t>(stderr, user); is made where the user variable, which is user-controlled, is used as the </a:t>
            </a:r>
            <a:r>
              <a:rPr lang="en-US" b="1" dirty="0"/>
              <a:t>format string</a:t>
            </a:r>
            <a:r>
              <a:rPr lang="en-US" dirty="0"/>
              <a: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Exploitation:</a:t>
            </a:r>
            <a:endParaRPr lang="en-US" dirty="0"/>
          </a:p>
          <a:p>
            <a:pPr lvl="1"/>
            <a:r>
              <a:rPr lang="en-US" b="1" dirty="0"/>
              <a:t>Denial of Service (DoS):</a:t>
            </a:r>
            <a:r>
              <a:rPr lang="en-US" dirty="0"/>
              <a:t> Using numerous format specifiers (e.g., "%</a:t>
            </a:r>
            <a:r>
              <a:rPr lang="en-US" dirty="0" err="1"/>
              <a:t>s%s%s</a:t>
            </a:r>
            <a:r>
              <a:rPr lang="en-US" dirty="0"/>
              <a:t>...") can cause the program to crash by attempting to read nonexistent memory addresses off the stack.</a:t>
            </a:r>
          </a:p>
          <a:p>
            <a:pPr lvl="1"/>
            <a:r>
              <a:rPr lang="en-US" b="1" dirty="0"/>
              <a:t>Information Leakage:</a:t>
            </a:r>
            <a:r>
              <a:rPr lang="en-US" dirty="0"/>
              <a:t> Specifiers like "%s" or "%x" can print contents from the program's stack memory, potentially revealing sensitive information (passwords, pointers, etc.).</a:t>
            </a:r>
          </a:p>
          <a:p>
            <a:pPr lvl="1"/>
            <a:r>
              <a:rPr lang="en-US" b="1" dirty="0"/>
              <a:t>Arbitrary Write (Full Exploit):</a:t>
            </a:r>
            <a:r>
              <a:rPr lang="en-US" dirty="0"/>
              <a:t> The "%n" format specifier, which writes the number of bytes printed so far back to an address specified on the stack, can be used to </a:t>
            </a:r>
            <a:r>
              <a:rPr lang="en-US" b="1" dirty="0"/>
              <a:t>write arbitrary values to arbitrary memory locations</a:t>
            </a:r>
            <a:r>
              <a:rPr lang="en-US" dirty="0"/>
              <a:t>, leading to the hijacking of program execution flow.</a:t>
            </a:r>
          </a:p>
          <a:p>
            <a:pPr lvl="1"/>
            <a:endParaRPr lang="en-US" dirty="0"/>
          </a:p>
          <a:p>
            <a:pPr marL="285750" indent="-285750">
              <a:buFont typeface="Arial" panose="020B0604020202020204" pitchFamily="34" charset="0"/>
              <a:buChar char="•"/>
            </a:pPr>
            <a:r>
              <a:rPr lang="en-US" b="1" dirty="0"/>
              <a:t>Correction:</a:t>
            </a:r>
            <a:r>
              <a:rPr lang="en-US" dirty="0"/>
              <a:t> Always provide an </a:t>
            </a:r>
            <a:r>
              <a:rPr lang="en-US" b="1" dirty="0"/>
              <a:t>explicit, constant format string</a:t>
            </a:r>
            <a:r>
              <a:rPr lang="en-US" dirty="0"/>
              <a:t> and pass the user input as a separate argument: </a:t>
            </a:r>
            <a:r>
              <a:rPr lang="en-US" dirty="0" err="1"/>
              <a:t>fprintf</a:t>
            </a:r>
            <a:r>
              <a:rPr lang="en-US" dirty="0"/>
              <a:t>(</a:t>
            </a:r>
            <a:r>
              <a:rPr lang="en-US" dirty="0" err="1"/>
              <a:t>stdout</a:t>
            </a:r>
            <a:r>
              <a:rPr lang="en-US" dirty="0"/>
              <a:t>, "%s", user);.</a:t>
            </a:r>
          </a:p>
          <a:p>
            <a:endParaRPr lang="en-PK" dirty="0"/>
          </a:p>
        </p:txBody>
      </p:sp>
    </p:spTree>
    <p:extLst>
      <p:ext uri="{BB962C8B-B14F-4D97-AF65-F5344CB8AC3E}">
        <p14:creationId xmlns:p14="http://schemas.microsoft.com/office/powerpoint/2010/main" val="30860536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88670" rIns="0" bIns="0" rtlCol="0">
            <a:spAutoFit/>
          </a:bodyPr>
          <a:lstStyle/>
          <a:p>
            <a:pPr marL="165100">
              <a:lnSpc>
                <a:spcPct val="100000"/>
              </a:lnSpc>
              <a:spcBef>
                <a:spcPts val="105"/>
              </a:spcBef>
            </a:pPr>
            <a:r>
              <a:rPr spc="-10" dirty="0"/>
              <a:t>Vulnerable</a:t>
            </a:r>
            <a:r>
              <a:rPr spc="-150" dirty="0"/>
              <a:t> </a:t>
            </a:r>
            <a:r>
              <a:rPr spc="-10" dirty="0"/>
              <a:t>functions</a:t>
            </a:r>
          </a:p>
        </p:txBody>
      </p:sp>
      <p:sp>
        <p:nvSpPr>
          <p:cNvPr id="3" name="object 3"/>
          <p:cNvSpPr txBox="1"/>
          <p:nvPr/>
        </p:nvSpPr>
        <p:spPr>
          <a:xfrm>
            <a:off x="536575" y="1396745"/>
            <a:ext cx="4319905" cy="3491865"/>
          </a:xfrm>
          <a:prstGeom prst="rect">
            <a:avLst/>
          </a:prstGeom>
        </p:spPr>
        <p:txBody>
          <a:bodyPr vert="horz" wrap="square" lIns="0" tIns="13335" rIns="0" bIns="0" rtlCol="0">
            <a:spAutoFit/>
          </a:bodyPr>
          <a:lstStyle/>
          <a:p>
            <a:pPr marL="12700">
              <a:lnSpc>
                <a:spcPct val="100000"/>
              </a:lnSpc>
              <a:spcBef>
                <a:spcPts val="105"/>
              </a:spcBef>
            </a:pPr>
            <a:r>
              <a:rPr sz="2400" dirty="0">
                <a:latin typeface="Times New Roman"/>
                <a:cs typeface="Times New Roman"/>
              </a:rPr>
              <a:t>Any</a:t>
            </a:r>
            <a:r>
              <a:rPr sz="2400" spc="-15" dirty="0">
                <a:latin typeface="Times New Roman"/>
                <a:cs typeface="Times New Roman"/>
              </a:rPr>
              <a:t> </a:t>
            </a:r>
            <a:r>
              <a:rPr sz="2400" dirty="0">
                <a:latin typeface="Times New Roman"/>
                <a:cs typeface="Times New Roman"/>
              </a:rPr>
              <a:t>function</a:t>
            </a:r>
            <a:r>
              <a:rPr sz="2400" spc="-15" dirty="0">
                <a:latin typeface="Times New Roman"/>
                <a:cs typeface="Times New Roman"/>
              </a:rPr>
              <a:t> </a:t>
            </a:r>
            <a:r>
              <a:rPr sz="2400" dirty="0">
                <a:latin typeface="Times New Roman"/>
                <a:cs typeface="Times New Roman"/>
              </a:rPr>
              <a:t>using</a:t>
            </a:r>
            <a:r>
              <a:rPr sz="2400" spc="-15" dirty="0">
                <a:latin typeface="Times New Roman"/>
                <a:cs typeface="Times New Roman"/>
              </a:rPr>
              <a:t> </a:t>
            </a:r>
            <a:r>
              <a:rPr sz="2400" dirty="0">
                <a:latin typeface="Times New Roman"/>
                <a:cs typeface="Times New Roman"/>
              </a:rPr>
              <a:t>a</a:t>
            </a:r>
            <a:r>
              <a:rPr sz="2400" spc="-35" dirty="0">
                <a:latin typeface="Times New Roman"/>
                <a:cs typeface="Times New Roman"/>
              </a:rPr>
              <a:t> </a:t>
            </a:r>
            <a:r>
              <a:rPr sz="2400" dirty="0">
                <a:latin typeface="Times New Roman"/>
                <a:cs typeface="Times New Roman"/>
              </a:rPr>
              <a:t>format</a:t>
            </a:r>
            <a:r>
              <a:rPr sz="2400" spc="-85" dirty="0">
                <a:latin typeface="Times New Roman"/>
                <a:cs typeface="Times New Roman"/>
              </a:rPr>
              <a:t> </a:t>
            </a:r>
            <a:r>
              <a:rPr sz="2400" spc="-10" dirty="0">
                <a:latin typeface="Times New Roman"/>
                <a:cs typeface="Times New Roman"/>
              </a:rPr>
              <a:t>string.</a:t>
            </a:r>
            <a:endParaRPr sz="2400">
              <a:latin typeface="Times New Roman"/>
              <a:cs typeface="Times New Roman"/>
            </a:endParaRPr>
          </a:p>
          <a:p>
            <a:pPr>
              <a:lnSpc>
                <a:spcPct val="100000"/>
              </a:lnSpc>
              <a:spcBef>
                <a:spcPts val="1340"/>
              </a:spcBef>
            </a:pPr>
            <a:endParaRPr sz="2400">
              <a:latin typeface="Times New Roman"/>
              <a:cs typeface="Times New Roman"/>
            </a:endParaRPr>
          </a:p>
          <a:p>
            <a:pPr marL="12700">
              <a:lnSpc>
                <a:spcPct val="100000"/>
              </a:lnSpc>
              <a:spcBef>
                <a:spcPts val="5"/>
              </a:spcBef>
            </a:pPr>
            <a:r>
              <a:rPr sz="2400" spc="-10" dirty="0">
                <a:latin typeface="Times New Roman"/>
                <a:cs typeface="Times New Roman"/>
              </a:rPr>
              <a:t>Printing:</a:t>
            </a:r>
            <a:endParaRPr sz="2400">
              <a:latin typeface="Times New Roman"/>
              <a:cs typeface="Times New Roman"/>
            </a:endParaRPr>
          </a:p>
          <a:p>
            <a:pPr marL="287020">
              <a:lnSpc>
                <a:spcPct val="100000"/>
              </a:lnSpc>
              <a:spcBef>
                <a:spcPts val="575"/>
              </a:spcBef>
            </a:pPr>
            <a:r>
              <a:rPr sz="2400" dirty="0">
                <a:latin typeface="Times New Roman"/>
                <a:cs typeface="Times New Roman"/>
              </a:rPr>
              <a:t>printf,</a:t>
            </a:r>
            <a:r>
              <a:rPr sz="2400" spc="-30" dirty="0">
                <a:latin typeface="Times New Roman"/>
                <a:cs typeface="Times New Roman"/>
              </a:rPr>
              <a:t> </a:t>
            </a:r>
            <a:r>
              <a:rPr sz="2400" dirty="0">
                <a:latin typeface="Times New Roman"/>
                <a:cs typeface="Times New Roman"/>
              </a:rPr>
              <a:t>fprintf,</a:t>
            </a:r>
            <a:r>
              <a:rPr sz="2400" spc="-30" dirty="0">
                <a:latin typeface="Times New Roman"/>
                <a:cs typeface="Times New Roman"/>
              </a:rPr>
              <a:t> </a:t>
            </a:r>
            <a:r>
              <a:rPr sz="2400" dirty="0">
                <a:latin typeface="Times New Roman"/>
                <a:cs typeface="Times New Roman"/>
              </a:rPr>
              <a:t>sprintf,</a:t>
            </a:r>
            <a:r>
              <a:rPr sz="2400" spc="-30" dirty="0">
                <a:latin typeface="Times New Roman"/>
                <a:cs typeface="Times New Roman"/>
              </a:rPr>
              <a:t> </a:t>
            </a:r>
            <a:r>
              <a:rPr sz="2400" spc="-50" dirty="0">
                <a:latin typeface="Times New Roman"/>
                <a:cs typeface="Times New Roman"/>
              </a:rPr>
              <a:t>…</a:t>
            </a:r>
            <a:endParaRPr sz="2400">
              <a:latin typeface="Times New Roman"/>
              <a:cs typeface="Times New Roman"/>
            </a:endParaRPr>
          </a:p>
          <a:p>
            <a:pPr marL="287020">
              <a:lnSpc>
                <a:spcPct val="100000"/>
              </a:lnSpc>
              <a:spcBef>
                <a:spcPts val="650"/>
              </a:spcBef>
            </a:pPr>
            <a:r>
              <a:rPr sz="2400" dirty="0">
                <a:latin typeface="Times New Roman"/>
                <a:cs typeface="Times New Roman"/>
              </a:rPr>
              <a:t>vprintf,</a:t>
            </a:r>
            <a:r>
              <a:rPr sz="2400" spc="-25" dirty="0">
                <a:latin typeface="Times New Roman"/>
                <a:cs typeface="Times New Roman"/>
              </a:rPr>
              <a:t> </a:t>
            </a:r>
            <a:r>
              <a:rPr sz="2400" dirty="0">
                <a:latin typeface="Times New Roman"/>
                <a:cs typeface="Times New Roman"/>
              </a:rPr>
              <a:t>vfprintf,</a:t>
            </a:r>
            <a:r>
              <a:rPr sz="2400" spc="-30" dirty="0">
                <a:latin typeface="Times New Roman"/>
                <a:cs typeface="Times New Roman"/>
              </a:rPr>
              <a:t> </a:t>
            </a:r>
            <a:r>
              <a:rPr sz="2400" dirty="0">
                <a:latin typeface="Times New Roman"/>
                <a:cs typeface="Times New Roman"/>
              </a:rPr>
              <a:t>vsprintf,</a:t>
            </a:r>
            <a:r>
              <a:rPr sz="2400" spc="-25" dirty="0">
                <a:latin typeface="Times New Roman"/>
                <a:cs typeface="Times New Roman"/>
              </a:rPr>
              <a:t> </a:t>
            </a:r>
            <a:r>
              <a:rPr sz="2400" spc="-60" dirty="0">
                <a:latin typeface="Times New Roman"/>
                <a:cs typeface="Times New Roman"/>
              </a:rPr>
              <a:t>…</a:t>
            </a:r>
            <a:endParaRPr sz="2400">
              <a:latin typeface="Times New Roman"/>
              <a:cs typeface="Times New Roman"/>
            </a:endParaRPr>
          </a:p>
          <a:p>
            <a:pPr>
              <a:lnSpc>
                <a:spcPct val="100000"/>
              </a:lnSpc>
              <a:spcBef>
                <a:spcPts val="1270"/>
              </a:spcBef>
            </a:pPr>
            <a:endParaRPr sz="2400">
              <a:latin typeface="Times New Roman"/>
              <a:cs typeface="Times New Roman"/>
            </a:endParaRPr>
          </a:p>
          <a:p>
            <a:pPr marL="12700">
              <a:lnSpc>
                <a:spcPct val="100000"/>
              </a:lnSpc>
            </a:pPr>
            <a:r>
              <a:rPr sz="2400" spc="-10" dirty="0">
                <a:latin typeface="Times New Roman"/>
                <a:cs typeface="Times New Roman"/>
              </a:rPr>
              <a:t>Logging:</a:t>
            </a:r>
            <a:endParaRPr sz="2400">
              <a:latin typeface="Times New Roman"/>
              <a:cs typeface="Times New Roman"/>
            </a:endParaRPr>
          </a:p>
          <a:p>
            <a:pPr marL="287020">
              <a:lnSpc>
                <a:spcPct val="100000"/>
              </a:lnSpc>
              <a:spcBef>
                <a:spcPts val="650"/>
              </a:spcBef>
              <a:tabLst>
                <a:tab pos="1296035" algn="l"/>
              </a:tabLst>
            </a:pPr>
            <a:r>
              <a:rPr sz="2400" spc="-10" dirty="0">
                <a:latin typeface="Times New Roman"/>
                <a:cs typeface="Times New Roman"/>
              </a:rPr>
              <a:t>syslog,</a:t>
            </a:r>
            <a:r>
              <a:rPr sz="2400" dirty="0">
                <a:latin typeface="Times New Roman"/>
                <a:cs typeface="Times New Roman"/>
              </a:rPr>
              <a:t>	err,</a:t>
            </a:r>
            <a:r>
              <a:rPr sz="2400" spc="-114" dirty="0">
                <a:latin typeface="Times New Roman"/>
                <a:cs typeface="Times New Roman"/>
              </a:rPr>
              <a:t> </a:t>
            </a:r>
            <a:r>
              <a:rPr sz="2400" spc="-20" dirty="0">
                <a:latin typeface="Times New Roman"/>
                <a:cs typeface="Times New Roman"/>
              </a:rPr>
              <a:t>warn</a:t>
            </a:r>
            <a:endParaRPr sz="2400">
              <a:latin typeface="Times New Roman"/>
              <a:cs typeface="Times New Roman"/>
            </a:endParaRPr>
          </a:p>
        </p:txBody>
      </p:sp>
      <p:pic>
        <p:nvPicPr>
          <p:cNvPr id="4" name="object 4"/>
          <p:cNvPicPr/>
          <p:nvPr/>
        </p:nvPicPr>
        <p:blipFill>
          <a:blip r:embed="rId2" cstate="print"/>
          <a:stretch>
            <a:fillRect/>
          </a:stretch>
        </p:blipFill>
        <p:spPr>
          <a:xfrm>
            <a:off x="457200" y="6248400"/>
            <a:ext cx="476250" cy="381000"/>
          </a:xfrm>
          <a:prstGeom prst="rect">
            <a:avLst/>
          </a:prstGeom>
        </p:spPr>
      </p:pic>
      <p:sp>
        <p:nvSpPr>
          <p:cNvPr id="5" name="object 5"/>
          <p:cNvSpPr txBox="1">
            <a:spLocks noGrp="1"/>
          </p:cNvSpPr>
          <p:nvPr>
            <p:ph type="ftr" sz="quarter" idx="5"/>
          </p:nvPr>
        </p:nvSpPr>
        <p:spPr>
          <a:prstGeom prst="rect">
            <a:avLst/>
          </a:prstGeom>
        </p:spPr>
        <p:txBody>
          <a:bodyPr vert="horz" wrap="square" lIns="0" tIns="76200" rIns="0" bIns="0" rtlCol="0">
            <a:spAutoFit/>
          </a:bodyPr>
          <a:lstStyle/>
          <a:p>
            <a:pPr marL="165100">
              <a:lnSpc>
                <a:spcPts val="1550"/>
              </a:lnSpc>
            </a:pPr>
            <a:r>
              <a:rPr spc="-180" dirty="0"/>
              <a:t>FAST-</a:t>
            </a:r>
            <a:r>
              <a:rPr spc="-100" dirty="0"/>
              <a:t>NUCES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12089" rIns="0" bIns="0" rtlCol="0">
            <a:spAutoFit/>
          </a:bodyPr>
          <a:lstStyle/>
          <a:p>
            <a:pPr marL="241300">
              <a:lnSpc>
                <a:spcPct val="100000"/>
              </a:lnSpc>
              <a:spcBef>
                <a:spcPts val="105"/>
              </a:spcBef>
            </a:pPr>
            <a:r>
              <a:rPr spc="-10" dirty="0"/>
              <a:t>Exploit</a:t>
            </a:r>
          </a:p>
        </p:txBody>
      </p:sp>
      <p:sp>
        <p:nvSpPr>
          <p:cNvPr id="3" name="object 3"/>
          <p:cNvSpPr txBox="1"/>
          <p:nvPr/>
        </p:nvSpPr>
        <p:spPr>
          <a:xfrm>
            <a:off x="383857" y="1050439"/>
            <a:ext cx="6941820" cy="4315460"/>
          </a:xfrm>
          <a:prstGeom prst="rect">
            <a:avLst/>
          </a:prstGeom>
        </p:spPr>
        <p:txBody>
          <a:bodyPr vert="horz" wrap="square" lIns="0" tIns="210185" rIns="0" bIns="0" rtlCol="0">
            <a:spAutoFit/>
          </a:bodyPr>
          <a:lstStyle/>
          <a:p>
            <a:pPr marL="287020" indent="-274320">
              <a:lnSpc>
                <a:spcPct val="100000"/>
              </a:lnSpc>
              <a:spcBef>
                <a:spcPts val="1655"/>
              </a:spcBef>
              <a:buClr>
                <a:srgbClr val="D24717"/>
              </a:buClr>
              <a:buSzPct val="87272"/>
              <a:buFont typeface="Segoe UI Symbol"/>
              <a:buChar char="⚫"/>
              <a:tabLst>
                <a:tab pos="287020" algn="l"/>
              </a:tabLst>
            </a:pPr>
            <a:r>
              <a:rPr sz="2750" dirty="0">
                <a:latin typeface="Times New Roman"/>
                <a:cs typeface="Times New Roman"/>
              </a:rPr>
              <a:t>Dumping</a:t>
            </a:r>
            <a:r>
              <a:rPr sz="2750" spc="140" dirty="0">
                <a:latin typeface="Times New Roman"/>
                <a:cs typeface="Times New Roman"/>
              </a:rPr>
              <a:t> </a:t>
            </a:r>
            <a:r>
              <a:rPr sz="2750" dirty="0">
                <a:latin typeface="Times New Roman"/>
                <a:cs typeface="Times New Roman"/>
              </a:rPr>
              <a:t>arbitrary</a:t>
            </a:r>
            <a:r>
              <a:rPr sz="2750" spc="155" dirty="0">
                <a:latin typeface="Times New Roman"/>
                <a:cs typeface="Times New Roman"/>
              </a:rPr>
              <a:t> </a:t>
            </a:r>
            <a:r>
              <a:rPr sz="2750" spc="-10" dirty="0">
                <a:latin typeface="Times New Roman"/>
                <a:cs typeface="Times New Roman"/>
              </a:rPr>
              <a:t>memory:</a:t>
            </a:r>
            <a:endParaRPr sz="2750">
              <a:latin typeface="Times New Roman"/>
              <a:cs typeface="Times New Roman"/>
            </a:endParaRPr>
          </a:p>
          <a:p>
            <a:pPr marL="561340" lvl="1" indent="-228600">
              <a:lnSpc>
                <a:spcPct val="100000"/>
              </a:lnSpc>
              <a:spcBef>
                <a:spcPts val="1330"/>
              </a:spcBef>
              <a:buClr>
                <a:srgbClr val="9B2C1F"/>
              </a:buClr>
              <a:buSzPct val="83333"/>
              <a:buFont typeface="Segoe UI Symbol"/>
              <a:buChar char="⚫"/>
              <a:tabLst>
                <a:tab pos="561340" algn="l"/>
              </a:tabLst>
            </a:pPr>
            <a:r>
              <a:rPr sz="2400" spc="-20" dirty="0">
                <a:latin typeface="Times New Roman"/>
                <a:cs typeface="Times New Roman"/>
              </a:rPr>
              <a:t>Walk</a:t>
            </a:r>
            <a:r>
              <a:rPr sz="2400" spc="-45" dirty="0">
                <a:latin typeface="Times New Roman"/>
                <a:cs typeface="Times New Roman"/>
              </a:rPr>
              <a:t> </a:t>
            </a:r>
            <a:r>
              <a:rPr sz="2400" dirty="0">
                <a:latin typeface="Times New Roman"/>
                <a:cs typeface="Times New Roman"/>
              </a:rPr>
              <a:t>up</a:t>
            </a:r>
            <a:r>
              <a:rPr sz="2400" spc="-40" dirty="0">
                <a:latin typeface="Times New Roman"/>
                <a:cs typeface="Times New Roman"/>
              </a:rPr>
              <a:t> </a:t>
            </a:r>
            <a:r>
              <a:rPr sz="2400" dirty="0">
                <a:latin typeface="Times New Roman"/>
                <a:cs typeface="Times New Roman"/>
              </a:rPr>
              <a:t>stack</a:t>
            </a:r>
            <a:r>
              <a:rPr sz="2400" spc="-45" dirty="0">
                <a:latin typeface="Times New Roman"/>
                <a:cs typeface="Times New Roman"/>
              </a:rPr>
              <a:t> </a:t>
            </a:r>
            <a:r>
              <a:rPr sz="2400" dirty="0">
                <a:latin typeface="Times New Roman"/>
                <a:cs typeface="Times New Roman"/>
              </a:rPr>
              <a:t>until</a:t>
            </a:r>
            <a:r>
              <a:rPr sz="2400" spc="-40" dirty="0">
                <a:latin typeface="Times New Roman"/>
                <a:cs typeface="Times New Roman"/>
              </a:rPr>
              <a:t> </a:t>
            </a:r>
            <a:r>
              <a:rPr sz="2400" dirty="0">
                <a:latin typeface="Times New Roman"/>
                <a:cs typeface="Times New Roman"/>
              </a:rPr>
              <a:t>desired</a:t>
            </a:r>
            <a:r>
              <a:rPr sz="2400" spc="-45" dirty="0">
                <a:latin typeface="Times New Roman"/>
                <a:cs typeface="Times New Roman"/>
              </a:rPr>
              <a:t> </a:t>
            </a:r>
            <a:r>
              <a:rPr sz="2400" dirty="0">
                <a:latin typeface="Times New Roman"/>
                <a:cs typeface="Times New Roman"/>
              </a:rPr>
              <a:t>pointer</a:t>
            </a:r>
            <a:r>
              <a:rPr sz="2400" spc="-20" dirty="0">
                <a:latin typeface="Times New Roman"/>
                <a:cs typeface="Times New Roman"/>
              </a:rPr>
              <a:t> </a:t>
            </a:r>
            <a:r>
              <a:rPr sz="2400" dirty="0">
                <a:latin typeface="Times New Roman"/>
                <a:cs typeface="Times New Roman"/>
              </a:rPr>
              <a:t>is</a:t>
            </a:r>
            <a:r>
              <a:rPr sz="2400" spc="-10" dirty="0">
                <a:latin typeface="Times New Roman"/>
                <a:cs typeface="Times New Roman"/>
              </a:rPr>
              <a:t> found.</a:t>
            </a:r>
            <a:endParaRPr sz="2400">
              <a:latin typeface="Times New Roman"/>
              <a:cs typeface="Times New Roman"/>
            </a:endParaRPr>
          </a:p>
          <a:p>
            <a:pPr marL="561340" lvl="1" indent="-228600">
              <a:lnSpc>
                <a:spcPct val="100000"/>
              </a:lnSpc>
              <a:spcBef>
                <a:spcPts val="1850"/>
              </a:spcBef>
              <a:buClr>
                <a:srgbClr val="9B2C1F"/>
              </a:buClr>
              <a:buSzPct val="83333"/>
              <a:buFont typeface="Segoe UI Symbol"/>
              <a:buChar char="⚫"/>
              <a:tabLst>
                <a:tab pos="561340" algn="l"/>
              </a:tabLst>
            </a:pPr>
            <a:r>
              <a:rPr sz="2400" dirty="0">
                <a:latin typeface="Times New Roman"/>
                <a:cs typeface="Times New Roman"/>
              </a:rPr>
              <a:t>printf(</a:t>
            </a:r>
            <a:r>
              <a:rPr sz="2400" spc="-10" dirty="0">
                <a:latin typeface="Times New Roman"/>
                <a:cs typeface="Times New Roman"/>
              </a:rPr>
              <a:t> “%08x.%08x.%08x.%08x|%s|”)</a:t>
            </a:r>
            <a:endParaRPr sz="2400">
              <a:latin typeface="Times New Roman"/>
              <a:cs typeface="Times New Roman"/>
            </a:endParaRPr>
          </a:p>
          <a:p>
            <a:pPr lvl="1">
              <a:lnSpc>
                <a:spcPct val="100000"/>
              </a:lnSpc>
              <a:buClr>
                <a:srgbClr val="9B2C1F"/>
              </a:buClr>
              <a:buFont typeface="Segoe UI Symbol"/>
              <a:buChar char="⚫"/>
            </a:pPr>
            <a:endParaRPr sz="2400">
              <a:latin typeface="Times New Roman"/>
              <a:cs typeface="Times New Roman"/>
            </a:endParaRPr>
          </a:p>
          <a:p>
            <a:pPr lvl="1">
              <a:lnSpc>
                <a:spcPct val="100000"/>
              </a:lnSpc>
              <a:spcBef>
                <a:spcPts val="2215"/>
              </a:spcBef>
              <a:buClr>
                <a:srgbClr val="9B2C1F"/>
              </a:buClr>
              <a:buFont typeface="Segoe UI Symbol"/>
              <a:buChar char="⚫"/>
            </a:pPr>
            <a:endParaRPr sz="2400">
              <a:latin typeface="Times New Roman"/>
              <a:cs typeface="Times New Roman"/>
            </a:endParaRPr>
          </a:p>
          <a:p>
            <a:pPr marL="287020" indent="-274320">
              <a:lnSpc>
                <a:spcPct val="100000"/>
              </a:lnSpc>
              <a:spcBef>
                <a:spcPts val="5"/>
              </a:spcBef>
              <a:buClr>
                <a:srgbClr val="D24717"/>
              </a:buClr>
              <a:buSzPct val="87272"/>
              <a:buFont typeface="Segoe UI Symbol"/>
              <a:buChar char="⚫"/>
              <a:tabLst>
                <a:tab pos="287020" algn="l"/>
              </a:tabLst>
            </a:pPr>
            <a:r>
              <a:rPr sz="2750" dirty="0">
                <a:latin typeface="Times New Roman"/>
                <a:cs typeface="Times New Roman"/>
              </a:rPr>
              <a:t>Writing</a:t>
            </a:r>
            <a:r>
              <a:rPr sz="2750" spc="65" dirty="0">
                <a:latin typeface="Times New Roman"/>
                <a:cs typeface="Times New Roman"/>
              </a:rPr>
              <a:t> </a:t>
            </a:r>
            <a:r>
              <a:rPr sz="2750" dirty="0">
                <a:latin typeface="Times New Roman"/>
                <a:cs typeface="Times New Roman"/>
              </a:rPr>
              <a:t>to</a:t>
            </a:r>
            <a:r>
              <a:rPr sz="2750" spc="65" dirty="0">
                <a:latin typeface="Times New Roman"/>
                <a:cs typeface="Times New Roman"/>
              </a:rPr>
              <a:t> </a:t>
            </a:r>
            <a:r>
              <a:rPr sz="2750" dirty="0">
                <a:latin typeface="Times New Roman"/>
                <a:cs typeface="Times New Roman"/>
              </a:rPr>
              <a:t>arbitrary</a:t>
            </a:r>
            <a:r>
              <a:rPr sz="2750" spc="65" dirty="0">
                <a:latin typeface="Times New Roman"/>
                <a:cs typeface="Times New Roman"/>
              </a:rPr>
              <a:t> </a:t>
            </a:r>
            <a:r>
              <a:rPr sz="2750" spc="-10" dirty="0">
                <a:latin typeface="Times New Roman"/>
                <a:cs typeface="Times New Roman"/>
              </a:rPr>
              <a:t>memory:</a:t>
            </a:r>
            <a:endParaRPr sz="2750">
              <a:latin typeface="Times New Roman"/>
              <a:cs typeface="Times New Roman"/>
            </a:endParaRPr>
          </a:p>
          <a:p>
            <a:pPr marL="561340" lvl="1" indent="-228600">
              <a:lnSpc>
                <a:spcPct val="100000"/>
              </a:lnSpc>
              <a:spcBef>
                <a:spcPts val="1330"/>
              </a:spcBef>
              <a:buClr>
                <a:srgbClr val="9B2C1F"/>
              </a:buClr>
              <a:buSzPct val="83333"/>
              <a:buFont typeface="Segoe UI Symbol"/>
              <a:buChar char="⚫"/>
              <a:tabLst>
                <a:tab pos="561340" algn="l"/>
                <a:tab pos="4107179" algn="l"/>
                <a:tab pos="4462780" algn="l"/>
              </a:tabLst>
            </a:pPr>
            <a:r>
              <a:rPr sz="2400" dirty="0">
                <a:latin typeface="Times New Roman"/>
                <a:cs typeface="Times New Roman"/>
              </a:rPr>
              <a:t>printf(</a:t>
            </a:r>
            <a:r>
              <a:rPr sz="2400" spc="10" dirty="0">
                <a:latin typeface="Times New Roman"/>
                <a:cs typeface="Times New Roman"/>
              </a:rPr>
              <a:t> </a:t>
            </a:r>
            <a:r>
              <a:rPr sz="2400" dirty="0">
                <a:latin typeface="Times New Roman"/>
                <a:cs typeface="Times New Roman"/>
              </a:rPr>
              <a:t>“hello</a:t>
            </a:r>
            <a:r>
              <a:rPr sz="2400" spc="-15" dirty="0">
                <a:latin typeface="Times New Roman"/>
                <a:cs typeface="Times New Roman"/>
              </a:rPr>
              <a:t> </a:t>
            </a:r>
            <a:r>
              <a:rPr sz="2400" dirty="0">
                <a:latin typeface="Times New Roman"/>
                <a:cs typeface="Times New Roman"/>
              </a:rPr>
              <a:t>%n”,</a:t>
            </a:r>
            <a:r>
              <a:rPr sz="2400" spc="-10" dirty="0">
                <a:latin typeface="Times New Roman"/>
                <a:cs typeface="Times New Roman"/>
              </a:rPr>
              <a:t> &amp;temp)</a:t>
            </a:r>
            <a:r>
              <a:rPr sz="2400" dirty="0">
                <a:latin typeface="Times New Roman"/>
                <a:cs typeface="Times New Roman"/>
              </a:rPr>
              <a:t>	-</a:t>
            </a:r>
            <a:r>
              <a:rPr sz="2400" spc="-50" dirty="0">
                <a:latin typeface="Times New Roman"/>
                <a:cs typeface="Times New Roman"/>
              </a:rPr>
              <a:t>-</a:t>
            </a:r>
            <a:r>
              <a:rPr sz="2400" dirty="0">
                <a:latin typeface="Times New Roman"/>
                <a:cs typeface="Times New Roman"/>
              </a:rPr>
              <a:t>	writes</a:t>
            </a:r>
            <a:r>
              <a:rPr sz="2400" spc="-45" dirty="0">
                <a:latin typeface="Times New Roman"/>
                <a:cs typeface="Times New Roman"/>
              </a:rPr>
              <a:t> </a:t>
            </a:r>
            <a:r>
              <a:rPr sz="2400" dirty="0">
                <a:latin typeface="Times New Roman"/>
                <a:cs typeface="Times New Roman"/>
              </a:rPr>
              <a:t>‘6’</a:t>
            </a:r>
            <a:r>
              <a:rPr sz="2400" spc="-204" dirty="0">
                <a:latin typeface="Times New Roman"/>
                <a:cs typeface="Times New Roman"/>
              </a:rPr>
              <a:t> </a:t>
            </a:r>
            <a:r>
              <a:rPr sz="2400" dirty="0">
                <a:latin typeface="Times New Roman"/>
                <a:cs typeface="Times New Roman"/>
              </a:rPr>
              <a:t>into</a:t>
            </a:r>
            <a:r>
              <a:rPr sz="2400" spc="-5" dirty="0">
                <a:latin typeface="Times New Roman"/>
                <a:cs typeface="Times New Roman"/>
              </a:rPr>
              <a:t> </a:t>
            </a:r>
            <a:r>
              <a:rPr sz="2400" spc="-10" dirty="0">
                <a:latin typeface="Times New Roman"/>
                <a:cs typeface="Times New Roman"/>
              </a:rPr>
              <a:t>temp.</a:t>
            </a:r>
            <a:endParaRPr sz="2400">
              <a:latin typeface="Times New Roman"/>
              <a:cs typeface="Times New Roman"/>
            </a:endParaRPr>
          </a:p>
          <a:p>
            <a:pPr marL="561340" lvl="1" indent="-228600">
              <a:lnSpc>
                <a:spcPct val="100000"/>
              </a:lnSpc>
              <a:spcBef>
                <a:spcPts val="1850"/>
              </a:spcBef>
              <a:buClr>
                <a:srgbClr val="9B2C1F"/>
              </a:buClr>
              <a:buSzPct val="83333"/>
              <a:buFont typeface="Segoe UI Symbol"/>
              <a:buChar char="⚫"/>
              <a:tabLst>
                <a:tab pos="561340" algn="l"/>
              </a:tabLst>
            </a:pPr>
            <a:r>
              <a:rPr sz="2400" dirty="0">
                <a:latin typeface="Times New Roman"/>
                <a:cs typeface="Times New Roman"/>
              </a:rPr>
              <a:t>printf( </a:t>
            </a:r>
            <a:r>
              <a:rPr sz="2400" spc="-10" dirty="0">
                <a:latin typeface="Times New Roman"/>
                <a:cs typeface="Times New Roman"/>
              </a:rPr>
              <a:t>“%08x.%08x.%08x.%08x.%n”)</a:t>
            </a:r>
            <a:endParaRPr sz="2400">
              <a:latin typeface="Times New Roman"/>
              <a:cs typeface="Times New Roman"/>
            </a:endParaRPr>
          </a:p>
        </p:txBody>
      </p:sp>
      <p:pic>
        <p:nvPicPr>
          <p:cNvPr id="4" name="object 4"/>
          <p:cNvPicPr/>
          <p:nvPr/>
        </p:nvPicPr>
        <p:blipFill>
          <a:blip r:embed="rId2" cstate="print"/>
          <a:stretch>
            <a:fillRect/>
          </a:stretch>
        </p:blipFill>
        <p:spPr>
          <a:xfrm>
            <a:off x="457200" y="6248400"/>
            <a:ext cx="476250" cy="381000"/>
          </a:xfrm>
          <a:prstGeom prst="rect">
            <a:avLst/>
          </a:prstGeom>
        </p:spPr>
      </p:pic>
      <p:sp>
        <p:nvSpPr>
          <p:cNvPr id="5" name="object 5"/>
          <p:cNvSpPr txBox="1">
            <a:spLocks noGrp="1"/>
          </p:cNvSpPr>
          <p:nvPr>
            <p:ph type="ftr" sz="quarter" idx="5"/>
          </p:nvPr>
        </p:nvSpPr>
        <p:spPr>
          <a:prstGeom prst="rect">
            <a:avLst/>
          </a:prstGeom>
        </p:spPr>
        <p:txBody>
          <a:bodyPr vert="horz" wrap="square" lIns="0" tIns="76200" rIns="0" bIns="0" rtlCol="0">
            <a:spAutoFit/>
          </a:bodyPr>
          <a:lstStyle/>
          <a:p>
            <a:pPr marL="165100">
              <a:lnSpc>
                <a:spcPts val="1550"/>
              </a:lnSpc>
            </a:pPr>
            <a:r>
              <a:rPr spc="-180" dirty="0"/>
              <a:t>FAST-</a:t>
            </a:r>
            <a:r>
              <a:rPr spc="-100" dirty="0"/>
              <a:t>NUCES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44E1537-CBFC-DBC8-7FAD-CC6283A0E56B}"/>
              </a:ext>
            </a:extLst>
          </p:cNvPr>
          <p:cNvSpPr txBox="1"/>
          <p:nvPr/>
        </p:nvSpPr>
        <p:spPr>
          <a:xfrm>
            <a:off x="190500" y="796290"/>
            <a:ext cx="7543800" cy="5909310"/>
          </a:xfrm>
          <a:prstGeom prst="rect">
            <a:avLst/>
          </a:prstGeom>
          <a:noFill/>
        </p:spPr>
        <p:txBody>
          <a:bodyPr wrap="square">
            <a:spAutoFit/>
          </a:bodyPr>
          <a:lstStyle/>
          <a:p>
            <a:r>
              <a:rPr lang="en-PK" dirty="0"/>
              <a:t>#include &lt;</a:t>
            </a:r>
            <a:r>
              <a:rPr lang="en-PK" dirty="0" err="1"/>
              <a:t>stdio.h</a:t>
            </a:r>
            <a:r>
              <a:rPr lang="en-PK" dirty="0"/>
              <a:t>&gt;</a:t>
            </a:r>
          </a:p>
          <a:p>
            <a:r>
              <a:rPr lang="en-PK" dirty="0"/>
              <a:t>#include &lt;</a:t>
            </a:r>
            <a:r>
              <a:rPr lang="en-PK" dirty="0" err="1"/>
              <a:t>string.h</a:t>
            </a:r>
            <a:r>
              <a:rPr lang="en-PK" dirty="0"/>
              <a:t>&gt;</a:t>
            </a:r>
          </a:p>
          <a:p>
            <a:endParaRPr lang="en-PK" dirty="0"/>
          </a:p>
          <a:p>
            <a:r>
              <a:rPr lang="en-PK" dirty="0"/>
              <a:t>int main() {</a:t>
            </a:r>
          </a:p>
          <a:p>
            <a:r>
              <a:rPr lang="en-PK" dirty="0"/>
              <a:t>    char name[10];  // Small buffer → overflow possible</a:t>
            </a:r>
          </a:p>
          <a:p>
            <a:r>
              <a:rPr lang="en-PK" dirty="0"/>
              <a:t>    unsigned int days;</a:t>
            </a:r>
          </a:p>
          <a:p>
            <a:endParaRPr lang="en-PK" dirty="0"/>
          </a:p>
          <a:p>
            <a:r>
              <a:rPr lang="en-PK" dirty="0"/>
              <a:t>    </a:t>
            </a:r>
            <a:r>
              <a:rPr lang="en-PK" dirty="0" err="1"/>
              <a:t>printf</a:t>
            </a:r>
            <a:r>
              <a:rPr lang="en-PK" dirty="0"/>
              <a:t>("Enter your name: ");</a:t>
            </a:r>
          </a:p>
          <a:p>
            <a:r>
              <a:rPr lang="en-PK" dirty="0"/>
              <a:t>    gets(name);  // ❌ Buffer Overflow vulnerability</a:t>
            </a:r>
          </a:p>
          <a:p>
            <a:endParaRPr lang="en-PK" dirty="0"/>
          </a:p>
          <a:p>
            <a:r>
              <a:rPr lang="en-PK" dirty="0"/>
              <a:t>    </a:t>
            </a:r>
            <a:r>
              <a:rPr lang="en-PK" dirty="0" err="1"/>
              <a:t>printf</a:t>
            </a:r>
            <a:r>
              <a:rPr lang="en-PK" dirty="0"/>
              <a:t>("Enter attended days: ");</a:t>
            </a:r>
          </a:p>
          <a:p>
            <a:r>
              <a:rPr lang="en-PK" dirty="0"/>
              <a:t>    </a:t>
            </a:r>
            <a:r>
              <a:rPr lang="en-PK" dirty="0" err="1"/>
              <a:t>scanf</a:t>
            </a:r>
            <a:r>
              <a:rPr lang="en-PK" dirty="0"/>
              <a:t>("%u", &amp;days);</a:t>
            </a:r>
          </a:p>
          <a:p>
            <a:endParaRPr lang="en-PK" dirty="0"/>
          </a:p>
          <a:p>
            <a:r>
              <a:rPr lang="en-PK" dirty="0"/>
              <a:t>    unsigned int total = days + 10;  // ❌ Integer Overflow possible</a:t>
            </a:r>
          </a:p>
          <a:p>
            <a:endParaRPr lang="en-PK" dirty="0"/>
          </a:p>
          <a:p>
            <a:r>
              <a:rPr lang="en-PK" dirty="0"/>
              <a:t>    </a:t>
            </a:r>
            <a:r>
              <a:rPr lang="en-PK" dirty="0" err="1"/>
              <a:t>printf</a:t>
            </a:r>
            <a:r>
              <a:rPr lang="en-PK" dirty="0"/>
              <a:t>("Attendance Record: ");</a:t>
            </a:r>
          </a:p>
          <a:p>
            <a:r>
              <a:rPr lang="en-PK" dirty="0"/>
              <a:t>    </a:t>
            </a:r>
            <a:r>
              <a:rPr lang="en-PK" dirty="0" err="1"/>
              <a:t>printf</a:t>
            </a:r>
            <a:r>
              <a:rPr lang="en-PK" dirty="0"/>
              <a:t>(name);  // ❌ Format String vulnerability</a:t>
            </a:r>
          </a:p>
          <a:p>
            <a:endParaRPr lang="en-PK" dirty="0"/>
          </a:p>
          <a:p>
            <a:r>
              <a:rPr lang="en-PK" dirty="0"/>
              <a:t>    </a:t>
            </a:r>
            <a:r>
              <a:rPr lang="en-PK" dirty="0" err="1"/>
              <a:t>printf</a:t>
            </a:r>
            <a:r>
              <a:rPr lang="en-PK" dirty="0"/>
              <a:t>("\</a:t>
            </a:r>
            <a:r>
              <a:rPr lang="en-PK" dirty="0" err="1"/>
              <a:t>nTotal</a:t>
            </a:r>
            <a:r>
              <a:rPr lang="en-PK" dirty="0"/>
              <a:t> days recorded: %u\n", total);</a:t>
            </a:r>
          </a:p>
          <a:p>
            <a:r>
              <a:rPr lang="en-PK" dirty="0"/>
              <a:t>    return 0;</a:t>
            </a:r>
          </a:p>
          <a:p>
            <a:r>
              <a:rPr lang="en-PK" dirty="0"/>
              <a:t>}</a:t>
            </a:r>
          </a:p>
        </p:txBody>
      </p:sp>
      <p:graphicFrame>
        <p:nvGraphicFramePr>
          <p:cNvPr id="5" name="Table 4">
            <a:extLst>
              <a:ext uri="{FF2B5EF4-FFF2-40B4-BE49-F238E27FC236}">
                <a16:creationId xmlns:a16="http://schemas.microsoft.com/office/drawing/2014/main" id="{F963CABA-D71E-A161-6DCD-068FCE8F3602}"/>
              </a:ext>
            </a:extLst>
          </p:cNvPr>
          <p:cNvGraphicFramePr>
            <a:graphicFrameLocks noGrp="1"/>
          </p:cNvGraphicFramePr>
          <p:nvPr>
            <p:extLst>
              <p:ext uri="{D42A27DB-BD31-4B8C-83A1-F6EECF244321}">
                <p14:modId xmlns:p14="http://schemas.microsoft.com/office/powerpoint/2010/main" val="3250879486"/>
              </p:ext>
            </p:extLst>
          </p:nvPr>
        </p:nvGraphicFramePr>
        <p:xfrm>
          <a:off x="3962400" y="152400"/>
          <a:ext cx="4953000" cy="1936522"/>
        </p:xfrm>
        <a:graphic>
          <a:graphicData uri="http://schemas.openxmlformats.org/drawingml/2006/table">
            <a:tbl>
              <a:tblPr/>
              <a:tblGrid>
                <a:gridCol w="1651000">
                  <a:extLst>
                    <a:ext uri="{9D8B030D-6E8A-4147-A177-3AD203B41FA5}">
                      <a16:colId xmlns:a16="http://schemas.microsoft.com/office/drawing/2014/main" val="4111482129"/>
                    </a:ext>
                  </a:extLst>
                </a:gridCol>
                <a:gridCol w="1651000">
                  <a:extLst>
                    <a:ext uri="{9D8B030D-6E8A-4147-A177-3AD203B41FA5}">
                      <a16:colId xmlns:a16="http://schemas.microsoft.com/office/drawing/2014/main" val="2774090906"/>
                    </a:ext>
                  </a:extLst>
                </a:gridCol>
                <a:gridCol w="1651000">
                  <a:extLst>
                    <a:ext uri="{9D8B030D-6E8A-4147-A177-3AD203B41FA5}">
                      <a16:colId xmlns:a16="http://schemas.microsoft.com/office/drawing/2014/main" val="1014950759"/>
                    </a:ext>
                  </a:extLst>
                </a:gridCol>
              </a:tblGrid>
              <a:tr h="392207">
                <a:tc>
                  <a:txBody>
                    <a:bodyPr/>
                    <a:lstStyle/>
                    <a:p>
                      <a:pPr>
                        <a:buNone/>
                      </a:pPr>
                      <a:r>
                        <a:rPr lang="en-US" sz="1200" b="1" dirty="0">
                          <a:highlight>
                            <a:srgbClr val="FF0000"/>
                          </a:highlight>
                        </a:rPr>
                        <a:t>Attack Type</a:t>
                      </a:r>
                    </a:p>
                  </a:txBody>
                  <a:tcPr marL="42209" marR="42209" marT="21104" marB="21104" anchor="ctr">
                    <a:lnL>
                      <a:noFill/>
                    </a:lnL>
                    <a:lnR>
                      <a:noFill/>
                    </a:lnR>
                    <a:lnT>
                      <a:noFill/>
                    </a:lnT>
                    <a:lnB>
                      <a:noFill/>
                    </a:lnB>
                    <a:noFill/>
                  </a:tcPr>
                </a:tc>
                <a:tc>
                  <a:txBody>
                    <a:bodyPr/>
                    <a:lstStyle/>
                    <a:p>
                      <a:pPr>
                        <a:buNone/>
                      </a:pPr>
                      <a:r>
                        <a:rPr lang="en-US" sz="1200" b="1">
                          <a:highlight>
                            <a:srgbClr val="FF0000"/>
                          </a:highlight>
                        </a:rPr>
                        <a:t>How to attack in this program</a:t>
                      </a:r>
                    </a:p>
                  </a:txBody>
                  <a:tcPr marL="42209" marR="42209" marT="21104" marB="21104" anchor="ctr">
                    <a:lnL>
                      <a:noFill/>
                    </a:lnL>
                    <a:lnR>
                      <a:noFill/>
                    </a:lnR>
                    <a:lnT>
                      <a:noFill/>
                    </a:lnT>
                    <a:lnB>
                      <a:noFill/>
                    </a:lnB>
                    <a:noFill/>
                  </a:tcPr>
                </a:tc>
                <a:tc>
                  <a:txBody>
                    <a:bodyPr/>
                    <a:lstStyle/>
                    <a:p>
                      <a:pPr>
                        <a:buNone/>
                      </a:pPr>
                      <a:r>
                        <a:rPr lang="en-US" sz="1200" b="1" dirty="0">
                          <a:highlight>
                            <a:srgbClr val="FF0000"/>
                          </a:highlight>
                        </a:rPr>
                        <a:t>What happens</a:t>
                      </a:r>
                    </a:p>
                  </a:txBody>
                  <a:tcPr marL="42209" marR="42209" marT="21104" marB="21104" anchor="ctr">
                    <a:lnL>
                      <a:noFill/>
                    </a:lnL>
                    <a:lnR>
                      <a:noFill/>
                    </a:lnR>
                    <a:lnT>
                      <a:noFill/>
                    </a:lnT>
                    <a:lnB>
                      <a:noFill/>
                    </a:lnB>
                    <a:noFill/>
                  </a:tcPr>
                </a:tc>
                <a:extLst>
                  <a:ext uri="{0D108BD9-81ED-4DB2-BD59-A6C34878D82A}">
                    <a16:rowId xmlns:a16="http://schemas.microsoft.com/office/drawing/2014/main" val="1043389212"/>
                  </a:ext>
                </a:extLst>
              </a:tr>
              <a:tr h="392207">
                <a:tc>
                  <a:txBody>
                    <a:bodyPr/>
                    <a:lstStyle/>
                    <a:p>
                      <a:pPr>
                        <a:buNone/>
                      </a:pPr>
                      <a:r>
                        <a:rPr lang="en-US" sz="1200" b="1">
                          <a:highlight>
                            <a:srgbClr val="FFFF00"/>
                          </a:highlight>
                        </a:rPr>
                        <a:t>Buffer Overflow</a:t>
                      </a:r>
                    </a:p>
                  </a:txBody>
                  <a:tcPr marL="42209" marR="42209" marT="21104" marB="21104" anchor="ctr">
                    <a:lnL>
                      <a:noFill/>
                    </a:lnL>
                    <a:lnR>
                      <a:noFill/>
                    </a:lnR>
                    <a:lnT>
                      <a:noFill/>
                    </a:lnT>
                    <a:lnB>
                      <a:noFill/>
                    </a:lnB>
                    <a:noFill/>
                  </a:tcPr>
                </a:tc>
                <a:tc>
                  <a:txBody>
                    <a:bodyPr/>
                    <a:lstStyle/>
                    <a:p>
                      <a:pPr>
                        <a:buNone/>
                      </a:pPr>
                      <a:r>
                        <a:rPr lang="en-US" sz="1200" b="1">
                          <a:highlight>
                            <a:srgbClr val="FFFF00"/>
                          </a:highlight>
                        </a:rPr>
                        <a:t>Enter a very long name (20+ chars)</a:t>
                      </a:r>
                    </a:p>
                  </a:txBody>
                  <a:tcPr marL="42209" marR="42209" marT="21104" marB="21104" anchor="ctr">
                    <a:lnL>
                      <a:noFill/>
                    </a:lnL>
                    <a:lnR>
                      <a:noFill/>
                    </a:lnR>
                    <a:lnT>
                      <a:noFill/>
                    </a:lnT>
                    <a:lnB>
                      <a:noFill/>
                    </a:lnB>
                    <a:noFill/>
                  </a:tcPr>
                </a:tc>
                <a:tc>
                  <a:txBody>
                    <a:bodyPr/>
                    <a:lstStyle/>
                    <a:p>
                      <a:pPr>
                        <a:buNone/>
                      </a:pPr>
                      <a:r>
                        <a:rPr lang="en-US" sz="1200" b="1">
                          <a:highlight>
                            <a:srgbClr val="FFFF00"/>
                          </a:highlight>
                        </a:rPr>
                        <a:t>Overwrite memory → crash or hijack</a:t>
                      </a:r>
                    </a:p>
                  </a:txBody>
                  <a:tcPr marL="42209" marR="42209" marT="21104" marB="21104" anchor="ctr">
                    <a:lnL>
                      <a:noFill/>
                    </a:lnL>
                    <a:lnR>
                      <a:noFill/>
                    </a:lnR>
                    <a:lnT>
                      <a:noFill/>
                    </a:lnT>
                    <a:lnB>
                      <a:noFill/>
                    </a:lnB>
                    <a:noFill/>
                  </a:tcPr>
                </a:tc>
                <a:extLst>
                  <a:ext uri="{0D108BD9-81ED-4DB2-BD59-A6C34878D82A}">
                    <a16:rowId xmlns:a16="http://schemas.microsoft.com/office/drawing/2014/main" val="4266551158"/>
                  </a:ext>
                </a:extLst>
              </a:tr>
              <a:tr h="560293">
                <a:tc>
                  <a:txBody>
                    <a:bodyPr/>
                    <a:lstStyle/>
                    <a:p>
                      <a:pPr>
                        <a:buNone/>
                      </a:pPr>
                      <a:r>
                        <a:rPr lang="en-US" sz="1200" b="1">
                          <a:highlight>
                            <a:srgbClr val="FFFF00"/>
                          </a:highlight>
                        </a:rPr>
                        <a:t>Integer Overflow</a:t>
                      </a:r>
                    </a:p>
                  </a:txBody>
                  <a:tcPr marL="42209" marR="42209" marT="21104" marB="21104" anchor="ctr">
                    <a:lnL>
                      <a:noFill/>
                    </a:lnL>
                    <a:lnR>
                      <a:noFill/>
                    </a:lnR>
                    <a:lnT>
                      <a:noFill/>
                    </a:lnT>
                    <a:lnB>
                      <a:noFill/>
                    </a:lnB>
                    <a:noFill/>
                  </a:tcPr>
                </a:tc>
                <a:tc>
                  <a:txBody>
                    <a:bodyPr/>
                    <a:lstStyle/>
                    <a:p>
                      <a:pPr>
                        <a:buNone/>
                      </a:pPr>
                      <a:r>
                        <a:rPr lang="en-US" sz="1200" b="1">
                          <a:highlight>
                            <a:srgbClr val="FFFF00"/>
                          </a:highlight>
                        </a:rPr>
                        <a:t>Enter a huge number like </a:t>
                      </a:r>
                      <a:r>
                        <a:rPr lang="en-US" sz="1200" b="1">
                          <a:highlight>
                            <a:srgbClr val="FFFF00"/>
                          </a:highlight>
                          <a:latin typeface="Courier New" panose="02070309020205020404" pitchFamily="49" charset="0"/>
                        </a:rPr>
                        <a:t>4294967295</a:t>
                      </a:r>
                      <a:endParaRPr lang="en-US" sz="1200" b="1">
                        <a:highlight>
                          <a:srgbClr val="FFFF00"/>
                        </a:highlight>
                      </a:endParaRPr>
                    </a:p>
                  </a:txBody>
                  <a:tcPr marL="42209" marR="42209" marT="21104" marB="21104" anchor="ctr">
                    <a:lnL>
                      <a:noFill/>
                    </a:lnL>
                    <a:lnR>
                      <a:noFill/>
                    </a:lnR>
                    <a:lnT>
                      <a:noFill/>
                    </a:lnT>
                    <a:lnB>
                      <a:noFill/>
                    </a:lnB>
                    <a:noFill/>
                  </a:tcPr>
                </a:tc>
                <a:tc>
                  <a:txBody>
                    <a:bodyPr/>
                    <a:lstStyle/>
                    <a:p>
                      <a:pPr>
                        <a:buNone/>
                      </a:pPr>
                      <a:r>
                        <a:rPr lang="en-US" sz="1200" b="1" dirty="0">
                          <a:highlight>
                            <a:srgbClr val="FFFF00"/>
                          </a:highlight>
                        </a:rPr>
                        <a:t>Total wraps around → wrong logic</a:t>
                      </a:r>
                    </a:p>
                  </a:txBody>
                  <a:tcPr marL="42209" marR="42209" marT="21104" marB="21104" anchor="ctr">
                    <a:lnL>
                      <a:noFill/>
                    </a:lnL>
                    <a:lnR>
                      <a:noFill/>
                    </a:lnR>
                    <a:lnT>
                      <a:noFill/>
                    </a:lnT>
                    <a:lnB>
                      <a:noFill/>
                    </a:lnB>
                    <a:noFill/>
                  </a:tcPr>
                </a:tc>
                <a:extLst>
                  <a:ext uri="{0D108BD9-81ED-4DB2-BD59-A6C34878D82A}">
                    <a16:rowId xmlns:a16="http://schemas.microsoft.com/office/drawing/2014/main" val="882220314"/>
                  </a:ext>
                </a:extLst>
              </a:tr>
              <a:tr h="560293">
                <a:tc>
                  <a:txBody>
                    <a:bodyPr/>
                    <a:lstStyle/>
                    <a:p>
                      <a:pPr>
                        <a:buNone/>
                      </a:pPr>
                      <a:r>
                        <a:rPr lang="en-US" sz="1200" b="1">
                          <a:highlight>
                            <a:srgbClr val="FFFF00"/>
                          </a:highlight>
                        </a:rPr>
                        <a:t>Format String</a:t>
                      </a:r>
                    </a:p>
                  </a:txBody>
                  <a:tcPr marL="42209" marR="42209" marT="21104" marB="21104" anchor="ctr">
                    <a:lnL>
                      <a:noFill/>
                    </a:lnL>
                    <a:lnR>
                      <a:noFill/>
                    </a:lnR>
                    <a:lnT>
                      <a:noFill/>
                    </a:lnT>
                    <a:lnB>
                      <a:noFill/>
                    </a:lnB>
                    <a:noFill/>
                  </a:tcPr>
                </a:tc>
                <a:tc>
                  <a:txBody>
                    <a:bodyPr/>
                    <a:lstStyle/>
                    <a:p>
                      <a:pPr>
                        <a:buNone/>
                      </a:pPr>
                      <a:r>
                        <a:rPr lang="en-US" sz="1200" b="1">
                          <a:highlight>
                            <a:srgbClr val="FFFF00"/>
                          </a:highlight>
                        </a:rPr>
                        <a:t>Enter </a:t>
                      </a:r>
                      <a:r>
                        <a:rPr lang="en-US" sz="1200" b="1">
                          <a:highlight>
                            <a:srgbClr val="FFFF00"/>
                          </a:highlight>
                          <a:latin typeface="Courier New" panose="02070309020205020404" pitchFamily="49" charset="0"/>
                        </a:rPr>
                        <a:t>%x %x %x %x</a:t>
                      </a:r>
                      <a:r>
                        <a:rPr lang="en-US" sz="1200" b="1">
                          <a:highlight>
                            <a:srgbClr val="FFFF00"/>
                          </a:highlight>
                        </a:rPr>
                        <a:t> as the name</a:t>
                      </a:r>
                    </a:p>
                  </a:txBody>
                  <a:tcPr marL="42209" marR="42209" marT="21104" marB="21104" anchor="ctr">
                    <a:lnL>
                      <a:noFill/>
                    </a:lnL>
                    <a:lnR>
                      <a:noFill/>
                    </a:lnR>
                    <a:lnT>
                      <a:noFill/>
                    </a:lnT>
                    <a:lnB>
                      <a:noFill/>
                    </a:lnB>
                    <a:noFill/>
                  </a:tcPr>
                </a:tc>
                <a:tc>
                  <a:txBody>
                    <a:bodyPr/>
                    <a:lstStyle/>
                    <a:p>
                      <a:pPr>
                        <a:buNone/>
                      </a:pPr>
                      <a:r>
                        <a:rPr lang="en-US" sz="1200" b="1" dirty="0">
                          <a:highlight>
                            <a:srgbClr val="FFFF00"/>
                          </a:highlight>
                        </a:rPr>
                        <a:t>Program prints stack memory → leak</a:t>
                      </a:r>
                    </a:p>
                  </a:txBody>
                  <a:tcPr marL="42209" marR="42209" marT="21104" marB="21104" anchor="ctr">
                    <a:lnL>
                      <a:noFill/>
                    </a:lnL>
                    <a:lnR>
                      <a:noFill/>
                    </a:lnR>
                    <a:lnT>
                      <a:noFill/>
                    </a:lnT>
                    <a:lnB>
                      <a:noFill/>
                    </a:lnB>
                    <a:noFill/>
                  </a:tcPr>
                </a:tc>
                <a:extLst>
                  <a:ext uri="{0D108BD9-81ED-4DB2-BD59-A6C34878D82A}">
                    <a16:rowId xmlns:a16="http://schemas.microsoft.com/office/drawing/2014/main" val="1872659580"/>
                  </a:ext>
                </a:extLst>
              </a:tr>
            </a:tbl>
          </a:graphicData>
        </a:graphic>
      </p:graphicFrame>
    </p:spTree>
    <p:extLst>
      <p:ext uri="{BB962C8B-B14F-4D97-AF65-F5344CB8AC3E}">
        <p14:creationId xmlns:p14="http://schemas.microsoft.com/office/powerpoint/2010/main" val="25222209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43225" y="3295015"/>
            <a:ext cx="3413760" cy="575310"/>
          </a:xfrm>
          <a:prstGeom prst="rect">
            <a:avLst/>
          </a:prstGeom>
        </p:spPr>
        <p:txBody>
          <a:bodyPr vert="horz" wrap="square" lIns="0" tIns="13335" rIns="0" bIns="0" rtlCol="0">
            <a:spAutoFit/>
          </a:bodyPr>
          <a:lstStyle/>
          <a:p>
            <a:pPr marL="12700">
              <a:lnSpc>
                <a:spcPct val="100000"/>
              </a:lnSpc>
              <a:spcBef>
                <a:spcPts val="105"/>
              </a:spcBef>
            </a:pPr>
            <a:r>
              <a:rPr u="sng" dirty="0">
                <a:solidFill>
                  <a:srgbClr val="D24717"/>
                </a:solidFill>
                <a:uFill>
                  <a:solidFill>
                    <a:srgbClr val="D24717"/>
                  </a:solidFill>
                </a:uFill>
              </a:rPr>
              <a:t>Platform</a:t>
            </a:r>
            <a:r>
              <a:rPr u="sng" spc="-30" dirty="0">
                <a:solidFill>
                  <a:srgbClr val="D24717"/>
                </a:solidFill>
                <a:uFill>
                  <a:solidFill>
                    <a:srgbClr val="D24717"/>
                  </a:solidFill>
                </a:uFill>
              </a:rPr>
              <a:t> </a:t>
            </a:r>
            <a:r>
              <a:rPr u="sng" spc="-10" dirty="0">
                <a:solidFill>
                  <a:srgbClr val="D24717"/>
                </a:solidFill>
                <a:uFill>
                  <a:solidFill>
                    <a:srgbClr val="D24717"/>
                  </a:solidFill>
                </a:uFill>
              </a:rPr>
              <a:t>Defenses</a:t>
            </a:r>
          </a:p>
        </p:txBody>
      </p:sp>
      <p:pic>
        <p:nvPicPr>
          <p:cNvPr id="3" name="object 3"/>
          <p:cNvPicPr/>
          <p:nvPr/>
        </p:nvPicPr>
        <p:blipFill>
          <a:blip r:embed="rId2" cstate="print"/>
          <a:stretch>
            <a:fillRect/>
          </a:stretch>
        </p:blipFill>
        <p:spPr>
          <a:xfrm>
            <a:off x="457200" y="6248400"/>
            <a:ext cx="476250" cy="381000"/>
          </a:xfrm>
          <a:prstGeom prst="rect">
            <a:avLst/>
          </a:prstGeom>
        </p:spPr>
      </p:pic>
      <p:sp>
        <p:nvSpPr>
          <p:cNvPr id="4" name="object 4"/>
          <p:cNvSpPr txBox="1">
            <a:spLocks noGrp="1"/>
          </p:cNvSpPr>
          <p:nvPr>
            <p:ph type="ftr" sz="quarter" idx="5"/>
          </p:nvPr>
        </p:nvSpPr>
        <p:spPr>
          <a:prstGeom prst="rect">
            <a:avLst/>
          </a:prstGeom>
        </p:spPr>
        <p:txBody>
          <a:bodyPr vert="horz" wrap="square" lIns="0" tIns="76200" rIns="0" bIns="0" rtlCol="0">
            <a:spAutoFit/>
          </a:bodyPr>
          <a:lstStyle/>
          <a:p>
            <a:pPr marL="165100">
              <a:lnSpc>
                <a:spcPts val="1550"/>
              </a:lnSpc>
            </a:pPr>
            <a:r>
              <a:rPr spc="-180" dirty="0"/>
              <a:t>FAST-</a:t>
            </a:r>
            <a:r>
              <a:rPr spc="-100" dirty="0"/>
              <a:t>NUCES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65989" rIns="0" bIns="0" rtlCol="0">
            <a:spAutoFit/>
          </a:bodyPr>
          <a:lstStyle/>
          <a:p>
            <a:pPr marL="165100">
              <a:lnSpc>
                <a:spcPct val="100000"/>
              </a:lnSpc>
              <a:spcBef>
                <a:spcPts val="105"/>
              </a:spcBef>
            </a:pPr>
            <a:r>
              <a:rPr dirty="0"/>
              <a:t>Preventing</a:t>
            </a:r>
            <a:r>
              <a:rPr spc="-10" dirty="0"/>
              <a:t> </a:t>
            </a:r>
            <a:r>
              <a:rPr dirty="0"/>
              <a:t>hijacking </a:t>
            </a:r>
            <a:r>
              <a:rPr spc="-10" dirty="0"/>
              <a:t>attacks</a:t>
            </a:r>
          </a:p>
        </p:txBody>
      </p:sp>
      <p:sp>
        <p:nvSpPr>
          <p:cNvPr id="3" name="object 3"/>
          <p:cNvSpPr txBox="1"/>
          <p:nvPr/>
        </p:nvSpPr>
        <p:spPr>
          <a:xfrm>
            <a:off x="307657" y="1110805"/>
            <a:ext cx="3056255" cy="1311275"/>
          </a:xfrm>
          <a:prstGeom prst="rect">
            <a:avLst/>
          </a:prstGeom>
        </p:spPr>
        <p:txBody>
          <a:bodyPr vert="horz" wrap="square" lIns="0" tIns="64135" rIns="0" bIns="0" rtlCol="0">
            <a:spAutoFit/>
          </a:bodyPr>
          <a:lstStyle/>
          <a:p>
            <a:pPr marL="546100" indent="-533400">
              <a:lnSpc>
                <a:spcPct val="100000"/>
              </a:lnSpc>
              <a:spcBef>
                <a:spcPts val="505"/>
              </a:spcBef>
              <a:buClr>
                <a:srgbClr val="D24717"/>
              </a:buClr>
              <a:buSzPct val="76923"/>
              <a:buAutoNum type="arabicPeriod"/>
              <a:tabLst>
                <a:tab pos="546100" algn="l"/>
              </a:tabLst>
            </a:pPr>
            <a:r>
              <a:rPr sz="2600" u="sng" dirty="0">
                <a:uFill>
                  <a:solidFill>
                    <a:srgbClr val="000000"/>
                  </a:solidFill>
                </a:uFill>
                <a:latin typeface="Times New Roman"/>
                <a:cs typeface="Times New Roman"/>
              </a:rPr>
              <a:t>Fix</a:t>
            </a:r>
            <a:r>
              <a:rPr sz="2600" u="sng" spc="-35" dirty="0">
                <a:uFill>
                  <a:solidFill>
                    <a:srgbClr val="000000"/>
                  </a:solidFill>
                </a:uFill>
                <a:latin typeface="Times New Roman"/>
                <a:cs typeface="Times New Roman"/>
              </a:rPr>
              <a:t> </a:t>
            </a:r>
            <a:r>
              <a:rPr sz="2600" u="sng" spc="-20" dirty="0">
                <a:uFill>
                  <a:solidFill>
                    <a:srgbClr val="000000"/>
                  </a:solidFill>
                </a:uFill>
                <a:latin typeface="Times New Roman"/>
                <a:cs typeface="Times New Roman"/>
              </a:rPr>
              <a:t>bugs</a:t>
            </a:r>
            <a:r>
              <a:rPr sz="2600" spc="-20" dirty="0">
                <a:latin typeface="Times New Roman"/>
                <a:cs typeface="Times New Roman"/>
              </a:rPr>
              <a:t>:</a:t>
            </a:r>
            <a:endParaRPr sz="2600">
              <a:latin typeface="Times New Roman"/>
              <a:cs typeface="Times New Roman"/>
            </a:endParaRPr>
          </a:p>
          <a:p>
            <a:pPr marL="821055" lvl="1" indent="-242570">
              <a:lnSpc>
                <a:spcPct val="100000"/>
              </a:lnSpc>
              <a:spcBef>
                <a:spcPts val="409"/>
              </a:spcBef>
              <a:buClr>
                <a:srgbClr val="9B2C1F"/>
              </a:buClr>
              <a:buSzPct val="82692"/>
              <a:buFont typeface="Segoe UI Symbol"/>
              <a:buChar char="⚫"/>
              <a:tabLst>
                <a:tab pos="821055" algn="l"/>
              </a:tabLst>
            </a:pPr>
            <a:r>
              <a:rPr sz="2600" dirty="0">
                <a:latin typeface="Times New Roman"/>
                <a:cs typeface="Times New Roman"/>
              </a:rPr>
              <a:t>Audit</a:t>
            </a:r>
            <a:r>
              <a:rPr sz="2600" spc="-15" dirty="0">
                <a:latin typeface="Times New Roman"/>
                <a:cs typeface="Times New Roman"/>
              </a:rPr>
              <a:t> </a:t>
            </a:r>
            <a:r>
              <a:rPr sz="2600" spc="-10" dirty="0">
                <a:latin typeface="Times New Roman"/>
                <a:cs typeface="Times New Roman"/>
              </a:rPr>
              <a:t>software</a:t>
            </a:r>
            <a:endParaRPr sz="2600">
              <a:latin typeface="Times New Roman"/>
              <a:cs typeface="Times New Roman"/>
            </a:endParaRPr>
          </a:p>
          <a:p>
            <a:pPr marL="1109345" lvl="2" indent="-219710">
              <a:lnSpc>
                <a:spcPct val="100000"/>
              </a:lnSpc>
              <a:spcBef>
                <a:spcPts val="480"/>
              </a:spcBef>
              <a:buClr>
                <a:srgbClr val="A18E6A"/>
              </a:buClr>
              <a:buSzPct val="79069"/>
              <a:buFont typeface="Segoe UI Symbol"/>
              <a:buChar char="⚫"/>
              <a:tabLst>
                <a:tab pos="1109345" algn="l"/>
              </a:tabLst>
            </a:pPr>
            <a:r>
              <a:rPr sz="2150" dirty="0">
                <a:latin typeface="Times New Roman"/>
                <a:cs typeface="Times New Roman"/>
              </a:rPr>
              <a:t>Automated</a:t>
            </a:r>
            <a:r>
              <a:rPr sz="2150" spc="210" dirty="0">
                <a:latin typeface="Times New Roman"/>
                <a:cs typeface="Times New Roman"/>
              </a:rPr>
              <a:t> </a:t>
            </a:r>
            <a:r>
              <a:rPr sz="2150" spc="-10" dirty="0">
                <a:latin typeface="Times New Roman"/>
                <a:cs typeface="Times New Roman"/>
              </a:rPr>
              <a:t>tools:</a:t>
            </a:r>
            <a:endParaRPr sz="2150">
              <a:latin typeface="Times New Roman"/>
              <a:cs typeface="Times New Roman"/>
            </a:endParaRPr>
          </a:p>
        </p:txBody>
      </p:sp>
      <p:sp>
        <p:nvSpPr>
          <p:cNvPr id="4" name="object 4"/>
          <p:cNvSpPr txBox="1"/>
          <p:nvPr/>
        </p:nvSpPr>
        <p:spPr>
          <a:xfrm>
            <a:off x="3549903" y="2064702"/>
            <a:ext cx="2802890" cy="357505"/>
          </a:xfrm>
          <a:prstGeom prst="rect">
            <a:avLst/>
          </a:prstGeom>
        </p:spPr>
        <p:txBody>
          <a:bodyPr vert="horz" wrap="square" lIns="0" tIns="15875" rIns="0" bIns="0" rtlCol="0">
            <a:spAutoFit/>
          </a:bodyPr>
          <a:lstStyle/>
          <a:p>
            <a:pPr marL="12700">
              <a:lnSpc>
                <a:spcPct val="100000"/>
              </a:lnSpc>
              <a:spcBef>
                <a:spcPts val="125"/>
              </a:spcBef>
              <a:tabLst>
                <a:tab pos="1182370" algn="l"/>
              </a:tabLst>
            </a:pPr>
            <a:r>
              <a:rPr sz="2150" spc="-10" dirty="0">
                <a:latin typeface="Times New Roman"/>
                <a:cs typeface="Times New Roman"/>
              </a:rPr>
              <a:t>Coverity,</a:t>
            </a:r>
            <a:r>
              <a:rPr sz="2150" dirty="0">
                <a:latin typeface="Times New Roman"/>
                <a:cs typeface="Times New Roman"/>
              </a:rPr>
              <a:t>	</a:t>
            </a:r>
            <a:r>
              <a:rPr sz="2150" spc="-10" dirty="0">
                <a:latin typeface="Times New Roman"/>
                <a:cs typeface="Times New Roman"/>
              </a:rPr>
              <a:t>Prefast/Prefix.</a:t>
            </a:r>
            <a:endParaRPr sz="2150">
              <a:latin typeface="Times New Roman"/>
              <a:cs typeface="Times New Roman"/>
            </a:endParaRPr>
          </a:p>
        </p:txBody>
      </p:sp>
      <p:sp>
        <p:nvSpPr>
          <p:cNvPr id="5" name="object 5"/>
          <p:cNvSpPr txBox="1"/>
          <p:nvPr/>
        </p:nvSpPr>
        <p:spPr>
          <a:xfrm>
            <a:off x="307657" y="2376763"/>
            <a:ext cx="8004175" cy="4131259"/>
          </a:xfrm>
          <a:prstGeom prst="rect">
            <a:avLst/>
          </a:prstGeom>
        </p:spPr>
        <p:txBody>
          <a:bodyPr vert="horz" wrap="square" lIns="0" tIns="85725" rIns="0" bIns="0" rtlCol="0">
            <a:spAutoFit/>
          </a:bodyPr>
          <a:lstStyle/>
          <a:p>
            <a:pPr marL="821055" indent="-242570">
              <a:lnSpc>
                <a:spcPct val="100000"/>
              </a:lnSpc>
              <a:spcBef>
                <a:spcPts val="675"/>
              </a:spcBef>
              <a:buClr>
                <a:srgbClr val="9B2C1F"/>
              </a:buClr>
              <a:buSzPct val="82692"/>
              <a:buFont typeface="Segoe UI Symbol"/>
              <a:buChar char="⚫"/>
              <a:tabLst>
                <a:tab pos="821055" algn="l"/>
                <a:tab pos="6525259" algn="l"/>
              </a:tabLst>
            </a:pPr>
            <a:r>
              <a:rPr sz="2400" dirty="0">
                <a:latin typeface="Times New Roman"/>
                <a:cs typeface="Times New Roman"/>
              </a:rPr>
              <a:t>Rewrite</a:t>
            </a:r>
            <a:r>
              <a:rPr sz="2400" spc="-35" dirty="0">
                <a:latin typeface="Times New Roman"/>
                <a:cs typeface="Times New Roman"/>
              </a:rPr>
              <a:t> </a:t>
            </a:r>
            <a:r>
              <a:rPr sz="2400" dirty="0">
                <a:latin typeface="Times New Roman"/>
                <a:cs typeface="Times New Roman"/>
              </a:rPr>
              <a:t>software</a:t>
            </a:r>
            <a:r>
              <a:rPr sz="2400" spc="-30" dirty="0">
                <a:latin typeface="Times New Roman"/>
                <a:cs typeface="Times New Roman"/>
              </a:rPr>
              <a:t> </a:t>
            </a:r>
            <a:r>
              <a:rPr sz="2400" dirty="0">
                <a:latin typeface="Times New Roman"/>
                <a:cs typeface="Times New Roman"/>
              </a:rPr>
              <a:t>in</a:t>
            </a:r>
            <a:r>
              <a:rPr sz="2400" spc="-30" dirty="0">
                <a:latin typeface="Times New Roman"/>
                <a:cs typeface="Times New Roman"/>
              </a:rPr>
              <a:t> </a:t>
            </a:r>
            <a:r>
              <a:rPr sz="2400" dirty="0">
                <a:latin typeface="Times New Roman"/>
                <a:cs typeface="Times New Roman"/>
              </a:rPr>
              <a:t>a</a:t>
            </a:r>
            <a:r>
              <a:rPr sz="2400" spc="-25" dirty="0">
                <a:latin typeface="Times New Roman"/>
                <a:cs typeface="Times New Roman"/>
              </a:rPr>
              <a:t> </a:t>
            </a:r>
            <a:r>
              <a:rPr sz="2400" dirty="0">
                <a:latin typeface="Times New Roman"/>
                <a:cs typeface="Times New Roman"/>
              </a:rPr>
              <a:t>type</a:t>
            </a:r>
            <a:r>
              <a:rPr sz="2400" spc="-35" dirty="0">
                <a:latin typeface="Times New Roman"/>
                <a:cs typeface="Times New Roman"/>
              </a:rPr>
              <a:t> </a:t>
            </a:r>
            <a:r>
              <a:rPr sz="2400" dirty="0">
                <a:latin typeface="Times New Roman"/>
                <a:cs typeface="Times New Roman"/>
              </a:rPr>
              <a:t>safe</a:t>
            </a:r>
            <a:r>
              <a:rPr sz="2400" spc="5" dirty="0">
                <a:latin typeface="Times New Roman"/>
                <a:cs typeface="Times New Roman"/>
              </a:rPr>
              <a:t> </a:t>
            </a:r>
            <a:r>
              <a:rPr sz="2400" spc="-10" dirty="0">
                <a:latin typeface="Times New Roman"/>
                <a:cs typeface="Times New Roman"/>
              </a:rPr>
              <a:t>languange</a:t>
            </a:r>
            <a:r>
              <a:rPr sz="2400" dirty="0">
                <a:latin typeface="Times New Roman"/>
                <a:cs typeface="Times New Roman"/>
              </a:rPr>
              <a:t>	(Java,</a:t>
            </a:r>
            <a:r>
              <a:rPr sz="2400" spc="-50" dirty="0">
                <a:latin typeface="Times New Roman"/>
                <a:cs typeface="Times New Roman"/>
              </a:rPr>
              <a:t> </a:t>
            </a:r>
            <a:r>
              <a:rPr sz="2400" spc="-25" dirty="0">
                <a:latin typeface="Times New Roman"/>
                <a:cs typeface="Times New Roman"/>
              </a:rPr>
              <a:t>ML)</a:t>
            </a:r>
            <a:endParaRPr sz="2400" dirty="0">
              <a:latin typeface="Times New Roman"/>
              <a:cs typeface="Times New Roman"/>
            </a:endParaRPr>
          </a:p>
          <a:p>
            <a:pPr marL="1109345" lvl="1" indent="-219710">
              <a:lnSpc>
                <a:spcPct val="100000"/>
              </a:lnSpc>
              <a:spcBef>
                <a:spcPts val="484"/>
              </a:spcBef>
              <a:buClr>
                <a:srgbClr val="A18E6A"/>
              </a:buClr>
              <a:buSzPct val="79069"/>
              <a:buFont typeface="Segoe UI Symbol"/>
              <a:buChar char="⚫"/>
              <a:tabLst>
                <a:tab pos="1109345" algn="l"/>
              </a:tabLst>
            </a:pPr>
            <a:r>
              <a:rPr sz="2000" dirty="0">
                <a:latin typeface="Times New Roman"/>
                <a:cs typeface="Times New Roman"/>
              </a:rPr>
              <a:t>Difficult</a:t>
            </a:r>
            <a:r>
              <a:rPr sz="2000" spc="110" dirty="0">
                <a:latin typeface="Times New Roman"/>
                <a:cs typeface="Times New Roman"/>
              </a:rPr>
              <a:t> </a:t>
            </a:r>
            <a:r>
              <a:rPr sz="2000" dirty="0">
                <a:latin typeface="Times New Roman"/>
                <a:cs typeface="Times New Roman"/>
              </a:rPr>
              <a:t>for</a:t>
            </a:r>
            <a:r>
              <a:rPr sz="2000" spc="150" dirty="0">
                <a:latin typeface="Times New Roman"/>
                <a:cs typeface="Times New Roman"/>
              </a:rPr>
              <a:t> </a:t>
            </a:r>
            <a:r>
              <a:rPr sz="2000" dirty="0">
                <a:latin typeface="Times New Roman"/>
                <a:cs typeface="Times New Roman"/>
              </a:rPr>
              <a:t>existing</a:t>
            </a:r>
            <a:r>
              <a:rPr sz="2000" spc="85" dirty="0">
                <a:latin typeface="Times New Roman"/>
                <a:cs typeface="Times New Roman"/>
              </a:rPr>
              <a:t> </a:t>
            </a:r>
            <a:r>
              <a:rPr sz="2000" dirty="0">
                <a:latin typeface="Times New Roman"/>
                <a:cs typeface="Times New Roman"/>
              </a:rPr>
              <a:t>(legacy)</a:t>
            </a:r>
            <a:r>
              <a:rPr sz="2000" spc="65" dirty="0">
                <a:latin typeface="Times New Roman"/>
                <a:cs typeface="Times New Roman"/>
              </a:rPr>
              <a:t> </a:t>
            </a:r>
            <a:r>
              <a:rPr sz="2000" dirty="0">
                <a:latin typeface="Times New Roman"/>
                <a:cs typeface="Times New Roman"/>
              </a:rPr>
              <a:t>code</a:t>
            </a:r>
            <a:r>
              <a:rPr sz="2000" spc="55" dirty="0">
                <a:latin typeface="Times New Roman"/>
                <a:cs typeface="Times New Roman"/>
              </a:rPr>
              <a:t> </a:t>
            </a:r>
            <a:r>
              <a:rPr sz="2000" spc="-50" dirty="0">
                <a:latin typeface="Times New Roman"/>
                <a:cs typeface="Times New Roman"/>
              </a:rPr>
              <a:t>…</a:t>
            </a:r>
            <a:br>
              <a:rPr lang="en-US" sz="2000" spc="-50" dirty="0">
                <a:latin typeface="Times New Roman"/>
                <a:cs typeface="Times New Roman"/>
              </a:rPr>
            </a:br>
            <a:r>
              <a:rPr lang="en-US" spc="-50" dirty="0">
                <a:solidFill>
                  <a:srgbClr val="FF0000"/>
                </a:solidFill>
                <a:latin typeface="Times New Roman"/>
                <a:cs typeface="Times New Roman"/>
              </a:rPr>
              <a:t>A type-safe language is a programming language designed to prevent or discourage type errors, which occur when operations are performed on values that are not of the appropriate data type. The core idea is to ensure that variables and data structures are used consistently with their declared types, preventing unintended behavior or runtime errors. </a:t>
            </a:r>
            <a:endParaRPr sz="2000" dirty="0">
              <a:solidFill>
                <a:srgbClr val="FF0000"/>
              </a:solidFill>
              <a:latin typeface="Times New Roman"/>
              <a:cs typeface="Times New Roman"/>
            </a:endParaRPr>
          </a:p>
          <a:p>
            <a:pPr marL="533400" indent="-520700">
              <a:lnSpc>
                <a:spcPct val="100000"/>
              </a:lnSpc>
              <a:spcBef>
                <a:spcPts val="2375"/>
              </a:spcBef>
              <a:buClr>
                <a:srgbClr val="D24717"/>
              </a:buClr>
              <a:buSzPct val="82692"/>
              <a:buAutoNum type="arabicPeriod" startAt="2"/>
              <a:tabLst>
                <a:tab pos="533400" algn="l"/>
                <a:tab pos="3188335" algn="l"/>
              </a:tabLst>
            </a:pPr>
            <a:r>
              <a:rPr sz="2400" dirty="0">
                <a:latin typeface="Times New Roman"/>
                <a:cs typeface="Times New Roman"/>
              </a:rPr>
              <a:t>Concede</a:t>
            </a:r>
            <a:r>
              <a:rPr sz="2400" spc="-45" dirty="0">
                <a:latin typeface="Times New Roman"/>
                <a:cs typeface="Times New Roman"/>
              </a:rPr>
              <a:t> </a:t>
            </a:r>
            <a:r>
              <a:rPr sz="2400" spc="-10" dirty="0">
                <a:latin typeface="Times New Roman"/>
                <a:cs typeface="Times New Roman"/>
              </a:rPr>
              <a:t>overflow,</a:t>
            </a:r>
            <a:r>
              <a:rPr sz="2400" dirty="0">
                <a:latin typeface="Times New Roman"/>
                <a:cs typeface="Times New Roman"/>
              </a:rPr>
              <a:t>	but</a:t>
            </a:r>
            <a:r>
              <a:rPr sz="2400" spc="25" dirty="0">
                <a:latin typeface="Times New Roman"/>
                <a:cs typeface="Times New Roman"/>
              </a:rPr>
              <a:t> </a:t>
            </a:r>
            <a:r>
              <a:rPr sz="2400" u="sng" dirty="0">
                <a:uFill>
                  <a:solidFill>
                    <a:srgbClr val="000000"/>
                  </a:solidFill>
                </a:uFill>
                <a:latin typeface="Times New Roman"/>
                <a:cs typeface="Times New Roman"/>
              </a:rPr>
              <a:t>prevent</a:t>
            </a:r>
            <a:r>
              <a:rPr sz="2400" u="sng" spc="10" dirty="0">
                <a:uFill>
                  <a:solidFill>
                    <a:srgbClr val="000000"/>
                  </a:solidFill>
                </a:uFill>
                <a:latin typeface="Times New Roman"/>
                <a:cs typeface="Times New Roman"/>
              </a:rPr>
              <a:t> </a:t>
            </a:r>
            <a:r>
              <a:rPr sz="2400" u="sng" dirty="0">
                <a:uFill>
                  <a:solidFill>
                    <a:srgbClr val="000000"/>
                  </a:solidFill>
                </a:uFill>
                <a:latin typeface="Times New Roman"/>
                <a:cs typeface="Times New Roman"/>
              </a:rPr>
              <a:t>code</a:t>
            </a:r>
            <a:r>
              <a:rPr sz="2400" u="sng" spc="-40" dirty="0">
                <a:uFill>
                  <a:solidFill>
                    <a:srgbClr val="000000"/>
                  </a:solidFill>
                </a:uFill>
                <a:latin typeface="Times New Roman"/>
                <a:cs typeface="Times New Roman"/>
              </a:rPr>
              <a:t> </a:t>
            </a:r>
            <a:r>
              <a:rPr sz="2400" u="sng" spc="-10" dirty="0">
                <a:uFill>
                  <a:solidFill>
                    <a:srgbClr val="000000"/>
                  </a:solidFill>
                </a:uFill>
                <a:latin typeface="Times New Roman"/>
                <a:cs typeface="Times New Roman"/>
              </a:rPr>
              <a:t>execution</a:t>
            </a:r>
            <a:endParaRPr sz="2400" dirty="0">
              <a:latin typeface="Times New Roman"/>
              <a:cs typeface="Times New Roman"/>
            </a:endParaRPr>
          </a:p>
          <a:p>
            <a:pPr marL="469900" indent="-457200">
              <a:lnSpc>
                <a:spcPct val="100000"/>
              </a:lnSpc>
              <a:buClr>
                <a:srgbClr val="D24717"/>
              </a:buClr>
              <a:buSzPct val="82692"/>
              <a:buAutoNum type="arabicPeriod" startAt="2"/>
              <a:tabLst>
                <a:tab pos="469900" algn="l"/>
              </a:tabLst>
            </a:pPr>
            <a:r>
              <a:rPr sz="2400" dirty="0">
                <a:solidFill>
                  <a:srgbClr val="FF0000"/>
                </a:solidFill>
                <a:latin typeface="Times New Roman"/>
                <a:cs typeface="Times New Roman"/>
              </a:rPr>
              <a:t>Add</a:t>
            </a:r>
            <a:r>
              <a:rPr sz="2400" spc="-5" dirty="0">
                <a:solidFill>
                  <a:srgbClr val="FF0000"/>
                </a:solidFill>
                <a:latin typeface="Times New Roman"/>
                <a:cs typeface="Times New Roman"/>
              </a:rPr>
              <a:t> </a:t>
            </a:r>
            <a:r>
              <a:rPr sz="2400" u="sng" dirty="0">
                <a:solidFill>
                  <a:srgbClr val="FF0000"/>
                </a:solidFill>
                <a:uFill>
                  <a:solidFill>
                    <a:srgbClr val="000000"/>
                  </a:solidFill>
                </a:uFill>
                <a:latin typeface="Times New Roman"/>
                <a:cs typeface="Times New Roman"/>
              </a:rPr>
              <a:t>runtime</a:t>
            </a:r>
            <a:r>
              <a:rPr sz="2400" u="sng" spc="-35" dirty="0">
                <a:solidFill>
                  <a:srgbClr val="FF0000"/>
                </a:solidFill>
                <a:uFill>
                  <a:solidFill>
                    <a:srgbClr val="000000"/>
                  </a:solidFill>
                </a:uFill>
                <a:latin typeface="Times New Roman"/>
                <a:cs typeface="Times New Roman"/>
              </a:rPr>
              <a:t> </a:t>
            </a:r>
            <a:r>
              <a:rPr sz="2400" u="sng" dirty="0">
                <a:solidFill>
                  <a:srgbClr val="FF0000"/>
                </a:solidFill>
                <a:uFill>
                  <a:solidFill>
                    <a:srgbClr val="000000"/>
                  </a:solidFill>
                </a:uFill>
                <a:latin typeface="Times New Roman"/>
                <a:cs typeface="Times New Roman"/>
              </a:rPr>
              <a:t>code</a:t>
            </a:r>
            <a:r>
              <a:rPr sz="2400" spc="-35" dirty="0">
                <a:solidFill>
                  <a:srgbClr val="FF0000"/>
                </a:solidFill>
                <a:latin typeface="Times New Roman"/>
                <a:cs typeface="Times New Roman"/>
              </a:rPr>
              <a:t> </a:t>
            </a:r>
            <a:r>
              <a:rPr sz="2400" dirty="0">
                <a:solidFill>
                  <a:srgbClr val="FF0000"/>
                </a:solidFill>
                <a:latin typeface="Times New Roman"/>
                <a:cs typeface="Times New Roman"/>
              </a:rPr>
              <a:t>to</a:t>
            </a:r>
            <a:r>
              <a:rPr sz="2400" spc="-35" dirty="0">
                <a:solidFill>
                  <a:srgbClr val="FF0000"/>
                </a:solidFill>
                <a:latin typeface="Times New Roman"/>
                <a:cs typeface="Times New Roman"/>
              </a:rPr>
              <a:t> </a:t>
            </a:r>
            <a:r>
              <a:rPr sz="2400" dirty="0">
                <a:solidFill>
                  <a:srgbClr val="FF0000"/>
                </a:solidFill>
                <a:latin typeface="Times New Roman"/>
                <a:cs typeface="Times New Roman"/>
              </a:rPr>
              <a:t>detect</a:t>
            </a:r>
            <a:r>
              <a:rPr sz="2400" spc="-50" dirty="0">
                <a:solidFill>
                  <a:srgbClr val="FF0000"/>
                </a:solidFill>
                <a:latin typeface="Times New Roman"/>
                <a:cs typeface="Times New Roman"/>
              </a:rPr>
              <a:t> </a:t>
            </a:r>
            <a:r>
              <a:rPr sz="2400" dirty="0">
                <a:solidFill>
                  <a:srgbClr val="FF0000"/>
                </a:solidFill>
                <a:latin typeface="Times New Roman"/>
                <a:cs typeface="Times New Roman"/>
              </a:rPr>
              <a:t>overflows</a:t>
            </a:r>
            <a:r>
              <a:rPr sz="2400" spc="-45" dirty="0">
                <a:solidFill>
                  <a:srgbClr val="FF0000"/>
                </a:solidFill>
                <a:latin typeface="Times New Roman"/>
                <a:cs typeface="Times New Roman"/>
              </a:rPr>
              <a:t> </a:t>
            </a:r>
            <a:r>
              <a:rPr sz="2400" spc="-10" dirty="0">
                <a:solidFill>
                  <a:srgbClr val="FF0000"/>
                </a:solidFill>
                <a:latin typeface="Times New Roman"/>
                <a:cs typeface="Times New Roman"/>
              </a:rPr>
              <a:t>exploits</a:t>
            </a:r>
            <a:endParaRPr sz="2400" dirty="0">
              <a:solidFill>
                <a:srgbClr val="FF0000"/>
              </a:solidFill>
              <a:latin typeface="Times New Roman"/>
              <a:cs typeface="Times New Roman"/>
            </a:endParaRPr>
          </a:p>
          <a:p>
            <a:pPr marL="821055" lvl="1" indent="-242570">
              <a:lnSpc>
                <a:spcPct val="100000"/>
              </a:lnSpc>
              <a:spcBef>
                <a:spcPts val="409"/>
              </a:spcBef>
              <a:buClr>
                <a:srgbClr val="9B2C1F"/>
              </a:buClr>
              <a:buSzPct val="82692"/>
              <a:buFont typeface="Segoe UI Symbol"/>
              <a:buChar char="⚫"/>
              <a:tabLst>
                <a:tab pos="821055" algn="l"/>
              </a:tabLst>
            </a:pPr>
            <a:r>
              <a:rPr sz="2400" dirty="0">
                <a:latin typeface="Times New Roman"/>
                <a:cs typeface="Times New Roman"/>
              </a:rPr>
              <a:t>Halt</a:t>
            </a:r>
            <a:r>
              <a:rPr sz="2400" spc="-45" dirty="0">
                <a:latin typeface="Times New Roman"/>
                <a:cs typeface="Times New Roman"/>
              </a:rPr>
              <a:t> </a:t>
            </a:r>
            <a:r>
              <a:rPr sz="2400" dirty="0">
                <a:latin typeface="Times New Roman"/>
                <a:cs typeface="Times New Roman"/>
              </a:rPr>
              <a:t>process</a:t>
            </a:r>
            <a:r>
              <a:rPr sz="2400" spc="-35" dirty="0">
                <a:latin typeface="Times New Roman"/>
                <a:cs typeface="Times New Roman"/>
              </a:rPr>
              <a:t> </a:t>
            </a:r>
            <a:r>
              <a:rPr sz="2400" dirty="0">
                <a:latin typeface="Times New Roman"/>
                <a:cs typeface="Times New Roman"/>
              </a:rPr>
              <a:t>when</a:t>
            </a:r>
            <a:r>
              <a:rPr sz="2400" spc="-25" dirty="0">
                <a:latin typeface="Times New Roman"/>
                <a:cs typeface="Times New Roman"/>
              </a:rPr>
              <a:t> </a:t>
            </a:r>
            <a:r>
              <a:rPr sz="2400" dirty="0">
                <a:latin typeface="Times New Roman"/>
                <a:cs typeface="Times New Roman"/>
              </a:rPr>
              <a:t>overflow</a:t>
            </a:r>
            <a:r>
              <a:rPr sz="2400" spc="-80" dirty="0">
                <a:latin typeface="Times New Roman"/>
                <a:cs typeface="Times New Roman"/>
              </a:rPr>
              <a:t> </a:t>
            </a:r>
            <a:r>
              <a:rPr sz="2400" dirty="0">
                <a:latin typeface="Times New Roman"/>
                <a:cs typeface="Times New Roman"/>
              </a:rPr>
              <a:t>exploit</a:t>
            </a:r>
            <a:r>
              <a:rPr sz="2400" spc="-40" dirty="0">
                <a:latin typeface="Times New Roman"/>
                <a:cs typeface="Times New Roman"/>
              </a:rPr>
              <a:t> </a:t>
            </a:r>
            <a:r>
              <a:rPr sz="2400" spc="-10" dirty="0">
                <a:latin typeface="Times New Roman"/>
                <a:cs typeface="Times New Roman"/>
              </a:rPr>
              <a:t>detected</a:t>
            </a:r>
            <a:endParaRPr sz="2400" dirty="0">
              <a:latin typeface="Times New Roman"/>
              <a:cs typeface="Times New Roman"/>
            </a:endParaRPr>
          </a:p>
          <a:p>
            <a:pPr marL="821055" lvl="1" indent="-242570">
              <a:lnSpc>
                <a:spcPct val="100000"/>
              </a:lnSpc>
              <a:spcBef>
                <a:spcPts val="409"/>
              </a:spcBef>
              <a:buClr>
                <a:srgbClr val="9B2C1F"/>
              </a:buClr>
              <a:buSzPct val="82692"/>
              <a:buFont typeface="Segoe UI Symbol"/>
              <a:buChar char="⚫"/>
              <a:tabLst>
                <a:tab pos="821055" algn="l"/>
                <a:tab pos="2628900" algn="l"/>
              </a:tabLst>
            </a:pPr>
            <a:r>
              <a:rPr sz="2400" spc="-10" dirty="0">
                <a:solidFill>
                  <a:srgbClr val="000090"/>
                </a:solidFill>
                <a:latin typeface="Times New Roman"/>
                <a:cs typeface="Times New Roman"/>
              </a:rPr>
              <a:t>StackGuard,</a:t>
            </a:r>
            <a:r>
              <a:rPr sz="2400" dirty="0">
                <a:solidFill>
                  <a:srgbClr val="000090"/>
                </a:solidFill>
                <a:latin typeface="Times New Roman"/>
                <a:cs typeface="Times New Roman"/>
              </a:rPr>
              <a:t>	LibSafe,</a:t>
            </a:r>
            <a:r>
              <a:rPr sz="2400" spc="-75" dirty="0">
                <a:solidFill>
                  <a:srgbClr val="000090"/>
                </a:solidFill>
                <a:latin typeface="Times New Roman"/>
                <a:cs typeface="Times New Roman"/>
              </a:rPr>
              <a:t> </a:t>
            </a:r>
            <a:r>
              <a:rPr sz="2400" spc="-60" dirty="0">
                <a:solidFill>
                  <a:srgbClr val="000090"/>
                </a:solidFill>
                <a:latin typeface="Times New Roman"/>
                <a:cs typeface="Times New Roman"/>
              </a:rPr>
              <a:t>…</a:t>
            </a:r>
            <a:endParaRPr sz="2400" dirty="0">
              <a:latin typeface="Times New Roman"/>
              <a:cs typeface="Times New Roman"/>
            </a:endParaRPr>
          </a:p>
        </p:txBody>
      </p:sp>
      <p:pic>
        <p:nvPicPr>
          <p:cNvPr id="6" name="object 6"/>
          <p:cNvPicPr/>
          <p:nvPr/>
        </p:nvPicPr>
        <p:blipFill>
          <a:blip r:embed="rId2" cstate="print"/>
          <a:stretch>
            <a:fillRect/>
          </a:stretch>
        </p:blipFill>
        <p:spPr>
          <a:xfrm>
            <a:off x="457200" y="6248400"/>
            <a:ext cx="476250" cy="381000"/>
          </a:xfrm>
          <a:prstGeom prst="rect">
            <a:avLst/>
          </a:prstGeom>
        </p:spPr>
      </p:pic>
      <p:sp>
        <p:nvSpPr>
          <p:cNvPr id="7" name="object 7"/>
          <p:cNvSpPr txBox="1">
            <a:spLocks noGrp="1"/>
          </p:cNvSpPr>
          <p:nvPr>
            <p:ph type="ftr" sz="quarter" idx="5"/>
          </p:nvPr>
        </p:nvSpPr>
        <p:spPr>
          <a:prstGeom prst="rect">
            <a:avLst/>
          </a:prstGeom>
        </p:spPr>
        <p:txBody>
          <a:bodyPr vert="horz" wrap="square" lIns="0" tIns="76200" rIns="0" bIns="0" rtlCol="0">
            <a:spAutoFit/>
          </a:bodyPr>
          <a:lstStyle/>
          <a:p>
            <a:pPr marL="165100">
              <a:lnSpc>
                <a:spcPts val="1550"/>
              </a:lnSpc>
            </a:pPr>
            <a:r>
              <a:rPr spc="-180" dirty="0"/>
              <a:t>FAST-</a:t>
            </a:r>
            <a:r>
              <a:rPr spc="-100" dirty="0"/>
              <a:t>NUCES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7657" y="242824"/>
            <a:ext cx="7713980" cy="575310"/>
          </a:xfrm>
          <a:prstGeom prst="rect">
            <a:avLst/>
          </a:prstGeom>
        </p:spPr>
        <p:txBody>
          <a:bodyPr vert="horz" wrap="square" lIns="0" tIns="13335" rIns="0" bIns="0" rtlCol="0">
            <a:spAutoFit/>
          </a:bodyPr>
          <a:lstStyle/>
          <a:p>
            <a:pPr marL="12700">
              <a:lnSpc>
                <a:spcPct val="100000"/>
              </a:lnSpc>
              <a:spcBef>
                <a:spcPts val="105"/>
              </a:spcBef>
              <a:tabLst>
                <a:tab pos="6423025" algn="l"/>
              </a:tabLst>
            </a:pPr>
            <a:r>
              <a:rPr dirty="0"/>
              <a:t>Marking</a:t>
            </a:r>
            <a:r>
              <a:rPr spc="-5" dirty="0"/>
              <a:t> </a:t>
            </a:r>
            <a:r>
              <a:rPr dirty="0"/>
              <a:t>memory</a:t>
            </a:r>
            <a:r>
              <a:rPr spc="5" dirty="0"/>
              <a:t> </a:t>
            </a:r>
            <a:r>
              <a:rPr dirty="0"/>
              <a:t>as</a:t>
            </a:r>
            <a:r>
              <a:rPr spc="-40" dirty="0"/>
              <a:t> </a:t>
            </a:r>
            <a:r>
              <a:rPr dirty="0"/>
              <a:t>non-</a:t>
            </a:r>
            <a:r>
              <a:rPr spc="-10" dirty="0"/>
              <a:t>execute</a:t>
            </a:r>
            <a:r>
              <a:rPr dirty="0"/>
              <a:t>	</a:t>
            </a:r>
            <a:r>
              <a:rPr spc="-10" dirty="0"/>
              <a:t>(W^X)</a:t>
            </a:r>
          </a:p>
        </p:txBody>
      </p:sp>
      <p:sp>
        <p:nvSpPr>
          <p:cNvPr id="3" name="object 3"/>
          <p:cNvSpPr txBox="1"/>
          <p:nvPr/>
        </p:nvSpPr>
        <p:spPr>
          <a:xfrm>
            <a:off x="460375" y="891286"/>
            <a:ext cx="7587615" cy="2290445"/>
          </a:xfrm>
          <a:prstGeom prst="rect">
            <a:avLst/>
          </a:prstGeom>
        </p:spPr>
        <p:txBody>
          <a:bodyPr vert="horz" wrap="square" lIns="0" tIns="57150" rIns="0" bIns="0" rtlCol="0">
            <a:spAutoFit/>
          </a:bodyPr>
          <a:lstStyle/>
          <a:p>
            <a:pPr marL="12700" marR="5080">
              <a:lnSpc>
                <a:spcPts val="2850"/>
              </a:lnSpc>
              <a:spcBef>
                <a:spcPts val="450"/>
              </a:spcBef>
            </a:pPr>
            <a:r>
              <a:rPr sz="2600" dirty="0">
                <a:latin typeface="Times New Roman"/>
                <a:cs typeface="Times New Roman"/>
              </a:rPr>
              <a:t>Prevent attack</a:t>
            </a:r>
            <a:r>
              <a:rPr sz="2600" spc="-45" dirty="0">
                <a:latin typeface="Times New Roman"/>
                <a:cs typeface="Times New Roman"/>
              </a:rPr>
              <a:t> </a:t>
            </a:r>
            <a:r>
              <a:rPr sz="2600" dirty="0">
                <a:latin typeface="Times New Roman"/>
                <a:cs typeface="Times New Roman"/>
              </a:rPr>
              <a:t>code</a:t>
            </a:r>
            <a:r>
              <a:rPr sz="2600" spc="-50" dirty="0">
                <a:latin typeface="Times New Roman"/>
                <a:cs typeface="Times New Roman"/>
              </a:rPr>
              <a:t> </a:t>
            </a:r>
            <a:r>
              <a:rPr sz="2600" dirty="0">
                <a:latin typeface="Times New Roman"/>
                <a:cs typeface="Times New Roman"/>
              </a:rPr>
              <a:t>execution</a:t>
            </a:r>
            <a:r>
              <a:rPr sz="2600" spc="-50" dirty="0">
                <a:latin typeface="Times New Roman"/>
                <a:cs typeface="Times New Roman"/>
              </a:rPr>
              <a:t> </a:t>
            </a:r>
            <a:r>
              <a:rPr sz="2600" dirty="0">
                <a:latin typeface="Times New Roman"/>
                <a:cs typeface="Times New Roman"/>
              </a:rPr>
              <a:t>by</a:t>
            </a:r>
            <a:r>
              <a:rPr sz="2600" spc="-45" dirty="0">
                <a:latin typeface="Times New Roman"/>
                <a:cs typeface="Times New Roman"/>
              </a:rPr>
              <a:t> </a:t>
            </a:r>
            <a:r>
              <a:rPr sz="2600" dirty="0">
                <a:latin typeface="Times New Roman"/>
                <a:cs typeface="Times New Roman"/>
              </a:rPr>
              <a:t>marking</a:t>
            </a:r>
            <a:r>
              <a:rPr sz="2600" spc="-50" dirty="0">
                <a:latin typeface="Times New Roman"/>
                <a:cs typeface="Times New Roman"/>
              </a:rPr>
              <a:t> </a:t>
            </a:r>
            <a:r>
              <a:rPr sz="2600" dirty="0">
                <a:latin typeface="Times New Roman"/>
                <a:cs typeface="Times New Roman"/>
              </a:rPr>
              <a:t>stack</a:t>
            </a:r>
            <a:r>
              <a:rPr sz="2600" spc="-50" dirty="0">
                <a:latin typeface="Times New Roman"/>
                <a:cs typeface="Times New Roman"/>
              </a:rPr>
              <a:t> </a:t>
            </a:r>
            <a:r>
              <a:rPr sz="2600" dirty="0">
                <a:latin typeface="Times New Roman"/>
                <a:cs typeface="Times New Roman"/>
              </a:rPr>
              <a:t>and</a:t>
            </a:r>
            <a:r>
              <a:rPr sz="2600" spc="-50" dirty="0">
                <a:latin typeface="Times New Roman"/>
                <a:cs typeface="Times New Roman"/>
              </a:rPr>
              <a:t> </a:t>
            </a:r>
            <a:r>
              <a:rPr sz="2600" spc="-20" dirty="0">
                <a:latin typeface="Times New Roman"/>
                <a:cs typeface="Times New Roman"/>
              </a:rPr>
              <a:t>heap </a:t>
            </a:r>
            <a:r>
              <a:rPr sz="2600" dirty="0">
                <a:latin typeface="Times New Roman"/>
                <a:cs typeface="Times New Roman"/>
              </a:rPr>
              <a:t>as</a:t>
            </a:r>
            <a:r>
              <a:rPr sz="2600" spc="-15" dirty="0">
                <a:latin typeface="Times New Roman"/>
                <a:cs typeface="Times New Roman"/>
              </a:rPr>
              <a:t> </a:t>
            </a:r>
            <a:r>
              <a:rPr sz="2600" b="1" spc="-10" dirty="0">
                <a:latin typeface="Times New Roman"/>
                <a:cs typeface="Times New Roman"/>
              </a:rPr>
              <a:t>non-executable</a:t>
            </a:r>
            <a:endParaRPr sz="2600" dirty="0">
              <a:latin typeface="Times New Roman"/>
              <a:cs typeface="Times New Roman"/>
            </a:endParaRPr>
          </a:p>
          <a:p>
            <a:pPr marL="286385" indent="-273685">
              <a:lnSpc>
                <a:spcPct val="100000"/>
              </a:lnSpc>
              <a:spcBef>
                <a:spcPts val="2065"/>
              </a:spcBef>
              <a:buClr>
                <a:srgbClr val="D24717"/>
              </a:buClr>
              <a:buSzPct val="83333"/>
              <a:buFont typeface="Segoe UI Symbol"/>
              <a:buChar char="⚫"/>
              <a:tabLst>
                <a:tab pos="286385" algn="l"/>
                <a:tab pos="4051300" algn="l"/>
                <a:tab pos="6483985" algn="l"/>
              </a:tabLst>
            </a:pPr>
            <a:r>
              <a:rPr sz="2400" spc="-20" dirty="0">
                <a:latin typeface="Times New Roman"/>
                <a:cs typeface="Times New Roman"/>
              </a:rPr>
              <a:t>NX-</a:t>
            </a:r>
            <a:r>
              <a:rPr sz="2400" dirty="0">
                <a:latin typeface="Times New Roman"/>
                <a:cs typeface="Times New Roman"/>
              </a:rPr>
              <a:t>bit</a:t>
            </a:r>
            <a:r>
              <a:rPr sz="2400" spc="15" dirty="0">
                <a:latin typeface="Times New Roman"/>
                <a:cs typeface="Times New Roman"/>
              </a:rPr>
              <a:t> </a:t>
            </a:r>
            <a:r>
              <a:rPr sz="2400" dirty="0">
                <a:latin typeface="Times New Roman"/>
                <a:cs typeface="Times New Roman"/>
              </a:rPr>
              <a:t>on</a:t>
            </a:r>
            <a:r>
              <a:rPr sz="2400" spc="-135" dirty="0">
                <a:latin typeface="Times New Roman"/>
                <a:cs typeface="Times New Roman"/>
              </a:rPr>
              <a:t> </a:t>
            </a:r>
            <a:r>
              <a:rPr sz="2400" spc="-20" dirty="0">
                <a:latin typeface="Times New Roman"/>
                <a:cs typeface="Times New Roman"/>
              </a:rPr>
              <a:t>AMD</a:t>
            </a:r>
            <a:r>
              <a:rPr sz="2400" spc="-140" dirty="0">
                <a:latin typeface="Times New Roman"/>
                <a:cs typeface="Times New Roman"/>
              </a:rPr>
              <a:t> </a:t>
            </a:r>
            <a:r>
              <a:rPr sz="2400" dirty="0">
                <a:latin typeface="Times New Roman"/>
                <a:cs typeface="Times New Roman"/>
              </a:rPr>
              <a:t>Athlon </a:t>
            </a:r>
            <a:r>
              <a:rPr sz="2400" spc="-25" dirty="0">
                <a:latin typeface="Times New Roman"/>
                <a:cs typeface="Times New Roman"/>
              </a:rPr>
              <a:t>64,</a:t>
            </a:r>
            <a:r>
              <a:rPr sz="2400" dirty="0">
                <a:latin typeface="Times New Roman"/>
                <a:cs typeface="Times New Roman"/>
              </a:rPr>
              <a:t>	</a:t>
            </a:r>
            <a:r>
              <a:rPr sz="2400" spc="-20" dirty="0">
                <a:latin typeface="Times New Roman"/>
                <a:cs typeface="Times New Roman"/>
              </a:rPr>
              <a:t>XD-</a:t>
            </a:r>
            <a:r>
              <a:rPr sz="2400" dirty="0">
                <a:latin typeface="Times New Roman"/>
                <a:cs typeface="Times New Roman"/>
              </a:rPr>
              <a:t>bit on</a:t>
            </a:r>
            <a:r>
              <a:rPr sz="2400" spc="-5" dirty="0">
                <a:latin typeface="Times New Roman"/>
                <a:cs typeface="Times New Roman"/>
              </a:rPr>
              <a:t> </a:t>
            </a:r>
            <a:r>
              <a:rPr sz="2400" dirty="0">
                <a:latin typeface="Times New Roman"/>
                <a:cs typeface="Times New Roman"/>
              </a:rPr>
              <a:t>Intel </a:t>
            </a:r>
            <a:r>
              <a:rPr sz="2400" spc="-25" dirty="0">
                <a:latin typeface="Times New Roman"/>
                <a:cs typeface="Times New Roman"/>
              </a:rPr>
              <a:t>P4</a:t>
            </a:r>
            <a:r>
              <a:rPr sz="2400" dirty="0">
                <a:latin typeface="Times New Roman"/>
                <a:cs typeface="Times New Roman"/>
              </a:rPr>
              <a:t>	</a:t>
            </a:r>
            <a:r>
              <a:rPr sz="2400" spc="-10" dirty="0">
                <a:latin typeface="Times New Roman"/>
                <a:cs typeface="Times New Roman"/>
              </a:rPr>
              <a:t>Prescott</a:t>
            </a:r>
            <a:endParaRPr sz="2400" dirty="0">
              <a:latin typeface="Times New Roman"/>
              <a:cs typeface="Times New Roman"/>
            </a:endParaRPr>
          </a:p>
          <a:p>
            <a:pPr marL="561340" lvl="1" indent="-228600">
              <a:lnSpc>
                <a:spcPct val="100000"/>
              </a:lnSpc>
              <a:spcBef>
                <a:spcPts val="220"/>
              </a:spcBef>
              <a:buClr>
                <a:srgbClr val="9B2C1F"/>
              </a:buClr>
              <a:buSzPct val="86046"/>
              <a:buFont typeface="Segoe UI Symbol"/>
              <a:buChar char="⚫"/>
              <a:tabLst>
                <a:tab pos="561340" algn="l"/>
              </a:tabLst>
            </a:pPr>
            <a:r>
              <a:rPr sz="2150" dirty="0">
                <a:latin typeface="Times New Roman"/>
                <a:cs typeface="Times New Roman"/>
              </a:rPr>
              <a:t>NX</a:t>
            </a:r>
            <a:r>
              <a:rPr sz="2150" spc="95" dirty="0">
                <a:latin typeface="Times New Roman"/>
                <a:cs typeface="Times New Roman"/>
              </a:rPr>
              <a:t> </a:t>
            </a:r>
            <a:r>
              <a:rPr sz="2150" dirty="0">
                <a:latin typeface="Times New Roman"/>
                <a:cs typeface="Times New Roman"/>
              </a:rPr>
              <a:t>bit</a:t>
            </a:r>
            <a:r>
              <a:rPr sz="2150" spc="20" dirty="0">
                <a:latin typeface="Times New Roman"/>
                <a:cs typeface="Times New Roman"/>
              </a:rPr>
              <a:t> </a:t>
            </a:r>
            <a:r>
              <a:rPr sz="2150" dirty="0">
                <a:latin typeface="Times New Roman"/>
                <a:cs typeface="Times New Roman"/>
              </a:rPr>
              <a:t>in</a:t>
            </a:r>
            <a:r>
              <a:rPr sz="2150" spc="55" dirty="0">
                <a:latin typeface="Times New Roman"/>
                <a:cs typeface="Times New Roman"/>
              </a:rPr>
              <a:t> </a:t>
            </a:r>
            <a:r>
              <a:rPr sz="2150" dirty="0">
                <a:latin typeface="Times New Roman"/>
                <a:cs typeface="Times New Roman"/>
              </a:rPr>
              <a:t>every</a:t>
            </a:r>
            <a:r>
              <a:rPr sz="2150" spc="60" dirty="0">
                <a:latin typeface="Times New Roman"/>
                <a:cs typeface="Times New Roman"/>
              </a:rPr>
              <a:t> </a:t>
            </a:r>
            <a:r>
              <a:rPr sz="2150" dirty="0">
                <a:latin typeface="Times New Roman"/>
                <a:cs typeface="Times New Roman"/>
              </a:rPr>
              <a:t>Page</a:t>
            </a:r>
            <a:r>
              <a:rPr sz="2150" spc="-55" dirty="0">
                <a:latin typeface="Times New Roman"/>
                <a:cs typeface="Times New Roman"/>
              </a:rPr>
              <a:t> </a:t>
            </a:r>
            <a:r>
              <a:rPr sz="2150" dirty="0">
                <a:latin typeface="Times New Roman"/>
                <a:cs typeface="Times New Roman"/>
              </a:rPr>
              <a:t>Table</a:t>
            </a:r>
            <a:r>
              <a:rPr sz="2150" spc="110" dirty="0">
                <a:latin typeface="Times New Roman"/>
                <a:cs typeface="Times New Roman"/>
              </a:rPr>
              <a:t> </a:t>
            </a:r>
            <a:r>
              <a:rPr sz="2150" dirty="0">
                <a:latin typeface="Times New Roman"/>
                <a:cs typeface="Times New Roman"/>
              </a:rPr>
              <a:t>Entry</a:t>
            </a:r>
            <a:r>
              <a:rPr sz="2150" spc="55" dirty="0">
                <a:latin typeface="Times New Roman"/>
                <a:cs typeface="Times New Roman"/>
              </a:rPr>
              <a:t> </a:t>
            </a:r>
            <a:r>
              <a:rPr sz="2150" spc="-10" dirty="0">
                <a:latin typeface="Times New Roman"/>
                <a:cs typeface="Times New Roman"/>
              </a:rPr>
              <a:t>(PTE)</a:t>
            </a:r>
            <a:endParaRPr sz="2150" dirty="0">
              <a:latin typeface="Times New Roman"/>
              <a:cs typeface="Times New Roman"/>
            </a:endParaRPr>
          </a:p>
          <a:p>
            <a:pPr marL="286385" indent="-273685">
              <a:lnSpc>
                <a:spcPct val="100000"/>
              </a:lnSpc>
              <a:spcBef>
                <a:spcPts val="1155"/>
              </a:spcBef>
              <a:buClr>
                <a:srgbClr val="D24717"/>
              </a:buClr>
              <a:buSzPct val="83333"/>
              <a:buFont typeface="Segoe UI Symbol"/>
              <a:buChar char="⚫"/>
              <a:tabLst>
                <a:tab pos="286385" algn="l"/>
              </a:tabLst>
            </a:pPr>
            <a:r>
              <a:rPr sz="2400" u="heavy" spc="-10" dirty="0">
                <a:uFill>
                  <a:solidFill>
                    <a:srgbClr val="000000"/>
                  </a:solidFill>
                </a:uFill>
                <a:latin typeface="Times New Roman"/>
                <a:cs typeface="Times New Roman"/>
              </a:rPr>
              <a:t>Deployment</a:t>
            </a:r>
            <a:r>
              <a:rPr sz="2400" spc="-10" dirty="0">
                <a:latin typeface="Times New Roman"/>
                <a:cs typeface="Times New Roman"/>
              </a:rPr>
              <a:t>:</a:t>
            </a:r>
            <a:endParaRPr sz="2400" dirty="0">
              <a:latin typeface="Times New Roman"/>
              <a:cs typeface="Times New Roman"/>
            </a:endParaRPr>
          </a:p>
        </p:txBody>
      </p:sp>
      <p:sp>
        <p:nvSpPr>
          <p:cNvPr id="4" name="object 4"/>
          <p:cNvSpPr txBox="1"/>
          <p:nvPr/>
        </p:nvSpPr>
        <p:spPr>
          <a:xfrm>
            <a:off x="780732" y="3159823"/>
            <a:ext cx="2994025" cy="960119"/>
          </a:xfrm>
          <a:prstGeom prst="rect">
            <a:avLst/>
          </a:prstGeom>
        </p:spPr>
        <p:txBody>
          <a:bodyPr vert="horz" wrap="square" lIns="0" tIns="151765" rIns="0" bIns="0" rtlCol="0">
            <a:spAutoFit/>
          </a:bodyPr>
          <a:lstStyle/>
          <a:p>
            <a:pPr marL="241300" indent="-228600">
              <a:lnSpc>
                <a:spcPct val="100000"/>
              </a:lnSpc>
              <a:spcBef>
                <a:spcPts val="1195"/>
              </a:spcBef>
              <a:buClr>
                <a:srgbClr val="9B2C1F"/>
              </a:buClr>
              <a:buSzPct val="86046"/>
              <a:buFont typeface="Segoe UI Symbol"/>
              <a:buChar char="⚫"/>
              <a:tabLst>
                <a:tab pos="241300" algn="l"/>
              </a:tabLst>
            </a:pPr>
            <a:r>
              <a:rPr sz="2150" dirty="0">
                <a:latin typeface="Times New Roman"/>
                <a:cs typeface="Times New Roman"/>
              </a:rPr>
              <a:t>Linux</a:t>
            </a:r>
            <a:r>
              <a:rPr sz="2150" spc="70" dirty="0">
                <a:latin typeface="Times New Roman"/>
                <a:cs typeface="Times New Roman"/>
              </a:rPr>
              <a:t> </a:t>
            </a:r>
            <a:r>
              <a:rPr sz="2150" dirty="0">
                <a:latin typeface="Times New Roman"/>
                <a:cs typeface="Times New Roman"/>
              </a:rPr>
              <a:t>(via</a:t>
            </a:r>
            <a:r>
              <a:rPr sz="2150" spc="85" dirty="0">
                <a:latin typeface="Times New Roman"/>
                <a:cs typeface="Times New Roman"/>
              </a:rPr>
              <a:t> </a:t>
            </a:r>
            <a:r>
              <a:rPr sz="2150" dirty="0">
                <a:latin typeface="Times New Roman"/>
                <a:cs typeface="Times New Roman"/>
              </a:rPr>
              <a:t>PaX</a:t>
            </a:r>
            <a:r>
              <a:rPr sz="2150" spc="114" dirty="0">
                <a:latin typeface="Times New Roman"/>
                <a:cs typeface="Times New Roman"/>
              </a:rPr>
              <a:t> </a:t>
            </a:r>
            <a:r>
              <a:rPr sz="2150" spc="-10" dirty="0">
                <a:latin typeface="Times New Roman"/>
                <a:cs typeface="Times New Roman"/>
              </a:rPr>
              <a:t>project);</a:t>
            </a:r>
            <a:endParaRPr sz="2150">
              <a:latin typeface="Times New Roman"/>
              <a:cs typeface="Times New Roman"/>
            </a:endParaRPr>
          </a:p>
          <a:p>
            <a:pPr marL="241300" indent="-228600">
              <a:lnSpc>
                <a:spcPct val="100000"/>
              </a:lnSpc>
              <a:spcBef>
                <a:spcPts val="1100"/>
              </a:spcBef>
              <a:buClr>
                <a:srgbClr val="9B2C1F"/>
              </a:buClr>
              <a:buSzPct val="86046"/>
              <a:buFont typeface="Segoe UI Symbol"/>
              <a:buChar char="⚫"/>
              <a:tabLst>
                <a:tab pos="241300" algn="l"/>
              </a:tabLst>
            </a:pPr>
            <a:r>
              <a:rPr sz="2150" dirty="0">
                <a:latin typeface="Times New Roman"/>
                <a:cs typeface="Times New Roman"/>
              </a:rPr>
              <a:t>Windows:</a:t>
            </a:r>
            <a:r>
              <a:rPr sz="2150" spc="90" dirty="0">
                <a:latin typeface="Times New Roman"/>
                <a:cs typeface="Times New Roman"/>
              </a:rPr>
              <a:t> </a:t>
            </a:r>
            <a:r>
              <a:rPr sz="2150" dirty="0">
                <a:latin typeface="Times New Roman"/>
                <a:cs typeface="Times New Roman"/>
              </a:rPr>
              <a:t>since</a:t>
            </a:r>
            <a:r>
              <a:rPr sz="2150" spc="35" dirty="0">
                <a:latin typeface="Times New Roman"/>
                <a:cs typeface="Times New Roman"/>
              </a:rPr>
              <a:t> </a:t>
            </a:r>
            <a:r>
              <a:rPr sz="2150" dirty="0">
                <a:latin typeface="Times New Roman"/>
                <a:cs typeface="Times New Roman"/>
              </a:rPr>
              <a:t>XP</a:t>
            </a:r>
            <a:r>
              <a:rPr sz="2150" spc="30" dirty="0">
                <a:latin typeface="Times New Roman"/>
                <a:cs typeface="Times New Roman"/>
              </a:rPr>
              <a:t> </a:t>
            </a:r>
            <a:r>
              <a:rPr sz="2150" spc="-25" dirty="0">
                <a:latin typeface="Times New Roman"/>
                <a:cs typeface="Times New Roman"/>
              </a:rPr>
              <a:t>SP2</a:t>
            </a:r>
            <a:endParaRPr sz="2150">
              <a:latin typeface="Times New Roman"/>
              <a:cs typeface="Times New Roman"/>
            </a:endParaRPr>
          </a:p>
        </p:txBody>
      </p:sp>
      <p:sp>
        <p:nvSpPr>
          <p:cNvPr id="5" name="object 5"/>
          <p:cNvSpPr txBox="1"/>
          <p:nvPr/>
        </p:nvSpPr>
        <p:spPr>
          <a:xfrm>
            <a:off x="4014480" y="3159823"/>
            <a:ext cx="3771265" cy="960119"/>
          </a:xfrm>
          <a:prstGeom prst="rect">
            <a:avLst/>
          </a:prstGeom>
        </p:spPr>
        <p:txBody>
          <a:bodyPr vert="horz" wrap="square" lIns="0" tIns="151765" rIns="0" bIns="0" rtlCol="0">
            <a:spAutoFit/>
          </a:bodyPr>
          <a:lstStyle/>
          <a:p>
            <a:pPr marL="31115">
              <a:lnSpc>
                <a:spcPct val="100000"/>
              </a:lnSpc>
              <a:spcBef>
                <a:spcPts val="1195"/>
              </a:spcBef>
            </a:pPr>
            <a:r>
              <a:rPr sz="2150" spc="-10" dirty="0">
                <a:latin typeface="Times New Roman"/>
                <a:cs typeface="Times New Roman"/>
              </a:rPr>
              <a:t>OpenBSD</a:t>
            </a:r>
            <a:endParaRPr sz="2150">
              <a:latin typeface="Times New Roman"/>
              <a:cs typeface="Times New Roman"/>
            </a:endParaRPr>
          </a:p>
          <a:p>
            <a:pPr marL="12700">
              <a:lnSpc>
                <a:spcPct val="100000"/>
              </a:lnSpc>
              <a:spcBef>
                <a:spcPts val="1100"/>
              </a:spcBef>
            </a:pPr>
            <a:r>
              <a:rPr sz="2150" dirty="0">
                <a:latin typeface="Times New Roman"/>
                <a:cs typeface="Times New Roman"/>
              </a:rPr>
              <a:t>(DEP:</a:t>
            </a:r>
            <a:r>
              <a:rPr sz="2150" spc="75" dirty="0">
                <a:latin typeface="Times New Roman"/>
                <a:cs typeface="Times New Roman"/>
              </a:rPr>
              <a:t> </a:t>
            </a:r>
            <a:r>
              <a:rPr sz="2150" dirty="0">
                <a:latin typeface="Times New Roman"/>
                <a:cs typeface="Times New Roman"/>
              </a:rPr>
              <a:t>Data</a:t>
            </a:r>
            <a:r>
              <a:rPr sz="2150" spc="95" dirty="0">
                <a:latin typeface="Times New Roman"/>
                <a:cs typeface="Times New Roman"/>
              </a:rPr>
              <a:t> </a:t>
            </a:r>
            <a:r>
              <a:rPr sz="2150" dirty="0">
                <a:latin typeface="Times New Roman"/>
                <a:cs typeface="Times New Roman"/>
              </a:rPr>
              <a:t>execution</a:t>
            </a:r>
            <a:r>
              <a:rPr sz="2150" spc="130" dirty="0">
                <a:latin typeface="Times New Roman"/>
                <a:cs typeface="Times New Roman"/>
              </a:rPr>
              <a:t> </a:t>
            </a:r>
            <a:r>
              <a:rPr sz="2150" spc="-10" dirty="0">
                <a:latin typeface="Times New Roman"/>
                <a:cs typeface="Times New Roman"/>
              </a:rPr>
              <a:t>protection)</a:t>
            </a:r>
            <a:endParaRPr sz="2150">
              <a:latin typeface="Times New Roman"/>
              <a:cs typeface="Times New Roman"/>
            </a:endParaRPr>
          </a:p>
        </p:txBody>
      </p:sp>
      <p:sp>
        <p:nvSpPr>
          <p:cNvPr id="6" name="object 6"/>
          <p:cNvSpPr txBox="1"/>
          <p:nvPr/>
        </p:nvSpPr>
        <p:spPr>
          <a:xfrm>
            <a:off x="2833370" y="4138231"/>
            <a:ext cx="3625215" cy="712470"/>
          </a:xfrm>
          <a:prstGeom prst="rect">
            <a:avLst/>
          </a:prstGeom>
        </p:spPr>
        <p:txBody>
          <a:bodyPr vert="horz" wrap="square" lIns="0" tIns="50165" rIns="0" bIns="0" rtlCol="0">
            <a:spAutoFit/>
          </a:bodyPr>
          <a:lstStyle/>
          <a:p>
            <a:pPr marL="12700">
              <a:lnSpc>
                <a:spcPct val="100000"/>
              </a:lnSpc>
              <a:spcBef>
                <a:spcPts val="395"/>
              </a:spcBef>
              <a:tabLst>
                <a:tab pos="2152650" algn="l"/>
              </a:tabLst>
            </a:pPr>
            <a:r>
              <a:rPr sz="2000" b="1" spc="-10" dirty="0">
                <a:latin typeface="Times New Roman"/>
                <a:cs typeface="Times New Roman"/>
              </a:rPr>
              <a:t>/noexecute=OptIn</a:t>
            </a:r>
            <a:r>
              <a:rPr sz="2000" b="1" dirty="0">
                <a:latin typeface="Times New Roman"/>
                <a:cs typeface="Times New Roman"/>
              </a:rPr>
              <a:t>	</a:t>
            </a:r>
            <a:r>
              <a:rPr sz="2000" dirty="0">
                <a:latin typeface="Times New Roman"/>
                <a:cs typeface="Times New Roman"/>
              </a:rPr>
              <a:t>or</a:t>
            </a:r>
            <a:r>
              <a:rPr sz="2000" spc="375" dirty="0">
                <a:latin typeface="Times New Roman"/>
                <a:cs typeface="Times New Roman"/>
              </a:rPr>
              <a:t> </a:t>
            </a:r>
            <a:r>
              <a:rPr sz="2000" b="1" spc="-10" dirty="0">
                <a:latin typeface="Times New Roman"/>
                <a:cs typeface="Times New Roman"/>
              </a:rPr>
              <a:t>AlwaysOn</a:t>
            </a:r>
            <a:endParaRPr sz="2000">
              <a:latin typeface="Times New Roman"/>
              <a:cs typeface="Times New Roman"/>
            </a:endParaRPr>
          </a:p>
          <a:p>
            <a:pPr marL="161290">
              <a:lnSpc>
                <a:spcPct val="100000"/>
              </a:lnSpc>
              <a:spcBef>
                <a:spcPts val="305"/>
              </a:spcBef>
            </a:pPr>
            <a:r>
              <a:rPr sz="2000" b="1" spc="-10" dirty="0">
                <a:latin typeface="Times New Roman"/>
                <a:cs typeface="Times New Roman"/>
              </a:rPr>
              <a:t>/NXCompat[:NO]</a:t>
            </a:r>
            <a:endParaRPr sz="2000">
              <a:latin typeface="Times New Roman"/>
              <a:cs typeface="Times New Roman"/>
            </a:endParaRPr>
          </a:p>
        </p:txBody>
      </p:sp>
      <p:sp>
        <p:nvSpPr>
          <p:cNvPr id="7" name="object 7"/>
          <p:cNvSpPr txBox="1"/>
          <p:nvPr/>
        </p:nvSpPr>
        <p:spPr>
          <a:xfrm>
            <a:off x="460375" y="4138231"/>
            <a:ext cx="2358390" cy="1256030"/>
          </a:xfrm>
          <a:prstGeom prst="rect">
            <a:avLst/>
          </a:prstGeom>
        </p:spPr>
        <p:txBody>
          <a:bodyPr vert="horz" wrap="square" lIns="0" tIns="50165" rIns="0" bIns="0" rtlCol="0">
            <a:spAutoFit/>
          </a:bodyPr>
          <a:lstStyle/>
          <a:p>
            <a:pPr marL="918844" indent="-311785">
              <a:lnSpc>
                <a:spcPct val="100000"/>
              </a:lnSpc>
              <a:spcBef>
                <a:spcPts val="395"/>
              </a:spcBef>
              <a:buClr>
                <a:srgbClr val="E6B0AB"/>
              </a:buClr>
              <a:buSzPct val="77500"/>
              <a:buFont typeface="Segoe UI Symbol"/>
              <a:buChar char="⚫"/>
              <a:tabLst>
                <a:tab pos="918844" algn="l"/>
              </a:tabLst>
            </a:pPr>
            <a:r>
              <a:rPr sz="2000" dirty="0">
                <a:latin typeface="Times New Roman"/>
                <a:cs typeface="Times New Roman"/>
              </a:rPr>
              <a:t>Boot.ini</a:t>
            </a:r>
            <a:r>
              <a:rPr sz="2000" spc="-60" dirty="0">
                <a:latin typeface="Times New Roman"/>
                <a:cs typeface="Times New Roman"/>
              </a:rPr>
              <a:t> </a:t>
            </a:r>
            <a:r>
              <a:rPr sz="2000" spc="-50" dirty="0">
                <a:latin typeface="Times New Roman"/>
                <a:cs typeface="Times New Roman"/>
              </a:rPr>
              <a:t>:</a:t>
            </a:r>
            <a:endParaRPr sz="2000">
              <a:latin typeface="Times New Roman"/>
              <a:cs typeface="Times New Roman"/>
            </a:endParaRPr>
          </a:p>
          <a:p>
            <a:pPr marL="899160" indent="-292100">
              <a:lnSpc>
                <a:spcPct val="100000"/>
              </a:lnSpc>
              <a:spcBef>
                <a:spcPts val="305"/>
              </a:spcBef>
              <a:buClr>
                <a:srgbClr val="E6B0AB"/>
              </a:buClr>
              <a:buSzPct val="60000"/>
              <a:buFont typeface="Segoe UI Symbol"/>
              <a:buChar char="⚫"/>
              <a:tabLst>
                <a:tab pos="899160" algn="l"/>
              </a:tabLst>
            </a:pPr>
            <a:r>
              <a:rPr sz="2000" spc="-10" dirty="0">
                <a:latin typeface="Times New Roman"/>
                <a:cs typeface="Times New Roman"/>
              </a:rPr>
              <a:t>Visual</a:t>
            </a:r>
            <a:r>
              <a:rPr sz="2000" spc="-70" dirty="0">
                <a:latin typeface="Times New Roman"/>
                <a:cs typeface="Times New Roman"/>
              </a:rPr>
              <a:t> </a:t>
            </a:r>
            <a:r>
              <a:rPr sz="2000" spc="-10" dirty="0">
                <a:latin typeface="Times New Roman"/>
                <a:cs typeface="Times New Roman"/>
              </a:rPr>
              <a:t>Studio:</a:t>
            </a:r>
            <a:endParaRPr sz="2000">
              <a:latin typeface="Times New Roman"/>
              <a:cs typeface="Times New Roman"/>
            </a:endParaRPr>
          </a:p>
          <a:p>
            <a:pPr marL="286385" indent="-273685">
              <a:lnSpc>
                <a:spcPct val="100000"/>
              </a:lnSpc>
              <a:spcBef>
                <a:spcPts val="1405"/>
              </a:spcBef>
              <a:buClr>
                <a:srgbClr val="D24717"/>
              </a:buClr>
              <a:buSzPct val="83333"/>
              <a:buFont typeface="Segoe UI Symbol"/>
              <a:buChar char="⚫"/>
              <a:tabLst>
                <a:tab pos="286385" algn="l"/>
              </a:tabLst>
            </a:pPr>
            <a:r>
              <a:rPr sz="2400" u="heavy" spc="-10" dirty="0">
                <a:uFill>
                  <a:solidFill>
                    <a:srgbClr val="000000"/>
                  </a:solidFill>
                </a:uFill>
                <a:latin typeface="Times New Roman"/>
                <a:cs typeface="Times New Roman"/>
              </a:rPr>
              <a:t>Limitations</a:t>
            </a:r>
            <a:r>
              <a:rPr sz="2400" spc="-10" dirty="0">
                <a:latin typeface="Times New Roman"/>
                <a:cs typeface="Times New Roman"/>
              </a:rPr>
              <a:t>:</a:t>
            </a:r>
            <a:endParaRPr sz="2400">
              <a:latin typeface="Times New Roman"/>
              <a:cs typeface="Times New Roman"/>
            </a:endParaRPr>
          </a:p>
        </p:txBody>
      </p:sp>
      <p:sp>
        <p:nvSpPr>
          <p:cNvPr id="8" name="object 8"/>
          <p:cNvSpPr txBox="1"/>
          <p:nvPr/>
        </p:nvSpPr>
        <p:spPr>
          <a:xfrm>
            <a:off x="780732" y="5372798"/>
            <a:ext cx="5762625" cy="730885"/>
          </a:xfrm>
          <a:prstGeom prst="rect">
            <a:avLst/>
          </a:prstGeom>
        </p:spPr>
        <p:txBody>
          <a:bodyPr vert="horz" wrap="square" lIns="0" tIns="36830" rIns="0" bIns="0" rtlCol="0">
            <a:spAutoFit/>
          </a:bodyPr>
          <a:lstStyle/>
          <a:p>
            <a:pPr marL="241300" indent="-228600">
              <a:lnSpc>
                <a:spcPct val="100000"/>
              </a:lnSpc>
              <a:spcBef>
                <a:spcPts val="290"/>
              </a:spcBef>
              <a:buClr>
                <a:srgbClr val="9B2C1F"/>
              </a:buClr>
              <a:buSzPct val="86046"/>
              <a:buFont typeface="Segoe UI Symbol"/>
              <a:buChar char="⚫"/>
              <a:tabLst>
                <a:tab pos="241300" algn="l"/>
                <a:tab pos="4131945" algn="l"/>
              </a:tabLst>
            </a:pPr>
            <a:r>
              <a:rPr sz="2150" dirty="0">
                <a:latin typeface="Times New Roman"/>
                <a:cs typeface="Times New Roman"/>
              </a:rPr>
              <a:t>Some</a:t>
            </a:r>
            <a:r>
              <a:rPr sz="2150" spc="90" dirty="0">
                <a:latin typeface="Times New Roman"/>
                <a:cs typeface="Times New Roman"/>
              </a:rPr>
              <a:t> </a:t>
            </a:r>
            <a:r>
              <a:rPr sz="2150" dirty="0">
                <a:latin typeface="Times New Roman"/>
                <a:cs typeface="Times New Roman"/>
              </a:rPr>
              <a:t>apps</a:t>
            </a:r>
            <a:r>
              <a:rPr sz="2150" spc="65" dirty="0">
                <a:latin typeface="Times New Roman"/>
                <a:cs typeface="Times New Roman"/>
              </a:rPr>
              <a:t> </a:t>
            </a:r>
            <a:r>
              <a:rPr sz="2150" dirty="0">
                <a:latin typeface="Times New Roman"/>
                <a:cs typeface="Times New Roman"/>
              </a:rPr>
              <a:t>need</a:t>
            </a:r>
            <a:r>
              <a:rPr sz="2150" spc="135" dirty="0">
                <a:latin typeface="Times New Roman"/>
                <a:cs typeface="Times New Roman"/>
              </a:rPr>
              <a:t> </a:t>
            </a:r>
            <a:r>
              <a:rPr sz="2150" dirty="0">
                <a:latin typeface="Times New Roman"/>
                <a:cs typeface="Times New Roman"/>
              </a:rPr>
              <a:t>executable</a:t>
            </a:r>
            <a:r>
              <a:rPr sz="2150" spc="190" dirty="0">
                <a:latin typeface="Times New Roman"/>
                <a:cs typeface="Times New Roman"/>
              </a:rPr>
              <a:t> </a:t>
            </a:r>
            <a:r>
              <a:rPr sz="2150" spc="-20" dirty="0">
                <a:latin typeface="Times New Roman"/>
                <a:cs typeface="Times New Roman"/>
              </a:rPr>
              <a:t>heap</a:t>
            </a:r>
            <a:r>
              <a:rPr sz="2150" dirty="0">
                <a:latin typeface="Times New Roman"/>
                <a:cs typeface="Times New Roman"/>
              </a:rPr>
              <a:t>	(e.g.</a:t>
            </a:r>
            <a:r>
              <a:rPr sz="2150" spc="45" dirty="0">
                <a:latin typeface="Times New Roman"/>
                <a:cs typeface="Times New Roman"/>
              </a:rPr>
              <a:t> </a:t>
            </a:r>
            <a:r>
              <a:rPr sz="2150" spc="-10" dirty="0">
                <a:latin typeface="Times New Roman"/>
                <a:cs typeface="Times New Roman"/>
              </a:rPr>
              <a:t>JITs).</a:t>
            </a:r>
            <a:endParaRPr sz="2150" dirty="0">
              <a:latin typeface="Times New Roman"/>
              <a:cs typeface="Times New Roman"/>
            </a:endParaRPr>
          </a:p>
          <a:p>
            <a:pPr marL="241300" indent="-228600">
              <a:lnSpc>
                <a:spcPct val="100000"/>
              </a:lnSpc>
              <a:spcBef>
                <a:spcPts val="200"/>
              </a:spcBef>
              <a:buClr>
                <a:srgbClr val="9B2C1F"/>
              </a:buClr>
              <a:buSzPct val="86046"/>
              <a:buFont typeface="Segoe UI Symbol"/>
              <a:buChar char="⚫"/>
              <a:tabLst>
                <a:tab pos="241300" algn="l"/>
              </a:tabLst>
            </a:pPr>
            <a:r>
              <a:rPr sz="2150" dirty="0">
                <a:latin typeface="Times New Roman"/>
                <a:cs typeface="Times New Roman"/>
              </a:rPr>
              <a:t>Does</a:t>
            </a:r>
            <a:r>
              <a:rPr sz="2150" spc="145" dirty="0">
                <a:latin typeface="Times New Roman"/>
                <a:cs typeface="Times New Roman"/>
              </a:rPr>
              <a:t> </a:t>
            </a:r>
            <a:r>
              <a:rPr sz="2150" dirty="0">
                <a:latin typeface="Times New Roman"/>
                <a:cs typeface="Times New Roman"/>
              </a:rPr>
              <a:t>not</a:t>
            </a:r>
            <a:r>
              <a:rPr sz="2150" spc="75" dirty="0">
                <a:latin typeface="Times New Roman"/>
                <a:cs typeface="Times New Roman"/>
              </a:rPr>
              <a:t> </a:t>
            </a:r>
            <a:r>
              <a:rPr sz="2150" dirty="0">
                <a:latin typeface="Times New Roman"/>
                <a:cs typeface="Times New Roman"/>
              </a:rPr>
              <a:t>defend</a:t>
            </a:r>
            <a:r>
              <a:rPr sz="2150" spc="130" dirty="0">
                <a:latin typeface="Times New Roman"/>
                <a:cs typeface="Times New Roman"/>
              </a:rPr>
              <a:t> </a:t>
            </a:r>
            <a:r>
              <a:rPr sz="2150" dirty="0">
                <a:latin typeface="Times New Roman"/>
                <a:cs typeface="Times New Roman"/>
              </a:rPr>
              <a:t>against</a:t>
            </a:r>
            <a:r>
              <a:rPr sz="2150" spc="160" dirty="0">
                <a:latin typeface="Times New Roman"/>
                <a:cs typeface="Times New Roman"/>
              </a:rPr>
              <a:t> </a:t>
            </a:r>
            <a:r>
              <a:rPr sz="2150" dirty="0">
                <a:latin typeface="Times New Roman"/>
                <a:cs typeface="Times New Roman"/>
              </a:rPr>
              <a:t>`</a:t>
            </a:r>
            <a:r>
              <a:rPr sz="2150" b="1" dirty="0">
                <a:solidFill>
                  <a:srgbClr val="0000FF"/>
                </a:solidFill>
                <a:latin typeface="Times New Roman"/>
                <a:cs typeface="Times New Roman"/>
              </a:rPr>
              <a:t>return-to-libc</a:t>
            </a:r>
            <a:r>
              <a:rPr sz="2150" dirty="0">
                <a:latin typeface="Times New Roman"/>
                <a:cs typeface="Times New Roman"/>
              </a:rPr>
              <a:t>’</a:t>
            </a:r>
            <a:r>
              <a:rPr sz="2150" spc="-70" dirty="0">
                <a:latin typeface="Times New Roman"/>
                <a:cs typeface="Times New Roman"/>
              </a:rPr>
              <a:t> </a:t>
            </a:r>
            <a:r>
              <a:rPr sz="2150" spc="-10" dirty="0">
                <a:latin typeface="Times New Roman"/>
                <a:cs typeface="Times New Roman"/>
              </a:rPr>
              <a:t>exploits</a:t>
            </a:r>
            <a:endParaRPr sz="2150" dirty="0">
              <a:latin typeface="Times New Roman"/>
              <a:cs typeface="Times New Roman"/>
            </a:endParaRPr>
          </a:p>
        </p:txBody>
      </p:sp>
      <p:pic>
        <p:nvPicPr>
          <p:cNvPr id="9" name="object 9"/>
          <p:cNvPicPr/>
          <p:nvPr/>
        </p:nvPicPr>
        <p:blipFill>
          <a:blip r:embed="rId2" cstate="print"/>
          <a:stretch>
            <a:fillRect/>
          </a:stretch>
        </p:blipFill>
        <p:spPr>
          <a:xfrm>
            <a:off x="457200" y="6248400"/>
            <a:ext cx="476250" cy="381000"/>
          </a:xfrm>
          <a:prstGeom prst="rect">
            <a:avLst/>
          </a:prstGeom>
        </p:spPr>
      </p:pic>
      <p:sp>
        <p:nvSpPr>
          <p:cNvPr id="10" name="object 10"/>
          <p:cNvSpPr txBox="1">
            <a:spLocks noGrp="1"/>
          </p:cNvSpPr>
          <p:nvPr>
            <p:ph type="ftr" sz="quarter" idx="5"/>
          </p:nvPr>
        </p:nvSpPr>
        <p:spPr>
          <a:prstGeom prst="rect">
            <a:avLst/>
          </a:prstGeom>
        </p:spPr>
        <p:txBody>
          <a:bodyPr vert="horz" wrap="square" lIns="0" tIns="76200" rIns="0" bIns="0" rtlCol="0">
            <a:spAutoFit/>
          </a:bodyPr>
          <a:lstStyle/>
          <a:p>
            <a:pPr marL="165100">
              <a:lnSpc>
                <a:spcPts val="1550"/>
              </a:lnSpc>
            </a:pPr>
            <a:r>
              <a:rPr spc="-180" dirty="0"/>
              <a:t>FAST-</a:t>
            </a:r>
            <a:r>
              <a:rPr spc="-100" dirty="0"/>
              <a:t>NUCES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6575" y="212724"/>
            <a:ext cx="1953260" cy="575310"/>
          </a:xfrm>
          <a:prstGeom prst="rect">
            <a:avLst/>
          </a:prstGeom>
        </p:spPr>
        <p:txBody>
          <a:bodyPr vert="horz" wrap="square" lIns="0" tIns="13335" rIns="0" bIns="0" rtlCol="0">
            <a:spAutoFit/>
          </a:bodyPr>
          <a:lstStyle/>
          <a:p>
            <a:pPr marL="12700">
              <a:lnSpc>
                <a:spcPct val="100000"/>
              </a:lnSpc>
              <a:spcBef>
                <a:spcPts val="105"/>
              </a:spcBef>
            </a:pPr>
            <a:r>
              <a:rPr spc="-10" dirty="0"/>
              <a:t>Examples:</a:t>
            </a:r>
          </a:p>
        </p:txBody>
      </p:sp>
      <p:sp>
        <p:nvSpPr>
          <p:cNvPr id="3" name="object 3"/>
          <p:cNvSpPr txBox="1"/>
          <p:nvPr/>
        </p:nvSpPr>
        <p:spPr>
          <a:xfrm>
            <a:off x="2813077" y="212724"/>
            <a:ext cx="4767580" cy="575310"/>
          </a:xfrm>
          <a:prstGeom prst="rect">
            <a:avLst/>
          </a:prstGeom>
        </p:spPr>
        <p:txBody>
          <a:bodyPr vert="horz" wrap="square" lIns="0" tIns="13335" rIns="0" bIns="0" rtlCol="0">
            <a:spAutoFit/>
          </a:bodyPr>
          <a:lstStyle/>
          <a:p>
            <a:pPr marL="12700">
              <a:lnSpc>
                <a:spcPct val="100000"/>
              </a:lnSpc>
              <a:spcBef>
                <a:spcPts val="105"/>
              </a:spcBef>
            </a:pPr>
            <a:r>
              <a:rPr sz="3600" dirty="0">
                <a:latin typeface="Times New Roman"/>
                <a:cs typeface="Times New Roman"/>
              </a:rPr>
              <a:t>DEP</a:t>
            </a:r>
            <a:r>
              <a:rPr sz="3600" spc="-140" dirty="0">
                <a:latin typeface="Times New Roman"/>
                <a:cs typeface="Times New Roman"/>
              </a:rPr>
              <a:t> </a:t>
            </a:r>
            <a:r>
              <a:rPr sz="3600" dirty="0">
                <a:latin typeface="Times New Roman"/>
                <a:cs typeface="Times New Roman"/>
              </a:rPr>
              <a:t>controls</a:t>
            </a:r>
            <a:r>
              <a:rPr sz="3600" spc="-50" dirty="0">
                <a:latin typeface="Times New Roman"/>
                <a:cs typeface="Times New Roman"/>
              </a:rPr>
              <a:t> </a:t>
            </a:r>
            <a:r>
              <a:rPr sz="3600" dirty="0">
                <a:latin typeface="Times New Roman"/>
                <a:cs typeface="Times New Roman"/>
              </a:rPr>
              <a:t>in</a:t>
            </a:r>
            <a:r>
              <a:rPr sz="3600" spc="-65" dirty="0">
                <a:latin typeface="Times New Roman"/>
                <a:cs typeface="Times New Roman"/>
              </a:rPr>
              <a:t> </a:t>
            </a:r>
            <a:r>
              <a:rPr sz="3600" spc="-10" dirty="0">
                <a:latin typeface="Times New Roman"/>
                <a:cs typeface="Times New Roman"/>
              </a:rPr>
              <a:t>Windows</a:t>
            </a:r>
            <a:endParaRPr sz="3600">
              <a:latin typeface="Times New Roman"/>
              <a:cs typeface="Times New Roman"/>
            </a:endParaRPr>
          </a:p>
        </p:txBody>
      </p:sp>
      <p:pic>
        <p:nvPicPr>
          <p:cNvPr id="4" name="object 4"/>
          <p:cNvPicPr/>
          <p:nvPr/>
        </p:nvPicPr>
        <p:blipFill>
          <a:blip r:embed="rId2" cstate="print"/>
          <a:stretch>
            <a:fillRect/>
          </a:stretch>
        </p:blipFill>
        <p:spPr>
          <a:xfrm>
            <a:off x="762000" y="990600"/>
            <a:ext cx="3590925" cy="5133975"/>
          </a:xfrm>
          <a:prstGeom prst="rect">
            <a:avLst/>
          </a:prstGeom>
        </p:spPr>
      </p:pic>
      <p:pic>
        <p:nvPicPr>
          <p:cNvPr id="5" name="object 5"/>
          <p:cNvPicPr/>
          <p:nvPr/>
        </p:nvPicPr>
        <p:blipFill>
          <a:blip r:embed="rId3" cstate="print"/>
          <a:stretch>
            <a:fillRect/>
          </a:stretch>
        </p:blipFill>
        <p:spPr>
          <a:xfrm>
            <a:off x="4572000" y="2286000"/>
            <a:ext cx="4105275" cy="2390775"/>
          </a:xfrm>
          <a:prstGeom prst="rect">
            <a:avLst/>
          </a:prstGeom>
        </p:spPr>
      </p:pic>
      <p:sp>
        <p:nvSpPr>
          <p:cNvPr id="6" name="object 6"/>
          <p:cNvSpPr txBox="1"/>
          <p:nvPr/>
        </p:nvSpPr>
        <p:spPr>
          <a:xfrm>
            <a:off x="4960620" y="5288279"/>
            <a:ext cx="3391535" cy="392430"/>
          </a:xfrm>
          <a:prstGeom prst="rect">
            <a:avLst/>
          </a:prstGeom>
        </p:spPr>
        <p:txBody>
          <a:bodyPr vert="horz" wrap="square" lIns="0" tIns="13335" rIns="0" bIns="0" rtlCol="0">
            <a:spAutoFit/>
          </a:bodyPr>
          <a:lstStyle/>
          <a:p>
            <a:pPr marL="12700">
              <a:lnSpc>
                <a:spcPct val="100000"/>
              </a:lnSpc>
              <a:spcBef>
                <a:spcPts val="105"/>
              </a:spcBef>
            </a:pPr>
            <a:r>
              <a:rPr sz="2400" dirty="0">
                <a:latin typeface="Times New Roman"/>
                <a:cs typeface="Times New Roman"/>
              </a:rPr>
              <a:t>DEP</a:t>
            </a:r>
            <a:r>
              <a:rPr sz="2400" spc="-150" dirty="0">
                <a:latin typeface="Times New Roman"/>
                <a:cs typeface="Times New Roman"/>
              </a:rPr>
              <a:t> </a:t>
            </a:r>
            <a:r>
              <a:rPr sz="2400" dirty="0">
                <a:latin typeface="Times New Roman"/>
                <a:cs typeface="Times New Roman"/>
              </a:rPr>
              <a:t>terminating</a:t>
            </a:r>
            <a:r>
              <a:rPr sz="2400" spc="-25" dirty="0">
                <a:latin typeface="Times New Roman"/>
                <a:cs typeface="Times New Roman"/>
              </a:rPr>
              <a:t> </a:t>
            </a:r>
            <a:r>
              <a:rPr sz="2400" dirty="0">
                <a:latin typeface="Times New Roman"/>
                <a:cs typeface="Times New Roman"/>
              </a:rPr>
              <a:t>a</a:t>
            </a:r>
            <a:r>
              <a:rPr sz="2400" spc="35" dirty="0">
                <a:latin typeface="Times New Roman"/>
                <a:cs typeface="Times New Roman"/>
              </a:rPr>
              <a:t> </a:t>
            </a:r>
            <a:r>
              <a:rPr sz="2400" spc="-10" dirty="0">
                <a:latin typeface="Times New Roman"/>
                <a:cs typeface="Times New Roman"/>
              </a:rPr>
              <a:t>program</a:t>
            </a:r>
            <a:endParaRPr sz="2400">
              <a:latin typeface="Times New Roman"/>
              <a:cs typeface="Times New Roman"/>
            </a:endParaRPr>
          </a:p>
        </p:txBody>
      </p:sp>
      <p:pic>
        <p:nvPicPr>
          <p:cNvPr id="7" name="object 7"/>
          <p:cNvPicPr/>
          <p:nvPr/>
        </p:nvPicPr>
        <p:blipFill>
          <a:blip r:embed="rId4" cstate="print"/>
          <a:stretch>
            <a:fillRect/>
          </a:stretch>
        </p:blipFill>
        <p:spPr>
          <a:xfrm>
            <a:off x="457200" y="6248400"/>
            <a:ext cx="476250" cy="381000"/>
          </a:xfrm>
          <a:prstGeom prst="rect">
            <a:avLst/>
          </a:prstGeom>
        </p:spPr>
      </p:pic>
      <p:sp>
        <p:nvSpPr>
          <p:cNvPr id="8" name="object 8"/>
          <p:cNvSpPr txBox="1">
            <a:spLocks noGrp="1"/>
          </p:cNvSpPr>
          <p:nvPr>
            <p:ph type="ftr" sz="quarter" idx="5"/>
          </p:nvPr>
        </p:nvSpPr>
        <p:spPr>
          <a:prstGeom prst="rect">
            <a:avLst/>
          </a:prstGeom>
        </p:spPr>
        <p:txBody>
          <a:bodyPr vert="horz" wrap="square" lIns="0" tIns="76200" rIns="0" bIns="0" rtlCol="0">
            <a:spAutoFit/>
          </a:bodyPr>
          <a:lstStyle/>
          <a:p>
            <a:pPr marL="165100">
              <a:lnSpc>
                <a:spcPts val="1550"/>
              </a:lnSpc>
            </a:pPr>
            <a:r>
              <a:rPr spc="-180" dirty="0"/>
              <a:t>FAST-</a:t>
            </a:r>
            <a:r>
              <a:rPr spc="-100" dirty="0"/>
              <a:t>NUCES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857" y="370205"/>
            <a:ext cx="3968750" cy="575310"/>
          </a:xfrm>
          <a:prstGeom prst="rect">
            <a:avLst/>
          </a:prstGeom>
        </p:spPr>
        <p:txBody>
          <a:bodyPr vert="horz" wrap="square" lIns="0" tIns="13335" rIns="0" bIns="0" rtlCol="0">
            <a:spAutoFit/>
          </a:bodyPr>
          <a:lstStyle/>
          <a:p>
            <a:pPr marL="12700">
              <a:lnSpc>
                <a:spcPct val="100000"/>
              </a:lnSpc>
              <a:spcBef>
                <a:spcPts val="105"/>
              </a:spcBef>
              <a:tabLst>
                <a:tab pos="1585595" algn="l"/>
              </a:tabLst>
            </a:pPr>
            <a:r>
              <a:rPr spc="-10" dirty="0"/>
              <a:t>Attack:</a:t>
            </a:r>
            <a:r>
              <a:rPr dirty="0"/>
              <a:t>	return to</a:t>
            </a:r>
            <a:r>
              <a:rPr spc="15" dirty="0"/>
              <a:t> </a:t>
            </a:r>
            <a:r>
              <a:rPr spc="-20" dirty="0"/>
              <a:t>libc</a:t>
            </a:r>
          </a:p>
        </p:txBody>
      </p:sp>
      <p:sp>
        <p:nvSpPr>
          <p:cNvPr id="3" name="object 3"/>
          <p:cNvSpPr txBox="1"/>
          <p:nvPr/>
        </p:nvSpPr>
        <p:spPr>
          <a:xfrm>
            <a:off x="231457" y="946970"/>
            <a:ext cx="5436235" cy="391795"/>
          </a:xfrm>
          <a:prstGeom prst="rect">
            <a:avLst/>
          </a:prstGeom>
        </p:spPr>
        <p:txBody>
          <a:bodyPr vert="horz" wrap="square" lIns="0" tIns="12700" rIns="0" bIns="0" rtlCol="0">
            <a:spAutoFit/>
          </a:bodyPr>
          <a:lstStyle/>
          <a:p>
            <a:pPr marL="363220" indent="-350520">
              <a:lnSpc>
                <a:spcPct val="100000"/>
              </a:lnSpc>
              <a:spcBef>
                <a:spcPts val="100"/>
              </a:spcBef>
              <a:buClr>
                <a:srgbClr val="D24717"/>
              </a:buClr>
              <a:buSzPct val="83333"/>
              <a:buFont typeface="Segoe UI Symbol"/>
              <a:buChar char="⚫"/>
              <a:tabLst>
                <a:tab pos="363220" algn="l"/>
              </a:tabLst>
            </a:pPr>
            <a:r>
              <a:rPr sz="2400" dirty="0">
                <a:latin typeface="Times New Roman"/>
                <a:cs typeface="Times New Roman"/>
              </a:rPr>
              <a:t>Control</a:t>
            </a:r>
            <a:r>
              <a:rPr sz="2400" spc="-35" dirty="0">
                <a:latin typeface="Times New Roman"/>
                <a:cs typeface="Times New Roman"/>
              </a:rPr>
              <a:t> </a:t>
            </a:r>
            <a:r>
              <a:rPr sz="2400" dirty="0">
                <a:latin typeface="Times New Roman"/>
                <a:cs typeface="Times New Roman"/>
              </a:rPr>
              <a:t>hijacking</a:t>
            </a:r>
            <a:r>
              <a:rPr sz="2400" spc="-35" dirty="0">
                <a:latin typeface="Times New Roman"/>
                <a:cs typeface="Times New Roman"/>
              </a:rPr>
              <a:t> </a:t>
            </a:r>
            <a:r>
              <a:rPr sz="2400" dirty="0">
                <a:latin typeface="Times New Roman"/>
                <a:cs typeface="Times New Roman"/>
              </a:rPr>
              <a:t>without</a:t>
            </a:r>
            <a:r>
              <a:rPr sz="2400" spc="-35" dirty="0">
                <a:latin typeface="Times New Roman"/>
                <a:cs typeface="Times New Roman"/>
              </a:rPr>
              <a:t> </a:t>
            </a:r>
            <a:r>
              <a:rPr sz="2400" dirty="0">
                <a:latin typeface="Times New Roman"/>
                <a:cs typeface="Times New Roman"/>
              </a:rPr>
              <a:t>executing</a:t>
            </a:r>
            <a:r>
              <a:rPr sz="2400" spc="-30" dirty="0">
                <a:latin typeface="Times New Roman"/>
                <a:cs typeface="Times New Roman"/>
              </a:rPr>
              <a:t> </a:t>
            </a:r>
            <a:r>
              <a:rPr sz="2400" spc="-20" dirty="0">
                <a:latin typeface="Times New Roman"/>
                <a:cs typeface="Times New Roman"/>
              </a:rPr>
              <a:t>code</a:t>
            </a:r>
            <a:endParaRPr sz="2400" dirty="0">
              <a:latin typeface="Times New Roman"/>
              <a:cs typeface="Times New Roman"/>
            </a:endParaRPr>
          </a:p>
        </p:txBody>
      </p:sp>
      <p:sp>
        <p:nvSpPr>
          <p:cNvPr id="4" name="object 4"/>
          <p:cNvSpPr/>
          <p:nvPr/>
        </p:nvSpPr>
        <p:spPr>
          <a:xfrm>
            <a:off x="3113278" y="3632568"/>
            <a:ext cx="2754630" cy="1920875"/>
          </a:xfrm>
          <a:custGeom>
            <a:avLst/>
            <a:gdLst/>
            <a:ahLst/>
            <a:cxnLst/>
            <a:rect l="l" t="t" r="r" b="b"/>
            <a:pathLst>
              <a:path w="2754629" h="1920875">
                <a:moveTo>
                  <a:pt x="2754122" y="472821"/>
                </a:moveTo>
                <a:lnTo>
                  <a:pt x="2716022" y="453771"/>
                </a:lnTo>
                <a:lnTo>
                  <a:pt x="2639822" y="415671"/>
                </a:lnTo>
                <a:lnTo>
                  <a:pt x="2639822" y="453771"/>
                </a:lnTo>
                <a:lnTo>
                  <a:pt x="675271" y="453771"/>
                </a:lnTo>
                <a:lnTo>
                  <a:pt x="21844" y="0"/>
                </a:lnTo>
                <a:lnTo>
                  <a:pt x="0" y="31242"/>
                </a:lnTo>
                <a:lnTo>
                  <a:pt x="608444" y="453771"/>
                </a:lnTo>
                <a:lnTo>
                  <a:pt x="10922" y="453771"/>
                </a:lnTo>
                <a:lnTo>
                  <a:pt x="10922" y="491871"/>
                </a:lnTo>
                <a:lnTo>
                  <a:pt x="663308" y="491871"/>
                </a:lnTo>
                <a:lnTo>
                  <a:pt x="2649347" y="1871052"/>
                </a:lnTo>
                <a:lnTo>
                  <a:pt x="2627630" y="1902333"/>
                </a:lnTo>
                <a:lnTo>
                  <a:pt x="2754122" y="1920621"/>
                </a:lnTo>
                <a:lnTo>
                  <a:pt x="2732925" y="1881886"/>
                </a:lnTo>
                <a:lnTo>
                  <a:pt x="2692781" y="1808480"/>
                </a:lnTo>
                <a:lnTo>
                  <a:pt x="2671089" y="1839734"/>
                </a:lnTo>
                <a:lnTo>
                  <a:pt x="730135" y="491871"/>
                </a:lnTo>
                <a:lnTo>
                  <a:pt x="2639822" y="491871"/>
                </a:lnTo>
                <a:lnTo>
                  <a:pt x="2639822" y="529971"/>
                </a:lnTo>
                <a:lnTo>
                  <a:pt x="2716022" y="491871"/>
                </a:lnTo>
                <a:lnTo>
                  <a:pt x="2754122" y="472821"/>
                </a:lnTo>
                <a:close/>
              </a:path>
            </a:pathLst>
          </a:custGeom>
          <a:solidFill>
            <a:srgbClr val="000000"/>
          </a:solidFill>
        </p:spPr>
        <p:txBody>
          <a:bodyPr wrap="square" lIns="0" tIns="0" rIns="0" bIns="0" rtlCol="0"/>
          <a:lstStyle/>
          <a:p>
            <a:endParaRPr/>
          </a:p>
        </p:txBody>
      </p:sp>
      <p:graphicFrame>
        <p:nvGraphicFramePr>
          <p:cNvPr id="5" name="object 5"/>
          <p:cNvGraphicFramePr>
            <a:graphicFrameLocks noGrp="1"/>
          </p:cNvGraphicFramePr>
          <p:nvPr>
            <p:extLst>
              <p:ext uri="{D42A27DB-BD31-4B8C-83A1-F6EECF244321}">
                <p14:modId xmlns:p14="http://schemas.microsoft.com/office/powerpoint/2010/main" val="1000091434"/>
              </p:ext>
            </p:extLst>
          </p:nvPr>
        </p:nvGraphicFramePr>
        <p:xfrm>
          <a:off x="1828863" y="2891016"/>
          <a:ext cx="1295400" cy="3352165"/>
        </p:xfrm>
        <a:graphic>
          <a:graphicData uri="http://schemas.openxmlformats.org/drawingml/2006/table">
            <a:tbl>
              <a:tblPr firstRow="1" bandRow="1">
                <a:tableStyleId>{2D5ABB26-0587-4C30-8999-92F81FD0307C}</a:tableStyleId>
              </a:tblPr>
              <a:tblGrid>
                <a:gridCol w="1295400">
                  <a:extLst>
                    <a:ext uri="{9D8B030D-6E8A-4147-A177-3AD203B41FA5}">
                      <a16:colId xmlns:a16="http://schemas.microsoft.com/office/drawing/2014/main" val="20000"/>
                    </a:ext>
                  </a:extLst>
                </a:gridCol>
              </a:tblGrid>
              <a:tr h="228600">
                <a:tc>
                  <a:txBody>
                    <a:bodyPr/>
                    <a:lstStyle/>
                    <a:p>
                      <a:pPr>
                        <a:lnSpc>
                          <a:spcPct val="100000"/>
                        </a:lnSpc>
                      </a:pPr>
                      <a:endParaRPr sz="1300">
                        <a:latin typeface="Times New Roman"/>
                        <a:cs typeface="Times New Roman"/>
                      </a:endParaRPr>
                    </a:p>
                  </a:txBody>
                  <a:tcPr marL="0" marR="0" marT="0" marB="0">
                    <a:lnL w="9525">
                      <a:solidFill>
                        <a:srgbClr val="000000"/>
                      </a:solidFill>
                      <a:prstDash val="solid"/>
                    </a:lnL>
                    <a:lnR w="9525">
                      <a:solidFill>
                        <a:srgbClr val="000000"/>
                      </a:solidFill>
                      <a:prstDash val="solid"/>
                    </a:lnR>
                    <a:lnB w="9525">
                      <a:solidFill>
                        <a:srgbClr val="000000"/>
                      </a:solidFill>
                      <a:prstDash val="solid"/>
                    </a:lnB>
                  </a:tcPr>
                </a:tc>
                <a:extLst>
                  <a:ext uri="{0D108BD9-81ED-4DB2-BD59-A6C34878D82A}">
                    <a16:rowId xmlns:a16="http://schemas.microsoft.com/office/drawing/2014/main" val="10000"/>
                  </a:ext>
                </a:extLst>
              </a:tr>
              <a:tr h="762000">
                <a:tc>
                  <a:txBody>
                    <a:bodyPr/>
                    <a:lstStyle/>
                    <a:p>
                      <a:pPr algn="ctr">
                        <a:lnSpc>
                          <a:spcPct val="100000"/>
                        </a:lnSpc>
                        <a:spcBef>
                          <a:spcPts val="1480"/>
                        </a:spcBef>
                      </a:pPr>
                      <a:r>
                        <a:rPr sz="2400" spc="-20" dirty="0">
                          <a:latin typeface="Times New Roman"/>
                          <a:cs typeface="Times New Roman"/>
                        </a:rPr>
                        <a:t>args</a:t>
                      </a:r>
                      <a:endParaRPr sz="2400">
                        <a:latin typeface="Times New Roman"/>
                        <a:cs typeface="Times New Roman"/>
                      </a:endParaRPr>
                    </a:p>
                  </a:txBody>
                  <a:tcPr marL="0" marR="0" marT="18796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006FC0"/>
                    </a:solidFill>
                  </a:tcPr>
                </a:tc>
                <a:extLst>
                  <a:ext uri="{0D108BD9-81ED-4DB2-BD59-A6C34878D82A}">
                    <a16:rowId xmlns:a16="http://schemas.microsoft.com/office/drawing/2014/main" val="10001"/>
                  </a:ext>
                </a:extLst>
              </a:tr>
              <a:tr h="381000">
                <a:tc>
                  <a:txBody>
                    <a:bodyPr/>
                    <a:lstStyle/>
                    <a:p>
                      <a:pPr algn="ctr">
                        <a:lnSpc>
                          <a:spcPts val="2865"/>
                        </a:lnSpc>
                      </a:pPr>
                      <a:r>
                        <a:rPr sz="2400" spc="-10" dirty="0">
                          <a:latin typeface="Times New Roman"/>
                          <a:cs typeface="Times New Roman"/>
                        </a:rPr>
                        <a:t>ret-</a:t>
                      </a:r>
                      <a:r>
                        <a:rPr sz="2400" spc="-20" dirty="0">
                          <a:latin typeface="Times New Roman"/>
                          <a:cs typeface="Times New Roman"/>
                        </a:rPr>
                        <a:t>addr</a:t>
                      </a:r>
                      <a:endParaRPr sz="24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006FC0"/>
                    </a:solidFill>
                  </a:tcPr>
                </a:tc>
                <a:extLst>
                  <a:ext uri="{0D108BD9-81ED-4DB2-BD59-A6C34878D82A}">
                    <a16:rowId xmlns:a16="http://schemas.microsoft.com/office/drawing/2014/main" val="10002"/>
                  </a:ext>
                </a:extLst>
              </a:tr>
              <a:tr h="381000">
                <a:tc>
                  <a:txBody>
                    <a:bodyPr/>
                    <a:lstStyle/>
                    <a:p>
                      <a:pPr algn="ctr">
                        <a:lnSpc>
                          <a:spcPts val="2870"/>
                        </a:lnSpc>
                      </a:pPr>
                      <a:r>
                        <a:rPr sz="2400" spc="-25" dirty="0">
                          <a:latin typeface="Times New Roman"/>
                          <a:cs typeface="Times New Roman"/>
                        </a:rPr>
                        <a:t>sfp</a:t>
                      </a:r>
                      <a:endParaRPr sz="24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006FC0"/>
                    </a:solidFill>
                  </a:tcPr>
                </a:tc>
                <a:extLst>
                  <a:ext uri="{0D108BD9-81ED-4DB2-BD59-A6C34878D82A}">
                    <a16:rowId xmlns:a16="http://schemas.microsoft.com/office/drawing/2014/main" val="10003"/>
                  </a:ext>
                </a:extLst>
              </a:tr>
              <a:tr h="457200">
                <a:tc>
                  <a:txBody>
                    <a:bodyPr/>
                    <a:lstStyle/>
                    <a:p>
                      <a:pPr>
                        <a:lnSpc>
                          <a:spcPct val="100000"/>
                        </a:lnSpc>
                      </a:pPr>
                      <a:endParaRPr sz="25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006FC0"/>
                    </a:solidFill>
                  </a:tcPr>
                </a:tc>
                <a:extLst>
                  <a:ext uri="{0D108BD9-81ED-4DB2-BD59-A6C34878D82A}">
                    <a16:rowId xmlns:a16="http://schemas.microsoft.com/office/drawing/2014/main" val="10004"/>
                  </a:ext>
                </a:extLst>
              </a:tr>
              <a:tr h="838200">
                <a:tc>
                  <a:txBody>
                    <a:bodyPr/>
                    <a:lstStyle/>
                    <a:p>
                      <a:pPr algn="ctr">
                        <a:lnSpc>
                          <a:spcPct val="100000"/>
                        </a:lnSpc>
                        <a:spcBef>
                          <a:spcPts val="1800"/>
                        </a:spcBef>
                      </a:pPr>
                      <a:r>
                        <a:rPr sz="2400" dirty="0">
                          <a:latin typeface="Times New Roman"/>
                          <a:cs typeface="Times New Roman"/>
                        </a:rPr>
                        <a:t>local</a:t>
                      </a:r>
                      <a:r>
                        <a:rPr sz="2400" spc="-20" dirty="0">
                          <a:latin typeface="Times New Roman"/>
                          <a:cs typeface="Times New Roman"/>
                        </a:rPr>
                        <a:t> </a:t>
                      </a:r>
                      <a:r>
                        <a:rPr sz="2400" spc="-25" dirty="0">
                          <a:latin typeface="Times New Roman"/>
                          <a:cs typeface="Times New Roman"/>
                        </a:rPr>
                        <a:t>buf</a:t>
                      </a:r>
                      <a:endParaRPr sz="2400">
                        <a:latin typeface="Times New Roman"/>
                        <a:cs typeface="Times New Roman"/>
                      </a:endParaRPr>
                    </a:p>
                  </a:txBody>
                  <a:tcPr marL="0" marR="0" marT="22860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006FC0"/>
                    </a:solidFill>
                  </a:tcPr>
                </a:tc>
                <a:extLst>
                  <a:ext uri="{0D108BD9-81ED-4DB2-BD59-A6C34878D82A}">
                    <a16:rowId xmlns:a16="http://schemas.microsoft.com/office/drawing/2014/main" val="10005"/>
                  </a:ext>
                </a:extLst>
              </a:tr>
              <a:tr h="304165">
                <a:tc>
                  <a:txBody>
                    <a:bodyPr/>
                    <a:lstStyle/>
                    <a:p>
                      <a:pPr>
                        <a:lnSpc>
                          <a:spcPct val="100000"/>
                        </a:lnSpc>
                      </a:pPr>
                      <a:endParaRPr sz="19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tcPr>
                </a:tc>
                <a:extLst>
                  <a:ext uri="{0D108BD9-81ED-4DB2-BD59-A6C34878D82A}">
                    <a16:rowId xmlns:a16="http://schemas.microsoft.com/office/drawing/2014/main" val="10006"/>
                  </a:ext>
                </a:extLst>
              </a:tr>
            </a:tbl>
          </a:graphicData>
        </a:graphic>
      </p:graphicFrame>
      <p:sp>
        <p:nvSpPr>
          <p:cNvPr id="6" name="object 6"/>
          <p:cNvSpPr/>
          <p:nvPr/>
        </p:nvSpPr>
        <p:spPr>
          <a:xfrm>
            <a:off x="2057400" y="2505190"/>
            <a:ext cx="819150" cy="457200"/>
          </a:xfrm>
          <a:custGeom>
            <a:avLst/>
            <a:gdLst/>
            <a:ahLst/>
            <a:cxnLst/>
            <a:rect l="l" t="t" r="r" b="b"/>
            <a:pathLst>
              <a:path w="819150" h="457200">
                <a:moveTo>
                  <a:pt x="819150" y="0"/>
                </a:moveTo>
                <a:lnTo>
                  <a:pt x="0" y="0"/>
                </a:lnTo>
                <a:lnTo>
                  <a:pt x="0" y="457200"/>
                </a:lnTo>
                <a:lnTo>
                  <a:pt x="819150" y="457200"/>
                </a:lnTo>
                <a:lnTo>
                  <a:pt x="819150" y="0"/>
                </a:lnTo>
                <a:close/>
              </a:path>
            </a:pathLst>
          </a:custGeom>
          <a:solidFill>
            <a:srgbClr val="006FC0"/>
          </a:solidFill>
        </p:spPr>
        <p:txBody>
          <a:bodyPr wrap="square" lIns="0" tIns="0" rIns="0" bIns="0" rtlCol="0"/>
          <a:lstStyle/>
          <a:p>
            <a:endParaRPr/>
          </a:p>
        </p:txBody>
      </p:sp>
      <p:sp>
        <p:nvSpPr>
          <p:cNvPr id="7" name="object 7"/>
          <p:cNvSpPr txBox="1"/>
          <p:nvPr/>
        </p:nvSpPr>
        <p:spPr>
          <a:xfrm>
            <a:off x="2138426" y="2531542"/>
            <a:ext cx="654050" cy="391795"/>
          </a:xfrm>
          <a:prstGeom prst="rect">
            <a:avLst/>
          </a:prstGeom>
        </p:spPr>
        <p:txBody>
          <a:bodyPr vert="horz" wrap="square" lIns="0" tIns="12700" rIns="0" bIns="0" rtlCol="0">
            <a:spAutoFit/>
          </a:bodyPr>
          <a:lstStyle/>
          <a:p>
            <a:pPr marL="12700">
              <a:lnSpc>
                <a:spcPct val="100000"/>
              </a:lnSpc>
              <a:spcBef>
                <a:spcPts val="100"/>
              </a:spcBef>
            </a:pPr>
            <a:r>
              <a:rPr sz="2400" spc="-10" dirty="0">
                <a:latin typeface="Times New Roman"/>
                <a:cs typeface="Times New Roman"/>
              </a:rPr>
              <a:t>stack</a:t>
            </a:r>
            <a:endParaRPr sz="2400">
              <a:latin typeface="Times New Roman"/>
              <a:cs typeface="Times New Roman"/>
            </a:endParaRPr>
          </a:p>
        </p:txBody>
      </p:sp>
      <p:graphicFrame>
        <p:nvGraphicFramePr>
          <p:cNvPr id="8" name="object 8"/>
          <p:cNvGraphicFramePr>
            <a:graphicFrameLocks noGrp="1"/>
          </p:cNvGraphicFramePr>
          <p:nvPr>
            <p:extLst>
              <p:ext uri="{D42A27DB-BD31-4B8C-83A1-F6EECF244321}">
                <p14:modId xmlns:p14="http://schemas.microsoft.com/office/powerpoint/2010/main" val="230920047"/>
              </p:ext>
            </p:extLst>
          </p:nvPr>
        </p:nvGraphicFramePr>
        <p:xfrm>
          <a:off x="5867463" y="2891016"/>
          <a:ext cx="1295400" cy="3352165"/>
        </p:xfrm>
        <a:graphic>
          <a:graphicData uri="http://schemas.openxmlformats.org/drawingml/2006/table">
            <a:tbl>
              <a:tblPr firstRow="1" bandRow="1">
                <a:tableStyleId>{2D5ABB26-0587-4C30-8999-92F81FD0307C}</a:tableStyleId>
              </a:tblPr>
              <a:tblGrid>
                <a:gridCol w="1295400">
                  <a:extLst>
                    <a:ext uri="{9D8B030D-6E8A-4147-A177-3AD203B41FA5}">
                      <a16:colId xmlns:a16="http://schemas.microsoft.com/office/drawing/2014/main" val="20000"/>
                    </a:ext>
                  </a:extLst>
                </a:gridCol>
              </a:tblGrid>
              <a:tr h="228600">
                <a:tc>
                  <a:txBody>
                    <a:bodyPr/>
                    <a:lstStyle/>
                    <a:p>
                      <a:pPr>
                        <a:lnSpc>
                          <a:spcPct val="100000"/>
                        </a:lnSpc>
                      </a:pPr>
                      <a:endParaRPr sz="1300" dirty="0">
                        <a:latin typeface="Times New Roman"/>
                        <a:cs typeface="Times New Roman"/>
                      </a:endParaRPr>
                    </a:p>
                  </a:txBody>
                  <a:tcPr marL="0" marR="0" marT="0" marB="0">
                    <a:lnL w="9525">
                      <a:solidFill>
                        <a:srgbClr val="000000"/>
                      </a:solidFill>
                      <a:prstDash val="solid"/>
                    </a:lnL>
                    <a:lnR w="9525">
                      <a:solidFill>
                        <a:srgbClr val="000000"/>
                      </a:solidFill>
                      <a:prstDash val="solid"/>
                    </a:lnR>
                    <a:lnB w="9525">
                      <a:solidFill>
                        <a:srgbClr val="000000"/>
                      </a:solidFill>
                      <a:prstDash val="solid"/>
                    </a:lnB>
                  </a:tcPr>
                </a:tc>
                <a:extLst>
                  <a:ext uri="{0D108BD9-81ED-4DB2-BD59-A6C34878D82A}">
                    <a16:rowId xmlns:a16="http://schemas.microsoft.com/office/drawing/2014/main" val="10000"/>
                  </a:ext>
                </a:extLst>
              </a:tr>
              <a:tr h="762000">
                <a:tc>
                  <a:txBody>
                    <a:bodyPr/>
                    <a:lstStyle/>
                    <a:p>
                      <a:pPr>
                        <a:lnSpc>
                          <a:spcPct val="100000"/>
                        </a:lnSpc>
                      </a:pPr>
                      <a:endParaRPr sz="2500" dirty="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006FC0"/>
                    </a:solidFill>
                  </a:tcPr>
                </a:tc>
                <a:extLst>
                  <a:ext uri="{0D108BD9-81ED-4DB2-BD59-A6C34878D82A}">
                    <a16:rowId xmlns:a16="http://schemas.microsoft.com/office/drawing/2014/main" val="10001"/>
                  </a:ext>
                </a:extLst>
              </a:tr>
              <a:tr h="381000">
                <a:tc>
                  <a:txBody>
                    <a:bodyPr/>
                    <a:lstStyle/>
                    <a:p>
                      <a:pPr marL="1270" algn="ctr">
                        <a:lnSpc>
                          <a:spcPts val="2865"/>
                        </a:lnSpc>
                      </a:pPr>
                      <a:r>
                        <a:rPr sz="2400" spc="-10" dirty="0">
                          <a:latin typeface="Times New Roman"/>
                          <a:cs typeface="Times New Roman"/>
                        </a:rPr>
                        <a:t>exec()</a:t>
                      </a:r>
                      <a:endParaRPr sz="24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006FC0"/>
                    </a:solidFill>
                  </a:tcPr>
                </a:tc>
                <a:extLst>
                  <a:ext uri="{0D108BD9-81ED-4DB2-BD59-A6C34878D82A}">
                    <a16:rowId xmlns:a16="http://schemas.microsoft.com/office/drawing/2014/main" val="10002"/>
                  </a:ext>
                </a:extLst>
              </a:tr>
              <a:tr h="381000">
                <a:tc>
                  <a:txBody>
                    <a:bodyPr/>
                    <a:lstStyle/>
                    <a:p>
                      <a:pPr marL="5080" algn="ctr">
                        <a:lnSpc>
                          <a:spcPts val="2870"/>
                        </a:lnSpc>
                      </a:pPr>
                      <a:r>
                        <a:rPr sz="2400" spc="-10" dirty="0">
                          <a:latin typeface="Times New Roman"/>
                          <a:cs typeface="Times New Roman"/>
                        </a:rPr>
                        <a:t>printf()</a:t>
                      </a:r>
                      <a:endParaRPr sz="24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006FC0"/>
                    </a:solidFill>
                  </a:tcPr>
                </a:tc>
                <a:extLst>
                  <a:ext uri="{0D108BD9-81ED-4DB2-BD59-A6C34878D82A}">
                    <a16:rowId xmlns:a16="http://schemas.microsoft.com/office/drawing/2014/main" val="10003"/>
                  </a:ext>
                </a:extLst>
              </a:tr>
              <a:tr h="457200">
                <a:tc>
                  <a:txBody>
                    <a:bodyPr/>
                    <a:lstStyle/>
                    <a:p>
                      <a:pPr>
                        <a:lnSpc>
                          <a:spcPct val="100000"/>
                        </a:lnSpc>
                      </a:pPr>
                      <a:endParaRPr sz="25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006FC0"/>
                    </a:solidFill>
                  </a:tcPr>
                </a:tc>
                <a:extLst>
                  <a:ext uri="{0D108BD9-81ED-4DB2-BD59-A6C34878D82A}">
                    <a16:rowId xmlns:a16="http://schemas.microsoft.com/office/drawing/2014/main" val="10004"/>
                  </a:ext>
                </a:extLst>
              </a:tr>
              <a:tr h="838200">
                <a:tc>
                  <a:txBody>
                    <a:bodyPr/>
                    <a:lstStyle/>
                    <a:p>
                      <a:pPr marL="3175" algn="ctr">
                        <a:lnSpc>
                          <a:spcPct val="100000"/>
                        </a:lnSpc>
                        <a:spcBef>
                          <a:spcPts val="1800"/>
                        </a:spcBef>
                      </a:pPr>
                      <a:r>
                        <a:rPr sz="2400" spc="-10" dirty="0">
                          <a:latin typeface="Times New Roman"/>
                          <a:cs typeface="Times New Roman"/>
                        </a:rPr>
                        <a:t>“/bin/sh”</a:t>
                      </a:r>
                      <a:endParaRPr sz="2400">
                        <a:latin typeface="Times New Roman"/>
                        <a:cs typeface="Times New Roman"/>
                      </a:endParaRPr>
                    </a:p>
                  </a:txBody>
                  <a:tcPr marL="0" marR="0" marT="22860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006FC0"/>
                    </a:solidFill>
                  </a:tcPr>
                </a:tc>
                <a:extLst>
                  <a:ext uri="{0D108BD9-81ED-4DB2-BD59-A6C34878D82A}">
                    <a16:rowId xmlns:a16="http://schemas.microsoft.com/office/drawing/2014/main" val="10005"/>
                  </a:ext>
                </a:extLst>
              </a:tr>
              <a:tr h="304165">
                <a:tc>
                  <a:txBody>
                    <a:bodyPr/>
                    <a:lstStyle/>
                    <a:p>
                      <a:pPr>
                        <a:lnSpc>
                          <a:spcPct val="100000"/>
                        </a:lnSpc>
                      </a:pPr>
                      <a:endParaRPr sz="19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tcPr>
                </a:tc>
                <a:extLst>
                  <a:ext uri="{0D108BD9-81ED-4DB2-BD59-A6C34878D82A}">
                    <a16:rowId xmlns:a16="http://schemas.microsoft.com/office/drawing/2014/main" val="10006"/>
                  </a:ext>
                </a:extLst>
              </a:tr>
            </a:tbl>
          </a:graphicData>
        </a:graphic>
      </p:graphicFrame>
      <p:sp>
        <p:nvSpPr>
          <p:cNvPr id="9" name="object 9"/>
          <p:cNvSpPr/>
          <p:nvPr/>
        </p:nvSpPr>
        <p:spPr>
          <a:xfrm>
            <a:off x="5943600" y="2505190"/>
            <a:ext cx="1000125" cy="457200"/>
          </a:xfrm>
          <a:custGeom>
            <a:avLst/>
            <a:gdLst/>
            <a:ahLst/>
            <a:cxnLst/>
            <a:rect l="l" t="t" r="r" b="b"/>
            <a:pathLst>
              <a:path w="1000125" h="457200">
                <a:moveTo>
                  <a:pt x="1000125" y="0"/>
                </a:moveTo>
                <a:lnTo>
                  <a:pt x="0" y="0"/>
                </a:lnTo>
                <a:lnTo>
                  <a:pt x="0" y="457200"/>
                </a:lnTo>
                <a:lnTo>
                  <a:pt x="1000125" y="457200"/>
                </a:lnTo>
                <a:lnTo>
                  <a:pt x="1000125" y="0"/>
                </a:lnTo>
                <a:close/>
              </a:path>
            </a:pathLst>
          </a:custGeom>
          <a:solidFill>
            <a:srgbClr val="006FC0"/>
          </a:solidFill>
        </p:spPr>
        <p:txBody>
          <a:bodyPr wrap="square" lIns="0" tIns="0" rIns="0" bIns="0" rtlCol="0"/>
          <a:lstStyle/>
          <a:p>
            <a:endParaRPr/>
          </a:p>
        </p:txBody>
      </p:sp>
      <p:sp>
        <p:nvSpPr>
          <p:cNvPr id="10" name="object 10"/>
          <p:cNvSpPr txBox="1"/>
          <p:nvPr/>
        </p:nvSpPr>
        <p:spPr>
          <a:xfrm>
            <a:off x="6028690" y="2531542"/>
            <a:ext cx="825500" cy="391795"/>
          </a:xfrm>
          <a:prstGeom prst="rect">
            <a:avLst/>
          </a:prstGeom>
        </p:spPr>
        <p:txBody>
          <a:bodyPr vert="horz" wrap="square" lIns="0" tIns="12700" rIns="0" bIns="0" rtlCol="0">
            <a:spAutoFit/>
          </a:bodyPr>
          <a:lstStyle/>
          <a:p>
            <a:pPr marL="12700">
              <a:lnSpc>
                <a:spcPct val="100000"/>
              </a:lnSpc>
              <a:spcBef>
                <a:spcPts val="100"/>
              </a:spcBef>
            </a:pPr>
            <a:r>
              <a:rPr sz="2400" spc="-10" dirty="0">
                <a:latin typeface="Times New Roman"/>
                <a:cs typeface="Times New Roman"/>
              </a:rPr>
              <a:t>libc.so</a:t>
            </a:r>
            <a:endParaRPr sz="2400">
              <a:latin typeface="Times New Roman"/>
              <a:cs typeface="Times New Roman"/>
            </a:endParaRPr>
          </a:p>
        </p:txBody>
      </p:sp>
      <p:pic>
        <p:nvPicPr>
          <p:cNvPr id="11" name="object 11"/>
          <p:cNvPicPr/>
          <p:nvPr/>
        </p:nvPicPr>
        <p:blipFill>
          <a:blip r:embed="rId2" cstate="print"/>
          <a:stretch>
            <a:fillRect/>
          </a:stretch>
        </p:blipFill>
        <p:spPr>
          <a:xfrm>
            <a:off x="457200" y="6248400"/>
            <a:ext cx="476250" cy="381000"/>
          </a:xfrm>
          <a:prstGeom prst="rect">
            <a:avLst/>
          </a:prstGeom>
        </p:spPr>
      </p:pic>
      <p:sp>
        <p:nvSpPr>
          <p:cNvPr id="12" name="object 12"/>
          <p:cNvSpPr txBox="1">
            <a:spLocks noGrp="1"/>
          </p:cNvSpPr>
          <p:nvPr>
            <p:ph type="ftr" sz="quarter" idx="5"/>
          </p:nvPr>
        </p:nvSpPr>
        <p:spPr>
          <a:prstGeom prst="rect">
            <a:avLst/>
          </a:prstGeom>
        </p:spPr>
        <p:txBody>
          <a:bodyPr vert="horz" wrap="square" lIns="0" tIns="76200" rIns="0" bIns="0" rtlCol="0">
            <a:spAutoFit/>
          </a:bodyPr>
          <a:lstStyle/>
          <a:p>
            <a:pPr marL="165100">
              <a:lnSpc>
                <a:spcPts val="1550"/>
              </a:lnSpc>
            </a:pPr>
            <a:r>
              <a:rPr spc="-180" dirty="0"/>
              <a:t>FAST-</a:t>
            </a:r>
            <a:r>
              <a:rPr spc="-100" dirty="0"/>
              <a:t>NUCES</a:t>
            </a:r>
          </a:p>
        </p:txBody>
      </p:sp>
      <p:sp>
        <p:nvSpPr>
          <p:cNvPr id="13" name="Rectangle 12"/>
          <p:cNvSpPr/>
          <p:nvPr/>
        </p:nvSpPr>
        <p:spPr>
          <a:xfrm>
            <a:off x="231455" y="1338765"/>
            <a:ext cx="8760143" cy="830997"/>
          </a:xfrm>
          <a:prstGeom prst="rect">
            <a:avLst/>
          </a:prstGeom>
        </p:spPr>
        <p:txBody>
          <a:bodyPr wrap="square">
            <a:spAutoFit/>
          </a:bodyPr>
          <a:lstStyle/>
          <a:p>
            <a:r>
              <a:rPr lang="en-US" sz="1600" dirty="0">
                <a:solidFill>
                  <a:srgbClr val="FF0000"/>
                </a:solidFill>
              </a:rPr>
              <a:t>A Return-to-</a:t>
            </a:r>
            <a:r>
              <a:rPr lang="en-US" sz="1600" dirty="0" err="1">
                <a:solidFill>
                  <a:srgbClr val="FF0000"/>
                </a:solidFill>
              </a:rPr>
              <a:t>libc</a:t>
            </a:r>
            <a:r>
              <a:rPr lang="en-US" sz="1600" dirty="0">
                <a:solidFill>
                  <a:srgbClr val="FF0000"/>
                </a:solidFill>
              </a:rPr>
              <a:t> attack is an exploit technique in </a:t>
            </a:r>
            <a:r>
              <a:rPr lang="en-US" sz="1600" dirty="0" err="1">
                <a:solidFill>
                  <a:srgbClr val="FF0000"/>
                </a:solidFill>
              </a:rPr>
              <a:t>cybersecurity</a:t>
            </a:r>
            <a:r>
              <a:rPr lang="en-US" sz="1600" dirty="0">
                <a:solidFill>
                  <a:srgbClr val="FF0000"/>
                </a:solidFill>
              </a:rPr>
              <a:t> where instead of injecting new code, the attacker redirects the program's flow to existing, legitimate code sequences (functions) already present in the program's memory space, specifically in the </a:t>
            </a:r>
            <a:r>
              <a:rPr lang="en-US" sz="1600" dirty="0" err="1">
                <a:solidFill>
                  <a:srgbClr val="FF0000"/>
                </a:solidFill>
              </a:rPr>
              <a:t>libc</a:t>
            </a:r>
            <a:r>
              <a:rPr lang="en-US" sz="1600" dirty="0">
                <a:solidFill>
                  <a:srgbClr val="FF0000"/>
                </a:solidFill>
              </a:rPr>
              <a:t> library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1457" y="136524"/>
            <a:ext cx="4893310" cy="575310"/>
          </a:xfrm>
          <a:prstGeom prst="rect">
            <a:avLst/>
          </a:prstGeom>
        </p:spPr>
        <p:txBody>
          <a:bodyPr vert="horz" wrap="square" lIns="0" tIns="13335" rIns="0" bIns="0" rtlCol="0">
            <a:spAutoFit/>
          </a:bodyPr>
          <a:lstStyle/>
          <a:p>
            <a:pPr marL="12700">
              <a:lnSpc>
                <a:spcPct val="100000"/>
              </a:lnSpc>
              <a:spcBef>
                <a:spcPts val="105"/>
              </a:spcBef>
              <a:tabLst>
                <a:tab pos="2232025" algn="l"/>
              </a:tabLst>
            </a:pPr>
            <a:r>
              <a:rPr spc="-10" dirty="0"/>
              <a:t>Response:</a:t>
            </a:r>
            <a:r>
              <a:rPr dirty="0"/>
              <a:t>	</a:t>
            </a:r>
            <a:r>
              <a:rPr spc="-10" dirty="0"/>
              <a:t>randomization</a:t>
            </a:r>
          </a:p>
        </p:txBody>
      </p:sp>
      <p:sp>
        <p:nvSpPr>
          <p:cNvPr id="3" name="object 3"/>
          <p:cNvSpPr txBox="1"/>
          <p:nvPr/>
        </p:nvSpPr>
        <p:spPr>
          <a:xfrm>
            <a:off x="78739" y="876309"/>
            <a:ext cx="7465695" cy="1445267"/>
          </a:xfrm>
          <a:prstGeom prst="rect">
            <a:avLst/>
          </a:prstGeom>
        </p:spPr>
        <p:txBody>
          <a:bodyPr vert="horz" wrap="square" lIns="0" tIns="120650" rIns="0" bIns="0" rtlCol="0">
            <a:spAutoFit/>
          </a:bodyPr>
          <a:lstStyle/>
          <a:p>
            <a:pPr marL="363220" indent="-350520">
              <a:lnSpc>
                <a:spcPct val="100000"/>
              </a:lnSpc>
              <a:spcBef>
                <a:spcPts val="950"/>
              </a:spcBef>
              <a:buClr>
                <a:srgbClr val="D24717"/>
              </a:buClr>
              <a:buSzPct val="83333"/>
              <a:buFont typeface="Segoe UI Symbol"/>
              <a:buChar char="⚫"/>
              <a:tabLst>
                <a:tab pos="363220" algn="l"/>
                <a:tab pos="1843405" algn="l"/>
              </a:tabLst>
            </a:pPr>
            <a:r>
              <a:rPr sz="2400" b="1" u="sng" spc="-10" dirty="0">
                <a:uFill>
                  <a:solidFill>
                    <a:srgbClr val="000000"/>
                  </a:solidFill>
                </a:uFill>
                <a:latin typeface="Times New Roman"/>
                <a:cs typeface="Times New Roman"/>
              </a:rPr>
              <a:t>ASLR</a:t>
            </a:r>
            <a:r>
              <a:rPr sz="2600" spc="-10" dirty="0">
                <a:latin typeface="Times New Roman"/>
                <a:cs typeface="Times New Roman"/>
              </a:rPr>
              <a:t>:</a:t>
            </a:r>
            <a:r>
              <a:rPr sz="2600" dirty="0">
                <a:latin typeface="Times New Roman"/>
                <a:cs typeface="Times New Roman"/>
              </a:rPr>
              <a:t>	</a:t>
            </a:r>
            <a:r>
              <a:rPr sz="2800" b="1" dirty="0">
                <a:solidFill>
                  <a:srgbClr val="FF0000"/>
                </a:solidFill>
                <a:latin typeface="Times New Roman"/>
                <a:cs typeface="Times New Roman"/>
              </a:rPr>
              <a:t>(</a:t>
            </a:r>
            <a:r>
              <a:rPr sz="2400" b="1" dirty="0">
                <a:solidFill>
                  <a:srgbClr val="FF0000"/>
                </a:solidFill>
                <a:latin typeface="Times New Roman"/>
                <a:cs typeface="Times New Roman"/>
              </a:rPr>
              <a:t>Address</a:t>
            </a:r>
            <a:r>
              <a:rPr sz="2400" b="1" spc="-55" dirty="0">
                <a:solidFill>
                  <a:srgbClr val="FF0000"/>
                </a:solidFill>
                <a:latin typeface="Times New Roman"/>
                <a:cs typeface="Times New Roman"/>
              </a:rPr>
              <a:t> </a:t>
            </a:r>
            <a:r>
              <a:rPr sz="2400" b="1" dirty="0">
                <a:solidFill>
                  <a:srgbClr val="FF0000"/>
                </a:solidFill>
                <a:latin typeface="Times New Roman"/>
                <a:cs typeface="Times New Roman"/>
              </a:rPr>
              <a:t>Space</a:t>
            </a:r>
            <a:r>
              <a:rPr sz="2400" b="1" spc="-25" dirty="0">
                <a:solidFill>
                  <a:srgbClr val="FF0000"/>
                </a:solidFill>
                <a:latin typeface="Times New Roman"/>
                <a:cs typeface="Times New Roman"/>
              </a:rPr>
              <a:t> </a:t>
            </a:r>
            <a:r>
              <a:rPr sz="2400" b="1" dirty="0">
                <a:solidFill>
                  <a:srgbClr val="FF0000"/>
                </a:solidFill>
                <a:latin typeface="Times New Roman"/>
                <a:cs typeface="Times New Roman"/>
              </a:rPr>
              <a:t>Layout</a:t>
            </a:r>
            <a:r>
              <a:rPr sz="2400" b="1" spc="-10" dirty="0">
                <a:solidFill>
                  <a:srgbClr val="FF0000"/>
                </a:solidFill>
                <a:latin typeface="Times New Roman"/>
                <a:cs typeface="Times New Roman"/>
              </a:rPr>
              <a:t> Randomization)</a:t>
            </a:r>
            <a:endParaRPr sz="2400" b="1" dirty="0">
              <a:solidFill>
                <a:srgbClr val="FF0000"/>
              </a:solidFill>
              <a:latin typeface="Times New Roman"/>
              <a:cs typeface="Times New Roman"/>
            </a:endParaRPr>
          </a:p>
          <a:p>
            <a:pPr marL="561340" lvl="1" indent="-228600">
              <a:lnSpc>
                <a:spcPct val="100000"/>
              </a:lnSpc>
              <a:spcBef>
                <a:spcPts val="760"/>
              </a:spcBef>
              <a:buClr>
                <a:srgbClr val="9B2C1F"/>
              </a:buClr>
              <a:buSzPct val="83333"/>
              <a:buFont typeface="Segoe UI Symbol"/>
              <a:buChar char="⚫"/>
              <a:tabLst>
                <a:tab pos="561340" algn="l"/>
              </a:tabLst>
            </a:pPr>
            <a:r>
              <a:rPr sz="2400" dirty="0">
                <a:latin typeface="Times New Roman"/>
                <a:cs typeface="Times New Roman"/>
              </a:rPr>
              <a:t>Map</a:t>
            </a:r>
            <a:r>
              <a:rPr sz="2400" spc="-25" dirty="0">
                <a:latin typeface="Times New Roman"/>
                <a:cs typeface="Times New Roman"/>
              </a:rPr>
              <a:t> </a:t>
            </a:r>
            <a:r>
              <a:rPr sz="2400" dirty="0">
                <a:latin typeface="Times New Roman"/>
                <a:cs typeface="Times New Roman"/>
              </a:rPr>
              <a:t>shared</a:t>
            </a:r>
            <a:r>
              <a:rPr sz="2400" spc="-20" dirty="0">
                <a:latin typeface="Times New Roman"/>
                <a:cs typeface="Times New Roman"/>
              </a:rPr>
              <a:t> </a:t>
            </a:r>
            <a:r>
              <a:rPr sz="2400" dirty="0">
                <a:latin typeface="Times New Roman"/>
                <a:cs typeface="Times New Roman"/>
              </a:rPr>
              <a:t>libraries</a:t>
            </a:r>
            <a:r>
              <a:rPr sz="2400" spc="5" dirty="0">
                <a:latin typeface="Times New Roman"/>
                <a:cs typeface="Times New Roman"/>
              </a:rPr>
              <a:t> </a:t>
            </a:r>
            <a:r>
              <a:rPr sz="2400" dirty="0">
                <a:latin typeface="Times New Roman"/>
                <a:cs typeface="Times New Roman"/>
              </a:rPr>
              <a:t>to</a:t>
            </a:r>
            <a:r>
              <a:rPr sz="2400" spc="-20" dirty="0">
                <a:latin typeface="Times New Roman"/>
                <a:cs typeface="Times New Roman"/>
              </a:rPr>
              <a:t> </a:t>
            </a:r>
            <a:r>
              <a:rPr sz="2400" dirty="0">
                <a:latin typeface="Times New Roman"/>
                <a:cs typeface="Times New Roman"/>
              </a:rPr>
              <a:t>rand</a:t>
            </a:r>
            <a:r>
              <a:rPr sz="2400" spc="-20" dirty="0">
                <a:latin typeface="Times New Roman"/>
                <a:cs typeface="Times New Roman"/>
              </a:rPr>
              <a:t> </a:t>
            </a:r>
            <a:r>
              <a:rPr sz="2400" dirty="0">
                <a:latin typeface="Times New Roman"/>
                <a:cs typeface="Times New Roman"/>
              </a:rPr>
              <a:t>location</a:t>
            </a:r>
            <a:r>
              <a:rPr sz="2400" spc="-25" dirty="0">
                <a:latin typeface="Times New Roman"/>
                <a:cs typeface="Times New Roman"/>
              </a:rPr>
              <a:t> </a:t>
            </a:r>
            <a:r>
              <a:rPr sz="2400" dirty="0">
                <a:latin typeface="Times New Roman"/>
                <a:cs typeface="Times New Roman"/>
              </a:rPr>
              <a:t>in</a:t>
            </a:r>
            <a:r>
              <a:rPr sz="2400" spc="-20" dirty="0">
                <a:latin typeface="Times New Roman"/>
                <a:cs typeface="Times New Roman"/>
              </a:rPr>
              <a:t> </a:t>
            </a:r>
            <a:r>
              <a:rPr sz="2400" dirty="0">
                <a:latin typeface="Times New Roman"/>
                <a:cs typeface="Times New Roman"/>
              </a:rPr>
              <a:t>process</a:t>
            </a:r>
            <a:r>
              <a:rPr sz="2400" spc="-55" dirty="0">
                <a:latin typeface="Times New Roman"/>
                <a:cs typeface="Times New Roman"/>
              </a:rPr>
              <a:t> </a:t>
            </a:r>
            <a:r>
              <a:rPr sz="2400" spc="-10" dirty="0">
                <a:latin typeface="Times New Roman"/>
                <a:cs typeface="Times New Roman"/>
              </a:rPr>
              <a:t>memory</a:t>
            </a:r>
            <a:endParaRPr sz="2400" dirty="0">
              <a:latin typeface="Times New Roman"/>
              <a:cs typeface="Times New Roman"/>
            </a:endParaRPr>
          </a:p>
          <a:p>
            <a:pPr marL="561975">
              <a:lnSpc>
                <a:spcPct val="100000"/>
              </a:lnSpc>
              <a:spcBef>
                <a:spcPts val="425"/>
              </a:spcBef>
              <a:tabLst>
                <a:tab pos="1073785" algn="l"/>
              </a:tabLst>
            </a:pPr>
            <a:r>
              <a:rPr sz="2400" spc="-50" dirty="0">
                <a:latin typeface="Symbol"/>
                <a:cs typeface="Symbol"/>
              </a:rPr>
              <a:t></a:t>
            </a:r>
            <a:r>
              <a:rPr sz="2400" dirty="0">
                <a:latin typeface="Times New Roman"/>
                <a:cs typeface="Times New Roman"/>
              </a:rPr>
              <a:t>	Attacker</a:t>
            </a:r>
            <a:r>
              <a:rPr sz="2400" spc="-5" dirty="0">
                <a:latin typeface="Times New Roman"/>
                <a:cs typeface="Times New Roman"/>
              </a:rPr>
              <a:t> </a:t>
            </a:r>
            <a:r>
              <a:rPr sz="2400" dirty="0">
                <a:latin typeface="Times New Roman"/>
                <a:cs typeface="Times New Roman"/>
              </a:rPr>
              <a:t>cannot</a:t>
            </a:r>
            <a:r>
              <a:rPr sz="2400" spc="-25" dirty="0">
                <a:latin typeface="Times New Roman"/>
                <a:cs typeface="Times New Roman"/>
              </a:rPr>
              <a:t> </a:t>
            </a:r>
            <a:r>
              <a:rPr sz="2400" dirty="0">
                <a:latin typeface="Times New Roman"/>
                <a:cs typeface="Times New Roman"/>
              </a:rPr>
              <a:t>jump</a:t>
            </a:r>
            <a:r>
              <a:rPr sz="2400" spc="-25" dirty="0">
                <a:latin typeface="Times New Roman"/>
                <a:cs typeface="Times New Roman"/>
              </a:rPr>
              <a:t> </a:t>
            </a:r>
            <a:r>
              <a:rPr sz="2400" dirty="0">
                <a:latin typeface="Times New Roman"/>
                <a:cs typeface="Times New Roman"/>
              </a:rPr>
              <a:t>directly</a:t>
            </a:r>
            <a:r>
              <a:rPr sz="2400" spc="-25" dirty="0">
                <a:latin typeface="Times New Roman"/>
                <a:cs typeface="Times New Roman"/>
              </a:rPr>
              <a:t> </a:t>
            </a:r>
            <a:r>
              <a:rPr sz="2400" dirty="0">
                <a:latin typeface="Times New Roman"/>
                <a:cs typeface="Times New Roman"/>
              </a:rPr>
              <a:t>to</a:t>
            </a:r>
            <a:r>
              <a:rPr sz="2400" spc="-20" dirty="0">
                <a:latin typeface="Times New Roman"/>
                <a:cs typeface="Times New Roman"/>
              </a:rPr>
              <a:t> </a:t>
            </a:r>
            <a:r>
              <a:rPr sz="2400" dirty="0">
                <a:latin typeface="Times New Roman"/>
                <a:cs typeface="Times New Roman"/>
              </a:rPr>
              <a:t>exec</a:t>
            </a:r>
            <a:r>
              <a:rPr sz="2400" spc="-45" dirty="0">
                <a:latin typeface="Times New Roman"/>
                <a:cs typeface="Times New Roman"/>
              </a:rPr>
              <a:t> </a:t>
            </a:r>
            <a:r>
              <a:rPr sz="2400" spc="-10" dirty="0">
                <a:latin typeface="Times New Roman"/>
                <a:cs typeface="Times New Roman"/>
              </a:rPr>
              <a:t>function</a:t>
            </a:r>
            <a:endParaRPr sz="2400" dirty="0">
              <a:latin typeface="Times New Roman"/>
              <a:cs typeface="Times New Roman"/>
            </a:endParaRPr>
          </a:p>
        </p:txBody>
      </p:sp>
      <p:sp>
        <p:nvSpPr>
          <p:cNvPr id="4" name="object 4"/>
          <p:cNvSpPr txBox="1"/>
          <p:nvPr/>
        </p:nvSpPr>
        <p:spPr>
          <a:xfrm>
            <a:off x="399097" y="2449512"/>
            <a:ext cx="1845945" cy="391795"/>
          </a:xfrm>
          <a:prstGeom prst="rect">
            <a:avLst/>
          </a:prstGeom>
        </p:spPr>
        <p:txBody>
          <a:bodyPr vert="horz" wrap="square" lIns="0" tIns="12700" rIns="0" bIns="0" rtlCol="0">
            <a:spAutoFit/>
          </a:bodyPr>
          <a:lstStyle/>
          <a:p>
            <a:pPr marL="241300" indent="-228600">
              <a:lnSpc>
                <a:spcPct val="100000"/>
              </a:lnSpc>
              <a:spcBef>
                <a:spcPts val="100"/>
              </a:spcBef>
              <a:buClr>
                <a:srgbClr val="9B2C1F"/>
              </a:buClr>
              <a:buSzPct val="83333"/>
              <a:buFont typeface="Segoe UI Symbol"/>
              <a:buChar char="⚫"/>
              <a:tabLst>
                <a:tab pos="241300" algn="l"/>
              </a:tabLst>
            </a:pPr>
            <a:r>
              <a:rPr sz="2400" u="heavy" spc="-10" dirty="0">
                <a:uFill>
                  <a:solidFill>
                    <a:srgbClr val="000000"/>
                  </a:solidFill>
                </a:uFill>
                <a:latin typeface="Times New Roman"/>
                <a:cs typeface="Times New Roman"/>
              </a:rPr>
              <a:t>Deployment</a:t>
            </a:r>
            <a:r>
              <a:rPr sz="2400" spc="-10" dirty="0">
                <a:latin typeface="Times New Roman"/>
                <a:cs typeface="Times New Roman"/>
              </a:rPr>
              <a:t>:</a:t>
            </a:r>
            <a:endParaRPr sz="2400">
              <a:latin typeface="Times New Roman"/>
              <a:cs typeface="Times New Roman"/>
            </a:endParaRPr>
          </a:p>
        </p:txBody>
      </p:sp>
      <p:sp>
        <p:nvSpPr>
          <p:cNvPr id="5" name="object 5"/>
          <p:cNvSpPr txBox="1"/>
          <p:nvPr/>
        </p:nvSpPr>
        <p:spPr>
          <a:xfrm>
            <a:off x="2523870" y="2497137"/>
            <a:ext cx="1691005" cy="334645"/>
          </a:xfrm>
          <a:prstGeom prst="rect">
            <a:avLst/>
          </a:prstGeom>
        </p:spPr>
        <p:txBody>
          <a:bodyPr vert="horz" wrap="square" lIns="0" tIns="15875" rIns="0" bIns="0" rtlCol="0">
            <a:spAutoFit/>
          </a:bodyPr>
          <a:lstStyle/>
          <a:p>
            <a:pPr marL="12700">
              <a:lnSpc>
                <a:spcPct val="100000"/>
              </a:lnSpc>
              <a:spcBef>
                <a:spcPts val="125"/>
              </a:spcBef>
            </a:pPr>
            <a:r>
              <a:rPr sz="2000" spc="-10" dirty="0">
                <a:latin typeface="Times New Roman"/>
                <a:cs typeface="Times New Roman"/>
              </a:rPr>
              <a:t>(/DynamicBase)</a:t>
            </a:r>
            <a:endParaRPr sz="2000">
              <a:latin typeface="Times New Roman"/>
              <a:cs typeface="Times New Roman"/>
            </a:endParaRPr>
          </a:p>
        </p:txBody>
      </p:sp>
      <p:sp>
        <p:nvSpPr>
          <p:cNvPr id="6" name="object 6"/>
          <p:cNvSpPr txBox="1"/>
          <p:nvPr/>
        </p:nvSpPr>
        <p:spPr>
          <a:xfrm>
            <a:off x="78739" y="2806128"/>
            <a:ext cx="8024495" cy="3364229"/>
          </a:xfrm>
          <a:prstGeom prst="rect">
            <a:avLst/>
          </a:prstGeom>
        </p:spPr>
        <p:txBody>
          <a:bodyPr vert="horz" wrap="square" lIns="0" tIns="66675" rIns="0" bIns="0" rtlCol="0">
            <a:spAutoFit/>
          </a:bodyPr>
          <a:lstStyle/>
          <a:p>
            <a:pPr marL="835660" indent="-228600">
              <a:lnSpc>
                <a:spcPct val="100000"/>
              </a:lnSpc>
              <a:spcBef>
                <a:spcPts val="525"/>
              </a:spcBef>
              <a:buClr>
                <a:srgbClr val="E6B0AB"/>
              </a:buClr>
              <a:buSzPct val="83333"/>
              <a:buFont typeface="Segoe UI Symbol"/>
              <a:buChar char="⚫"/>
              <a:tabLst>
                <a:tab pos="835660" algn="l"/>
                <a:tab pos="3673475" algn="l"/>
              </a:tabLst>
            </a:pPr>
            <a:r>
              <a:rPr sz="2400" b="1" spc="-10" dirty="0">
                <a:latin typeface="Times New Roman"/>
                <a:cs typeface="Times New Roman"/>
              </a:rPr>
              <a:t>Windows</a:t>
            </a:r>
            <a:r>
              <a:rPr sz="2400" b="1" spc="-85" dirty="0">
                <a:latin typeface="Times New Roman"/>
                <a:cs typeface="Times New Roman"/>
              </a:rPr>
              <a:t> </a:t>
            </a:r>
            <a:r>
              <a:rPr sz="2400" spc="-10" dirty="0">
                <a:latin typeface="Times New Roman"/>
                <a:cs typeface="Times New Roman"/>
              </a:rPr>
              <a:t>Vista:</a:t>
            </a:r>
            <a:r>
              <a:rPr sz="2400" dirty="0">
                <a:latin typeface="Times New Roman"/>
                <a:cs typeface="Times New Roman"/>
              </a:rPr>
              <a:t>	8</a:t>
            </a:r>
            <a:r>
              <a:rPr sz="2400" spc="-25" dirty="0">
                <a:latin typeface="Times New Roman"/>
                <a:cs typeface="Times New Roman"/>
              </a:rPr>
              <a:t> </a:t>
            </a:r>
            <a:r>
              <a:rPr sz="2400" dirty="0">
                <a:latin typeface="Times New Roman"/>
                <a:cs typeface="Times New Roman"/>
              </a:rPr>
              <a:t>bits</a:t>
            </a:r>
            <a:r>
              <a:rPr sz="2400" spc="-40" dirty="0">
                <a:latin typeface="Times New Roman"/>
                <a:cs typeface="Times New Roman"/>
              </a:rPr>
              <a:t> </a:t>
            </a:r>
            <a:r>
              <a:rPr sz="2400" dirty="0">
                <a:latin typeface="Times New Roman"/>
                <a:cs typeface="Times New Roman"/>
              </a:rPr>
              <a:t>of randomness</a:t>
            </a:r>
            <a:r>
              <a:rPr sz="2400" spc="20" dirty="0">
                <a:latin typeface="Times New Roman"/>
                <a:cs typeface="Times New Roman"/>
              </a:rPr>
              <a:t> </a:t>
            </a:r>
            <a:r>
              <a:rPr sz="2400" dirty="0">
                <a:latin typeface="Times New Roman"/>
                <a:cs typeface="Times New Roman"/>
              </a:rPr>
              <a:t>for</a:t>
            </a:r>
            <a:r>
              <a:rPr sz="2400" spc="5" dirty="0">
                <a:latin typeface="Times New Roman"/>
                <a:cs typeface="Times New Roman"/>
              </a:rPr>
              <a:t> </a:t>
            </a:r>
            <a:r>
              <a:rPr sz="2400" spc="-20" dirty="0">
                <a:latin typeface="Times New Roman"/>
                <a:cs typeface="Times New Roman"/>
              </a:rPr>
              <a:t>DLLs</a:t>
            </a:r>
            <a:endParaRPr sz="2400">
              <a:latin typeface="Times New Roman"/>
              <a:cs typeface="Times New Roman"/>
            </a:endParaRPr>
          </a:p>
          <a:p>
            <a:pPr marL="1110615" lvl="1" indent="-228600">
              <a:lnSpc>
                <a:spcPct val="100000"/>
              </a:lnSpc>
              <a:spcBef>
                <a:spcPts val="425"/>
              </a:spcBef>
              <a:buClr>
                <a:srgbClr val="A18E6A"/>
              </a:buClr>
              <a:buSzPct val="81250"/>
              <a:buFont typeface="Segoe UI Symbol"/>
              <a:buChar char="⚫"/>
              <a:tabLst>
                <a:tab pos="1110615" algn="l"/>
                <a:tab pos="6038850" algn="l"/>
                <a:tab pos="6567805" algn="l"/>
              </a:tabLst>
            </a:pPr>
            <a:r>
              <a:rPr sz="2400" dirty="0">
                <a:latin typeface="Times New Roman"/>
                <a:cs typeface="Times New Roman"/>
              </a:rPr>
              <a:t>aligned</a:t>
            </a:r>
            <a:r>
              <a:rPr sz="2400" spc="-10" dirty="0">
                <a:latin typeface="Times New Roman"/>
                <a:cs typeface="Times New Roman"/>
              </a:rPr>
              <a:t> </a:t>
            </a:r>
            <a:r>
              <a:rPr sz="2400" dirty="0">
                <a:latin typeface="Times New Roman"/>
                <a:cs typeface="Times New Roman"/>
              </a:rPr>
              <a:t>to</a:t>
            </a:r>
            <a:r>
              <a:rPr sz="2400" spc="-5" dirty="0">
                <a:latin typeface="Times New Roman"/>
                <a:cs typeface="Times New Roman"/>
              </a:rPr>
              <a:t> </a:t>
            </a:r>
            <a:r>
              <a:rPr sz="2400" dirty="0">
                <a:latin typeface="Times New Roman"/>
                <a:cs typeface="Times New Roman"/>
              </a:rPr>
              <a:t>64K</a:t>
            </a:r>
            <a:r>
              <a:rPr sz="2400" spc="-5" dirty="0">
                <a:latin typeface="Times New Roman"/>
                <a:cs typeface="Times New Roman"/>
              </a:rPr>
              <a:t> </a:t>
            </a:r>
            <a:r>
              <a:rPr sz="2400" dirty="0">
                <a:latin typeface="Times New Roman"/>
                <a:cs typeface="Times New Roman"/>
              </a:rPr>
              <a:t>page</a:t>
            </a:r>
            <a:r>
              <a:rPr sz="2400" spc="-30" dirty="0">
                <a:latin typeface="Times New Roman"/>
                <a:cs typeface="Times New Roman"/>
              </a:rPr>
              <a:t> </a:t>
            </a:r>
            <a:r>
              <a:rPr sz="2400" dirty="0">
                <a:latin typeface="Times New Roman"/>
                <a:cs typeface="Times New Roman"/>
              </a:rPr>
              <a:t>in</a:t>
            </a:r>
            <a:r>
              <a:rPr sz="2400" spc="-5" dirty="0">
                <a:latin typeface="Times New Roman"/>
                <a:cs typeface="Times New Roman"/>
              </a:rPr>
              <a:t> </a:t>
            </a:r>
            <a:r>
              <a:rPr sz="2400" dirty="0">
                <a:latin typeface="Times New Roman"/>
                <a:cs typeface="Times New Roman"/>
              </a:rPr>
              <a:t>a</a:t>
            </a:r>
            <a:r>
              <a:rPr sz="2400" spc="-20" dirty="0">
                <a:latin typeface="Times New Roman"/>
                <a:cs typeface="Times New Roman"/>
              </a:rPr>
              <a:t> </a:t>
            </a:r>
            <a:r>
              <a:rPr sz="2400" dirty="0">
                <a:latin typeface="Times New Roman"/>
                <a:cs typeface="Times New Roman"/>
              </a:rPr>
              <a:t>16MB</a:t>
            </a:r>
            <a:r>
              <a:rPr sz="2400" spc="-30" dirty="0">
                <a:latin typeface="Times New Roman"/>
                <a:cs typeface="Times New Roman"/>
              </a:rPr>
              <a:t> </a:t>
            </a:r>
            <a:r>
              <a:rPr sz="2400" spc="-10" dirty="0">
                <a:latin typeface="Times New Roman"/>
                <a:cs typeface="Times New Roman"/>
              </a:rPr>
              <a:t>region</a:t>
            </a:r>
            <a:r>
              <a:rPr sz="2400" dirty="0">
                <a:latin typeface="Times New Roman"/>
                <a:cs typeface="Times New Roman"/>
              </a:rPr>
              <a:t>	</a:t>
            </a:r>
            <a:r>
              <a:rPr sz="2400" spc="-50" dirty="0">
                <a:latin typeface="Symbol"/>
                <a:cs typeface="Symbol"/>
              </a:rPr>
              <a:t></a:t>
            </a:r>
            <a:r>
              <a:rPr sz="2400" dirty="0">
                <a:latin typeface="Times New Roman"/>
                <a:cs typeface="Times New Roman"/>
              </a:rPr>
              <a:t>	256</a:t>
            </a:r>
            <a:r>
              <a:rPr sz="2400" spc="-10" dirty="0">
                <a:latin typeface="Times New Roman"/>
                <a:cs typeface="Times New Roman"/>
              </a:rPr>
              <a:t> choices</a:t>
            </a:r>
            <a:endParaRPr sz="2400">
              <a:latin typeface="Times New Roman"/>
              <a:cs typeface="Times New Roman"/>
            </a:endParaRPr>
          </a:p>
          <a:p>
            <a:pPr marL="835660" indent="-228600">
              <a:lnSpc>
                <a:spcPct val="100000"/>
              </a:lnSpc>
              <a:spcBef>
                <a:spcPts val="420"/>
              </a:spcBef>
              <a:buClr>
                <a:srgbClr val="E6B0AB"/>
              </a:buClr>
              <a:buSzPct val="83333"/>
              <a:buFont typeface="Segoe UI Symbol"/>
              <a:buChar char="⚫"/>
              <a:tabLst>
                <a:tab pos="835660" algn="l"/>
                <a:tab pos="1769110" algn="l"/>
                <a:tab pos="3673475" algn="l"/>
              </a:tabLst>
            </a:pPr>
            <a:r>
              <a:rPr sz="2400" b="1" spc="-10" dirty="0">
                <a:latin typeface="Times New Roman"/>
                <a:cs typeface="Times New Roman"/>
              </a:rPr>
              <a:t>Linux</a:t>
            </a:r>
            <a:r>
              <a:rPr sz="2400" b="1" dirty="0">
                <a:latin typeface="Times New Roman"/>
                <a:cs typeface="Times New Roman"/>
              </a:rPr>
              <a:t>	</a:t>
            </a:r>
            <a:r>
              <a:rPr sz="2400" dirty="0">
                <a:latin typeface="Times New Roman"/>
                <a:cs typeface="Times New Roman"/>
              </a:rPr>
              <a:t>(via</a:t>
            </a:r>
            <a:r>
              <a:rPr sz="2400" spc="-15" dirty="0">
                <a:latin typeface="Times New Roman"/>
                <a:cs typeface="Times New Roman"/>
              </a:rPr>
              <a:t> </a:t>
            </a:r>
            <a:r>
              <a:rPr sz="2400" spc="-10" dirty="0">
                <a:latin typeface="Times New Roman"/>
                <a:cs typeface="Times New Roman"/>
              </a:rPr>
              <a:t>PaX):</a:t>
            </a:r>
            <a:r>
              <a:rPr sz="2400" dirty="0">
                <a:latin typeface="Times New Roman"/>
                <a:cs typeface="Times New Roman"/>
              </a:rPr>
              <a:t>	16</a:t>
            </a:r>
            <a:r>
              <a:rPr sz="2400" spc="-25" dirty="0">
                <a:latin typeface="Times New Roman"/>
                <a:cs typeface="Times New Roman"/>
              </a:rPr>
              <a:t> </a:t>
            </a:r>
            <a:r>
              <a:rPr sz="2400" dirty="0">
                <a:latin typeface="Times New Roman"/>
                <a:cs typeface="Times New Roman"/>
              </a:rPr>
              <a:t>bits</a:t>
            </a:r>
            <a:r>
              <a:rPr sz="2400" spc="-55" dirty="0">
                <a:latin typeface="Times New Roman"/>
                <a:cs typeface="Times New Roman"/>
              </a:rPr>
              <a:t> </a:t>
            </a:r>
            <a:r>
              <a:rPr sz="2400" dirty="0">
                <a:latin typeface="Times New Roman"/>
                <a:cs typeface="Times New Roman"/>
              </a:rPr>
              <a:t>of randomness</a:t>
            </a:r>
            <a:r>
              <a:rPr sz="2400" spc="15" dirty="0">
                <a:latin typeface="Times New Roman"/>
                <a:cs typeface="Times New Roman"/>
              </a:rPr>
              <a:t> </a:t>
            </a:r>
            <a:r>
              <a:rPr sz="2400" dirty="0">
                <a:latin typeface="Times New Roman"/>
                <a:cs typeface="Times New Roman"/>
              </a:rPr>
              <a:t>for </a:t>
            </a:r>
            <a:r>
              <a:rPr sz="2400" spc="-10" dirty="0">
                <a:latin typeface="Times New Roman"/>
                <a:cs typeface="Times New Roman"/>
              </a:rPr>
              <a:t>libraries</a:t>
            </a:r>
            <a:endParaRPr sz="2400">
              <a:latin typeface="Times New Roman"/>
              <a:cs typeface="Times New Roman"/>
            </a:endParaRPr>
          </a:p>
          <a:p>
            <a:pPr marL="561340" indent="-228600">
              <a:lnSpc>
                <a:spcPct val="100000"/>
              </a:lnSpc>
              <a:spcBef>
                <a:spcPts val="1180"/>
              </a:spcBef>
              <a:buClr>
                <a:srgbClr val="9B2C1F"/>
              </a:buClr>
              <a:buSzPct val="83333"/>
              <a:buFont typeface="Segoe UI Symbol"/>
              <a:buChar char="⚫"/>
              <a:tabLst>
                <a:tab pos="561340" algn="l"/>
                <a:tab pos="2887345" algn="l"/>
              </a:tabLst>
            </a:pPr>
            <a:r>
              <a:rPr sz="2400" dirty="0">
                <a:latin typeface="Times New Roman"/>
                <a:cs typeface="Times New Roman"/>
              </a:rPr>
              <a:t>More</a:t>
            </a:r>
            <a:r>
              <a:rPr sz="2400" spc="-80" dirty="0">
                <a:latin typeface="Times New Roman"/>
                <a:cs typeface="Times New Roman"/>
              </a:rPr>
              <a:t> </a:t>
            </a:r>
            <a:r>
              <a:rPr sz="2400" dirty="0">
                <a:latin typeface="Times New Roman"/>
                <a:cs typeface="Times New Roman"/>
              </a:rPr>
              <a:t>effective</a:t>
            </a:r>
            <a:r>
              <a:rPr sz="2400" spc="-75" dirty="0">
                <a:latin typeface="Times New Roman"/>
                <a:cs typeface="Times New Roman"/>
              </a:rPr>
              <a:t> </a:t>
            </a:r>
            <a:r>
              <a:rPr sz="2400" spc="-25" dirty="0">
                <a:latin typeface="Times New Roman"/>
                <a:cs typeface="Times New Roman"/>
              </a:rPr>
              <a:t>on</a:t>
            </a:r>
            <a:r>
              <a:rPr sz="2400" dirty="0">
                <a:latin typeface="Times New Roman"/>
                <a:cs typeface="Times New Roman"/>
              </a:rPr>
              <a:t>	64-bit</a:t>
            </a:r>
            <a:r>
              <a:rPr sz="2400" spc="35" dirty="0">
                <a:latin typeface="Times New Roman"/>
                <a:cs typeface="Times New Roman"/>
              </a:rPr>
              <a:t> </a:t>
            </a:r>
            <a:r>
              <a:rPr sz="2400" spc="-10" dirty="0">
                <a:latin typeface="Times New Roman"/>
                <a:cs typeface="Times New Roman"/>
              </a:rPr>
              <a:t>architectures</a:t>
            </a:r>
            <a:endParaRPr sz="2400">
              <a:latin typeface="Times New Roman"/>
              <a:cs typeface="Times New Roman"/>
            </a:endParaRPr>
          </a:p>
          <a:p>
            <a:pPr marL="287020" indent="-285750">
              <a:lnSpc>
                <a:spcPct val="100000"/>
              </a:lnSpc>
              <a:spcBef>
                <a:spcPts val="1175"/>
              </a:spcBef>
              <a:buClr>
                <a:srgbClr val="D24717"/>
              </a:buClr>
              <a:buSzPct val="85000"/>
              <a:buFont typeface="Segoe UI Symbol"/>
              <a:buChar char="⚫"/>
              <a:tabLst>
                <a:tab pos="287020" algn="l"/>
              </a:tabLst>
            </a:pPr>
            <a:r>
              <a:rPr sz="3000" u="sng" dirty="0">
                <a:uFill>
                  <a:solidFill>
                    <a:srgbClr val="000000"/>
                  </a:solidFill>
                </a:uFill>
                <a:latin typeface="Times New Roman"/>
                <a:cs typeface="Times New Roman"/>
              </a:rPr>
              <a:t>Other</a:t>
            </a:r>
            <a:r>
              <a:rPr sz="3000" u="sng" spc="-30" dirty="0">
                <a:uFill>
                  <a:solidFill>
                    <a:srgbClr val="000000"/>
                  </a:solidFill>
                </a:uFill>
                <a:latin typeface="Times New Roman"/>
                <a:cs typeface="Times New Roman"/>
              </a:rPr>
              <a:t> </a:t>
            </a:r>
            <a:r>
              <a:rPr sz="3000" u="sng" dirty="0">
                <a:uFill>
                  <a:solidFill>
                    <a:srgbClr val="000000"/>
                  </a:solidFill>
                </a:uFill>
                <a:latin typeface="Times New Roman"/>
                <a:cs typeface="Times New Roman"/>
              </a:rPr>
              <a:t>randomization</a:t>
            </a:r>
            <a:r>
              <a:rPr sz="3000" u="sng" spc="-10" dirty="0">
                <a:uFill>
                  <a:solidFill>
                    <a:srgbClr val="000000"/>
                  </a:solidFill>
                </a:uFill>
                <a:latin typeface="Times New Roman"/>
                <a:cs typeface="Times New Roman"/>
              </a:rPr>
              <a:t> methods</a:t>
            </a:r>
            <a:r>
              <a:rPr sz="3000" spc="-10" dirty="0">
                <a:latin typeface="Times New Roman"/>
                <a:cs typeface="Times New Roman"/>
              </a:rPr>
              <a:t>:</a:t>
            </a:r>
            <a:endParaRPr sz="3000">
              <a:latin typeface="Times New Roman"/>
              <a:cs typeface="Times New Roman"/>
            </a:endParaRPr>
          </a:p>
          <a:p>
            <a:pPr marL="561340" lvl="1" indent="-228600">
              <a:lnSpc>
                <a:spcPct val="100000"/>
              </a:lnSpc>
              <a:spcBef>
                <a:spcPts val="905"/>
              </a:spcBef>
              <a:buClr>
                <a:srgbClr val="9B2C1F"/>
              </a:buClr>
              <a:buSzPct val="83333"/>
              <a:buFont typeface="Segoe UI Symbol"/>
              <a:buChar char="⚫"/>
              <a:tabLst>
                <a:tab pos="561340" algn="l"/>
                <a:tab pos="3763010" algn="l"/>
              </a:tabLst>
            </a:pPr>
            <a:r>
              <a:rPr sz="2400" spc="-10" dirty="0">
                <a:latin typeface="Times New Roman"/>
                <a:cs typeface="Times New Roman"/>
              </a:rPr>
              <a:t>Sys-</a:t>
            </a:r>
            <a:r>
              <a:rPr sz="2400" dirty="0">
                <a:latin typeface="Times New Roman"/>
                <a:cs typeface="Times New Roman"/>
              </a:rPr>
              <a:t>call </a:t>
            </a:r>
            <a:r>
              <a:rPr sz="2400" spc="-10" dirty="0">
                <a:latin typeface="Times New Roman"/>
                <a:cs typeface="Times New Roman"/>
              </a:rPr>
              <a:t>randomization:</a:t>
            </a:r>
            <a:r>
              <a:rPr sz="2400" dirty="0">
                <a:latin typeface="Times New Roman"/>
                <a:cs typeface="Times New Roman"/>
              </a:rPr>
              <a:t>	randomize</a:t>
            </a:r>
            <a:r>
              <a:rPr sz="2400" spc="-35" dirty="0">
                <a:latin typeface="Times New Roman"/>
                <a:cs typeface="Times New Roman"/>
              </a:rPr>
              <a:t> </a:t>
            </a:r>
            <a:r>
              <a:rPr sz="2400" dirty="0">
                <a:latin typeface="Times New Roman"/>
                <a:cs typeface="Times New Roman"/>
              </a:rPr>
              <a:t>sys-call</a:t>
            </a:r>
            <a:r>
              <a:rPr sz="2400" spc="-5" dirty="0">
                <a:latin typeface="Times New Roman"/>
                <a:cs typeface="Times New Roman"/>
              </a:rPr>
              <a:t> </a:t>
            </a:r>
            <a:r>
              <a:rPr sz="2400" spc="-20" dirty="0">
                <a:latin typeface="Times New Roman"/>
                <a:cs typeface="Times New Roman"/>
              </a:rPr>
              <a:t>id’s</a:t>
            </a:r>
            <a:endParaRPr sz="2400">
              <a:latin typeface="Times New Roman"/>
              <a:cs typeface="Times New Roman"/>
            </a:endParaRPr>
          </a:p>
          <a:p>
            <a:pPr marL="561340" lvl="1" indent="-228600">
              <a:lnSpc>
                <a:spcPct val="100000"/>
              </a:lnSpc>
              <a:spcBef>
                <a:spcPts val="875"/>
              </a:spcBef>
              <a:buClr>
                <a:srgbClr val="9B2C1F"/>
              </a:buClr>
              <a:buSzPct val="83333"/>
              <a:buFont typeface="Segoe UI Symbol"/>
              <a:buChar char="⚫"/>
              <a:tabLst>
                <a:tab pos="561340" algn="l"/>
              </a:tabLst>
            </a:pPr>
            <a:r>
              <a:rPr sz="2400" dirty="0">
                <a:latin typeface="Times New Roman"/>
                <a:cs typeface="Times New Roman"/>
              </a:rPr>
              <a:t>Instruction</a:t>
            </a:r>
            <a:r>
              <a:rPr sz="2400" spc="-10" dirty="0">
                <a:latin typeface="Times New Roman"/>
                <a:cs typeface="Times New Roman"/>
              </a:rPr>
              <a:t> </a:t>
            </a:r>
            <a:r>
              <a:rPr sz="2400" dirty="0">
                <a:latin typeface="Times New Roman"/>
                <a:cs typeface="Times New Roman"/>
              </a:rPr>
              <a:t>Set</a:t>
            </a:r>
            <a:r>
              <a:rPr sz="2400" spc="-70" dirty="0">
                <a:latin typeface="Times New Roman"/>
                <a:cs typeface="Times New Roman"/>
              </a:rPr>
              <a:t> </a:t>
            </a:r>
            <a:r>
              <a:rPr sz="2400" dirty="0">
                <a:latin typeface="Times New Roman"/>
                <a:cs typeface="Times New Roman"/>
              </a:rPr>
              <a:t>Randomization</a:t>
            </a:r>
            <a:r>
              <a:rPr sz="2400" spc="-5" dirty="0">
                <a:latin typeface="Times New Roman"/>
                <a:cs typeface="Times New Roman"/>
              </a:rPr>
              <a:t> </a:t>
            </a:r>
            <a:r>
              <a:rPr sz="2400" spc="-10" dirty="0">
                <a:latin typeface="Times New Roman"/>
                <a:cs typeface="Times New Roman"/>
              </a:rPr>
              <a:t>(ISR)</a:t>
            </a:r>
            <a:endParaRPr sz="2400">
              <a:latin typeface="Times New Roman"/>
              <a:cs typeface="Times New Roman"/>
            </a:endParaRPr>
          </a:p>
        </p:txBody>
      </p:sp>
      <p:pic>
        <p:nvPicPr>
          <p:cNvPr id="7" name="object 7"/>
          <p:cNvPicPr/>
          <p:nvPr/>
        </p:nvPicPr>
        <p:blipFill>
          <a:blip r:embed="rId2" cstate="print"/>
          <a:stretch>
            <a:fillRect/>
          </a:stretch>
        </p:blipFill>
        <p:spPr>
          <a:xfrm>
            <a:off x="457200" y="6248400"/>
            <a:ext cx="476250" cy="381000"/>
          </a:xfrm>
          <a:prstGeom prst="rect">
            <a:avLst/>
          </a:prstGeom>
        </p:spPr>
      </p:pic>
      <p:sp>
        <p:nvSpPr>
          <p:cNvPr id="8" name="object 8"/>
          <p:cNvSpPr txBox="1">
            <a:spLocks noGrp="1"/>
          </p:cNvSpPr>
          <p:nvPr>
            <p:ph type="ftr" sz="quarter" idx="5"/>
          </p:nvPr>
        </p:nvSpPr>
        <p:spPr>
          <a:prstGeom prst="rect">
            <a:avLst/>
          </a:prstGeom>
        </p:spPr>
        <p:txBody>
          <a:bodyPr vert="horz" wrap="square" lIns="0" tIns="76200" rIns="0" bIns="0" rtlCol="0">
            <a:spAutoFit/>
          </a:bodyPr>
          <a:lstStyle/>
          <a:p>
            <a:pPr marL="165100">
              <a:lnSpc>
                <a:spcPts val="1550"/>
              </a:lnSpc>
            </a:pPr>
            <a:r>
              <a:rPr spc="-180" dirty="0"/>
              <a:t>FAST-</a:t>
            </a:r>
            <a:r>
              <a:rPr spc="-100" dirty="0"/>
              <a:t>NUCES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88670" rIns="0" bIns="0" rtlCol="0">
            <a:spAutoFit/>
          </a:bodyPr>
          <a:lstStyle/>
          <a:p>
            <a:pPr marL="165100">
              <a:lnSpc>
                <a:spcPct val="100000"/>
              </a:lnSpc>
              <a:spcBef>
                <a:spcPts val="105"/>
              </a:spcBef>
            </a:pPr>
            <a:r>
              <a:rPr dirty="0"/>
              <a:t>ASLR</a:t>
            </a:r>
            <a:r>
              <a:rPr spc="10" dirty="0"/>
              <a:t> </a:t>
            </a:r>
            <a:r>
              <a:rPr spc="-10" dirty="0"/>
              <a:t>Example</a:t>
            </a:r>
          </a:p>
        </p:txBody>
      </p:sp>
      <p:sp>
        <p:nvSpPr>
          <p:cNvPr id="3" name="object 3"/>
          <p:cNvSpPr txBox="1"/>
          <p:nvPr/>
        </p:nvSpPr>
        <p:spPr>
          <a:xfrm>
            <a:off x="383857" y="1473517"/>
            <a:ext cx="6475730" cy="391795"/>
          </a:xfrm>
          <a:prstGeom prst="rect">
            <a:avLst/>
          </a:prstGeom>
        </p:spPr>
        <p:txBody>
          <a:bodyPr vert="horz" wrap="square" lIns="0" tIns="12700" rIns="0" bIns="0" rtlCol="0">
            <a:spAutoFit/>
          </a:bodyPr>
          <a:lstStyle/>
          <a:p>
            <a:pPr marL="12700">
              <a:lnSpc>
                <a:spcPct val="100000"/>
              </a:lnSpc>
              <a:spcBef>
                <a:spcPts val="100"/>
              </a:spcBef>
            </a:pPr>
            <a:r>
              <a:rPr sz="2400" dirty="0">
                <a:latin typeface="Times New Roman"/>
                <a:cs typeface="Times New Roman"/>
              </a:rPr>
              <a:t>Booting</a:t>
            </a:r>
            <a:r>
              <a:rPr sz="2400" spc="-20" dirty="0">
                <a:latin typeface="Times New Roman"/>
                <a:cs typeface="Times New Roman"/>
              </a:rPr>
              <a:t> </a:t>
            </a:r>
            <a:r>
              <a:rPr sz="2400" dirty="0">
                <a:latin typeface="Times New Roman"/>
                <a:cs typeface="Times New Roman"/>
              </a:rPr>
              <a:t>twice</a:t>
            </a:r>
            <a:r>
              <a:rPr sz="2400" spc="-30" dirty="0">
                <a:latin typeface="Times New Roman"/>
                <a:cs typeface="Times New Roman"/>
              </a:rPr>
              <a:t> </a:t>
            </a:r>
            <a:r>
              <a:rPr sz="2400" dirty="0">
                <a:latin typeface="Times New Roman"/>
                <a:cs typeface="Times New Roman"/>
              </a:rPr>
              <a:t>loads</a:t>
            </a:r>
            <a:r>
              <a:rPr sz="2400" spc="20" dirty="0">
                <a:latin typeface="Times New Roman"/>
                <a:cs typeface="Times New Roman"/>
              </a:rPr>
              <a:t> </a:t>
            </a:r>
            <a:r>
              <a:rPr sz="2400" dirty="0">
                <a:latin typeface="Times New Roman"/>
                <a:cs typeface="Times New Roman"/>
              </a:rPr>
              <a:t>libraries</a:t>
            </a:r>
            <a:r>
              <a:rPr sz="2400" spc="-50" dirty="0">
                <a:latin typeface="Times New Roman"/>
                <a:cs typeface="Times New Roman"/>
              </a:rPr>
              <a:t> </a:t>
            </a:r>
            <a:r>
              <a:rPr sz="2400" dirty="0">
                <a:latin typeface="Times New Roman"/>
                <a:cs typeface="Times New Roman"/>
              </a:rPr>
              <a:t>into</a:t>
            </a:r>
            <a:r>
              <a:rPr sz="2400" spc="-20" dirty="0">
                <a:latin typeface="Times New Roman"/>
                <a:cs typeface="Times New Roman"/>
              </a:rPr>
              <a:t> </a:t>
            </a:r>
            <a:r>
              <a:rPr sz="2400" dirty="0">
                <a:latin typeface="Times New Roman"/>
                <a:cs typeface="Times New Roman"/>
              </a:rPr>
              <a:t>different</a:t>
            </a:r>
            <a:r>
              <a:rPr sz="2400" spc="-80" dirty="0">
                <a:latin typeface="Times New Roman"/>
                <a:cs typeface="Times New Roman"/>
              </a:rPr>
              <a:t> </a:t>
            </a:r>
            <a:r>
              <a:rPr sz="2400" spc="-10" dirty="0">
                <a:latin typeface="Times New Roman"/>
                <a:cs typeface="Times New Roman"/>
              </a:rPr>
              <a:t>locations:</a:t>
            </a:r>
            <a:endParaRPr sz="2400">
              <a:latin typeface="Times New Roman"/>
              <a:cs typeface="Times New Roman"/>
            </a:endParaRPr>
          </a:p>
        </p:txBody>
      </p:sp>
      <p:grpSp>
        <p:nvGrpSpPr>
          <p:cNvPr id="4" name="object 4"/>
          <p:cNvGrpSpPr/>
          <p:nvPr/>
        </p:nvGrpSpPr>
        <p:grpSpPr>
          <a:xfrm>
            <a:off x="1209675" y="2352611"/>
            <a:ext cx="6515100" cy="1134110"/>
            <a:chOff x="1209675" y="2352611"/>
            <a:chExt cx="6515100" cy="1134110"/>
          </a:xfrm>
        </p:grpSpPr>
        <p:pic>
          <p:nvPicPr>
            <p:cNvPr id="5" name="object 5"/>
            <p:cNvPicPr/>
            <p:nvPr/>
          </p:nvPicPr>
          <p:blipFill>
            <a:blip r:embed="rId2" cstate="print"/>
            <a:stretch>
              <a:fillRect/>
            </a:stretch>
          </p:blipFill>
          <p:spPr>
            <a:xfrm>
              <a:off x="1272301" y="2415267"/>
              <a:ext cx="6248244" cy="955221"/>
            </a:xfrm>
            <a:prstGeom prst="rect">
              <a:avLst/>
            </a:prstGeom>
          </p:spPr>
        </p:pic>
        <p:sp>
          <p:nvSpPr>
            <p:cNvPr id="6" name="object 6"/>
            <p:cNvSpPr/>
            <p:nvPr/>
          </p:nvSpPr>
          <p:spPr>
            <a:xfrm>
              <a:off x="1214437" y="2357373"/>
              <a:ext cx="6505575" cy="1123950"/>
            </a:xfrm>
            <a:custGeom>
              <a:avLst/>
              <a:gdLst/>
              <a:ahLst/>
              <a:cxnLst/>
              <a:rect l="l" t="t" r="r" b="b"/>
              <a:pathLst>
                <a:path w="6505575" h="1123950">
                  <a:moveTo>
                    <a:pt x="0" y="1123950"/>
                  </a:moveTo>
                  <a:lnTo>
                    <a:pt x="6505575" y="1123950"/>
                  </a:lnTo>
                  <a:lnTo>
                    <a:pt x="6505575" y="0"/>
                  </a:lnTo>
                  <a:lnTo>
                    <a:pt x="0" y="0"/>
                  </a:lnTo>
                  <a:lnTo>
                    <a:pt x="0" y="1123950"/>
                  </a:lnTo>
                  <a:close/>
                </a:path>
              </a:pathLst>
            </a:custGeom>
            <a:ln w="9525">
              <a:solidFill>
                <a:srgbClr val="000000"/>
              </a:solidFill>
            </a:ln>
          </p:spPr>
          <p:txBody>
            <a:bodyPr wrap="square" lIns="0" tIns="0" rIns="0" bIns="0" rtlCol="0"/>
            <a:lstStyle/>
            <a:p>
              <a:endParaRPr/>
            </a:p>
          </p:txBody>
        </p:sp>
        <p:sp>
          <p:nvSpPr>
            <p:cNvPr id="7" name="object 7"/>
            <p:cNvSpPr/>
            <p:nvPr/>
          </p:nvSpPr>
          <p:spPr>
            <a:xfrm>
              <a:off x="3586226" y="2367025"/>
              <a:ext cx="1295400" cy="1114425"/>
            </a:xfrm>
            <a:custGeom>
              <a:avLst/>
              <a:gdLst/>
              <a:ahLst/>
              <a:cxnLst/>
              <a:rect l="l" t="t" r="r" b="b"/>
              <a:pathLst>
                <a:path w="1295400" h="1114425">
                  <a:moveTo>
                    <a:pt x="1295400" y="0"/>
                  </a:moveTo>
                  <a:lnTo>
                    <a:pt x="0" y="0"/>
                  </a:lnTo>
                  <a:lnTo>
                    <a:pt x="0" y="1114425"/>
                  </a:lnTo>
                  <a:lnTo>
                    <a:pt x="1295400" y="1114425"/>
                  </a:lnTo>
                  <a:lnTo>
                    <a:pt x="1295400" y="0"/>
                  </a:lnTo>
                  <a:close/>
                </a:path>
              </a:pathLst>
            </a:custGeom>
            <a:solidFill>
              <a:srgbClr val="95A9A9">
                <a:alpha val="34117"/>
              </a:srgbClr>
            </a:solidFill>
          </p:spPr>
          <p:txBody>
            <a:bodyPr wrap="square" lIns="0" tIns="0" rIns="0" bIns="0" rtlCol="0"/>
            <a:lstStyle/>
            <a:p>
              <a:endParaRPr/>
            </a:p>
          </p:txBody>
        </p:sp>
        <p:sp>
          <p:nvSpPr>
            <p:cNvPr id="8" name="object 8"/>
            <p:cNvSpPr/>
            <p:nvPr/>
          </p:nvSpPr>
          <p:spPr>
            <a:xfrm>
              <a:off x="3586226" y="2367025"/>
              <a:ext cx="1295400" cy="1114425"/>
            </a:xfrm>
            <a:custGeom>
              <a:avLst/>
              <a:gdLst/>
              <a:ahLst/>
              <a:cxnLst/>
              <a:rect l="l" t="t" r="r" b="b"/>
              <a:pathLst>
                <a:path w="1295400" h="1114425">
                  <a:moveTo>
                    <a:pt x="0" y="1114425"/>
                  </a:moveTo>
                  <a:lnTo>
                    <a:pt x="1295400" y="1114425"/>
                  </a:lnTo>
                  <a:lnTo>
                    <a:pt x="1295400" y="0"/>
                  </a:lnTo>
                  <a:lnTo>
                    <a:pt x="0" y="0"/>
                  </a:lnTo>
                  <a:lnTo>
                    <a:pt x="0" y="1114425"/>
                  </a:lnTo>
                  <a:close/>
                </a:path>
              </a:pathLst>
            </a:custGeom>
            <a:ln w="9525">
              <a:solidFill>
                <a:srgbClr val="000000"/>
              </a:solidFill>
            </a:ln>
          </p:spPr>
          <p:txBody>
            <a:bodyPr wrap="square" lIns="0" tIns="0" rIns="0" bIns="0" rtlCol="0"/>
            <a:lstStyle/>
            <a:p>
              <a:endParaRPr/>
            </a:p>
          </p:txBody>
        </p:sp>
      </p:grpSp>
      <p:grpSp>
        <p:nvGrpSpPr>
          <p:cNvPr id="9" name="object 9"/>
          <p:cNvGrpSpPr/>
          <p:nvPr/>
        </p:nvGrpSpPr>
        <p:grpSpPr>
          <a:xfrm>
            <a:off x="1171575" y="4057586"/>
            <a:ext cx="6667500" cy="1134110"/>
            <a:chOff x="1171575" y="4057586"/>
            <a:chExt cx="6667500" cy="1134110"/>
          </a:xfrm>
        </p:grpSpPr>
        <p:pic>
          <p:nvPicPr>
            <p:cNvPr id="10" name="object 10"/>
            <p:cNvPicPr/>
            <p:nvPr/>
          </p:nvPicPr>
          <p:blipFill>
            <a:blip r:embed="rId3" cstate="print"/>
            <a:stretch>
              <a:fillRect/>
            </a:stretch>
          </p:blipFill>
          <p:spPr>
            <a:xfrm>
              <a:off x="1181100" y="4067174"/>
              <a:ext cx="6467293" cy="1114425"/>
            </a:xfrm>
            <a:prstGeom prst="rect">
              <a:avLst/>
            </a:prstGeom>
          </p:spPr>
        </p:pic>
        <p:sp>
          <p:nvSpPr>
            <p:cNvPr id="11" name="object 11"/>
            <p:cNvSpPr/>
            <p:nvPr/>
          </p:nvSpPr>
          <p:spPr>
            <a:xfrm>
              <a:off x="1176337" y="4062348"/>
              <a:ext cx="6657975" cy="1123950"/>
            </a:xfrm>
            <a:custGeom>
              <a:avLst/>
              <a:gdLst/>
              <a:ahLst/>
              <a:cxnLst/>
              <a:rect l="l" t="t" r="r" b="b"/>
              <a:pathLst>
                <a:path w="6657975" h="1123950">
                  <a:moveTo>
                    <a:pt x="0" y="1123950"/>
                  </a:moveTo>
                  <a:lnTo>
                    <a:pt x="6657975" y="1123950"/>
                  </a:lnTo>
                  <a:lnTo>
                    <a:pt x="6657975" y="0"/>
                  </a:lnTo>
                  <a:lnTo>
                    <a:pt x="0" y="0"/>
                  </a:lnTo>
                  <a:lnTo>
                    <a:pt x="0" y="1123950"/>
                  </a:lnTo>
                  <a:close/>
                </a:path>
              </a:pathLst>
            </a:custGeom>
            <a:ln w="9525">
              <a:solidFill>
                <a:srgbClr val="000000"/>
              </a:solidFill>
            </a:ln>
          </p:spPr>
          <p:txBody>
            <a:bodyPr wrap="square" lIns="0" tIns="0" rIns="0" bIns="0" rtlCol="0"/>
            <a:lstStyle/>
            <a:p>
              <a:endParaRPr/>
            </a:p>
          </p:txBody>
        </p:sp>
        <p:sp>
          <p:nvSpPr>
            <p:cNvPr id="12" name="object 12"/>
            <p:cNvSpPr/>
            <p:nvPr/>
          </p:nvSpPr>
          <p:spPr>
            <a:xfrm>
              <a:off x="3605276" y="4062475"/>
              <a:ext cx="1295400" cy="1123950"/>
            </a:xfrm>
            <a:custGeom>
              <a:avLst/>
              <a:gdLst/>
              <a:ahLst/>
              <a:cxnLst/>
              <a:rect l="l" t="t" r="r" b="b"/>
              <a:pathLst>
                <a:path w="1295400" h="1123950">
                  <a:moveTo>
                    <a:pt x="1295400" y="0"/>
                  </a:moveTo>
                  <a:lnTo>
                    <a:pt x="0" y="0"/>
                  </a:lnTo>
                  <a:lnTo>
                    <a:pt x="0" y="1123950"/>
                  </a:lnTo>
                  <a:lnTo>
                    <a:pt x="1295400" y="1123950"/>
                  </a:lnTo>
                  <a:lnTo>
                    <a:pt x="1295400" y="0"/>
                  </a:lnTo>
                  <a:close/>
                </a:path>
              </a:pathLst>
            </a:custGeom>
            <a:solidFill>
              <a:srgbClr val="95A9A9">
                <a:alpha val="34117"/>
              </a:srgbClr>
            </a:solidFill>
          </p:spPr>
          <p:txBody>
            <a:bodyPr wrap="square" lIns="0" tIns="0" rIns="0" bIns="0" rtlCol="0"/>
            <a:lstStyle/>
            <a:p>
              <a:endParaRPr/>
            </a:p>
          </p:txBody>
        </p:sp>
        <p:sp>
          <p:nvSpPr>
            <p:cNvPr id="13" name="object 13"/>
            <p:cNvSpPr/>
            <p:nvPr/>
          </p:nvSpPr>
          <p:spPr>
            <a:xfrm>
              <a:off x="3605276" y="4062475"/>
              <a:ext cx="1295400" cy="1123950"/>
            </a:xfrm>
            <a:custGeom>
              <a:avLst/>
              <a:gdLst/>
              <a:ahLst/>
              <a:cxnLst/>
              <a:rect l="l" t="t" r="r" b="b"/>
              <a:pathLst>
                <a:path w="1295400" h="1123950">
                  <a:moveTo>
                    <a:pt x="0" y="1123950"/>
                  </a:moveTo>
                  <a:lnTo>
                    <a:pt x="1295400" y="1123950"/>
                  </a:lnTo>
                  <a:lnTo>
                    <a:pt x="1295400" y="0"/>
                  </a:lnTo>
                  <a:lnTo>
                    <a:pt x="0" y="0"/>
                  </a:lnTo>
                  <a:lnTo>
                    <a:pt x="0" y="1123950"/>
                  </a:lnTo>
                  <a:close/>
                </a:path>
              </a:pathLst>
            </a:custGeom>
            <a:ln w="9525">
              <a:solidFill>
                <a:srgbClr val="000000"/>
              </a:solidFill>
            </a:ln>
          </p:spPr>
          <p:txBody>
            <a:bodyPr wrap="square" lIns="0" tIns="0" rIns="0" bIns="0" rtlCol="0"/>
            <a:lstStyle/>
            <a:p>
              <a:endParaRPr/>
            </a:p>
          </p:txBody>
        </p:sp>
      </p:grpSp>
      <p:pic>
        <p:nvPicPr>
          <p:cNvPr id="14" name="object 14"/>
          <p:cNvPicPr/>
          <p:nvPr/>
        </p:nvPicPr>
        <p:blipFill>
          <a:blip r:embed="rId4" cstate="print"/>
          <a:stretch>
            <a:fillRect/>
          </a:stretch>
        </p:blipFill>
        <p:spPr>
          <a:xfrm>
            <a:off x="457200" y="6248400"/>
            <a:ext cx="476250" cy="381000"/>
          </a:xfrm>
          <a:prstGeom prst="rect">
            <a:avLst/>
          </a:prstGeom>
        </p:spPr>
      </p:pic>
      <p:sp>
        <p:nvSpPr>
          <p:cNvPr id="15" name="object 15"/>
          <p:cNvSpPr txBox="1">
            <a:spLocks noGrp="1"/>
          </p:cNvSpPr>
          <p:nvPr>
            <p:ph type="ftr" sz="quarter" idx="5"/>
          </p:nvPr>
        </p:nvSpPr>
        <p:spPr>
          <a:prstGeom prst="rect">
            <a:avLst/>
          </a:prstGeom>
        </p:spPr>
        <p:txBody>
          <a:bodyPr vert="horz" wrap="square" lIns="0" tIns="76200" rIns="0" bIns="0" rtlCol="0">
            <a:spAutoFit/>
          </a:bodyPr>
          <a:lstStyle/>
          <a:p>
            <a:pPr marL="165100">
              <a:lnSpc>
                <a:spcPts val="1550"/>
              </a:lnSpc>
            </a:pPr>
            <a:r>
              <a:rPr spc="-180" dirty="0"/>
              <a:t>FAST-</a:t>
            </a:r>
            <a:r>
              <a:rPr spc="-100" dirty="0"/>
              <a:t>NUCES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11526" y="3295015"/>
            <a:ext cx="3683635" cy="575310"/>
          </a:xfrm>
          <a:prstGeom prst="rect">
            <a:avLst/>
          </a:prstGeom>
        </p:spPr>
        <p:txBody>
          <a:bodyPr vert="horz" wrap="square" lIns="0" tIns="13335" rIns="0" bIns="0" rtlCol="0">
            <a:spAutoFit/>
          </a:bodyPr>
          <a:lstStyle/>
          <a:p>
            <a:pPr marL="12700">
              <a:lnSpc>
                <a:spcPct val="100000"/>
              </a:lnSpc>
              <a:spcBef>
                <a:spcPts val="105"/>
              </a:spcBef>
            </a:pPr>
            <a:r>
              <a:rPr u="sng" spc="-10" dirty="0">
                <a:solidFill>
                  <a:srgbClr val="D24717"/>
                </a:solidFill>
                <a:uFill>
                  <a:solidFill>
                    <a:srgbClr val="D24717"/>
                  </a:solidFill>
                </a:uFill>
              </a:rPr>
              <a:t>Run-</a:t>
            </a:r>
            <a:r>
              <a:rPr u="sng" dirty="0">
                <a:solidFill>
                  <a:srgbClr val="D24717"/>
                </a:solidFill>
                <a:uFill>
                  <a:solidFill>
                    <a:srgbClr val="D24717"/>
                  </a:solidFill>
                </a:uFill>
              </a:rPr>
              <a:t>Time</a:t>
            </a:r>
            <a:r>
              <a:rPr u="sng" spc="-90" dirty="0">
                <a:solidFill>
                  <a:srgbClr val="D24717"/>
                </a:solidFill>
                <a:uFill>
                  <a:solidFill>
                    <a:srgbClr val="D24717"/>
                  </a:solidFill>
                </a:uFill>
              </a:rPr>
              <a:t> </a:t>
            </a:r>
            <a:r>
              <a:rPr u="sng" spc="-10" dirty="0">
                <a:solidFill>
                  <a:srgbClr val="D24717"/>
                </a:solidFill>
                <a:uFill>
                  <a:solidFill>
                    <a:srgbClr val="D24717"/>
                  </a:solidFill>
                </a:uFill>
              </a:rPr>
              <a:t>Defenses</a:t>
            </a:r>
          </a:p>
        </p:txBody>
      </p:sp>
      <p:pic>
        <p:nvPicPr>
          <p:cNvPr id="3" name="object 3"/>
          <p:cNvPicPr/>
          <p:nvPr/>
        </p:nvPicPr>
        <p:blipFill>
          <a:blip r:embed="rId2" cstate="print"/>
          <a:stretch>
            <a:fillRect/>
          </a:stretch>
        </p:blipFill>
        <p:spPr>
          <a:xfrm>
            <a:off x="457200" y="6248400"/>
            <a:ext cx="476250" cy="381000"/>
          </a:xfrm>
          <a:prstGeom prst="rect">
            <a:avLst/>
          </a:prstGeom>
        </p:spPr>
      </p:pic>
      <p:sp>
        <p:nvSpPr>
          <p:cNvPr id="4" name="object 4"/>
          <p:cNvSpPr txBox="1">
            <a:spLocks noGrp="1"/>
          </p:cNvSpPr>
          <p:nvPr>
            <p:ph type="ftr" sz="quarter" idx="5"/>
          </p:nvPr>
        </p:nvSpPr>
        <p:spPr>
          <a:prstGeom prst="rect">
            <a:avLst/>
          </a:prstGeom>
        </p:spPr>
        <p:txBody>
          <a:bodyPr vert="horz" wrap="square" lIns="0" tIns="76200" rIns="0" bIns="0" rtlCol="0">
            <a:spAutoFit/>
          </a:bodyPr>
          <a:lstStyle/>
          <a:p>
            <a:pPr marL="165100">
              <a:lnSpc>
                <a:spcPts val="1550"/>
              </a:lnSpc>
            </a:pPr>
            <a:r>
              <a:rPr spc="-180" dirty="0"/>
              <a:t>FAST-</a:t>
            </a:r>
            <a:r>
              <a:rPr spc="-100" dirty="0"/>
              <a:t>NUCES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42189" rIns="0" bIns="0" rtlCol="0">
            <a:spAutoFit/>
          </a:bodyPr>
          <a:lstStyle/>
          <a:p>
            <a:pPr marL="266700">
              <a:lnSpc>
                <a:spcPct val="100000"/>
              </a:lnSpc>
              <a:spcBef>
                <a:spcPts val="105"/>
              </a:spcBef>
            </a:pPr>
            <a:r>
              <a:rPr dirty="0"/>
              <a:t>Run</a:t>
            </a:r>
            <a:r>
              <a:rPr spc="-15" dirty="0"/>
              <a:t> </a:t>
            </a:r>
            <a:r>
              <a:rPr dirty="0"/>
              <a:t>time</a:t>
            </a:r>
            <a:r>
              <a:rPr spc="-25" dirty="0"/>
              <a:t> </a:t>
            </a:r>
            <a:r>
              <a:rPr dirty="0"/>
              <a:t>checking: </a:t>
            </a:r>
            <a:r>
              <a:rPr spc="-10" dirty="0"/>
              <a:t>StackGuard</a:t>
            </a:r>
          </a:p>
        </p:txBody>
      </p:sp>
      <p:sp>
        <p:nvSpPr>
          <p:cNvPr id="3" name="object 3"/>
          <p:cNvSpPr txBox="1"/>
          <p:nvPr/>
        </p:nvSpPr>
        <p:spPr>
          <a:xfrm>
            <a:off x="307657" y="1190815"/>
            <a:ext cx="8425815" cy="2744470"/>
          </a:xfrm>
          <a:prstGeom prst="rect">
            <a:avLst/>
          </a:prstGeom>
        </p:spPr>
        <p:txBody>
          <a:bodyPr vert="horz" wrap="square" lIns="0" tIns="66675" rIns="0" bIns="0" rtlCol="0">
            <a:spAutoFit/>
          </a:bodyPr>
          <a:lstStyle/>
          <a:p>
            <a:pPr marL="287020" indent="-274320">
              <a:lnSpc>
                <a:spcPct val="100000"/>
              </a:lnSpc>
              <a:spcBef>
                <a:spcPts val="525"/>
              </a:spcBef>
              <a:buClr>
                <a:srgbClr val="D24717"/>
              </a:buClr>
              <a:buSzPct val="83333"/>
              <a:buFont typeface="Segoe UI Symbol"/>
              <a:buChar char="⚫"/>
              <a:tabLst>
                <a:tab pos="287020" algn="l"/>
              </a:tabLst>
            </a:pPr>
            <a:r>
              <a:rPr sz="2400" dirty="0">
                <a:latin typeface="Times New Roman"/>
                <a:cs typeface="Times New Roman"/>
              </a:rPr>
              <a:t>Many</a:t>
            </a:r>
            <a:r>
              <a:rPr sz="2400" spc="-20" dirty="0">
                <a:latin typeface="Times New Roman"/>
                <a:cs typeface="Times New Roman"/>
              </a:rPr>
              <a:t> </a:t>
            </a:r>
            <a:r>
              <a:rPr sz="2400" spc="-10" dirty="0">
                <a:latin typeface="Times New Roman"/>
                <a:cs typeface="Times New Roman"/>
              </a:rPr>
              <a:t>run-</a:t>
            </a:r>
            <a:r>
              <a:rPr sz="2400" dirty="0">
                <a:latin typeface="Times New Roman"/>
                <a:cs typeface="Times New Roman"/>
              </a:rPr>
              <a:t>time</a:t>
            </a:r>
            <a:r>
              <a:rPr sz="2400" spc="-30" dirty="0">
                <a:latin typeface="Times New Roman"/>
                <a:cs typeface="Times New Roman"/>
              </a:rPr>
              <a:t> </a:t>
            </a:r>
            <a:r>
              <a:rPr sz="2400" dirty="0">
                <a:latin typeface="Times New Roman"/>
                <a:cs typeface="Times New Roman"/>
              </a:rPr>
              <a:t>checking</a:t>
            </a:r>
            <a:r>
              <a:rPr sz="2400" spc="-15" dirty="0">
                <a:latin typeface="Times New Roman"/>
                <a:cs typeface="Times New Roman"/>
              </a:rPr>
              <a:t> </a:t>
            </a:r>
            <a:r>
              <a:rPr sz="2400" dirty="0">
                <a:latin typeface="Times New Roman"/>
                <a:cs typeface="Times New Roman"/>
              </a:rPr>
              <a:t>techniques</a:t>
            </a:r>
            <a:r>
              <a:rPr sz="2400" spc="20" dirty="0">
                <a:latin typeface="Times New Roman"/>
                <a:cs typeface="Times New Roman"/>
              </a:rPr>
              <a:t> </a:t>
            </a:r>
            <a:r>
              <a:rPr sz="2400" spc="-50" dirty="0">
                <a:latin typeface="Times New Roman"/>
                <a:cs typeface="Times New Roman"/>
              </a:rPr>
              <a:t>…</a:t>
            </a:r>
            <a:endParaRPr sz="2400">
              <a:latin typeface="Times New Roman"/>
              <a:cs typeface="Times New Roman"/>
            </a:endParaRPr>
          </a:p>
          <a:p>
            <a:pPr marL="561340" lvl="1" indent="-228600">
              <a:lnSpc>
                <a:spcPct val="100000"/>
              </a:lnSpc>
              <a:spcBef>
                <a:spcPts val="425"/>
              </a:spcBef>
              <a:buClr>
                <a:srgbClr val="9B2C1F"/>
              </a:buClr>
              <a:buSzPct val="83333"/>
              <a:buFont typeface="Segoe UI Symbol"/>
              <a:buChar char="⚫"/>
              <a:tabLst>
                <a:tab pos="561340" algn="l"/>
              </a:tabLst>
            </a:pPr>
            <a:r>
              <a:rPr sz="2400" dirty="0">
                <a:latin typeface="Times New Roman"/>
                <a:cs typeface="Times New Roman"/>
              </a:rPr>
              <a:t>we</a:t>
            </a:r>
            <a:r>
              <a:rPr sz="2400" spc="-55" dirty="0">
                <a:latin typeface="Times New Roman"/>
                <a:cs typeface="Times New Roman"/>
              </a:rPr>
              <a:t> </a:t>
            </a:r>
            <a:r>
              <a:rPr sz="2400" dirty="0">
                <a:latin typeface="Times New Roman"/>
                <a:cs typeface="Times New Roman"/>
              </a:rPr>
              <a:t>only</a:t>
            </a:r>
            <a:r>
              <a:rPr sz="2400" spc="-25" dirty="0">
                <a:latin typeface="Times New Roman"/>
                <a:cs typeface="Times New Roman"/>
              </a:rPr>
              <a:t> </a:t>
            </a:r>
            <a:r>
              <a:rPr sz="2400" dirty="0">
                <a:latin typeface="Times New Roman"/>
                <a:cs typeface="Times New Roman"/>
              </a:rPr>
              <a:t>discuss</a:t>
            </a:r>
            <a:r>
              <a:rPr sz="2400" spc="5" dirty="0">
                <a:latin typeface="Times New Roman"/>
                <a:cs typeface="Times New Roman"/>
              </a:rPr>
              <a:t> </a:t>
            </a:r>
            <a:r>
              <a:rPr sz="2400" dirty="0">
                <a:latin typeface="Times New Roman"/>
                <a:cs typeface="Times New Roman"/>
              </a:rPr>
              <a:t>methods</a:t>
            </a:r>
            <a:r>
              <a:rPr sz="2400" spc="-60" dirty="0">
                <a:latin typeface="Times New Roman"/>
                <a:cs typeface="Times New Roman"/>
              </a:rPr>
              <a:t> </a:t>
            </a:r>
            <a:r>
              <a:rPr sz="2400" dirty="0">
                <a:latin typeface="Times New Roman"/>
                <a:cs typeface="Times New Roman"/>
              </a:rPr>
              <a:t>relevant</a:t>
            </a:r>
            <a:r>
              <a:rPr sz="2400" spc="-30" dirty="0">
                <a:latin typeface="Times New Roman"/>
                <a:cs typeface="Times New Roman"/>
              </a:rPr>
              <a:t> </a:t>
            </a:r>
            <a:r>
              <a:rPr sz="2400" dirty="0">
                <a:latin typeface="Times New Roman"/>
                <a:cs typeface="Times New Roman"/>
              </a:rPr>
              <a:t>to</a:t>
            </a:r>
            <a:r>
              <a:rPr sz="2400" spc="-25" dirty="0">
                <a:latin typeface="Times New Roman"/>
                <a:cs typeface="Times New Roman"/>
              </a:rPr>
              <a:t> </a:t>
            </a:r>
            <a:r>
              <a:rPr sz="2400" dirty="0">
                <a:latin typeface="Times New Roman"/>
                <a:cs typeface="Times New Roman"/>
              </a:rPr>
              <a:t>overflow</a:t>
            </a:r>
            <a:r>
              <a:rPr sz="2400" spc="-30" dirty="0">
                <a:latin typeface="Times New Roman"/>
                <a:cs typeface="Times New Roman"/>
              </a:rPr>
              <a:t> </a:t>
            </a:r>
            <a:r>
              <a:rPr sz="2400" spc="-10" dirty="0">
                <a:latin typeface="Times New Roman"/>
                <a:cs typeface="Times New Roman"/>
              </a:rPr>
              <a:t>protection</a:t>
            </a:r>
            <a:endParaRPr sz="2400">
              <a:latin typeface="Times New Roman"/>
              <a:cs typeface="Times New Roman"/>
            </a:endParaRPr>
          </a:p>
          <a:p>
            <a:pPr marL="287020" indent="-274320">
              <a:lnSpc>
                <a:spcPct val="100000"/>
              </a:lnSpc>
              <a:spcBef>
                <a:spcPts val="2450"/>
              </a:spcBef>
              <a:buClr>
                <a:srgbClr val="D24717"/>
              </a:buClr>
              <a:buSzPct val="83333"/>
              <a:buFont typeface="Segoe UI Symbol"/>
              <a:buChar char="⚫"/>
              <a:tabLst>
                <a:tab pos="287020" algn="l"/>
                <a:tab pos="1785620" algn="l"/>
              </a:tabLst>
            </a:pPr>
            <a:r>
              <a:rPr sz="2400" u="heavy" dirty="0">
                <a:uFill>
                  <a:solidFill>
                    <a:srgbClr val="000000"/>
                  </a:solidFill>
                </a:uFill>
                <a:latin typeface="Times New Roman"/>
                <a:cs typeface="Times New Roman"/>
              </a:rPr>
              <a:t>Solution</a:t>
            </a:r>
            <a:r>
              <a:rPr sz="2400" u="heavy" spc="-65" dirty="0">
                <a:uFill>
                  <a:solidFill>
                    <a:srgbClr val="000000"/>
                  </a:solidFill>
                </a:uFill>
                <a:latin typeface="Times New Roman"/>
                <a:cs typeface="Times New Roman"/>
              </a:rPr>
              <a:t> </a:t>
            </a:r>
            <a:r>
              <a:rPr sz="2400" u="heavy" spc="-25" dirty="0">
                <a:uFill>
                  <a:solidFill>
                    <a:srgbClr val="000000"/>
                  </a:solidFill>
                </a:uFill>
                <a:latin typeface="Times New Roman"/>
                <a:cs typeface="Times New Roman"/>
              </a:rPr>
              <a:t>1</a:t>
            </a:r>
            <a:r>
              <a:rPr sz="2400" spc="-25" dirty="0">
                <a:latin typeface="Times New Roman"/>
                <a:cs typeface="Times New Roman"/>
              </a:rPr>
              <a:t>:</a:t>
            </a:r>
            <a:r>
              <a:rPr sz="2400" dirty="0">
                <a:latin typeface="Times New Roman"/>
                <a:cs typeface="Times New Roman"/>
              </a:rPr>
              <a:t>	</a:t>
            </a:r>
            <a:r>
              <a:rPr sz="2400" spc="-10" dirty="0">
                <a:latin typeface="Times New Roman"/>
                <a:cs typeface="Times New Roman"/>
              </a:rPr>
              <a:t>StackGuard</a:t>
            </a:r>
            <a:endParaRPr sz="2400">
              <a:latin typeface="Times New Roman"/>
              <a:cs typeface="Times New Roman"/>
            </a:endParaRPr>
          </a:p>
          <a:p>
            <a:pPr marL="561340" lvl="1" indent="-228600">
              <a:lnSpc>
                <a:spcPct val="100000"/>
              </a:lnSpc>
              <a:spcBef>
                <a:spcPts val="425"/>
              </a:spcBef>
              <a:buClr>
                <a:srgbClr val="9B2C1F"/>
              </a:buClr>
              <a:buSzPct val="83333"/>
              <a:buFont typeface="Segoe UI Symbol"/>
              <a:buChar char="⚫"/>
              <a:tabLst>
                <a:tab pos="561340" algn="l"/>
              </a:tabLst>
            </a:pPr>
            <a:r>
              <a:rPr sz="2400" dirty="0">
                <a:latin typeface="Times New Roman"/>
                <a:cs typeface="Times New Roman"/>
              </a:rPr>
              <a:t>Run</a:t>
            </a:r>
            <a:r>
              <a:rPr sz="2400" spc="-20" dirty="0">
                <a:latin typeface="Times New Roman"/>
                <a:cs typeface="Times New Roman"/>
              </a:rPr>
              <a:t> </a:t>
            </a:r>
            <a:r>
              <a:rPr sz="2400" dirty="0">
                <a:latin typeface="Times New Roman"/>
                <a:cs typeface="Times New Roman"/>
              </a:rPr>
              <a:t>time</a:t>
            </a:r>
            <a:r>
              <a:rPr sz="2400" spc="-35" dirty="0">
                <a:latin typeface="Times New Roman"/>
                <a:cs typeface="Times New Roman"/>
              </a:rPr>
              <a:t> </a:t>
            </a:r>
            <a:r>
              <a:rPr sz="2400" dirty="0">
                <a:latin typeface="Times New Roman"/>
                <a:cs typeface="Times New Roman"/>
              </a:rPr>
              <a:t>tests</a:t>
            </a:r>
            <a:r>
              <a:rPr sz="2400" spc="20" dirty="0">
                <a:latin typeface="Times New Roman"/>
                <a:cs typeface="Times New Roman"/>
              </a:rPr>
              <a:t> </a:t>
            </a:r>
            <a:r>
              <a:rPr sz="2400" dirty="0">
                <a:latin typeface="Times New Roman"/>
                <a:cs typeface="Times New Roman"/>
              </a:rPr>
              <a:t>for</a:t>
            </a:r>
            <a:r>
              <a:rPr sz="2400" spc="-70" dirty="0">
                <a:latin typeface="Times New Roman"/>
                <a:cs typeface="Times New Roman"/>
              </a:rPr>
              <a:t> </a:t>
            </a:r>
            <a:r>
              <a:rPr sz="2400" dirty="0">
                <a:latin typeface="Times New Roman"/>
                <a:cs typeface="Times New Roman"/>
              </a:rPr>
              <a:t>stack</a:t>
            </a:r>
            <a:r>
              <a:rPr sz="2400" spc="-15" dirty="0">
                <a:latin typeface="Times New Roman"/>
                <a:cs typeface="Times New Roman"/>
              </a:rPr>
              <a:t> </a:t>
            </a:r>
            <a:r>
              <a:rPr sz="2400" spc="-10" dirty="0">
                <a:latin typeface="Times New Roman"/>
                <a:cs typeface="Times New Roman"/>
              </a:rPr>
              <a:t>integrity.</a:t>
            </a:r>
            <a:endParaRPr sz="2400">
              <a:latin typeface="Times New Roman"/>
              <a:cs typeface="Times New Roman"/>
            </a:endParaRPr>
          </a:p>
          <a:p>
            <a:pPr marL="561340" lvl="1" indent="-228600">
              <a:lnSpc>
                <a:spcPts val="2865"/>
              </a:lnSpc>
              <a:spcBef>
                <a:spcPts val="425"/>
              </a:spcBef>
              <a:buClr>
                <a:srgbClr val="9B2C1F"/>
              </a:buClr>
              <a:buSzPct val="83333"/>
              <a:buFont typeface="Segoe UI Symbol"/>
              <a:buChar char="⚫"/>
              <a:tabLst>
                <a:tab pos="561340" algn="l"/>
              </a:tabLst>
            </a:pPr>
            <a:r>
              <a:rPr sz="2400" dirty="0">
                <a:latin typeface="Times New Roman"/>
                <a:cs typeface="Times New Roman"/>
              </a:rPr>
              <a:t>Embed</a:t>
            </a:r>
            <a:r>
              <a:rPr sz="2400" spc="-45" dirty="0">
                <a:latin typeface="Times New Roman"/>
                <a:cs typeface="Times New Roman"/>
              </a:rPr>
              <a:t> </a:t>
            </a:r>
            <a:r>
              <a:rPr sz="2400" dirty="0">
                <a:latin typeface="Times New Roman"/>
                <a:cs typeface="Times New Roman"/>
              </a:rPr>
              <a:t>“canaries”</a:t>
            </a:r>
            <a:r>
              <a:rPr sz="2400" spc="10" dirty="0">
                <a:latin typeface="Times New Roman"/>
                <a:cs typeface="Times New Roman"/>
              </a:rPr>
              <a:t> </a:t>
            </a:r>
            <a:r>
              <a:rPr sz="2400" dirty="0">
                <a:latin typeface="Times New Roman"/>
                <a:cs typeface="Times New Roman"/>
              </a:rPr>
              <a:t>in</a:t>
            </a:r>
            <a:r>
              <a:rPr sz="2400" spc="-45" dirty="0">
                <a:latin typeface="Times New Roman"/>
                <a:cs typeface="Times New Roman"/>
              </a:rPr>
              <a:t> </a:t>
            </a:r>
            <a:r>
              <a:rPr sz="2400" dirty="0">
                <a:latin typeface="Times New Roman"/>
                <a:cs typeface="Times New Roman"/>
              </a:rPr>
              <a:t>stack</a:t>
            </a:r>
            <a:r>
              <a:rPr sz="2400" spc="-45" dirty="0">
                <a:latin typeface="Times New Roman"/>
                <a:cs typeface="Times New Roman"/>
              </a:rPr>
              <a:t> </a:t>
            </a:r>
            <a:r>
              <a:rPr sz="2400" dirty="0">
                <a:latin typeface="Times New Roman"/>
                <a:cs typeface="Times New Roman"/>
              </a:rPr>
              <a:t>frames</a:t>
            </a:r>
            <a:r>
              <a:rPr sz="2400" spc="-80" dirty="0">
                <a:latin typeface="Times New Roman"/>
                <a:cs typeface="Times New Roman"/>
              </a:rPr>
              <a:t> </a:t>
            </a:r>
            <a:r>
              <a:rPr sz="2400" dirty="0">
                <a:latin typeface="Times New Roman"/>
                <a:cs typeface="Times New Roman"/>
              </a:rPr>
              <a:t>and</a:t>
            </a:r>
            <a:r>
              <a:rPr sz="2400" spc="-40" dirty="0">
                <a:latin typeface="Times New Roman"/>
                <a:cs typeface="Times New Roman"/>
              </a:rPr>
              <a:t> </a:t>
            </a:r>
            <a:r>
              <a:rPr sz="2400" dirty="0">
                <a:latin typeface="Times New Roman"/>
                <a:cs typeface="Times New Roman"/>
              </a:rPr>
              <a:t>verify</a:t>
            </a:r>
            <a:r>
              <a:rPr sz="2400" spc="-45" dirty="0">
                <a:latin typeface="Times New Roman"/>
                <a:cs typeface="Times New Roman"/>
              </a:rPr>
              <a:t> </a:t>
            </a:r>
            <a:r>
              <a:rPr sz="2400" dirty="0">
                <a:latin typeface="Times New Roman"/>
                <a:cs typeface="Times New Roman"/>
              </a:rPr>
              <a:t>their</a:t>
            </a:r>
            <a:r>
              <a:rPr sz="2400" spc="-25" dirty="0">
                <a:latin typeface="Times New Roman"/>
                <a:cs typeface="Times New Roman"/>
              </a:rPr>
              <a:t> </a:t>
            </a:r>
            <a:r>
              <a:rPr sz="2400" dirty="0">
                <a:latin typeface="Times New Roman"/>
                <a:cs typeface="Times New Roman"/>
              </a:rPr>
              <a:t>integrity</a:t>
            </a:r>
            <a:r>
              <a:rPr sz="2400" spc="-40" dirty="0">
                <a:latin typeface="Times New Roman"/>
                <a:cs typeface="Times New Roman"/>
              </a:rPr>
              <a:t> </a:t>
            </a:r>
            <a:r>
              <a:rPr sz="2400" spc="-10" dirty="0">
                <a:latin typeface="Times New Roman"/>
                <a:cs typeface="Times New Roman"/>
              </a:rPr>
              <a:t>prior</a:t>
            </a:r>
            <a:endParaRPr sz="2400">
              <a:latin typeface="Times New Roman"/>
              <a:cs typeface="Times New Roman"/>
            </a:endParaRPr>
          </a:p>
          <a:p>
            <a:pPr marL="561340">
              <a:lnSpc>
                <a:spcPts val="2865"/>
              </a:lnSpc>
            </a:pPr>
            <a:r>
              <a:rPr sz="2400" dirty="0">
                <a:latin typeface="Times New Roman"/>
                <a:cs typeface="Times New Roman"/>
              </a:rPr>
              <a:t>to</a:t>
            </a:r>
            <a:r>
              <a:rPr sz="2400" spc="-30" dirty="0">
                <a:latin typeface="Times New Roman"/>
                <a:cs typeface="Times New Roman"/>
              </a:rPr>
              <a:t> </a:t>
            </a:r>
            <a:r>
              <a:rPr sz="2400" dirty="0">
                <a:latin typeface="Times New Roman"/>
                <a:cs typeface="Times New Roman"/>
              </a:rPr>
              <a:t>function</a:t>
            </a:r>
            <a:r>
              <a:rPr sz="2400" spc="-25" dirty="0">
                <a:latin typeface="Times New Roman"/>
                <a:cs typeface="Times New Roman"/>
              </a:rPr>
              <a:t> </a:t>
            </a:r>
            <a:r>
              <a:rPr sz="2400" spc="-10" dirty="0">
                <a:latin typeface="Times New Roman"/>
                <a:cs typeface="Times New Roman"/>
              </a:rPr>
              <a:t>return.</a:t>
            </a:r>
            <a:endParaRPr sz="2400">
              <a:latin typeface="Times New Roman"/>
              <a:cs typeface="Times New Roman"/>
            </a:endParaRPr>
          </a:p>
        </p:txBody>
      </p:sp>
      <p:sp>
        <p:nvSpPr>
          <p:cNvPr id="4" name="object 4"/>
          <p:cNvSpPr txBox="1"/>
          <p:nvPr/>
        </p:nvSpPr>
        <p:spPr>
          <a:xfrm>
            <a:off x="7177151" y="5014976"/>
            <a:ext cx="447675" cy="371475"/>
          </a:xfrm>
          <a:prstGeom prst="rect">
            <a:avLst/>
          </a:prstGeom>
          <a:solidFill>
            <a:srgbClr val="006FC0"/>
          </a:solidFill>
          <a:ln w="9525">
            <a:solidFill>
              <a:srgbClr val="000000"/>
            </a:solidFill>
          </a:ln>
        </p:spPr>
        <p:txBody>
          <a:bodyPr vert="horz" wrap="square" lIns="0" tIns="25400" rIns="0" bIns="0" rtlCol="0">
            <a:spAutoFit/>
          </a:bodyPr>
          <a:lstStyle/>
          <a:p>
            <a:pPr marL="81915">
              <a:lnSpc>
                <a:spcPct val="100000"/>
              </a:lnSpc>
              <a:spcBef>
                <a:spcPts val="200"/>
              </a:spcBef>
            </a:pPr>
            <a:r>
              <a:rPr sz="1800" b="1" spc="-25" dirty="0">
                <a:latin typeface="Times New Roman"/>
                <a:cs typeface="Times New Roman"/>
              </a:rPr>
              <a:t>str</a:t>
            </a:r>
            <a:endParaRPr sz="1800">
              <a:latin typeface="Times New Roman"/>
              <a:cs typeface="Times New Roman"/>
            </a:endParaRPr>
          </a:p>
        </p:txBody>
      </p:sp>
      <p:sp>
        <p:nvSpPr>
          <p:cNvPr id="5" name="object 5"/>
          <p:cNvSpPr txBox="1"/>
          <p:nvPr/>
        </p:nvSpPr>
        <p:spPr>
          <a:xfrm>
            <a:off x="6748526" y="5014976"/>
            <a:ext cx="428625" cy="371475"/>
          </a:xfrm>
          <a:prstGeom prst="rect">
            <a:avLst/>
          </a:prstGeom>
          <a:solidFill>
            <a:srgbClr val="006FC0"/>
          </a:solidFill>
          <a:ln w="9525">
            <a:solidFill>
              <a:srgbClr val="000000"/>
            </a:solidFill>
          </a:ln>
        </p:spPr>
        <p:txBody>
          <a:bodyPr vert="horz" wrap="square" lIns="0" tIns="25400" rIns="0" bIns="0" rtlCol="0">
            <a:spAutoFit/>
          </a:bodyPr>
          <a:lstStyle/>
          <a:p>
            <a:pPr marL="52705">
              <a:lnSpc>
                <a:spcPct val="100000"/>
              </a:lnSpc>
              <a:spcBef>
                <a:spcPts val="200"/>
              </a:spcBef>
            </a:pPr>
            <a:r>
              <a:rPr sz="1800" b="1" spc="-25" dirty="0">
                <a:latin typeface="Times New Roman"/>
                <a:cs typeface="Times New Roman"/>
              </a:rPr>
              <a:t>ret</a:t>
            </a:r>
            <a:endParaRPr sz="1800">
              <a:latin typeface="Times New Roman"/>
              <a:cs typeface="Times New Roman"/>
            </a:endParaRPr>
          </a:p>
        </p:txBody>
      </p:sp>
      <p:sp>
        <p:nvSpPr>
          <p:cNvPr id="6" name="object 6"/>
          <p:cNvSpPr txBox="1"/>
          <p:nvPr/>
        </p:nvSpPr>
        <p:spPr>
          <a:xfrm>
            <a:off x="6272276" y="5014976"/>
            <a:ext cx="476250" cy="371475"/>
          </a:xfrm>
          <a:prstGeom prst="rect">
            <a:avLst/>
          </a:prstGeom>
          <a:solidFill>
            <a:srgbClr val="006FC0"/>
          </a:solidFill>
          <a:ln w="9525">
            <a:solidFill>
              <a:srgbClr val="000000"/>
            </a:solidFill>
          </a:ln>
        </p:spPr>
        <p:txBody>
          <a:bodyPr vert="horz" wrap="square" lIns="0" tIns="25400" rIns="0" bIns="0" rtlCol="0">
            <a:spAutoFit/>
          </a:bodyPr>
          <a:lstStyle/>
          <a:p>
            <a:pPr marL="73025">
              <a:lnSpc>
                <a:spcPct val="100000"/>
              </a:lnSpc>
              <a:spcBef>
                <a:spcPts val="200"/>
              </a:spcBef>
            </a:pPr>
            <a:r>
              <a:rPr sz="1800" b="1" spc="-25" dirty="0">
                <a:latin typeface="Times New Roman"/>
                <a:cs typeface="Times New Roman"/>
              </a:rPr>
              <a:t>sfp</a:t>
            </a:r>
            <a:endParaRPr sz="1800">
              <a:latin typeface="Times New Roman"/>
              <a:cs typeface="Times New Roman"/>
            </a:endParaRPr>
          </a:p>
        </p:txBody>
      </p:sp>
      <p:sp>
        <p:nvSpPr>
          <p:cNvPr id="7" name="object 7"/>
          <p:cNvSpPr/>
          <p:nvPr/>
        </p:nvSpPr>
        <p:spPr>
          <a:xfrm>
            <a:off x="4195826" y="4957826"/>
            <a:ext cx="1047750" cy="504825"/>
          </a:xfrm>
          <a:custGeom>
            <a:avLst/>
            <a:gdLst/>
            <a:ahLst/>
            <a:cxnLst/>
            <a:rect l="l" t="t" r="r" b="b"/>
            <a:pathLst>
              <a:path w="1047750" h="504825">
                <a:moveTo>
                  <a:pt x="0" y="504825"/>
                </a:moveTo>
                <a:lnTo>
                  <a:pt x="1047750" y="504825"/>
                </a:lnTo>
                <a:lnTo>
                  <a:pt x="1047750" y="0"/>
                </a:lnTo>
                <a:lnTo>
                  <a:pt x="0" y="0"/>
                </a:lnTo>
                <a:lnTo>
                  <a:pt x="0" y="504825"/>
                </a:lnTo>
                <a:close/>
              </a:path>
            </a:pathLst>
          </a:custGeom>
          <a:ln w="9525">
            <a:solidFill>
              <a:srgbClr val="000000"/>
            </a:solidFill>
          </a:ln>
        </p:spPr>
        <p:txBody>
          <a:bodyPr wrap="square" lIns="0" tIns="0" rIns="0" bIns="0" rtlCol="0"/>
          <a:lstStyle/>
          <a:p>
            <a:endParaRPr/>
          </a:p>
        </p:txBody>
      </p:sp>
      <p:sp>
        <p:nvSpPr>
          <p:cNvPr id="8" name="object 8"/>
          <p:cNvSpPr txBox="1"/>
          <p:nvPr/>
        </p:nvSpPr>
        <p:spPr>
          <a:xfrm>
            <a:off x="4195826" y="4957826"/>
            <a:ext cx="1047750" cy="504825"/>
          </a:xfrm>
          <a:prstGeom prst="rect">
            <a:avLst/>
          </a:prstGeom>
          <a:solidFill>
            <a:srgbClr val="006FC0"/>
          </a:solidFill>
        </p:spPr>
        <p:txBody>
          <a:bodyPr vert="horz" wrap="square" lIns="0" tIns="90170" rIns="0" bIns="0" rtlCol="0">
            <a:spAutoFit/>
          </a:bodyPr>
          <a:lstStyle/>
          <a:p>
            <a:pPr marL="288925">
              <a:lnSpc>
                <a:spcPct val="100000"/>
              </a:lnSpc>
              <a:spcBef>
                <a:spcPts val="710"/>
              </a:spcBef>
            </a:pPr>
            <a:r>
              <a:rPr sz="1800" b="1" spc="-10" dirty="0">
                <a:latin typeface="Times New Roman"/>
                <a:cs typeface="Times New Roman"/>
              </a:rPr>
              <a:t>local</a:t>
            </a:r>
            <a:endParaRPr sz="1800">
              <a:latin typeface="Times New Roman"/>
              <a:cs typeface="Times New Roman"/>
            </a:endParaRPr>
          </a:p>
        </p:txBody>
      </p:sp>
      <p:sp>
        <p:nvSpPr>
          <p:cNvPr id="9" name="object 9"/>
          <p:cNvSpPr/>
          <p:nvPr/>
        </p:nvSpPr>
        <p:spPr>
          <a:xfrm>
            <a:off x="7472426" y="4957698"/>
            <a:ext cx="342900" cy="635"/>
          </a:xfrm>
          <a:custGeom>
            <a:avLst/>
            <a:gdLst/>
            <a:ahLst/>
            <a:cxnLst/>
            <a:rect l="l" t="t" r="r" b="b"/>
            <a:pathLst>
              <a:path w="342900" h="635">
                <a:moveTo>
                  <a:pt x="0" y="126"/>
                </a:moveTo>
                <a:lnTo>
                  <a:pt x="342900" y="0"/>
                </a:lnTo>
              </a:path>
            </a:pathLst>
          </a:custGeom>
          <a:ln w="9525">
            <a:solidFill>
              <a:srgbClr val="000000"/>
            </a:solidFill>
          </a:ln>
        </p:spPr>
        <p:txBody>
          <a:bodyPr wrap="square" lIns="0" tIns="0" rIns="0" bIns="0" rtlCol="0"/>
          <a:lstStyle/>
          <a:p>
            <a:endParaRPr/>
          </a:p>
        </p:txBody>
      </p:sp>
      <p:sp>
        <p:nvSpPr>
          <p:cNvPr id="10" name="object 10"/>
          <p:cNvSpPr/>
          <p:nvPr/>
        </p:nvSpPr>
        <p:spPr>
          <a:xfrm>
            <a:off x="7548626" y="5453126"/>
            <a:ext cx="342900" cy="9525"/>
          </a:xfrm>
          <a:custGeom>
            <a:avLst/>
            <a:gdLst/>
            <a:ahLst/>
            <a:cxnLst/>
            <a:rect l="l" t="t" r="r" b="b"/>
            <a:pathLst>
              <a:path w="342900" h="9525">
                <a:moveTo>
                  <a:pt x="0" y="9525"/>
                </a:moveTo>
                <a:lnTo>
                  <a:pt x="342900" y="0"/>
                </a:lnTo>
              </a:path>
            </a:pathLst>
          </a:custGeom>
          <a:ln w="9525">
            <a:solidFill>
              <a:srgbClr val="000000"/>
            </a:solidFill>
          </a:ln>
        </p:spPr>
        <p:txBody>
          <a:bodyPr wrap="square" lIns="0" tIns="0" rIns="0" bIns="0" rtlCol="0"/>
          <a:lstStyle/>
          <a:p>
            <a:endParaRPr/>
          </a:p>
        </p:txBody>
      </p:sp>
      <p:sp>
        <p:nvSpPr>
          <p:cNvPr id="11" name="object 11"/>
          <p:cNvSpPr txBox="1"/>
          <p:nvPr/>
        </p:nvSpPr>
        <p:spPr>
          <a:xfrm>
            <a:off x="8277225" y="4764087"/>
            <a:ext cx="440055" cy="739140"/>
          </a:xfrm>
          <a:prstGeom prst="rect">
            <a:avLst/>
          </a:prstGeom>
        </p:spPr>
        <p:txBody>
          <a:bodyPr vert="horz" wrap="square" lIns="0" tIns="67945" rIns="0" bIns="0" rtlCol="0">
            <a:spAutoFit/>
          </a:bodyPr>
          <a:lstStyle/>
          <a:p>
            <a:pPr marL="12700" marR="5080" indent="68580" algn="just">
              <a:lnSpc>
                <a:spcPct val="80000"/>
              </a:lnSpc>
              <a:spcBef>
                <a:spcPts val="535"/>
              </a:spcBef>
            </a:pPr>
            <a:r>
              <a:rPr sz="1800" spc="-25" dirty="0">
                <a:latin typeface="Times New Roman"/>
                <a:cs typeface="Times New Roman"/>
              </a:rPr>
              <a:t>top of </a:t>
            </a:r>
            <a:r>
              <a:rPr sz="1800" spc="-95" dirty="0">
                <a:latin typeface="Times New Roman"/>
                <a:cs typeface="Times New Roman"/>
              </a:rPr>
              <a:t>stack</a:t>
            </a:r>
            <a:endParaRPr sz="1800">
              <a:latin typeface="Times New Roman"/>
              <a:cs typeface="Times New Roman"/>
            </a:endParaRPr>
          </a:p>
        </p:txBody>
      </p:sp>
      <p:sp>
        <p:nvSpPr>
          <p:cNvPr id="12" name="object 12"/>
          <p:cNvSpPr/>
          <p:nvPr/>
        </p:nvSpPr>
        <p:spPr>
          <a:xfrm>
            <a:off x="685800" y="5810250"/>
            <a:ext cx="7010400" cy="114300"/>
          </a:xfrm>
          <a:custGeom>
            <a:avLst/>
            <a:gdLst/>
            <a:ahLst/>
            <a:cxnLst/>
            <a:rect l="l" t="t" r="r" b="b"/>
            <a:pathLst>
              <a:path w="7010400" h="114300">
                <a:moveTo>
                  <a:pt x="114300" y="0"/>
                </a:moveTo>
                <a:lnTo>
                  <a:pt x="0" y="57150"/>
                </a:lnTo>
                <a:lnTo>
                  <a:pt x="114300" y="114300"/>
                </a:lnTo>
                <a:lnTo>
                  <a:pt x="114300" y="76200"/>
                </a:lnTo>
                <a:lnTo>
                  <a:pt x="95262" y="76200"/>
                </a:lnTo>
                <a:lnTo>
                  <a:pt x="95262" y="38100"/>
                </a:lnTo>
                <a:lnTo>
                  <a:pt x="114300" y="38100"/>
                </a:lnTo>
                <a:lnTo>
                  <a:pt x="114300" y="0"/>
                </a:lnTo>
                <a:close/>
              </a:path>
              <a:path w="7010400" h="114300">
                <a:moveTo>
                  <a:pt x="114300" y="38100"/>
                </a:moveTo>
                <a:lnTo>
                  <a:pt x="95262" y="38100"/>
                </a:lnTo>
                <a:lnTo>
                  <a:pt x="95262" y="76200"/>
                </a:lnTo>
                <a:lnTo>
                  <a:pt x="114300" y="76200"/>
                </a:lnTo>
                <a:lnTo>
                  <a:pt x="114300" y="38100"/>
                </a:lnTo>
                <a:close/>
              </a:path>
              <a:path w="7010400" h="114300">
                <a:moveTo>
                  <a:pt x="7010400" y="38100"/>
                </a:moveTo>
                <a:lnTo>
                  <a:pt x="114300" y="38100"/>
                </a:lnTo>
                <a:lnTo>
                  <a:pt x="114300" y="76200"/>
                </a:lnTo>
                <a:lnTo>
                  <a:pt x="7010400" y="76200"/>
                </a:lnTo>
                <a:lnTo>
                  <a:pt x="7010400" y="38100"/>
                </a:lnTo>
                <a:close/>
              </a:path>
            </a:pathLst>
          </a:custGeom>
          <a:solidFill>
            <a:srgbClr val="000000"/>
          </a:solidFill>
        </p:spPr>
        <p:txBody>
          <a:bodyPr wrap="square" lIns="0" tIns="0" rIns="0" bIns="0" rtlCol="0"/>
          <a:lstStyle/>
          <a:p>
            <a:endParaRPr/>
          </a:p>
        </p:txBody>
      </p:sp>
      <p:sp>
        <p:nvSpPr>
          <p:cNvPr id="13" name="object 13"/>
          <p:cNvSpPr/>
          <p:nvPr/>
        </p:nvSpPr>
        <p:spPr>
          <a:xfrm>
            <a:off x="5253101" y="4957826"/>
            <a:ext cx="1019175" cy="504825"/>
          </a:xfrm>
          <a:custGeom>
            <a:avLst/>
            <a:gdLst/>
            <a:ahLst/>
            <a:cxnLst/>
            <a:rect l="l" t="t" r="r" b="b"/>
            <a:pathLst>
              <a:path w="1019175" h="504825">
                <a:moveTo>
                  <a:pt x="0" y="504825"/>
                </a:moveTo>
                <a:lnTo>
                  <a:pt x="1019175" y="504825"/>
                </a:lnTo>
                <a:lnTo>
                  <a:pt x="1019175" y="0"/>
                </a:lnTo>
                <a:lnTo>
                  <a:pt x="0" y="0"/>
                </a:lnTo>
                <a:lnTo>
                  <a:pt x="0" y="504825"/>
                </a:lnTo>
                <a:close/>
              </a:path>
            </a:pathLst>
          </a:custGeom>
          <a:ln w="9525">
            <a:solidFill>
              <a:srgbClr val="000000"/>
            </a:solidFill>
          </a:ln>
        </p:spPr>
        <p:txBody>
          <a:bodyPr wrap="square" lIns="0" tIns="0" rIns="0" bIns="0" rtlCol="0"/>
          <a:lstStyle/>
          <a:p>
            <a:endParaRPr/>
          </a:p>
        </p:txBody>
      </p:sp>
      <p:sp>
        <p:nvSpPr>
          <p:cNvPr id="14" name="object 14"/>
          <p:cNvSpPr txBox="1"/>
          <p:nvPr/>
        </p:nvSpPr>
        <p:spPr>
          <a:xfrm>
            <a:off x="5257863" y="4962588"/>
            <a:ext cx="967105" cy="495300"/>
          </a:xfrm>
          <a:prstGeom prst="rect">
            <a:avLst/>
          </a:prstGeom>
          <a:solidFill>
            <a:srgbClr val="006FC0"/>
          </a:solidFill>
        </p:spPr>
        <p:txBody>
          <a:bodyPr vert="horz" wrap="square" lIns="0" tIns="85725" rIns="0" bIns="0" rtlCol="0">
            <a:spAutoFit/>
          </a:bodyPr>
          <a:lstStyle/>
          <a:p>
            <a:pPr marL="175895">
              <a:lnSpc>
                <a:spcPct val="100000"/>
              </a:lnSpc>
              <a:spcBef>
                <a:spcPts val="675"/>
              </a:spcBef>
            </a:pPr>
            <a:r>
              <a:rPr sz="1800" b="1" spc="-10" dirty="0">
                <a:latin typeface="Times New Roman"/>
                <a:cs typeface="Times New Roman"/>
              </a:rPr>
              <a:t>canary</a:t>
            </a:r>
            <a:endParaRPr sz="1800">
              <a:latin typeface="Times New Roman"/>
              <a:cs typeface="Times New Roman"/>
            </a:endParaRPr>
          </a:p>
        </p:txBody>
      </p:sp>
      <p:sp>
        <p:nvSpPr>
          <p:cNvPr id="15" name="object 15"/>
          <p:cNvSpPr txBox="1"/>
          <p:nvPr/>
        </p:nvSpPr>
        <p:spPr>
          <a:xfrm>
            <a:off x="5647054" y="4506531"/>
            <a:ext cx="711200" cy="300355"/>
          </a:xfrm>
          <a:prstGeom prst="rect">
            <a:avLst/>
          </a:prstGeom>
        </p:spPr>
        <p:txBody>
          <a:bodyPr vert="horz" wrap="square" lIns="0" tIns="12700" rIns="0" bIns="0" rtlCol="0">
            <a:spAutoFit/>
          </a:bodyPr>
          <a:lstStyle/>
          <a:p>
            <a:pPr marL="12700">
              <a:lnSpc>
                <a:spcPct val="100000"/>
              </a:lnSpc>
              <a:spcBef>
                <a:spcPts val="100"/>
              </a:spcBef>
            </a:pPr>
            <a:r>
              <a:rPr sz="1800" spc="-100" dirty="0">
                <a:latin typeface="Times New Roman"/>
                <a:cs typeface="Times New Roman"/>
              </a:rPr>
              <a:t>Frame</a:t>
            </a:r>
            <a:r>
              <a:rPr sz="1800" spc="-20" dirty="0">
                <a:latin typeface="Times New Roman"/>
                <a:cs typeface="Times New Roman"/>
              </a:rPr>
              <a:t> </a:t>
            </a:r>
            <a:r>
              <a:rPr sz="1800" spc="-50" dirty="0">
                <a:latin typeface="Times New Roman"/>
                <a:cs typeface="Times New Roman"/>
              </a:rPr>
              <a:t>1</a:t>
            </a:r>
            <a:endParaRPr sz="1800">
              <a:latin typeface="Times New Roman"/>
              <a:cs typeface="Times New Roman"/>
            </a:endParaRPr>
          </a:p>
        </p:txBody>
      </p:sp>
      <p:sp>
        <p:nvSpPr>
          <p:cNvPr id="16" name="object 16"/>
          <p:cNvSpPr txBox="1"/>
          <p:nvPr/>
        </p:nvSpPr>
        <p:spPr>
          <a:xfrm>
            <a:off x="2384425" y="4522152"/>
            <a:ext cx="712470" cy="300355"/>
          </a:xfrm>
          <a:prstGeom prst="rect">
            <a:avLst/>
          </a:prstGeom>
        </p:spPr>
        <p:txBody>
          <a:bodyPr vert="horz" wrap="square" lIns="0" tIns="12700" rIns="0" bIns="0" rtlCol="0">
            <a:spAutoFit/>
          </a:bodyPr>
          <a:lstStyle/>
          <a:p>
            <a:pPr marL="12700">
              <a:lnSpc>
                <a:spcPct val="100000"/>
              </a:lnSpc>
              <a:spcBef>
                <a:spcPts val="100"/>
              </a:spcBef>
            </a:pPr>
            <a:r>
              <a:rPr sz="1800" spc="-95" dirty="0">
                <a:latin typeface="Times New Roman"/>
                <a:cs typeface="Times New Roman"/>
              </a:rPr>
              <a:t>Frame</a:t>
            </a:r>
            <a:r>
              <a:rPr sz="1800" spc="-30" dirty="0">
                <a:latin typeface="Times New Roman"/>
                <a:cs typeface="Times New Roman"/>
              </a:rPr>
              <a:t> </a:t>
            </a:r>
            <a:r>
              <a:rPr sz="1800" spc="-50" dirty="0">
                <a:latin typeface="Times New Roman"/>
                <a:cs typeface="Times New Roman"/>
              </a:rPr>
              <a:t>2</a:t>
            </a:r>
            <a:endParaRPr sz="1800">
              <a:latin typeface="Times New Roman"/>
              <a:cs typeface="Times New Roman"/>
            </a:endParaRPr>
          </a:p>
        </p:txBody>
      </p:sp>
      <p:graphicFrame>
        <p:nvGraphicFramePr>
          <p:cNvPr id="17" name="object 17"/>
          <p:cNvGraphicFramePr>
            <a:graphicFrameLocks noGrp="1"/>
          </p:cNvGraphicFramePr>
          <p:nvPr/>
        </p:nvGraphicFramePr>
        <p:xfrm>
          <a:off x="304800" y="4948301"/>
          <a:ext cx="3810000" cy="563245"/>
        </p:xfrm>
        <a:graphic>
          <a:graphicData uri="http://schemas.openxmlformats.org/drawingml/2006/table">
            <a:tbl>
              <a:tblPr firstRow="1" bandRow="1">
                <a:tableStyleId>{2D5ABB26-0587-4C30-8999-92F81FD0307C}</a:tableStyleId>
              </a:tblPr>
              <a:tblGrid>
                <a:gridCol w="371475">
                  <a:extLst>
                    <a:ext uri="{9D8B030D-6E8A-4147-A177-3AD203B41FA5}">
                      <a16:colId xmlns:a16="http://schemas.microsoft.com/office/drawing/2014/main" val="20000"/>
                    </a:ext>
                  </a:extLst>
                </a:gridCol>
                <a:gridCol w="1038225">
                  <a:extLst>
                    <a:ext uri="{9D8B030D-6E8A-4147-A177-3AD203B41FA5}">
                      <a16:colId xmlns:a16="http://schemas.microsoft.com/office/drawing/2014/main" val="20001"/>
                    </a:ext>
                  </a:extLst>
                </a:gridCol>
                <a:gridCol w="1000125">
                  <a:extLst>
                    <a:ext uri="{9D8B030D-6E8A-4147-A177-3AD203B41FA5}">
                      <a16:colId xmlns:a16="http://schemas.microsoft.com/office/drawing/2014/main" val="20002"/>
                    </a:ext>
                  </a:extLst>
                </a:gridCol>
                <a:gridCol w="523875">
                  <a:extLst>
                    <a:ext uri="{9D8B030D-6E8A-4147-A177-3AD203B41FA5}">
                      <a16:colId xmlns:a16="http://schemas.microsoft.com/office/drawing/2014/main" val="20003"/>
                    </a:ext>
                  </a:extLst>
                </a:gridCol>
                <a:gridCol w="428625">
                  <a:extLst>
                    <a:ext uri="{9D8B030D-6E8A-4147-A177-3AD203B41FA5}">
                      <a16:colId xmlns:a16="http://schemas.microsoft.com/office/drawing/2014/main" val="20004"/>
                    </a:ext>
                  </a:extLst>
                </a:gridCol>
                <a:gridCol w="447675">
                  <a:extLst>
                    <a:ext uri="{9D8B030D-6E8A-4147-A177-3AD203B41FA5}">
                      <a16:colId xmlns:a16="http://schemas.microsoft.com/office/drawing/2014/main" val="20005"/>
                    </a:ext>
                  </a:extLst>
                </a:gridCol>
              </a:tblGrid>
              <a:tr h="0">
                <a:tc rowSpan="3">
                  <a:txBody>
                    <a:bodyPr/>
                    <a:lstStyle/>
                    <a:p>
                      <a:pPr>
                        <a:lnSpc>
                          <a:spcPct val="100000"/>
                        </a:lnSpc>
                      </a:pPr>
                      <a:endParaRPr sz="2300">
                        <a:latin typeface="Times New Roman"/>
                        <a:cs typeface="Times New Roman"/>
                      </a:endParaRPr>
                    </a:p>
                  </a:txBody>
                  <a:tcPr marL="0" marR="0" marT="0" marB="0">
                    <a:lnR w="9525">
                      <a:solidFill>
                        <a:srgbClr val="000000"/>
                      </a:solidFill>
                      <a:prstDash val="solid"/>
                    </a:lnR>
                    <a:lnT w="9525">
                      <a:solidFill>
                        <a:srgbClr val="000000"/>
                      </a:solidFill>
                      <a:prstDash val="solid"/>
                    </a:lnT>
                    <a:lnB w="19050">
                      <a:solidFill>
                        <a:srgbClr val="000000"/>
                      </a:solidFill>
                      <a:prstDash val="solid"/>
                    </a:lnB>
                  </a:tcPr>
                </a:tc>
                <a:tc rowSpan="3">
                  <a:txBody>
                    <a:bodyPr/>
                    <a:lstStyle/>
                    <a:p>
                      <a:pPr marL="285115">
                        <a:lnSpc>
                          <a:spcPct val="100000"/>
                        </a:lnSpc>
                        <a:spcBef>
                          <a:spcPts val="710"/>
                        </a:spcBef>
                      </a:pPr>
                      <a:r>
                        <a:rPr sz="1800" b="1" spc="-10" dirty="0">
                          <a:latin typeface="Times New Roman"/>
                          <a:cs typeface="Times New Roman"/>
                        </a:rPr>
                        <a:t>local</a:t>
                      </a:r>
                      <a:endParaRPr sz="1800">
                        <a:latin typeface="Times New Roman"/>
                        <a:cs typeface="Times New Roman"/>
                      </a:endParaRPr>
                    </a:p>
                  </a:txBody>
                  <a:tcPr marL="0" marR="0" marT="90170" marB="0">
                    <a:lnL w="9525">
                      <a:solidFill>
                        <a:srgbClr val="000000"/>
                      </a:solidFill>
                      <a:prstDash val="solid"/>
                    </a:lnL>
                    <a:lnR w="9525">
                      <a:solidFill>
                        <a:srgbClr val="000000"/>
                      </a:solidFill>
                      <a:prstDash val="solid"/>
                    </a:lnR>
                    <a:lnT w="9525">
                      <a:solidFill>
                        <a:srgbClr val="000000"/>
                      </a:solidFill>
                      <a:prstDash val="solid"/>
                    </a:lnT>
                    <a:lnB w="19050">
                      <a:solidFill>
                        <a:srgbClr val="000000"/>
                      </a:solidFill>
                      <a:prstDash val="solid"/>
                    </a:lnB>
                    <a:solidFill>
                      <a:srgbClr val="006FC0"/>
                    </a:solidFill>
                  </a:tcPr>
                </a:tc>
                <a:tc rowSpan="3">
                  <a:txBody>
                    <a:bodyPr/>
                    <a:lstStyle/>
                    <a:p>
                      <a:pPr marL="178435">
                        <a:lnSpc>
                          <a:spcPct val="100000"/>
                        </a:lnSpc>
                        <a:spcBef>
                          <a:spcPts val="710"/>
                        </a:spcBef>
                      </a:pPr>
                      <a:r>
                        <a:rPr sz="1800" b="1" spc="-10" dirty="0">
                          <a:latin typeface="Times New Roman"/>
                          <a:cs typeface="Times New Roman"/>
                        </a:rPr>
                        <a:t>canary</a:t>
                      </a:r>
                      <a:endParaRPr sz="1800">
                        <a:latin typeface="Times New Roman"/>
                        <a:cs typeface="Times New Roman"/>
                      </a:endParaRPr>
                    </a:p>
                  </a:txBody>
                  <a:tcPr marL="0" marR="0" marT="9017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006FC0"/>
                    </a:solidFill>
                  </a:tcPr>
                </a:tc>
                <a:tc gridSpan="3">
                  <a:txBody>
                    <a:bodyPr/>
                    <a:lstStyle/>
                    <a:p>
                      <a:pPr>
                        <a:lnSpc>
                          <a:spcPct val="100000"/>
                        </a:lnSpc>
                      </a:pPr>
                      <a:endParaRPr sz="200">
                        <a:latin typeface="Times New Roman"/>
                        <a:cs typeface="Times New Roman"/>
                      </a:endParaRPr>
                    </a:p>
                  </a:txBody>
                  <a:tcPr marL="0" marR="0" marT="0" marB="0">
                    <a:lnL w="9525" cap="flat" cmpd="sng" algn="ctr">
                      <a:solidFill>
                        <a:srgbClr val="000000"/>
                      </a:solidFill>
                      <a:prstDash val="solid"/>
                      <a:round/>
                      <a:headEnd type="none" w="med" len="med"/>
                      <a:tailEnd type="none" w="med" len="med"/>
                    </a:lnL>
                    <a:lnB w="9525">
                      <a:solidFill>
                        <a:srgbClr val="000000"/>
                      </a:solidFill>
                      <a:prstDash val="solid"/>
                    </a:lnB>
                    <a:solidFill>
                      <a:srgbClr val="006FC0"/>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371475">
                <a:tc vMerge="1">
                  <a:txBody>
                    <a:bodyPr/>
                    <a:lstStyle/>
                    <a:p>
                      <a:endParaRPr/>
                    </a:p>
                  </a:txBody>
                  <a:tcPr marL="0" marR="0" marT="0" marB="0">
                    <a:lnR w="9525">
                      <a:solidFill>
                        <a:srgbClr val="000000"/>
                      </a:solidFill>
                      <a:prstDash val="solid"/>
                    </a:lnR>
                    <a:lnT w="9525">
                      <a:solidFill>
                        <a:srgbClr val="000000"/>
                      </a:solidFill>
                      <a:prstDash val="solid"/>
                    </a:lnT>
                    <a:lnB w="19050">
                      <a:solidFill>
                        <a:srgbClr val="000000"/>
                      </a:solidFill>
                      <a:prstDash val="solid"/>
                    </a:lnB>
                  </a:tcPr>
                </a:tc>
                <a:tc vMerge="1">
                  <a:txBody>
                    <a:bodyPr/>
                    <a:lstStyle/>
                    <a:p>
                      <a:endParaRPr/>
                    </a:p>
                  </a:txBody>
                  <a:tcPr marL="0" marR="0" marT="90170" marB="0">
                    <a:lnL w="9525">
                      <a:solidFill>
                        <a:srgbClr val="000000"/>
                      </a:solidFill>
                      <a:prstDash val="solid"/>
                    </a:lnL>
                    <a:lnR w="9525">
                      <a:solidFill>
                        <a:srgbClr val="000000"/>
                      </a:solidFill>
                      <a:prstDash val="solid"/>
                    </a:lnR>
                    <a:lnT w="9525">
                      <a:solidFill>
                        <a:srgbClr val="000000"/>
                      </a:solidFill>
                      <a:prstDash val="solid"/>
                    </a:lnT>
                    <a:lnB w="19050">
                      <a:solidFill>
                        <a:srgbClr val="000000"/>
                      </a:solidFill>
                      <a:prstDash val="solid"/>
                    </a:lnB>
                    <a:solidFill>
                      <a:srgbClr val="006FC0"/>
                    </a:solidFill>
                  </a:tcPr>
                </a:tc>
                <a:tc vMerge="1">
                  <a:txBody>
                    <a:bodyPr/>
                    <a:lstStyle/>
                    <a:p>
                      <a:endParaRPr/>
                    </a:p>
                  </a:txBody>
                  <a:tcPr marL="0" marR="0" marT="9017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006FC0"/>
                    </a:solidFill>
                  </a:tcPr>
                </a:tc>
                <a:tc>
                  <a:txBody>
                    <a:bodyPr/>
                    <a:lstStyle/>
                    <a:p>
                      <a:pPr marL="116839">
                        <a:lnSpc>
                          <a:spcPct val="100000"/>
                        </a:lnSpc>
                        <a:spcBef>
                          <a:spcPts val="200"/>
                        </a:spcBef>
                      </a:pPr>
                      <a:r>
                        <a:rPr sz="1800" b="1" spc="-25" dirty="0">
                          <a:latin typeface="Times New Roman"/>
                          <a:cs typeface="Times New Roman"/>
                        </a:rPr>
                        <a:t>sfp</a:t>
                      </a:r>
                      <a:endParaRPr sz="1800">
                        <a:latin typeface="Times New Roman"/>
                        <a:cs typeface="Times New Roman"/>
                      </a:endParaRPr>
                    </a:p>
                  </a:txBody>
                  <a:tcPr marL="0" marR="0" marT="2540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006FC0"/>
                    </a:solidFill>
                  </a:tcPr>
                </a:tc>
                <a:tc>
                  <a:txBody>
                    <a:bodyPr/>
                    <a:lstStyle/>
                    <a:p>
                      <a:pPr marL="48895">
                        <a:lnSpc>
                          <a:spcPct val="100000"/>
                        </a:lnSpc>
                        <a:spcBef>
                          <a:spcPts val="200"/>
                        </a:spcBef>
                      </a:pPr>
                      <a:r>
                        <a:rPr sz="1800" b="1" spc="-25" dirty="0">
                          <a:latin typeface="Times New Roman"/>
                          <a:cs typeface="Times New Roman"/>
                        </a:rPr>
                        <a:t>ret</a:t>
                      </a:r>
                      <a:endParaRPr sz="1800">
                        <a:latin typeface="Times New Roman"/>
                        <a:cs typeface="Times New Roman"/>
                      </a:endParaRPr>
                    </a:p>
                  </a:txBody>
                  <a:tcPr marL="0" marR="0" marT="2540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006FC0"/>
                    </a:solidFill>
                  </a:tcPr>
                </a:tc>
                <a:tc>
                  <a:txBody>
                    <a:bodyPr/>
                    <a:lstStyle/>
                    <a:p>
                      <a:pPr marL="77470">
                        <a:lnSpc>
                          <a:spcPct val="100000"/>
                        </a:lnSpc>
                        <a:spcBef>
                          <a:spcPts val="200"/>
                        </a:spcBef>
                      </a:pPr>
                      <a:r>
                        <a:rPr sz="1800" b="1" spc="-25" dirty="0">
                          <a:latin typeface="Times New Roman"/>
                          <a:cs typeface="Times New Roman"/>
                        </a:rPr>
                        <a:t>str</a:t>
                      </a:r>
                      <a:endParaRPr sz="1800">
                        <a:latin typeface="Times New Roman"/>
                        <a:cs typeface="Times New Roman"/>
                      </a:endParaRPr>
                    </a:p>
                  </a:txBody>
                  <a:tcPr marL="0" marR="0" marT="2540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006FC0"/>
                    </a:solidFill>
                  </a:tcPr>
                </a:tc>
                <a:extLst>
                  <a:ext uri="{0D108BD9-81ED-4DB2-BD59-A6C34878D82A}">
                    <a16:rowId xmlns:a16="http://schemas.microsoft.com/office/drawing/2014/main" val="10001"/>
                  </a:ext>
                </a:extLst>
              </a:tr>
              <a:tr h="76200">
                <a:tc vMerge="1">
                  <a:txBody>
                    <a:bodyPr/>
                    <a:lstStyle/>
                    <a:p>
                      <a:endParaRPr/>
                    </a:p>
                  </a:txBody>
                  <a:tcPr marL="0" marR="0" marT="0" marB="0">
                    <a:lnR w="9525">
                      <a:solidFill>
                        <a:srgbClr val="000000"/>
                      </a:solidFill>
                      <a:prstDash val="solid"/>
                    </a:lnR>
                    <a:lnT w="9525">
                      <a:solidFill>
                        <a:srgbClr val="000000"/>
                      </a:solidFill>
                      <a:prstDash val="solid"/>
                    </a:lnT>
                    <a:lnB w="19050">
                      <a:solidFill>
                        <a:srgbClr val="000000"/>
                      </a:solidFill>
                      <a:prstDash val="solid"/>
                    </a:lnB>
                  </a:tcPr>
                </a:tc>
                <a:tc vMerge="1">
                  <a:txBody>
                    <a:bodyPr/>
                    <a:lstStyle/>
                    <a:p>
                      <a:endParaRPr/>
                    </a:p>
                  </a:txBody>
                  <a:tcPr marL="0" marR="0" marT="90170" marB="0">
                    <a:lnL w="9525">
                      <a:solidFill>
                        <a:srgbClr val="000000"/>
                      </a:solidFill>
                      <a:prstDash val="solid"/>
                    </a:lnL>
                    <a:lnR w="9525">
                      <a:solidFill>
                        <a:srgbClr val="000000"/>
                      </a:solidFill>
                      <a:prstDash val="solid"/>
                    </a:lnR>
                    <a:lnT w="9525">
                      <a:solidFill>
                        <a:srgbClr val="000000"/>
                      </a:solidFill>
                      <a:prstDash val="solid"/>
                    </a:lnT>
                    <a:lnB w="19050">
                      <a:solidFill>
                        <a:srgbClr val="000000"/>
                      </a:solidFill>
                      <a:prstDash val="solid"/>
                    </a:lnB>
                    <a:solidFill>
                      <a:srgbClr val="006FC0"/>
                    </a:solidFill>
                  </a:tcPr>
                </a:tc>
                <a:tc vMerge="1">
                  <a:txBody>
                    <a:bodyPr/>
                    <a:lstStyle/>
                    <a:p>
                      <a:endParaRPr/>
                    </a:p>
                  </a:txBody>
                  <a:tcPr marL="0" marR="0" marT="9017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006FC0"/>
                    </a:solidFill>
                  </a:tcPr>
                </a:tc>
                <a:tc gridSpan="3">
                  <a:txBody>
                    <a:bodyPr/>
                    <a:lstStyle/>
                    <a:p>
                      <a:pPr>
                        <a:lnSpc>
                          <a:spcPct val="100000"/>
                        </a:lnSpc>
                      </a:pPr>
                      <a:endParaRPr sz="300">
                        <a:latin typeface="Times New Roman"/>
                        <a:cs typeface="Times New Roman"/>
                      </a:endParaRPr>
                    </a:p>
                  </a:txBody>
                  <a:tcPr marL="0" marR="0" marT="0" marB="0">
                    <a:lnT w="9525">
                      <a:solidFill>
                        <a:srgbClr val="000000"/>
                      </a:solidFill>
                      <a:prstDash val="solid"/>
                    </a:lnT>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2"/>
                  </a:ext>
                </a:extLst>
              </a:tr>
            </a:tbl>
          </a:graphicData>
        </a:graphic>
      </p:graphicFrame>
      <p:pic>
        <p:nvPicPr>
          <p:cNvPr id="18" name="object 18"/>
          <p:cNvPicPr/>
          <p:nvPr/>
        </p:nvPicPr>
        <p:blipFill>
          <a:blip r:embed="rId2" cstate="print"/>
          <a:stretch>
            <a:fillRect/>
          </a:stretch>
        </p:blipFill>
        <p:spPr>
          <a:xfrm>
            <a:off x="457200" y="6248400"/>
            <a:ext cx="476250" cy="381000"/>
          </a:xfrm>
          <a:prstGeom prst="rect">
            <a:avLst/>
          </a:prstGeom>
        </p:spPr>
      </p:pic>
      <p:sp>
        <p:nvSpPr>
          <p:cNvPr id="19" name="object 19"/>
          <p:cNvSpPr txBox="1">
            <a:spLocks noGrp="1"/>
          </p:cNvSpPr>
          <p:nvPr>
            <p:ph type="ftr" sz="quarter" idx="5"/>
          </p:nvPr>
        </p:nvSpPr>
        <p:spPr>
          <a:prstGeom prst="rect">
            <a:avLst/>
          </a:prstGeom>
        </p:spPr>
        <p:txBody>
          <a:bodyPr vert="horz" wrap="square" lIns="0" tIns="76200" rIns="0" bIns="0" rtlCol="0">
            <a:spAutoFit/>
          </a:bodyPr>
          <a:lstStyle/>
          <a:p>
            <a:pPr marL="165100">
              <a:lnSpc>
                <a:spcPts val="1550"/>
              </a:lnSpc>
            </a:pPr>
            <a:r>
              <a:rPr spc="-180" dirty="0"/>
              <a:t>FAST-</a:t>
            </a:r>
            <a:r>
              <a:rPr spc="-100" dirty="0"/>
              <a:t>NUCES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33400" y="381000"/>
            <a:ext cx="8229600" cy="5601533"/>
          </a:xfrm>
        </p:spPr>
        <p:txBody>
          <a:bodyPr/>
          <a:lstStyle/>
          <a:p>
            <a:r>
              <a:rPr lang="en-US" sz="2800" dirty="0">
                <a:solidFill>
                  <a:srgbClr val="FF0000"/>
                </a:solidFill>
              </a:rPr>
              <a:t>Canary defense (or stack canaries)</a:t>
            </a:r>
            <a:r>
              <a:rPr lang="en-US" sz="2800" dirty="0"/>
              <a:t> is a widely used security mechanism to detect and mitigate stack-based buffer overflow attacks. </a:t>
            </a:r>
          </a:p>
          <a:p>
            <a:endParaRPr lang="en-US" sz="2800" dirty="0"/>
          </a:p>
          <a:p>
            <a:r>
              <a:rPr lang="en-US" sz="2800" dirty="0"/>
              <a:t>It works by placing a small, secret value, called a "canary" or "stack cookie," on the stack memory between a local buffer and critical control data, such as the function's return address. </a:t>
            </a:r>
          </a:p>
          <a:p>
            <a:endParaRPr lang="en-US" sz="2800" dirty="0"/>
          </a:p>
          <a:p>
            <a:r>
              <a:rPr lang="en-US" sz="2800" i="1" dirty="0">
                <a:solidFill>
                  <a:srgbClr val="0070C0"/>
                </a:solidFill>
              </a:rPr>
              <a:t>The name "canary" is an analogy to the historic practice of miners bringing canaries into coal mines to detect toxic gases; the bird would be affected before the miners, providing an early warning system. </a:t>
            </a:r>
          </a:p>
        </p:txBody>
      </p:sp>
    </p:spTree>
    <p:extLst>
      <p:ext uri="{BB962C8B-B14F-4D97-AF65-F5344CB8AC3E}">
        <p14:creationId xmlns:p14="http://schemas.microsoft.com/office/powerpoint/2010/main" val="97893175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60375" y="90169"/>
            <a:ext cx="2537460" cy="575310"/>
          </a:xfrm>
          <a:prstGeom prst="rect">
            <a:avLst/>
          </a:prstGeom>
        </p:spPr>
        <p:txBody>
          <a:bodyPr vert="horz" wrap="square" lIns="0" tIns="13335" rIns="0" bIns="0" rtlCol="0">
            <a:spAutoFit/>
          </a:bodyPr>
          <a:lstStyle/>
          <a:p>
            <a:pPr marL="12700">
              <a:lnSpc>
                <a:spcPct val="100000"/>
              </a:lnSpc>
              <a:spcBef>
                <a:spcPts val="105"/>
              </a:spcBef>
            </a:pPr>
            <a:r>
              <a:rPr dirty="0"/>
              <a:t>Canary</a:t>
            </a:r>
            <a:r>
              <a:rPr spc="-80" dirty="0"/>
              <a:t> </a:t>
            </a:r>
            <a:r>
              <a:rPr spc="-40" dirty="0"/>
              <a:t>Types</a:t>
            </a:r>
          </a:p>
        </p:txBody>
      </p:sp>
      <p:sp>
        <p:nvSpPr>
          <p:cNvPr id="3" name="object 3"/>
          <p:cNvSpPr txBox="1"/>
          <p:nvPr/>
        </p:nvSpPr>
        <p:spPr>
          <a:xfrm>
            <a:off x="383857" y="1045082"/>
            <a:ext cx="7781290" cy="2514600"/>
          </a:xfrm>
          <a:prstGeom prst="rect">
            <a:avLst/>
          </a:prstGeom>
        </p:spPr>
        <p:txBody>
          <a:bodyPr vert="horz" wrap="square" lIns="0" tIns="78740" rIns="0" bIns="0" rtlCol="0">
            <a:spAutoFit/>
          </a:bodyPr>
          <a:lstStyle/>
          <a:p>
            <a:pPr marL="286385" indent="-273685">
              <a:lnSpc>
                <a:spcPct val="100000"/>
              </a:lnSpc>
              <a:spcBef>
                <a:spcPts val="620"/>
              </a:spcBef>
              <a:buClr>
                <a:srgbClr val="D24717"/>
              </a:buClr>
              <a:buSzPct val="82692"/>
              <a:buFont typeface="Segoe UI Symbol"/>
              <a:buChar char="⚫"/>
              <a:tabLst>
                <a:tab pos="286385" algn="l"/>
              </a:tabLst>
            </a:pPr>
            <a:r>
              <a:rPr sz="2600" u="sng" dirty="0">
                <a:solidFill>
                  <a:srgbClr val="000090"/>
                </a:solidFill>
                <a:uFill>
                  <a:solidFill>
                    <a:srgbClr val="000090"/>
                  </a:solidFill>
                </a:uFill>
                <a:latin typeface="Times New Roman"/>
                <a:cs typeface="Times New Roman"/>
              </a:rPr>
              <a:t>Random</a:t>
            </a:r>
            <a:r>
              <a:rPr sz="2600" u="sng" spc="-50" dirty="0">
                <a:solidFill>
                  <a:srgbClr val="000090"/>
                </a:solidFill>
                <a:uFill>
                  <a:solidFill>
                    <a:srgbClr val="000090"/>
                  </a:solidFill>
                </a:uFill>
                <a:latin typeface="Times New Roman"/>
                <a:cs typeface="Times New Roman"/>
              </a:rPr>
              <a:t> </a:t>
            </a:r>
            <a:r>
              <a:rPr sz="2600" u="sng" spc="-10" dirty="0">
                <a:solidFill>
                  <a:srgbClr val="000090"/>
                </a:solidFill>
                <a:uFill>
                  <a:solidFill>
                    <a:srgbClr val="000090"/>
                  </a:solidFill>
                </a:uFill>
                <a:latin typeface="Times New Roman"/>
                <a:cs typeface="Times New Roman"/>
              </a:rPr>
              <a:t>canary:</a:t>
            </a:r>
            <a:endParaRPr sz="2600">
              <a:latin typeface="Times New Roman"/>
              <a:cs typeface="Times New Roman"/>
            </a:endParaRPr>
          </a:p>
          <a:p>
            <a:pPr marL="561340" lvl="1" indent="-228600">
              <a:lnSpc>
                <a:spcPct val="100000"/>
              </a:lnSpc>
              <a:spcBef>
                <a:spcPts val="459"/>
              </a:spcBef>
              <a:buClr>
                <a:srgbClr val="9B2C1F"/>
              </a:buClr>
              <a:buSzPct val="83333"/>
              <a:buFont typeface="Segoe UI Symbol"/>
              <a:buChar char="⚫"/>
              <a:tabLst>
                <a:tab pos="561340" algn="l"/>
              </a:tabLst>
            </a:pPr>
            <a:r>
              <a:rPr sz="2400" dirty="0">
                <a:latin typeface="Times New Roman"/>
                <a:cs typeface="Times New Roman"/>
              </a:rPr>
              <a:t>Random</a:t>
            </a:r>
            <a:r>
              <a:rPr sz="2400" spc="-70" dirty="0">
                <a:latin typeface="Times New Roman"/>
                <a:cs typeface="Times New Roman"/>
              </a:rPr>
              <a:t> </a:t>
            </a:r>
            <a:r>
              <a:rPr sz="2400" dirty="0">
                <a:latin typeface="Times New Roman"/>
                <a:cs typeface="Times New Roman"/>
              </a:rPr>
              <a:t>string chosen</a:t>
            </a:r>
            <a:r>
              <a:rPr sz="2400" spc="5" dirty="0">
                <a:latin typeface="Times New Roman"/>
                <a:cs typeface="Times New Roman"/>
              </a:rPr>
              <a:t> </a:t>
            </a:r>
            <a:r>
              <a:rPr sz="2400" dirty="0">
                <a:latin typeface="Times New Roman"/>
                <a:cs typeface="Times New Roman"/>
              </a:rPr>
              <a:t>at program</a:t>
            </a:r>
            <a:r>
              <a:rPr sz="2400" spc="-65" dirty="0">
                <a:latin typeface="Times New Roman"/>
                <a:cs typeface="Times New Roman"/>
              </a:rPr>
              <a:t> </a:t>
            </a:r>
            <a:r>
              <a:rPr sz="2400" spc="-10" dirty="0">
                <a:latin typeface="Times New Roman"/>
                <a:cs typeface="Times New Roman"/>
              </a:rPr>
              <a:t>startup.</a:t>
            </a:r>
            <a:endParaRPr sz="2400">
              <a:latin typeface="Times New Roman"/>
              <a:cs typeface="Times New Roman"/>
            </a:endParaRPr>
          </a:p>
          <a:p>
            <a:pPr marL="561340" lvl="1" indent="-228600">
              <a:lnSpc>
                <a:spcPct val="100000"/>
              </a:lnSpc>
              <a:spcBef>
                <a:spcPts val="425"/>
              </a:spcBef>
              <a:buClr>
                <a:srgbClr val="9B2C1F"/>
              </a:buClr>
              <a:buSzPct val="83333"/>
              <a:buFont typeface="Segoe UI Symbol"/>
              <a:buChar char="⚫"/>
              <a:tabLst>
                <a:tab pos="561340" algn="l"/>
              </a:tabLst>
            </a:pPr>
            <a:r>
              <a:rPr sz="2400" dirty="0">
                <a:latin typeface="Times New Roman"/>
                <a:cs typeface="Times New Roman"/>
              </a:rPr>
              <a:t>Insert</a:t>
            </a:r>
            <a:r>
              <a:rPr sz="2400" spc="-5" dirty="0">
                <a:latin typeface="Times New Roman"/>
                <a:cs typeface="Times New Roman"/>
              </a:rPr>
              <a:t> </a:t>
            </a:r>
            <a:r>
              <a:rPr sz="2400" dirty="0">
                <a:latin typeface="Times New Roman"/>
                <a:cs typeface="Times New Roman"/>
              </a:rPr>
              <a:t>canary</a:t>
            </a:r>
            <a:r>
              <a:rPr sz="2400" spc="-5" dirty="0">
                <a:latin typeface="Times New Roman"/>
                <a:cs typeface="Times New Roman"/>
              </a:rPr>
              <a:t> </a:t>
            </a:r>
            <a:r>
              <a:rPr sz="2400" dirty="0">
                <a:latin typeface="Times New Roman"/>
                <a:cs typeface="Times New Roman"/>
              </a:rPr>
              <a:t>string</a:t>
            </a:r>
            <a:r>
              <a:rPr sz="2400" spc="-5" dirty="0">
                <a:latin typeface="Times New Roman"/>
                <a:cs typeface="Times New Roman"/>
              </a:rPr>
              <a:t> </a:t>
            </a:r>
            <a:r>
              <a:rPr sz="2400" spc="-10" dirty="0">
                <a:latin typeface="Times New Roman"/>
                <a:cs typeface="Times New Roman"/>
              </a:rPr>
              <a:t>(4-</a:t>
            </a:r>
            <a:r>
              <a:rPr sz="2400" dirty="0">
                <a:latin typeface="Times New Roman"/>
                <a:cs typeface="Times New Roman"/>
              </a:rPr>
              <a:t>8</a:t>
            </a:r>
            <a:r>
              <a:rPr sz="2400" spc="-5" dirty="0">
                <a:latin typeface="Times New Roman"/>
                <a:cs typeface="Times New Roman"/>
              </a:rPr>
              <a:t> </a:t>
            </a:r>
            <a:r>
              <a:rPr sz="2400" dirty="0">
                <a:latin typeface="Times New Roman"/>
                <a:cs typeface="Times New Roman"/>
              </a:rPr>
              <a:t>bytes)</a:t>
            </a:r>
            <a:r>
              <a:rPr sz="2400" spc="-55" dirty="0">
                <a:latin typeface="Times New Roman"/>
                <a:cs typeface="Times New Roman"/>
              </a:rPr>
              <a:t> </a:t>
            </a:r>
            <a:r>
              <a:rPr sz="2400" dirty="0">
                <a:latin typeface="Times New Roman"/>
                <a:cs typeface="Times New Roman"/>
              </a:rPr>
              <a:t>into every</a:t>
            </a:r>
            <a:r>
              <a:rPr sz="2400" spc="-5" dirty="0">
                <a:latin typeface="Times New Roman"/>
                <a:cs typeface="Times New Roman"/>
              </a:rPr>
              <a:t> </a:t>
            </a:r>
            <a:r>
              <a:rPr sz="2400" dirty="0">
                <a:latin typeface="Times New Roman"/>
                <a:cs typeface="Times New Roman"/>
              </a:rPr>
              <a:t>stack</a:t>
            </a:r>
            <a:r>
              <a:rPr sz="2400" spc="-5" dirty="0">
                <a:latin typeface="Times New Roman"/>
                <a:cs typeface="Times New Roman"/>
              </a:rPr>
              <a:t> </a:t>
            </a:r>
            <a:r>
              <a:rPr sz="2400" spc="-10" dirty="0">
                <a:latin typeface="Times New Roman"/>
                <a:cs typeface="Times New Roman"/>
              </a:rPr>
              <a:t>frame.</a:t>
            </a:r>
            <a:endParaRPr sz="2400">
              <a:latin typeface="Times New Roman"/>
              <a:cs typeface="Times New Roman"/>
            </a:endParaRPr>
          </a:p>
          <a:p>
            <a:pPr marL="561340" lvl="1" indent="-228600">
              <a:lnSpc>
                <a:spcPct val="100000"/>
              </a:lnSpc>
              <a:spcBef>
                <a:spcPts val="350"/>
              </a:spcBef>
              <a:buClr>
                <a:srgbClr val="9B2C1F"/>
              </a:buClr>
              <a:buSzPct val="83333"/>
              <a:buFont typeface="Segoe UI Symbol"/>
              <a:buChar char="⚫"/>
              <a:tabLst>
                <a:tab pos="561340" algn="l"/>
              </a:tabLst>
            </a:pPr>
            <a:r>
              <a:rPr sz="2400" spc="-30" dirty="0">
                <a:latin typeface="Times New Roman"/>
                <a:cs typeface="Times New Roman"/>
              </a:rPr>
              <a:t>Verify</a:t>
            </a:r>
            <a:r>
              <a:rPr sz="2400" spc="-40" dirty="0">
                <a:latin typeface="Times New Roman"/>
                <a:cs typeface="Times New Roman"/>
              </a:rPr>
              <a:t> </a:t>
            </a:r>
            <a:r>
              <a:rPr sz="2400" dirty="0">
                <a:latin typeface="Times New Roman"/>
                <a:cs typeface="Times New Roman"/>
              </a:rPr>
              <a:t>canary</a:t>
            </a:r>
            <a:r>
              <a:rPr sz="2400" spc="-40" dirty="0">
                <a:latin typeface="Times New Roman"/>
                <a:cs typeface="Times New Roman"/>
              </a:rPr>
              <a:t> </a:t>
            </a:r>
            <a:r>
              <a:rPr sz="2400" dirty="0">
                <a:latin typeface="Times New Roman"/>
                <a:cs typeface="Times New Roman"/>
              </a:rPr>
              <a:t>before</a:t>
            </a:r>
            <a:r>
              <a:rPr sz="2400" spc="-55" dirty="0">
                <a:latin typeface="Times New Roman"/>
                <a:cs typeface="Times New Roman"/>
              </a:rPr>
              <a:t> </a:t>
            </a:r>
            <a:r>
              <a:rPr sz="2400" dirty="0">
                <a:latin typeface="Times New Roman"/>
                <a:cs typeface="Times New Roman"/>
              </a:rPr>
              <a:t>returning</a:t>
            </a:r>
            <a:r>
              <a:rPr sz="2400" spc="-40" dirty="0">
                <a:latin typeface="Times New Roman"/>
                <a:cs typeface="Times New Roman"/>
              </a:rPr>
              <a:t> </a:t>
            </a:r>
            <a:r>
              <a:rPr sz="2400" dirty="0">
                <a:latin typeface="Times New Roman"/>
                <a:cs typeface="Times New Roman"/>
              </a:rPr>
              <a:t>from</a:t>
            </a:r>
            <a:r>
              <a:rPr sz="2400" spc="-35" dirty="0">
                <a:latin typeface="Times New Roman"/>
                <a:cs typeface="Times New Roman"/>
              </a:rPr>
              <a:t> </a:t>
            </a:r>
            <a:r>
              <a:rPr sz="2400" spc="-10" dirty="0">
                <a:latin typeface="Times New Roman"/>
                <a:cs typeface="Times New Roman"/>
              </a:rPr>
              <a:t>function.</a:t>
            </a:r>
            <a:endParaRPr sz="2400">
              <a:latin typeface="Times New Roman"/>
              <a:cs typeface="Times New Roman"/>
            </a:endParaRPr>
          </a:p>
          <a:p>
            <a:pPr marL="835025" lvl="2" indent="-227329">
              <a:lnSpc>
                <a:spcPct val="100000"/>
              </a:lnSpc>
              <a:spcBef>
                <a:spcPts val="445"/>
              </a:spcBef>
              <a:buClr>
                <a:srgbClr val="E6B0AB"/>
              </a:buClr>
              <a:buSzPct val="85000"/>
              <a:buFont typeface="Segoe UI Symbol"/>
              <a:buChar char="⚫"/>
              <a:tabLst>
                <a:tab pos="835025" algn="l"/>
                <a:tab pos="4425315" algn="l"/>
              </a:tabLst>
            </a:pPr>
            <a:r>
              <a:rPr sz="2000" dirty="0">
                <a:latin typeface="Times New Roman"/>
                <a:cs typeface="Times New Roman"/>
              </a:rPr>
              <a:t>Exit</a:t>
            </a:r>
            <a:r>
              <a:rPr sz="2000" spc="-40" dirty="0">
                <a:latin typeface="Times New Roman"/>
                <a:cs typeface="Times New Roman"/>
              </a:rPr>
              <a:t> </a:t>
            </a:r>
            <a:r>
              <a:rPr sz="2000" dirty="0">
                <a:latin typeface="Times New Roman"/>
                <a:cs typeface="Times New Roman"/>
              </a:rPr>
              <a:t>program</a:t>
            </a:r>
            <a:r>
              <a:rPr sz="2000" spc="-80" dirty="0">
                <a:latin typeface="Times New Roman"/>
                <a:cs typeface="Times New Roman"/>
              </a:rPr>
              <a:t> </a:t>
            </a:r>
            <a:r>
              <a:rPr sz="2000" dirty="0">
                <a:latin typeface="Times New Roman"/>
                <a:cs typeface="Times New Roman"/>
              </a:rPr>
              <a:t>if</a:t>
            </a:r>
            <a:r>
              <a:rPr sz="2000" spc="-5" dirty="0">
                <a:latin typeface="Times New Roman"/>
                <a:cs typeface="Times New Roman"/>
              </a:rPr>
              <a:t> </a:t>
            </a:r>
            <a:r>
              <a:rPr sz="2000" dirty="0">
                <a:latin typeface="Times New Roman"/>
                <a:cs typeface="Times New Roman"/>
              </a:rPr>
              <a:t>canary</a:t>
            </a:r>
            <a:r>
              <a:rPr sz="2000" spc="-45" dirty="0">
                <a:latin typeface="Times New Roman"/>
                <a:cs typeface="Times New Roman"/>
              </a:rPr>
              <a:t> </a:t>
            </a:r>
            <a:r>
              <a:rPr sz="2000" spc="-10" dirty="0">
                <a:latin typeface="Times New Roman"/>
                <a:cs typeface="Times New Roman"/>
              </a:rPr>
              <a:t>changed.</a:t>
            </a:r>
            <a:r>
              <a:rPr sz="2000" dirty="0">
                <a:latin typeface="Times New Roman"/>
                <a:cs typeface="Times New Roman"/>
              </a:rPr>
              <a:t>	Turns</a:t>
            </a:r>
            <a:r>
              <a:rPr sz="2000" spc="-70" dirty="0">
                <a:latin typeface="Times New Roman"/>
                <a:cs typeface="Times New Roman"/>
              </a:rPr>
              <a:t> </a:t>
            </a:r>
            <a:r>
              <a:rPr sz="2000" dirty="0">
                <a:latin typeface="Times New Roman"/>
                <a:cs typeface="Times New Roman"/>
              </a:rPr>
              <a:t>potential</a:t>
            </a:r>
            <a:r>
              <a:rPr sz="2000" spc="-70" dirty="0">
                <a:latin typeface="Times New Roman"/>
                <a:cs typeface="Times New Roman"/>
              </a:rPr>
              <a:t> </a:t>
            </a:r>
            <a:r>
              <a:rPr sz="2000" dirty="0">
                <a:latin typeface="Times New Roman"/>
                <a:cs typeface="Times New Roman"/>
              </a:rPr>
              <a:t>exploit</a:t>
            </a:r>
            <a:r>
              <a:rPr sz="2000" spc="-65" dirty="0">
                <a:latin typeface="Times New Roman"/>
                <a:cs typeface="Times New Roman"/>
              </a:rPr>
              <a:t> </a:t>
            </a:r>
            <a:r>
              <a:rPr sz="2000" dirty="0">
                <a:latin typeface="Times New Roman"/>
                <a:cs typeface="Times New Roman"/>
              </a:rPr>
              <a:t>into</a:t>
            </a:r>
            <a:r>
              <a:rPr sz="2000" spc="-10" dirty="0">
                <a:latin typeface="Times New Roman"/>
                <a:cs typeface="Times New Roman"/>
              </a:rPr>
              <a:t> </a:t>
            </a:r>
            <a:r>
              <a:rPr sz="2000" spc="-20" dirty="0">
                <a:latin typeface="Times New Roman"/>
                <a:cs typeface="Times New Roman"/>
              </a:rPr>
              <a:t>DoS.</a:t>
            </a:r>
            <a:endParaRPr sz="2000">
              <a:latin typeface="Times New Roman"/>
              <a:cs typeface="Times New Roman"/>
            </a:endParaRPr>
          </a:p>
          <a:p>
            <a:pPr marL="561340" lvl="1" indent="-228600">
              <a:lnSpc>
                <a:spcPct val="100000"/>
              </a:lnSpc>
              <a:spcBef>
                <a:spcPts val="359"/>
              </a:spcBef>
              <a:buClr>
                <a:srgbClr val="9B2C1F"/>
              </a:buClr>
              <a:buSzPct val="83333"/>
              <a:buFont typeface="Segoe UI Symbol"/>
              <a:buChar char="⚫"/>
              <a:tabLst>
                <a:tab pos="561340" algn="l"/>
              </a:tabLst>
            </a:pPr>
            <a:r>
              <a:rPr sz="2400" spc="-40" dirty="0">
                <a:latin typeface="Times New Roman"/>
                <a:cs typeface="Times New Roman"/>
              </a:rPr>
              <a:t>To</a:t>
            </a:r>
            <a:r>
              <a:rPr sz="2400" spc="-35" dirty="0">
                <a:latin typeface="Times New Roman"/>
                <a:cs typeface="Times New Roman"/>
              </a:rPr>
              <a:t> </a:t>
            </a:r>
            <a:r>
              <a:rPr sz="2400" dirty="0">
                <a:latin typeface="Times New Roman"/>
                <a:cs typeface="Times New Roman"/>
              </a:rPr>
              <a:t>corrupt,</a:t>
            </a:r>
            <a:r>
              <a:rPr sz="2400" spc="-35" dirty="0">
                <a:latin typeface="Times New Roman"/>
                <a:cs typeface="Times New Roman"/>
              </a:rPr>
              <a:t> </a:t>
            </a:r>
            <a:r>
              <a:rPr sz="2400" dirty="0">
                <a:latin typeface="Times New Roman"/>
                <a:cs typeface="Times New Roman"/>
              </a:rPr>
              <a:t>attacker</a:t>
            </a:r>
            <a:r>
              <a:rPr sz="2400" spc="-20" dirty="0">
                <a:latin typeface="Times New Roman"/>
                <a:cs typeface="Times New Roman"/>
              </a:rPr>
              <a:t> </a:t>
            </a:r>
            <a:r>
              <a:rPr sz="2400" dirty="0">
                <a:latin typeface="Times New Roman"/>
                <a:cs typeface="Times New Roman"/>
              </a:rPr>
              <a:t>must</a:t>
            </a:r>
            <a:r>
              <a:rPr sz="2400" spc="-35" dirty="0">
                <a:latin typeface="Times New Roman"/>
                <a:cs typeface="Times New Roman"/>
              </a:rPr>
              <a:t> </a:t>
            </a:r>
            <a:r>
              <a:rPr sz="2400" dirty="0">
                <a:latin typeface="Times New Roman"/>
                <a:cs typeface="Times New Roman"/>
              </a:rPr>
              <a:t>learn</a:t>
            </a:r>
            <a:r>
              <a:rPr sz="2400" spc="-35" dirty="0">
                <a:latin typeface="Times New Roman"/>
                <a:cs typeface="Times New Roman"/>
              </a:rPr>
              <a:t> </a:t>
            </a:r>
            <a:r>
              <a:rPr sz="2400" dirty="0">
                <a:latin typeface="Times New Roman"/>
                <a:cs typeface="Times New Roman"/>
              </a:rPr>
              <a:t>current</a:t>
            </a:r>
            <a:r>
              <a:rPr sz="2400" spc="-30" dirty="0">
                <a:latin typeface="Times New Roman"/>
                <a:cs typeface="Times New Roman"/>
              </a:rPr>
              <a:t> </a:t>
            </a:r>
            <a:r>
              <a:rPr sz="2400" dirty="0">
                <a:latin typeface="Times New Roman"/>
                <a:cs typeface="Times New Roman"/>
              </a:rPr>
              <a:t>random</a:t>
            </a:r>
            <a:r>
              <a:rPr sz="2400" spc="-25" dirty="0">
                <a:latin typeface="Times New Roman"/>
                <a:cs typeface="Times New Roman"/>
              </a:rPr>
              <a:t> </a:t>
            </a:r>
            <a:r>
              <a:rPr sz="2400" spc="-10" dirty="0">
                <a:latin typeface="Times New Roman"/>
                <a:cs typeface="Times New Roman"/>
              </a:rPr>
              <a:t>string.</a:t>
            </a:r>
            <a:endParaRPr sz="2400">
              <a:latin typeface="Times New Roman"/>
              <a:cs typeface="Times New Roman"/>
            </a:endParaRPr>
          </a:p>
        </p:txBody>
      </p:sp>
      <p:sp>
        <p:nvSpPr>
          <p:cNvPr id="4" name="object 4"/>
          <p:cNvSpPr txBox="1"/>
          <p:nvPr/>
        </p:nvSpPr>
        <p:spPr>
          <a:xfrm>
            <a:off x="383857" y="3940873"/>
            <a:ext cx="2814955" cy="426084"/>
          </a:xfrm>
          <a:prstGeom prst="rect">
            <a:avLst/>
          </a:prstGeom>
        </p:spPr>
        <p:txBody>
          <a:bodyPr vert="horz" wrap="square" lIns="0" tIns="15875" rIns="0" bIns="0" rtlCol="0">
            <a:spAutoFit/>
          </a:bodyPr>
          <a:lstStyle/>
          <a:p>
            <a:pPr marL="286385" indent="-273685">
              <a:lnSpc>
                <a:spcPct val="100000"/>
              </a:lnSpc>
              <a:spcBef>
                <a:spcPts val="125"/>
              </a:spcBef>
              <a:buClr>
                <a:srgbClr val="D24717"/>
              </a:buClr>
              <a:buSzPct val="82692"/>
              <a:buFont typeface="Segoe UI Symbol"/>
              <a:buChar char="⚫"/>
              <a:tabLst>
                <a:tab pos="286385" algn="l"/>
              </a:tabLst>
            </a:pPr>
            <a:r>
              <a:rPr sz="2600" u="sng" spc="-10" dirty="0">
                <a:solidFill>
                  <a:srgbClr val="000090"/>
                </a:solidFill>
                <a:uFill>
                  <a:solidFill>
                    <a:srgbClr val="000090"/>
                  </a:solidFill>
                </a:uFill>
                <a:latin typeface="Times New Roman"/>
                <a:cs typeface="Times New Roman"/>
              </a:rPr>
              <a:t>Terminator</a:t>
            </a:r>
            <a:r>
              <a:rPr sz="2600" u="sng" spc="-150" dirty="0">
                <a:solidFill>
                  <a:srgbClr val="000090"/>
                </a:solidFill>
                <a:uFill>
                  <a:solidFill>
                    <a:srgbClr val="000090"/>
                  </a:solidFill>
                </a:uFill>
                <a:latin typeface="Times New Roman"/>
                <a:cs typeface="Times New Roman"/>
              </a:rPr>
              <a:t> </a:t>
            </a:r>
            <a:r>
              <a:rPr sz="2600" u="sng" spc="-10" dirty="0">
                <a:solidFill>
                  <a:srgbClr val="000090"/>
                </a:solidFill>
                <a:uFill>
                  <a:solidFill>
                    <a:srgbClr val="000090"/>
                  </a:solidFill>
                </a:uFill>
                <a:latin typeface="Times New Roman"/>
                <a:cs typeface="Times New Roman"/>
              </a:rPr>
              <a:t>canary:</a:t>
            </a:r>
            <a:endParaRPr sz="2600">
              <a:latin typeface="Times New Roman"/>
              <a:cs typeface="Times New Roman"/>
            </a:endParaRPr>
          </a:p>
        </p:txBody>
      </p:sp>
      <p:sp>
        <p:nvSpPr>
          <p:cNvPr id="5" name="object 5"/>
          <p:cNvSpPr txBox="1"/>
          <p:nvPr/>
        </p:nvSpPr>
        <p:spPr>
          <a:xfrm>
            <a:off x="3753484" y="4017073"/>
            <a:ext cx="3947795" cy="334645"/>
          </a:xfrm>
          <a:prstGeom prst="rect">
            <a:avLst/>
          </a:prstGeom>
        </p:spPr>
        <p:txBody>
          <a:bodyPr vert="horz" wrap="square" lIns="0" tIns="15875" rIns="0" bIns="0" rtlCol="0">
            <a:spAutoFit/>
          </a:bodyPr>
          <a:lstStyle/>
          <a:p>
            <a:pPr marL="12700">
              <a:lnSpc>
                <a:spcPct val="100000"/>
              </a:lnSpc>
              <a:spcBef>
                <a:spcPts val="125"/>
              </a:spcBef>
            </a:pPr>
            <a:r>
              <a:rPr sz="2000" dirty="0">
                <a:latin typeface="Times New Roman"/>
                <a:cs typeface="Times New Roman"/>
              </a:rPr>
              <a:t>Canary</a:t>
            </a:r>
            <a:r>
              <a:rPr sz="2000" spc="-35" dirty="0">
                <a:latin typeface="Times New Roman"/>
                <a:cs typeface="Times New Roman"/>
              </a:rPr>
              <a:t> </a:t>
            </a:r>
            <a:r>
              <a:rPr sz="2000" dirty="0">
                <a:latin typeface="Times New Roman"/>
                <a:cs typeface="Times New Roman"/>
              </a:rPr>
              <a:t>=</a:t>
            </a:r>
            <a:r>
              <a:rPr sz="2000" spc="434" dirty="0">
                <a:latin typeface="Times New Roman"/>
                <a:cs typeface="Times New Roman"/>
              </a:rPr>
              <a:t> </a:t>
            </a:r>
            <a:r>
              <a:rPr sz="2000" dirty="0">
                <a:latin typeface="Times New Roman"/>
                <a:cs typeface="Times New Roman"/>
              </a:rPr>
              <a:t>{0,</a:t>
            </a:r>
            <a:r>
              <a:rPr sz="2000" spc="25" dirty="0">
                <a:latin typeface="Times New Roman"/>
                <a:cs typeface="Times New Roman"/>
              </a:rPr>
              <a:t> </a:t>
            </a:r>
            <a:r>
              <a:rPr sz="2000" dirty="0">
                <a:latin typeface="Times New Roman"/>
                <a:cs typeface="Times New Roman"/>
              </a:rPr>
              <a:t>newline,</a:t>
            </a:r>
            <a:r>
              <a:rPr sz="2000" spc="-45" dirty="0">
                <a:latin typeface="Times New Roman"/>
                <a:cs typeface="Times New Roman"/>
              </a:rPr>
              <a:t> </a:t>
            </a:r>
            <a:r>
              <a:rPr sz="2000" dirty="0">
                <a:latin typeface="Times New Roman"/>
                <a:cs typeface="Times New Roman"/>
              </a:rPr>
              <a:t>linefeed,</a:t>
            </a:r>
            <a:r>
              <a:rPr sz="2000" spc="-45" dirty="0">
                <a:latin typeface="Times New Roman"/>
                <a:cs typeface="Times New Roman"/>
              </a:rPr>
              <a:t> </a:t>
            </a:r>
            <a:r>
              <a:rPr sz="2000" spc="-20" dirty="0">
                <a:latin typeface="Times New Roman"/>
                <a:cs typeface="Times New Roman"/>
              </a:rPr>
              <a:t>EOF}</a:t>
            </a:r>
            <a:endParaRPr sz="2000">
              <a:latin typeface="Times New Roman"/>
              <a:cs typeface="Times New Roman"/>
            </a:endParaRPr>
          </a:p>
        </p:txBody>
      </p:sp>
      <p:sp>
        <p:nvSpPr>
          <p:cNvPr id="6" name="object 6"/>
          <p:cNvSpPr txBox="1"/>
          <p:nvPr/>
        </p:nvSpPr>
        <p:spPr>
          <a:xfrm>
            <a:off x="704215" y="4335272"/>
            <a:ext cx="6709409" cy="1284605"/>
          </a:xfrm>
          <a:prstGeom prst="rect">
            <a:avLst/>
          </a:prstGeom>
        </p:spPr>
        <p:txBody>
          <a:bodyPr vert="horz" wrap="square" lIns="0" tIns="66040" rIns="0" bIns="0" rtlCol="0">
            <a:spAutoFit/>
          </a:bodyPr>
          <a:lstStyle/>
          <a:p>
            <a:pPr marL="241300" indent="-228600">
              <a:lnSpc>
                <a:spcPct val="100000"/>
              </a:lnSpc>
              <a:spcBef>
                <a:spcPts val="520"/>
              </a:spcBef>
              <a:buClr>
                <a:srgbClr val="9B2C1F"/>
              </a:buClr>
              <a:buSzPct val="83333"/>
              <a:buFont typeface="Segoe UI Symbol"/>
              <a:buChar char="⚫"/>
              <a:tabLst>
                <a:tab pos="241300" algn="l"/>
              </a:tabLst>
            </a:pPr>
            <a:r>
              <a:rPr sz="2400" dirty="0">
                <a:latin typeface="Times New Roman"/>
                <a:cs typeface="Times New Roman"/>
              </a:rPr>
              <a:t>String</a:t>
            </a:r>
            <a:r>
              <a:rPr sz="2400" spc="-15" dirty="0">
                <a:latin typeface="Times New Roman"/>
                <a:cs typeface="Times New Roman"/>
              </a:rPr>
              <a:t> </a:t>
            </a:r>
            <a:r>
              <a:rPr sz="2400" dirty="0">
                <a:latin typeface="Times New Roman"/>
                <a:cs typeface="Times New Roman"/>
              </a:rPr>
              <a:t>functions</a:t>
            </a:r>
            <a:r>
              <a:rPr sz="2400" spc="-55" dirty="0">
                <a:latin typeface="Times New Roman"/>
                <a:cs typeface="Times New Roman"/>
              </a:rPr>
              <a:t> </a:t>
            </a:r>
            <a:r>
              <a:rPr sz="2400" dirty="0">
                <a:latin typeface="Times New Roman"/>
                <a:cs typeface="Times New Roman"/>
              </a:rPr>
              <a:t>will</a:t>
            </a:r>
            <a:r>
              <a:rPr sz="2400" spc="-15" dirty="0">
                <a:latin typeface="Times New Roman"/>
                <a:cs typeface="Times New Roman"/>
              </a:rPr>
              <a:t> </a:t>
            </a:r>
            <a:r>
              <a:rPr sz="2400" dirty="0">
                <a:latin typeface="Times New Roman"/>
                <a:cs typeface="Times New Roman"/>
              </a:rPr>
              <a:t>not copy</a:t>
            </a:r>
            <a:r>
              <a:rPr sz="2400" spc="-15" dirty="0">
                <a:latin typeface="Times New Roman"/>
                <a:cs typeface="Times New Roman"/>
              </a:rPr>
              <a:t> </a:t>
            </a:r>
            <a:r>
              <a:rPr sz="2400" dirty="0">
                <a:latin typeface="Times New Roman"/>
                <a:cs typeface="Times New Roman"/>
              </a:rPr>
              <a:t>beyond</a:t>
            </a:r>
            <a:r>
              <a:rPr sz="2400" spc="-15" dirty="0">
                <a:latin typeface="Times New Roman"/>
                <a:cs typeface="Times New Roman"/>
              </a:rPr>
              <a:t> </a:t>
            </a:r>
            <a:r>
              <a:rPr sz="2400" spc="-10" dirty="0">
                <a:latin typeface="Times New Roman"/>
                <a:cs typeface="Times New Roman"/>
              </a:rPr>
              <a:t>terminator.</a:t>
            </a:r>
            <a:endParaRPr sz="2400">
              <a:latin typeface="Times New Roman"/>
              <a:cs typeface="Times New Roman"/>
            </a:endParaRPr>
          </a:p>
          <a:p>
            <a:pPr marL="241300" indent="-228600">
              <a:lnSpc>
                <a:spcPct val="100000"/>
              </a:lnSpc>
              <a:spcBef>
                <a:spcPts val="425"/>
              </a:spcBef>
              <a:buClr>
                <a:srgbClr val="9B2C1F"/>
              </a:buClr>
              <a:buSzPct val="83333"/>
              <a:buFont typeface="Segoe UI Symbol"/>
              <a:buChar char="⚫"/>
              <a:tabLst>
                <a:tab pos="241300" algn="l"/>
              </a:tabLst>
            </a:pPr>
            <a:r>
              <a:rPr sz="2400" dirty="0">
                <a:latin typeface="Times New Roman"/>
                <a:cs typeface="Times New Roman"/>
              </a:rPr>
              <a:t>Attacker</a:t>
            </a:r>
            <a:r>
              <a:rPr sz="2400" spc="-15" dirty="0">
                <a:latin typeface="Times New Roman"/>
                <a:cs typeface="Times New Roman"/>
              </a:rPr>
              <a:t> </a:t>
            </a:r>
            <a:r>
              <a:rPr sz="2400" dirty="0">
                <a:latin typeface="Times New Roman"/>
                <a:cs typeface="Times New Roman"/>
              </a:rPr>
              <a:t>cannot</a:t>
            </a:r>
            <a:r>
              <a:rPr sz="2400" spc="-30" dirty="0">
                <a:latin typeface="Times New Roman"/>
                <a:cs typeface="Times New Roman"/>
              </a:rPr>
              <a:t> </a:t>
            </a:r>
            <a:r>
              <a:rPr sz="2400" dirty="0">
                <a:latin typeface="Times New Roman"/>
                <a:cs typeface="Times New Roman"/>
              </a:rPr>
              <a:t>use</a:t>
            </a:r>
            <a:r>
              <a:rPr sz="2400" spc="-45" dirty="0">
                <a:latin typeface="Times New Roman"/>
                <a:cs typeface="Times New Roman"/>
              </a:rPr>
              <a:t> </a:t>
            </a:r>
            <a:r>
              <a:rPr sz="2400" dirty="0">
                <a:latin typeface="Times New Roman"/>
                <a:cs typeface="Times New Roman"/>
              </a:rPr>
              <a:t>string</a:t>
            </a:r>
            <a:r>
              <a:rPr sz="2400" spc="-30" dirty="0">
                <a:latin typeface="Times New Roman"/>
                <a:cs typeface="Times New Roman"/>
              </a:rPr>
              <a:t> </a:t>
            </a:r>
            <a:r>
              <a:rPr sz="2400" dirty="0">
                <a:latin typeface="Times New Roman"/>
                <a:cs typeface="Times New Roman"/>
              </a:rPr>
              <a:t>functions</a:t>
            </a:r>
            <a:r>
              <a:rPr sz="2400" spc="5" dirty="0">
                <a:latin typeface="Times New Roman"/>
                <a:cs typeface="Times New Roman"/>
              </a:rPr>
              <a:t> </a:t>
            </a:r>
            <a:r>
              <a:rPr sz="2400" dirty="0">
                <a:latin typeface="Times New Roman"/>
                <a:cs typeface="Times New Roman"/>
              </a:rPr>
              <a:t>to</a:t>
            </a:r>
            <a:r>
              <a:rPr sz="2400" spc="-30" dirty="0">
                <a:latin typeface="Times New Roman"/>
                <a:cs typeface="Times New Roman"/>
              </a:rPr>
              <a:t> </a:t>
            </a:r>
            <a:r>
              <a:rPr sz="2400" dirty="0">
                <a:latin typeface="Times New Roman"/>
                <a:cs typeface="Times New Roman"/>
              </a:rPr>
              <a:t>corrupt</a:t>
            </a:r>
            <a:r>
              <a:rPr sz="2400" spc="-30" dirty="0">
                <a:latin typeface="Times New Roman"/>
                <a:cs typeface="Times New Roman"/>
              </a:rPr>
              <a:t> </a:t>
            </a:r>
            <a:r>
              <a:rPr sz="2400" spc="-10" dirty="0">
                <a:latin typeface="Times New Roman"/>
                <a:cs typeface="Times New Roman"/>
              </a:rPr>
              <a:t>stack.</a:t>
            </a:r>
            <a:endParaRPr sz="2400">
              <a:latin typeface="Times New Roman"/>
              <a:cs typeface="Times New Roman"/>
            </a:endParaRPr>
          </a:p>
          <a:p>
            <a:pPr marL="241300" indent="-228600">
              <a:lnSpc>
                <a:spcPct val="100000"/>
              </a:lnSpc>
              <a:spcBef>
                <a:spcPts val="425"/>
              </a:spcBef>
              <a:buClr>
                <a:srgbClr val="9B2C1F"/>
              </a:buClr>
              <a:buSzPct val="83333"/>
              <a:buFont typeface="Segoe UI Symbol"/>
              <a:buChar char="⚫"/>
              <a:tabLst>
                <a:tab pos="241300" algn="l"/>
              </a:tabLst>
            </a:pPr>
            <a:r>
              <a:rPr sz="2400" dirty="0">
                <a:latin typeface="Times New Roman"/>
                <a:cs typeface="Times New Roman"/>
              </a:rPr>
              <a:t>Not</a:t>
            </a:r>
            <a:r>
              <a:rPr sz="2400" spc="-10" dirty="0">
                <a:latin typeface="Times New Roman"/>
                <a:cs typeface="Times New Roman"/>
              </a:rPr>
              <a:t> </a:t>
            </a:r>
            <a:r>
              <a:rPr sz="2400" dirty="0">
                <a:latin typeface="Times New Roman"/>
                <a:cs typeface="Times New Roman"/>
              </a:rPr>
              <a:t>used</a:t>
            </a:r>
            <a:r>
              <a:rPr sz="2400" spc="-10" dirty="0">
                <a:latin typeface="Times New Roman"/>
                <a:cs typeface="Times New Roman"/>
              </a:rPr>
              <a:t> </a:t>
            </a:r>
            <a:r>
              <a:rPr sz="2400" dirty="0">
                <a:latin typeface="Times New Roman"/>
                <a:cs typeface="Times New Roman"/>
              </a:rPr>
              <a:t>as</a:t>
            </a:r>
            <a:r>
              <a:rPr sz="2400" spc="-45" dirty="0">
                <a:latin typeface="Times New Roman"/>
                <a:cs typeface="Times New Roman"/>
              </a:rPr>
              <a:t> </a:t>
            </a:r>
            <a:r>
              <a:rPr sz="2400" spc="-10" dirty="0">
                <a:latin typeface="Times New Roman"/>
                <a:cs typeface="Times New Roman"/>
              </a:rPr>
              <a:t>often</a:t>
            </a:r>
            <a:endParaRPr sz="2400">
              <a:latin typeface="Times New Roman"/>
              <a:cs typeface="Times New Roman"/>
            </a:endParaRPr>
          </a:p>
        </p:txBody>
      </p:sp>
      <p:pic>
        <p:nvPicPr>
          <p:cNvPr id="7" name="object 7"/>
          <p:cNvPicPr/>
          <p:nvPr/>
        </p:nvPicPr>
        <p:blipFill>
          <a:blip r:embed="rId2" cstate="print"/>
          <a:stretch>
            <a:fillRect/>
          </a:stretch>
        </p:blipFill>
        <p:spPr>
          <a:xfrm>
            <a:off x="457200" y="6248400"/>
            <a:ext cx="476250" cy="381000"/>
          </a:xfrm>
          <a:prstGeom prst="rect">
            <a:avLst/>
          </a:prstGeom>
        </p:spPr>
      </p:pic>
      <p:sp>
        <p:nvSpPr>
          <p:cNvPr id="8" name="object 8"/>
          <p:cNvSpPr txBox="1">
            <a:spLocks noGrp="1"/>
          </p:cNvSpPr>
          <p:nvPr>
            <p:ph type="ftr" sz="quarter" idx="5"/>
          </p:nvPr>
        </p:nvSpPr>
        <p:spPr>
          <a:prstGeom prst="rect">
            <a:avLst/>
          </a:prstGeom>
        </p:spPr>
        <p:txBody>
          <a:bodyPr vert="horz" wrap="square" lIns="0" tIns="76200" rIns="0" bIns="0" rtlCol="0">
            <a:spAutoFit/>
          </a:bodyPr>
          <a:lstStyle/>
          <a:p>
            <a:pPr marL="165100">
              <a:lnSpc>
                <a:spcPts val="1550"/>
              </a:lnSpc>
            </a:pPr>
            <a:r>
              <a:rPr spc="-180" dirty="0"/>
              <a:t>FAST-</a:t>
            </a:r>
            <a:r>
              <a:rPr spc="-100" dirty="0"/>
              <a:t>NUCES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5889" rIns="0" bIns="0" rtlCol="0">
            <a:spAutoFit/>
          </a:bodyPr>
          <a:lstStyle/>
          <a:p>
            <a:pPr marL="241300">
              <a:lnSpc>
                <a:spcPct val="100000"/>
              </a:lnSpc>
              <a:spcBef>
                <a:spcPts val="105"/>
              </a:spcBef>
            </a:pPr>
            <a:r>
              <a:rPr spc="-10" dirty="0"/>
              <a:t>Acknowledgements</a:t>
            </a:r>
          </a:p>
        </p:txBody>
      </p:sp>
      <p:sp>
        <p:nvSpPr>
          <p:cNvPr id="3" name="object 3"/>
          <p:cNvSpPr txBox="1"/>
          <p:nvPr/>
        </p:nvSpPr>
        <p:spPr>
          <a:xfrm>
            <a:off x="460375" y="1387538"/>
            <a:ext cx="8081009" cy="979169"/>
          </a:xfrm>
          <a:prstGeom prst="rect">
            <a:avLst/>
          </a:prstGeom>
        </p:spPr>
        <p:txBody>
          <a:bodyPr vert="horz" wrap="square" lIns="0" tIns="92710" rIns="0" bIns="0" rtlCol="0">
            <a:spAutoFit/>
          </a:bodyPr>
          <a:lstStyle/>
          <a:p>
            <a:pPr marL="12700">
              <a:lnSpc>
                <a:spcPct val="100000"/>
              </a:lnSpc>
              <a:spcBef>
                <a:spcPts val="730"/>
              </a:spcBef>
            </a:pPr>
            <a:r>
              <a:rPr sz="2600" dirty="0">
                <a:latin typeface="Times New Roman"/>
                <a:cs typeface="Times New Roman"/>
              </a:rPr>
              <a:t>Material</a:t>
            </a:r>
            <a:r>
              <a:rPr sz="2600" spc="-70" dirty="0">
                <a:latin typeface="Times New Roman"/>
                <a:cs typeface="Times New Roman"/>
              </a:rPr>
              <a:t> </a:t>
            </a:r>
            <a:r>
              <a:rPr sz="2600" dirty="0">
                <a:latin typeface="Times New Roman"/>
                <a:cs typeface="Times New Roman"/>
              </a:rPr>
              <a:t>in</a:t>
            </a:r>
            <a:r>
              <a:rPr sz="2600" spc="-50" dirty="0">
                <a:latin typeface="Times New Roman"/>
                <a:cs typeface="Times New Roman"/>
              </a:rPr>
              <a:t> </a:t>
            </a:r>
            <a:r>
              <a:rPr sz="2600" dirty="0">
                <a:latin typeface="Times New Roman"/>
                <a:cs typeface="Times New Roman"/>
              </a:rPr>
              <a:t>this</a:t>
            </a:r>
            <a:r>
              <a:rPr sz="2600" spc="5" dirty="0">
                <a:latin typeface="Times New Roman"/>
                <a:cs typeface="Times New Roman"/>
              </a:rPr>
              <a:t> </a:t>
            </a:r>
            <a:r>
              <a:rPr sz="2600" dirty="0">
                <a:latin typeface="Times New Roman"/>
                <a:cs typeface="Times New Roman"/>
              </a:rPr>
              <a:t>lecture</a:t>
            </a:r>
            <a:r>
              <a:rPr sz="2600" spc="-50" dirty="0">
                <a:latin typeface="Times New Roman"/>
                <a:cs typeface="Times New Roman"/>
              </a:rPr>
              <a:t> </a:t>
            </a:r>
            <a:r>
              <a:rPr sz="2600" dirty="0">
                <a:latin typeface="Times New Roman"/>
                <a:cs typeface="Times New Roman"/>
              </a:rPr>
              <a:t>are</a:t>
            </a:r>
            <a:r>
              <a:rPr sz="2600" spc="-55" dirty="0">
                <a:latin typeface="Times New Roman"/>
                <a:cs typeface="Times New Roman"/>
              </a:rPr>
              <a:t> </a:t>
            </a:r>
            <a:r>
              <a:rPr sz="2600" dirty="0">
                <a:latin typeface="Times New Roman"/>
                <a:cs typeface="Times New Roman"/>
              </a:rPr>
              <a:t>taken</a:t>
            </a:r>
            <a:r>
              <a:rPr sz="2600" spc="-50" dirty="0">
                <a:latin typeface="Times New Roman"/>
                <a:cs typeface="Times New Roman"/>
              </a:rPr>
              <a:t> </a:t>
            </a:r>
            <a:r>
              <a:rPr sz="2600" dirty="0">
                <a:latin typeface="Times New Roman"/>
                <a:cs typeface="Times New Roman"/>
              </a:rPr>
              <a:t>from</a:t>
            </a:r>
            <a:r>
              <a:rPr sz="2600" spc="-35" dirty="0">
                <a:latin typeface="Times New Roman"/>
                <a:cs typeface="Times New Roman"/>
              </a:rPr>
              <a:t> </a:t>
            </a:r>
            <a:r>
              <a:rPr sz="2600" dirty="0">
                <a:latin typeface="Times New Roman"/>
                <a:cs typeface="Times New Roman"/>
              </a:rPr>
              <a:t>the</a:t>
            </a:r>
            <a:r>
              <a:rPr sz="2600" spc="-55" dirty="0">
                <a:latin typeface="Times New Roman"/>
                <a:cs typeface="Times New Roman"/>
              </a:rPr>
              <a:t> </a:t>
            </a:r>
            <a:r>
              <a:rPr sz="2600" dirty="0">
                <a:latin typeface="Times New Roman"/>
                <a:cs typeface="Times New Roman"/>
              </a:rPr>
              <a:t>slides</a:t>
            </a:r>
            <a:r>
              <a:rPr sz="2600" spc="10" dirty="0">
                <a:latin typeface="Times New Roman"/>
                <a:cs typeface="Times New Roman"/>
              </a:rPr>
              <a:t> </a:t>
            </a:r>
            <a:r>
              <a:rPr sz="2600" dirty="0">
                <a:latin typeface="Times New Roman"/>
                <a:cs typeface="Times New Roman"/>
              </a:rPr>
              <a:t>prepared</a:t>
            </a:r>
            <a:r>
              <a:rPr sz="2600" spc="-55" dirty="0">
                <a:latin typeface="Times New Roman"/>
                <a:cs typeface="Times New Roman"/>
              </a:rPr>
              <a:t> </a:t>
            </a:r>
            <a:r>
              <a:rPr sz="2600" spc="-25" dirty="0">
                <a:latin typeface="Times New Roman"/>
                <a:cs typeface="Times New Roman"/>
              </a:rPr>
              <a:t>by:</a:t>
            </a:r>
            <a:endParaRPr sz="2600">
              <a:latin typeface="Times New Roman"/>
              <a:cs typeface="Times New Roman"/>
            </a:endParaRPr>
          </a:p>
          <a:p>
            <a:pPr marL="286385" indent="-273685">
              <a:lnSpc>
                <a:spcPct val="100000"/>
              </a:lnSpc>
              <a:spcBef>
                <a:spcPts val="635"/>
              </a:spcBef>
              <a:buClr>
                <a:srgbClr val="D24717"/>
              </a:buClr>
              <a:buSzPct val="82692"/>
              <a:buFont typeface="Segoe UI Symbol"/>
              <a:buChar char="⚫"/>
              <a:tabLst>
                <a:tab pos="286385" algn="l"/>
              </a:tabLst>
            </a:pPr>
            <a:r>
              <a:rPr sz="2600" dirty="0">
                <a:latin typeface="Times New Roman"/>
                <a:cs typeface="Times New Roman"/>
              </a:rPr>
              <a:t>Prof.</a:t>
            </a:r>
            <a:r>
              <a:rPr sz="2600" spc="-50" dirty="0">
                <a:latin typeface="Times New Roman"/>
                <a:cs typeface="Times New Roman"/>
              </a:rPr>
              <a:t> </a:t>
            </a:r>
            <a:r>
              <a:rPr sz="2600" dirty="0">
                <a:latin typeface="Times New Roman"/>
                <a:cs typeface="Times New Roman"/>
              </a:rPr>
              <a:t>Dan Boneh</a:t>
            </a:r>
            <a:r>
              <a:rPr sz="2600" spc="-10" dirty="0">
                <a:latin typeface="Times New Roman"/>
                <a:cs typeface="Times New Roman"/>
              </a:rPr>
              <a:t> (Standford)</a:t>
            </a:r>
            <a:endParaRPr sz="2600">
              <a:latin typeface="Times New Roman"/>
              <a:cs typeface="Times New Roman"/>
            </a:endParaRPr>
          </a:p>
        </p:txBody>
      </p:sp>
      <p:pic>
        <p:nvPicPr>
          <p:cNvPr id="4" name="object 4"/>
          <p:cNvPicPr/>
          <p:nvPr/>
        </p:nvPicPr>
        <p:blipFill>
          <a:blip r:embed="rId3" cstate="print"/>
          <a:stretch>
            <a:fillRect/>
          </a:stretch>
        </p:blipFill>
        <p:spPr>
          <a:xfrm>
            <a:off x="457200" y="6248400"/>
            <a:ext cx="476250" cy="381000"/>
          </a:xfrm>
          <a:prstGeom prst="rect">
            <a:avLst/>
          </a:prstGeom>
        </p:spPr>
      </p:pic>
      <p:sp>
        <p:nvSpPr>
          <p:cNvPr id="5" name="object 5"/>
          <p:cNvSpPr txBox="1">
            <a:spLocks noGrp="1"/>
          </p:cNvSpPr>
          <p:nvPr>
            <p:ph type="ftr" sz="quarter" idx="5"/>
          </p:nvPr>
        </p:nvSpPr>
        <p:spPr>
          <a:prstGeom prst="rect">
            <a:avLst/>
          </a:prstGeom>
        </p:spPr>
        <p:txBody>
          <a:bodyPr vert="horz" wrap="square" lIns="0" tIns="76200" rIns="0" bIns="0" rtlCol="0">
            <a:spAutoFit/>
          </a:bodyPr>
          <a:lstStyle/>
          <a:p>
            <a:pPr marL="165100">
              <a:lnSpc>
                <a:spcPts val="1550"/>
              </a:lnSpc>
            </a:pPr>
            <a:r>
              <a:rPr spc="-180" dirty="0"/>
              <a:t>FAST-</a:t>
            </a:r>
            <a:r>
              <a:rPr spc="-100" dirty="0"/>
              <a:t>NUCES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5322</TotalTime>
  <Words>4004</Words>
  <Application>Microsoft Macintosh PowerPoint</Application>
  <PresentationFormat>On-screen Show (4:3)</PresentationFormat>
  <Paragraphs>498</Paragraphs>
  <Slides>45</Slides>
  <Notes>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45</vt:i4>
      </vt:variant>
    </vt:vector>
  </HeadingPairs>
  <TitlesOfParts>
    <vt:vector size="56" baseType="lpstr">
      <vt:lpstr>Arial</vt:lpstr>
      <vt:lpstr>Calibri</vt:lpstr>
      <vt:lpstr>Cambria Math</vt:lpstr>
      <vt:lpstr>Comic Sans MS</vt:lpstr>
      <vt:lpstr>Courier New</vt:lpstr>
      <vt:lpstr>Google Sans Text</vt:lpstr>
      <vt:lpstr>Segoe UI Symbol</vt:lpstr>
      <vt:lpstr>Symbol</vt:lpstr>
      <vt:lpstr>Times New Roman</vt:lpstr>
      <vt:lpstr>Wingdings</vt:lpstr>
      <vt:lpstr>Office Theme</vt:lpstr>
      <vt:lpstr>CS-3002: Information Security</vt:lpstr>
      <vt:lpstr>This Lecture</vt:lpstr>
      <vt:lpstr>Basic Control Hijacking Attacks</vt:lpstr>
      <vt:lpstr>Control hijacking attacks</vt:lpstr>
      <vt:lpstr>What is needed</vt:lpstr>
      <vt:lpstr>Prerequisites for Control Hijacking Attacks </vt:lpstr>
      <vt:lpstr>Linux process memory layout</vt:lpstr>
      <vt:lpstr>Stack Frame (created every time a new function is invoked)</vt:lpstr>
      <vt:lpstr>What are buffer overflows?</vt:lpstr>
      <vt:lpstr>What are buffer overflows?</vt:lpstr>
      <vt:lpstr>Basic stack exploit</vt:lpstr>
      <vt:lpstr>The NOP slide</vt:lpstr>
      <vt:lpstr>Details and examples</vt:lpstr>
      <vt:lpstr>Many unsafe libc functions</vt:lpstr>
      <vt:lpstr>Finding buffer overflows</vt:lpstr>
      <vt:lpstr>More Control Hijacking Attacks</vt:lpstr>
      <vt:lpstr>More Hijacking Opportunities</vt:lpstr>
      <vt:lpstr>PowerPoint Presentation</vt:lpstr>
      <vt:lpstr>PowerPoint Presentation</vt:lpstr>
      <vt:lpstr>PowerPoint Presentation</vt:lpstr>
      <vt:lpstr>PowerPoint Presentation</vt:lpstr>
      <vt:lpstr>PowerPoint Presentation</vt:lpstr>
      <vt:lpstr>Integer Overflows (Phrack issue 60)</vt:lpstr>
      <vt:lpstr>An example</vt:lpstr>
      <vt:lpstr>Format String Bug</vt:lpstr>
      <vt:lpstr>PowerPoint Presentation</vt:lpstr>
      <vt:lpstr>PowerPoint Presentation</vt:lpstr>
      <vt:lpstr>PowerPoint Presentation</vt:lpstr>
      <vt:lpstr>Format string problem</vt:lpstr>
      <vt:lpstr> Format String Problem </vt:lpstr>
      <vt:lpstr>Vulnerable functions</vt:lpstr>
      <vt:lpstr>Exploit</vt:lpstr>
      <vt:lpstr>PowerPoint Presentation</vt:lpstr>
      <vt:lpstr>Platform Defenses</vt:lpstr>
      <vt:lpstr>Preventing hijacking attacks</vt:lpstr>
      <vt:lpstr>Marking memory as non-execute (W^X)</vt:lpstr>
      <vt:lpstr>Examples:</vt:lpstr>
      <vt:lpstr>Attack: return to libc</vt:lpstr>
      <vt:lpstr>Response: randomization</vt:lpstr>
      <vt:lpstr>ASLR Example</vt:lpstr>
      <vt:lpstr>Run-Time Defenses</vt:lpstr>
      <vt:lpstr>Run time checking: StackGuard</vt:lpstr>
      <vt:lpstr>PowerPoint Presentation</vt:lpstr>
      <vt:lpstr>Canary Types</vt:lpstr>
      <vt:lpstr>Acknowledgements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CS-3002: Information Security</dc:title>
  <dc:creator>DELL</dc:creator>
  <cp:lastModifiedBy>Syeda Khadija</cp:lastModifiedBy>
  <cp:revision>18</cp:revision>
  <dcterms:created xsi:type="dcterms:W3CDTF">2025-11-09T08:11:32Z</dcterms:created>
  <dcterms:modified xsi:type="dcterms:W3CDTF">2025-12-21T17:15:48Z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2025-10-27T00:00:00Z</vt:filetime>
  </property>
  <property fmtid="{D5CDD505-2E9C-101B-9397-08002B2CF9AE}" pid="3" name="LastSaved">
    <vt:filetime>2025-11-09T00:00:00Z</vt:filetime>
  </property>
</Properties>
</file>